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74" r:id="rId9"/>
    <p:sldId id="263" r:id="rId10"/>
    <p:sldId id="264" r:id="rId11"/>
    <p:sldId id="265" r:id="rId12"/>
    <p:sldId id="266" r:id="rId13"/>
    <p:sldId id="267" r:id="rId14"/>
    <p:sldId id="268" r:id="rId15"/>
    <p:sldId id="269" r:id="rId16"/>
    <p:sldId id="270" r:id="rId17"/>
    <p:sldId id="272" r:id="rId18"/>
    <p:sldId id="271" r:id="rId1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59">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i8ZpY56QUA1/6CfgTxRwtTv1PV2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7879F58-94FC-4AB5-AACA-6E85711E4052}">
  <a:tblStyle styleId="{47879F58-94FC-4AB5-AACA-6E85711E4052}" styleName="Table_0">
    <a:wholeTbl>
      <a:tcTxStyle b="off" i="off">
        <a:font>
          <a:latin typeface="Calibri"/>
          <a:ea typeface="Calibri"/>
          <a:cs typeface="Calibri"/>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FFFFFF">
              <a:alpha val="0"/>
            </a:srgbClr>
          </a:solidFill>
        </a:fill>
      </a:tcStyle>
    </a:wholeTbl>
    <a:band1H>
      <a:tcTxStyle/>
      <a:tcStyle>
        <a:tcBdr/>
        <a:fill>
          <a:solidFill>
            <a:schemeClr val="accent5">
              <a:alpha val="20000"/>
            </a:schemeClr>
          </a:solidFill>
        </a:fill>
      </a:tcStyle>
    </a:band1H>
    <a:band2H>
      <a:tcTxStyle/>
      <a:tcStyle>
        <a:tcBdr/>
        <a:fill>
          <a:solidFill>
            <a:schemeClr val="accent5">
              <a:alpha val="20000"/>
            </a:schemeClr>
          </a:solidFill>
        </a:fill>
      </a:tcStyle>
    </a:band2H>
    <a:band1V>
      <a:tcTxStyle/>
      <a:tcStyle>
        <a:tcBdr/>
        <a:fill>
          <a:solidFill>
            <a:schemeClr val="accent5">
              <a:alpha val="20000"/>
            </a:schemeClr>
          </a:solidFill>
        </a:fill>
      </a:tcStyle>
    </a:band1V>
    <a:band2V>
      <a:tcTxStyle/>
      <a:tcStyle>
        <a:tcBdr/>
        <a:fill>
          <a:solidFill>
            <a:schemeClr val="accent5">
              <a:alpha val="20000"/>
            </a:schemeClr>
          </a:solidFill>
        </a:fill>
      </a:tcStyle>
    </a:band2V>
    <a:lastCol>
      <a:tcTxStyle b="on" i="off"/>
      <a:tcStyle>
        <a:tcBdr/>
        <a:fill>
          <a:solidFill>
            <a:schemeClr val="accent5">
              <a:alpha val="20000"/>
            </a:schemeClr>
          </a:solidFill>
        </a:fill>
      </a:tcStyle>
    </a:lastCol>
    <a:firstCol>
      <a:tcTxStyle b="on" i="off"/>
      <a:tcStyle>
        <a:tcBdr/>
        <a:fill>
          <a:solidFill>
            <a:schemeClr val="accent5">
              <a:alpha val="20000"/>
            </a:schemeClr>
          </a:solidFill>
        </a:fill>
      </a:tcStyle>
    </a:firstCol>
    <a:lastRow>
      <a:tcTxStyle b="on" i="off"/>
      <a:tcStyle>
        <a:tcBdr>
          <a:top>
            <a:ln w="50800" cap="flat" cmpd="sng">
              <a:solidFill>
                <a:schemeClr val="accent5"/>
              </a:solidFill>
              <a:prstDash val="solid"/>
              <a:round/>
              <a:headEnd type="none" w="sm" len="sm"/>
              <a:tailEnd type="none" w="sm" len="sm"/>
            </a:ln>
          </a:top>
        </a:tcBdr>
        <a:fill>
          <a:solidFill>
            <a:srgbClr val="FFFFFF">
              <a:alpha val="0"/>
            </a:srgbClr>
          </a:solidFill>
        </a:fill>
      </a:tcStyle>
    </a:lastRow>
    <a:seCell>
      <a:tcTxStyle/>
      <a:tcStyle>
        <a:tcBdr>
          <a:top>
            <a:ln w="50800" cap="flat" cmpd="sng">
              <a:solidFill>
                <a:schemeClr val="accent5"/>
              </a:solidFill>
              <a:prstDash val="solid"/>
              <a:round/>
              <a:headEnd type="none" w="sm" len="sm"/>
              <a:tailEnd type="none" w="sm" len="sm"/>
            </a:ln>
          </a:top>
        </a:tcBdr>
        <a:fill>
          <a:solidFill>
            <a:srgbClr val="FFFFFF">
              <a:alpha val="0"/>
            </a:srgbClr>
          </a:solidFill>
        </a:fill>
      </a:tcStyle>
    </a:seCell>
    <a:swCell>
      <a:tcTxStyle/>
      <a:tcStyle>
        <a:tcBdr>
          <a:top>
            <a:ln w="50800" cap="flat" cmpd="sng">
              <a:solidFill>
                <a:schemeClr val="accent5"/>
              </a:solidFill>
              <a:prstDash val="solid"/>
              <a:round/>
              <a:headEnd type="none" w="sm" len="sm"/>
              <a:tailEnd type="none" w="sm" len="sm"/>
            </a:ln>
          </a:top>
        </a:tcBdr>
        <a:fill>
          <a:solidFill>
            <a:srgbClr val="FFFFFF">
              <a:alpha val="0"/>
            </a:srgbClr>
          </a:solidFill>
        </a:fill>
      </a:tcStyle>
    </a:swCell>
    <a:firstRow>
      <a:tcTxStyle b="on" i="off"/>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firstRow>
    <a:neCell>
      <a:tcTxStyle/>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neCell>
    <a:nwCell>
      <a:tcTxStyle/>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nwCell>
  </a:tblStyle>
  <a:tblStyle styleId="{6EB1FC0C-1D29-42B7-B8E6-0F5DF3C737FC}"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fill>
          <a:solidFill>
            <a:srgbClr val="CFD7E7"/>
          </a:solidFill>
        </a:fill>
      </a:tcStyle>
    </a:band2H>
    <a:band1V>
      <a:tcTxStyle/>
      <a:tcStyle>
        <a:tcBdr/>
        <a:fill>
          <a:solidFill>
            <a:srgbClr val="CFD7E7"/>
          </a:solidFill>
        </a:fill>
      </a:tcStyle>
    </a:band1V>
    <a:band2V>
      <a:tcTxStyle/>
      <a:tcStyle>
        <a:tcBdr/>
        <a:fill>
          <a:solidFill>
            <a:srgbClr val="CFD7E7"/>
          </a:solidFill>
        </a:fill>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op>
            <a:ln w="38100" cap="flat" cmpd="sng">
              <a:solidFill>
                <a:schemeClr val="lt1"/>
              </a:solidFill>
              <a:prstDash val="solid"/>
              <a:round/>
              <a:headEnd type="none" w="sm" len="sm"/>
              <a:tailEnd type="none" w="sm" len="sm"/>
            </a:ln>
          </a:top>
        </a:tcBdr>
        <a:fill>
          <a:solidFill>
            <a:schemeClr val="accent1"/>
          </a:solidFill>
        </a:fill>
      </a:tcStyle>
    </a:seCell>
    <a:swCell>
      <a:tcTxStyle/>
      <a:tcStyle>
        <a:tcBdr>
          <a:top>
            <a:ln w="38100" cap="flat" cmpd="sng">
              <a:solidFill>
                <a:schemeClr val="lt1"/>
              </a:solidFill>
              <a:prstDash val="solid"/>
              <a:round/>
              <a:headEnd type="none" w="sm" len="sm"/>
              <a:tailEnd type="none" w="sm" len="sm"/>
            </a:ln>
          </a:top>
        </a:tcBdr>
        <a:fill>
          <a:solidFill>
            <a:schemeClr val="accent1"/>
          </a:solidFill>
        </a:fill>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bottom>
            <a:ln w="38100" cap="flat" cmpd="sng">
              <a:solidFill>
                <a:schemeClr val="lt1"/>
              </a:solidFill>
              <a:prstDash val="solid"/>
              <a:round/>
              <a:headEnd type="none" w="sm" len="sm"/>
              <a:tailEnd type="none" w="sm" len="sm"/>
            </a:ln>
          </a:bottom>
        </a:tcBdr>
        <a:fill>
          <a:solidFill>
            <a:schemeClr val="accent1"/>
          </a:solidFill>
        </a:fill>
      </a:tcStyle>
    </a:neCell>
    <a:nwCell>
      <a:tcTxStyle/>
      <a:tcStyle>
        <a:tcBdr>
          <a:bottom>
            <a:ln w="38100" cap="flat" cmpd="sng">
              <a:solidFill>
                <a:schemeClr val="lt1"/>
              </a:solidFill>
              <a:prstDash val="solid"/>
              <a:round/>
              <a:headEnd type="none" w="sm" len="sm"/>
              <a:tailEnd type="none" w="sm" len="sm"/>
            </a:ln>
          </a:bottom>
        </a:tcBdr>
        <a:fill>
          <a:solidFill>
            <a:schemeClr val="accent1"/>
          </a:solidFill>
        </a:fill>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guide orient="horz" pos="2159"/>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92" name="Google Shape;9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00" name="Google Shape;10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09" name="Google Shape;10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f4fb01c2d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f4fb01c2df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g3f4fb01c2df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35" name="Google Shape;13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45" name="Google Shape;14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22D0E7DF-7534-0CF1-09E0-3C9AA8E40604}"/>
            </a:ext>
          </a:extLst>
        </p:cNvPr>
        <p:cNvGrpSpPr/>
        <p:nvPr/>
      </p:nvGrpSpPr>
      <p:grpSpPr>
        <a:xfrm>
          <a:off x="0" y="0"/>
          <a:ext cx="0" cy="0"/>
          <a:chOff x="0" y="0"/>
          <a:chExt cx="0" cy="0"/>
        </a:xfrm>
      </p:grpSpPr>
      <p:sp>
        <p:nvSpPr>
          <p:cNvPr id="144" name="Google Shape;144;p6:notes">
            <a:extLst>
              <a:ext uri="{FF2B5EF4-FFF2-40B4-BE49-F238E27FC236}">
                <a16:creationId xmlns:a16="http://schemas.microsoft.com/office/drawing/2014/main" id="{4AE045E0-6DD4-00F4-109B-A4A8BC54AD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45" name="Google Shape;145;p6:notes">
            <a:extLst>
              <a:ext uri="{FF2B5EF4-FFF2-40B4-BE49-F238E27FC236}">
                <a16:creationId xmlns:a16="http://schemas.microsoft.com/office/drawing/2014/main" id="{E0FF730A-050D-CFBE-2B1C-74474669131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006324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53" name="Google Shape;15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62" name="Google Shape;162;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71" name="Google Shape;17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81" name="Google Shape;181;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91" name="Google Shape;19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9" name="Google Shape;209;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18" name="Google Shape;218;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36" name="Google Shape;236;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27" name="Google Shape;227;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19" name="Google Shape;19;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20" name="Google Shape;20;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25" name="Google Shape;25;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26" name="Google Shape;26;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31" name="Google Shape;31;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32" name="Google Shape;32;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2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38" name="Google Shape;38;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39" name="Google Shape;39;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2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2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2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47" name="Google Shape;47;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48" name="Google Shape;48;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52" name="Google Shape;52;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53" name="Google Shape;53;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56" name="Google Shape;56;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57" name="Google Shape;57;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2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63" name="Google Shape;63;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64" name="Google Shape;64;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9"/>
          <p:cNvSpPr>
            <a:spLocks noGrp="1"/>
          </p:cNvSpPr>
          <p:nvPr>
            <p:ph type="pic" idx="2"/>
          </p:nvPr>
        </p:nvSpPr>
        <p:spPr>
          <a:xfrm>
            <a:off x="1792288" y="612775"/>
            <a:ext cx="5486400" cy="4114800"/>
          </a:xfrm>
          <a:prstGeom prst="rect">
            <a:avLst/>
          </a:prstGeom>
          <a:noFill/>
          <a:ln>
            <a:noFill/>
          </a:ln>
        </p:spPr>
      </p:sp>
      <p:sp>
        <p:nvSpPr>
          <p:cNvPr id="68" name="Google Shape;68;p2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70" name="Google Shape;70;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71" name="Google Shape;71;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76" name="Google Shape;76;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77" name="Google Shape;77;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82" name="Google Shape;82;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83" name="Google Shape;83;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type="tx">
  <p:cSld name="TITLE_AND_BODY">
    <p:spTree>
      <p:nvGrpSpPr>
        <p:cNvPr id="1" name="Shape 84"/>
        <p:cNvGrpSpPr/>
        <p:nvPr/>
      </p:nvGrpSpPr>
      <p:grpSpPr>
        <a:xfrm>
          <a:off x="0" y="0"/>
          <a:ext cx="0" cy="0"/>
          <a:chOff x="0" y="0"/>
          <a:chExt cx="0" cy="0"/>
        </a:xfrm>
      </p:grpSpPr>
      <p:sp>
        <p:nvSpPr>
          <p:cNvPr id="85" name="Google Shape;85;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3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SzPts val="3200"/>
              <a:buChar char="•"/>
              <a:defRPr/>
            </a:lvl1pPr>
            <a:lvl2pPr marL="914400" lvl="1" indent="-406400" algn="l">
              <a:lnSpc>
                <a:spcPct val="100000"/>
              </a:lnSpc>
              <a:spcBef>
                <a:spcPts val="560"/>
              </a:spcBef>
              <a:spcAft>
                <a:spcPts val="0"/>
              </a:spcAft>
              <a:buSzPts val="2800"/>
              <a:buChar char="–"/>
              <a:defRPr/>
            </a:lvl2pPr>
            <a:lvl3pPr marL="1371600" lvl="2" indent="-381000" algn="l">
              <a:lnSpc>
                <a:spcPct val="100000"/>
              </a:lnSpc>
              <a:spcBef>
                <a:spcPts val="480"/>
              </a:spcBef>
              <a:spcAft>
                <a:spcPts val="0"/>
              </a:spcAft>
              <a:buSzPts val="2400"/>
              <a:buChar char="•"/>
              <a:defRPr/>
            </a:lvl3pPr>
            <a:lvl4pPr marL="1828800" lvl="3" indent="-355600" algn="l">
              <a:lnSpc>
                <a:spcPct val="100000"/>
              </a:lnSpc>
              <a:spcBef>
                <a:spcPts val="400"/>
              </a:spcBef>
              <a:spcAft>
                <a:spcPts val="0"/>
              </a:spcAft>
              <a:buSzPts val="2000"/>
              <a:buChar char="–"/>
              <a:defRPr/>
            </a:lvl4pPr>
            <a:lvl5pPr marL="2286000" lvl="4" indent="-355600" algn="l">
              <a:lnSpc>
                <a:spcPct val="100000"/>
              </a:lnSpc>
              <a:spcBef>
                <a:spcPts val="400"/>
              </a:spcBef>
              <a:spcAft>
                <a:spcPts val="0"/>
              </a:spcAft>
              <a:buSzPts val="2000"/>
              <a:buChar char="»"/>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
        <p:nvSpPr>
          <p:cNvPr id="87" name="Google Shape;87;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88" name="Google Shape;88;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89" name="Google Shape;89;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a:t>20/07/2026</a:t>
            </a:r>
            <a:endParaRPr/>
          </a:p>
        </p:txBody>
      </p:sp>
      <p:sp>
        <p:nvSpPr>
          <p:cNvPr id="13" name="Google Shape;13;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a:t>DEPT OF AI&amp;DS, SAEC</a:t>
            </a:r>
            <a:endParaRPr/>
          </a:p>
        </p:txBody>
      </p:sp>
      <p:sp>
        <p:nvSpPr>
          <p:cNvPr id="14" name="Google Shape;14;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
          <p:cNvSpPr txBox="1">
            <a:spLocks noGrp="1"/>
          </p:cNvSpPr>
          <p:nvPr>
            <p:ph type="ctrTitle"/>
          </p:nvPr>
        </p:nvSpPr>
        <p:spPr>
          <a:xfrm>
            <a:off x="645160" y="373380"/>
            <a:ext cx="7219950" cy="13303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000"/>
              <a:buFont typeface="Times New Roman"/>
              <a:buNone/>
            </a:pPr>
            <a:r>
              <a:rPr lang="en-US" sz="2200" b="1">
                <a:latin typeface="Times New Roman"/>
                <a:ea typeface="Times New Roman"/>
                <a:cs typeface="Times New Roman"/>
                <a:sym typeface="Times New Roman"/>
              </a:rPr>
              <a:t>S.A. ENGINEERING COLLEGE- CHENNAI-77</a:t>
            </a:r>
            <a:br>
              <a:rPr lang="en-US" sz="2200" b="1">
                <a:latin typeface="Times New Roman"/>
                <a:ea typeface="Times New Roman"/>
                <a:cs typeface="Times New Roman"/>
                <a:sym typeface="Times New Roman"/>
              </a:rPr>
            </a:br>
            <a:r>
              <a:rPr lang="en-US" sz="1600" b="1">
                <a:latin typeface="Times New Roman"/>
                <a:ea typeface="Times New Roman"/>
                <a:cs typeface="Times New Roman"/>
                <a:sym typeface="Times New Roman"/>
              </a:rPr>
              <a:t>(Autonomous- Institute Level Research Centre, Affiliated to Anna University)</a:t>
            </a:r>
            <a:br>
              <a:rPr lang="en-US" sz="1800" b="1">
                <a:latin typeface="Times New Roman"/>
                <a:ea typeface="Times New Roman"/>
                <a:cs typeface="Times New Roman"/>
                <a:sym typeface="Times New Roman"/>
              </a:rPr>
            </a:br>
            <a:r>
              <a:rPr lang="en-US" sz="1700" b="1">
                <a:latin typeface="Times New Roman"/>
                <a:ea typeface="Times New Roman"/>
                <a:cs typeface="Times New Roman"/>
                <a:sym typeface="Times New Roman"/>
              </a:rPr>
              <a:t>DEPARTMENT OF ARTIFICIAL INTELLIGENCE &amp; DATA SCIENCE</a:t>
            </a:r>
            <a:endParaRPr sz="1700" b="1">
              <a:latin typeface="Times New Roman"/>
              <a:ea typeface="Times New Roman"/>
              <a:cs typeface="Times New Roman"/>
              <a:sym typeface="Times New Roman"/>
            </a:endParaRPr>
          </a:p>
        </p:txBody>
      </p:sp>
      <p:sp>
        <p:nvSpPr>
          <p:cNvPr id="95" name="Google Shape;95;p1"/>
          <p:cNvSpPr txBox="1">
            <a:spLocks noGrp="1"/>
          </p:cNvSpPr>
          <p:nvPr>
            <p:ph type="subTitle" idx="1"/>
          </p:nvPr>
        </p:nvSpPr>
        <p:spPr>
          <a:xfrm>
            <a:off x="508000" y="1757892"/>
            <a:ext cx="8077200" cy="9144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1800"/>
              <a:buNone/>
            </a:pPr>
            <a:r>
              <a:rPr lang="en-US" sz="2200" b="1" dirty="0">
                <a:solidFill>
                  <a:schemeClr val="dk1"/>
                </a:solidFill>
                <a:latin typeface="Times New Roman"/>
                <a:ea typeface="Times New Roman"/>
                <a:cs typeface="Times New Roman"/>
                <a:sym typeface="Times New Roman"/>
              </a:rPr>
              <a:t>AD1703A -  Project Phase-1</a:t>
            </a:r>
            <a:endParaRPr sz="2200" b="1" dirty="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ts val="1800"/>
              <a:buNone/>
            </a:pPr>
            <a:r>
              <a:rPr lang="en-US" sz="2200" b="1" dirty="0">
                <a:solidFill>
                  <a:schemeClr val="dk1"/>
                </a:solidFill>
                <a:latin typeface="Times New Roman"/>
                <a:ea typeface="Times New Roman"/>
                <a:cs typeface="Times New Roman"/>
                <a:sym typeface="Times New Roman"/>
              </a:rPr>
              <a:t>ZEROTH REVIEW</a:t>
            </a:r>
            <a:endParaRPr sz="2200" b="1" dirty="0">
              <a:solidFill>
                <a:schemeClr val="dk1"/>
              </a:solidFill>
              <a:latin typeface="Times New Roman"/>
              <a:ea typeface="Times New Roman"/>
              <a:cs typeface="Times New Roman"/>
              <a:sym typeface="Times New Roman"/>
            </a:endParaRPr>
          </a:p>
          <a:p>
            <a:pPr marL="0" lvl="0" indent="0" algn="ctr" rtl="0">
              <a:lnSpc>
                <a:spcPct val="100000"/>
              </a:lnSpc>
              <a:spcBef>
                <a:spcPts val="360"/>
              </a:spcBef>
              <a:spcAft>
                <a:spcPts val="0"/>
              </a:spcAft>
              <a:buClr>
                <a:schemeClr val="dk1"/>
              </a:buClr>
              <a:buSzPts val="1800"/>
              <a:buNone/>
            </a:pPr>
            <a:endParaRPr sz="1800" dirty="0">
              <a:solidFill>
                <a:schemeClr val="dk1"/>
              </a:solidFill>
              <a:latin typeface="Times New Roman"/>
              <a:ea typeface="Times New Roman"/>
              <a:cs typeface="Times New Roman"/>
              <a:sym typeface="Times New Roman"/>
            </a:endParaRPr>
          </a:p>
          <a:p>
            <a:pPr marL="0" lvl="0" indent="0" algn="ctr" rtl="0">
              <a:lnSpc>
                <a:spcPct val="100000"/>
              </a:lnSpc>
              <a:spcBef>
                <a:spcPts val="480"/>
              </a:spcBef>
              <a:spcAft>
                <a:spcPts val="0"/>
              </a:spcAft>
              <a:buClr>
                <a:srgbClr val="888888"/>
              </a:buClr>
              <a:buSzPts val="2400"/>
              <a:buNone/>
            </a:pPr>
            <a:endParaRPr sz="2400" dirty="0">
              <a:solidFill>
                <a:schemeClr val="dk1"/>
              </a:solidFill>
              <a:latin typeface="Times New Roman"/>
              <a:ea typeface="Times New Roman"/>
              <a:cs typeface="Times New Roman"/>
              <a:sym typeface="Times New Roman"/>
            </a:endParaRPr>
          </a:p>
          <a:p>
            <a:r>
              <a:rPr lang="en-US" sz="2200" dirty="0">
                <a:solidFill>
                  <a:srgbClr val="000000"/>
                </a:solidFill>
                <a:latin typeface="Times New Roman"/>
                <a:ea typeface="Times New Roman"/>
                <a:cs typeface="Times New Roman"/>
                <a:sym typeface="Times New Roman"/>
              </a:rPr>
              <a:t>TITLE : </a:t>
            </a:r>
            <a:r>
              <a:rPr lang="en-IN" sz="2000" b="1" dirty="0">
                <a:solidFill>
                  <a:schemeClr val="tx1">
                    <a:lumMod val="95000"/>
                    <a:lumOff val="5000"/>
                  </a:schemeClr>
                </a:solidFill>
                <a:latin typeface="Times New Roman" panose="02020603050405020304" pitchFamily="18" charset="0"/>
                <a:cs typeface="Times New Roman" panose="02020603050405020304" pitchFamily="18" charset="0"/>
              </a:rPr>
              <a:t>AERIS </a:t>
            </a:r>
          </a:p>
          <a:p>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An Explainable Reasoning and Investigation System for Intelligent Aerospace Maintenance</a:t>
            </a:r>
          </a:p>
          <a:p>
            <a:pPr marL="0" lvl="0" indent="0" algn="ctr" rtl="0">
              <a:lnSpc>
                <a:spcPct val="100000"/>
              </a:lnSpc>
              <a:spcBef>
                <a:spcPts val="360"/>
              </a:spcBef>
              <a:spcAft>
                <a:spcPts val="0"/>
              </a:spcAft>
              <a:buClr>
                <a:srgbClr val="000000"/>
              </a:buClr>
              <a:buSzPts val="1800"/>
              <a:buNone/>
            </a:pPr>
            <a:endParaRPr sz="2200" b="0" i="0" u="none" strike="noStrike" dirty="0">
              <a:solidFill>
                <a:srgbClr val="000000"/>
              </a:solidFill>
              <a:latin typeface="Times New Roman"/>
              <a:ea typeface="Times New Roman"/>
              <a:cs typeface="Times New Roman"/>
              <a:sym typeface="Times New Roman"/>
            </a:endParaRPr>
          </a:p>
          <a:p>
            <a:pPr marL="0" lvl="0" indent="0" algn="ctr" rtl="0">
              <a:lnSpc>
                <a:spcPct val="100000"/>
              </a:lnSpc>
              <a:spcBef>
                <a:spcPts val="360"/>
              </a:spcBef>
              <a:spcAft>
                <a:spcPts val="0"/>
              </a:spcAft>
              <a:buClr>
                <a:srgbClr val="000000"/>
              </a:buClr>
              <a:buSzPts val="1800"/>
              <a:buNone/>
            </a:pPr>
            <a:endParaRPr sz="2200" b="0" i="0" u="none" strike="noStrike" dirty="0">
              <a:solidFill>
                <a:srgbClr val="000000"/>
              </a:solidFill>
              <a:latin typeface="Times New Roman"/>
              <a:ea typeface="Times New Roman"/>
              <a:cs typeface="Times New Roman"/>
              <a:sym typeface="Times New Roman"/>
            </a:endParaRPr>
          </a:p>
        </p:txBody>
      </p:sp>
      <p:sp>
        <p:nvSpPr>
          <p:cNvPr id="96" name="Google Shape;96;p1"/>
          <p:cNvSpPr txBox="1"/>
          <p:nvPr/>
        </p:nvSpPr>
        <p:spPr>
          <a:xfrm>
            <a:off x="1858536" y="2672295"/>
            <a:ext cx="5562600" cy="390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3200"/>
              <a:buFont typeface="Arial"/>
              <a:buNone/>
            </a:pPr>
            <a:r>
              <a:rPr lang="en-US" sz="2200" b="0" i="0" u="none" strike="noStrike" cap="none" dirty="0">
                <a:solidFill>
                  <a:schemeClr val="dk1"/>
                </a:solidFill>
                <a:latin typeface="Times New Roman"/>
                <a:ea typeface="Times New Roman"/>
                <a:cs typeface="Times New Roman"/>
                <a:sym typeface="Times New Roman"/>
              </a:rPr>
              <a:t>BATCH NUMBER :</a:t>
            </a:r>
            <a:r>
              <a:rPr lang="en-US" sz="2200" dirty="0">
                <a:solidFill>
                  <a:schemeClr val="dk1"/>
                </a:solidFill>
                <a:latin typeface="Times New Roman"/>
                <a:ea typeface="Times New Roman"/>
                <a:cs typeface="Times New Roman"/>
                <a:sym typeface="Times New Roman"/>
              </a:rPr>
              <a:t> 02</a:t>
            </a:r>
            <a:endParaRPr sz="2200" b="0" i="0" u="none" strike="noStrike" cap="none" dirty="0">
              <a:solidFill>
                <a:schemeClr val="dk1"/>
              </a:solidFill>
              <a:latin typeface="Times New Roman"/>
              <a:ea typeface="Times New Roman"/>
              <a:cs typeface="Times New Roman"/>
              <a:sym typeface="Times New Roman"/>
            </a:endParaRPr>
          </a:p>
        </p:txBody>
      </p:sp>
      <p:graphicFrame>
        <p:nvGraphicFramePr>
          <p:cNvPr id="97" name="Google Shape;97;p1"/>
          <p:cNvGraphicFramePr/>
          <p:nvPr>
            <p:extLst>
              <p:ext uri="{D42A27DB-BD31-4B8C-83A1-F6EECF244321}">
                <p14:modId xmlns:p14="http://schemas.microsoft.com/office/powerpoint/2010/main" val="2678088885"/>
              </p:ext>
            </p:extLst>
          </p:nvPr>
        </p:nvGraphicFramePr>
        <p:xfrm>
          <a:off x="398780" y="4185920"/>
          <a:ext cx="8135625" cy="2228870"/>
        </p:xfrm>
        <a:graphic>
          <a:graphicData uri="http://schemas.openxmlformats.org/drawingml/2006/table">
            <a:tbl>
              <a:tblPr firstRow="1" bandRow="1">
                <a:noFill/>
                <a:tableStyleId>{47879F58-94FC-4AB5-AACA-6E85711E4052}</a:tableStyleId>
              </a:tblPr>
              <a:tblGrid>
                <a:gridCol w="4425950">
                  <a:extLst>
                    <a:ext uri="{9D8B030D-6E8A-4147-A177-3AD203B41FA5}">
                      <a16:colId xmlns:a16="http://schemas.microsoft.com/office/drawing/2014/main" val="20000"/>
                    </a:ext>
                  </a:extLst>
                </a:gridCol>
                <a:gridCol w="3709675">
                  <a:extLst>
                    <a:ext uri="{9D8B030D-6E8A-4147-A177-3AD203B41FA5}">
                      <a16:colId xmlns:a16="http://schemas.microsoft.com/office/drawing/2014/main" val="20001"/>
                    </a:ext>
                  </a:extLst>
                </a:gridCol>
              </a:tblGrid>
              <a:tr h="3657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latin typeface="Times New Roman"/>
                          <a:ea typeface="Times New Roman"/>
                          <a:cs typeface="Times New Roman"/>
                          <a:sym typeface="Times New Roman"/>
                        </a:rPr>
                        <a:t>TEAM MEMBERS </a:t>
                      </a: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dirty="0">
                          <a:latin typeface="Times New Roman"/>
                          <a:ea typeface="Times New Roman"/>
                          <a:cs typeface="Times New Roman"/>
                          <a:sym typeface="Times New Roman"/>
                        </a:rPr>
                        <a:t>SUPERVISOR</a:t>
                      </a:r>
                    </a:p>
                  </a:txBody>
                  <a:tcPr marL="91450" marR="91450" marT="45725" marB="45725"/>
                </a:tc>
                <a:extLst>
                  <a:ext uri="{0D108BD9-81ED-4DB2-BD59-A6C34878D82A}">
                    <a16:rowId xmlns:a16="http://schemas.microsoft.com/office/drawing/2014/main" val="10000"/>
                  </a:ext>
                </a:extLst>
              </a:tr>
              <a:tr h="1863100">
                <a:tc>
                  <a:txBody>
                    <a:bodyPr/>
                    <a:lstStyle/>
                    <a:p>
                      <a:pPr marL="0" marR="0" lvl="0" indent="0" algn="l" rtl="0">
                        <a:lnSpc>
                          <a:spcPct val="100000"/>
                        </a:lnSpc>
                        <a:spcBef>
                          <a:spcPts val="0"/>
                        </a:spcBef>
                        <a:spcAft>
                          <a:spcPts val="0"/>
                        </a:spcAft>
                        <a:buClr>
                          <a:srgbClr val="000000"/>
                        </a:buClr>
                        <a:buSzPts val="1800"/>
                        <a:buFont typeface="Calibri"/>
                        <a:buNone/>
                      </a:pPr>
                      <a:r>
                        <a:rPr lang="en-US" sz="1800" u="sng" dirty="0">
                          <a:solidFill>
                            <a:schemeClr val="hlink"/>
                          </a:solidFill>
                          <a:latin typeface="Times New Roman"/>
                          <a:ea typeface="Times New Roman"/>
                          <a:cs typeface="Times New Roman"/>
                          <a:sym typeface="Times New Roman"/>
                        </a:rPr>
                        <a:t>111923AI01003</a:t>
                      </a:r>
                      <a:r>
                        <a:rPr lang="en-US" sz="1800" dirty="0">
                          <a:latin typeface="Times New Roman"/>
                          <a:ea typeface="Times New Roman"/>
                          <a:cs typeface="Times New Roman"/>
                          <a:sym typeface="Times New Roman"/>
                        </a:rPr>
                        <a:t> – ABIRAMI M</a:t>
                      </a:r>
                    </a:p>
                    <a:p>
                      <a:pPr marL="0" marR="0" lvl="0" indent="0" algn="l" rtl="0">
                        <a:lnSpc>
                          <a:spcPct val="100000"/>
                        </a:lnSpc>
                        <a:spcBef>
                          <a:spcPts val="0"/>
                        </a:spcBef>
                        <a:spcAft>
                          <a:spcPts val="0"/>
                        </a:spcAft>
                        <a:buClr>
                          <a:srgbClr val="000000"/>
                        </a:buClr>
                        <a:buSzPts val="1800"/>
                        <a:buFont typeface="Calibri"/>
                        <a:buNone/>
                      </a:pPr>
                      <a:endParaRPr lang="en-US" sz="1800" u="none" strike="noStrike" cap="none" dirty="0">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alibri"/>
                        <a:buNone/>
                        <a:tabLst/>
                        <a:defRPr/>
                      </a:pPr>
                      <a:r>
                        <a:rPr lang="en-US" sz="1800" u="sng" dirty="0">
                          <a:solidFill>
                            <a:schemeClr val="hlink"/>
                          </a:solidFill>
                          <a:latin typeface="Times New Roman"/>
                          <a:ea typeface="Times New Roman"/>
                          <a:cs typeface="Times New Roman"/>
                          <a:sym typeface="Times New Roman"/>
                        </a:rPr>
                        <a:t>111923AI01022</a:t>
                      </a:r>
                      <a:r>
                        <a:rPr lang="en-US" sz="1800" dirty="0">
                          <a:latin typeface="Times New Roman"/>
                          <a:ea typeface="Times New Roman"/>
                          <a:cs typeface="Times New Roman"/>
                          <a:sym typeface="Times New Roman"/>
                        </a:rPr>
                        <a:t> – DEVISHRI S</a:t>
                      </a:r>
                      <a:endParaRPr sz="18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Mrs. NATHIYA M,</a:t>
                      </a:r>
                    </a:p>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Assistant Professor,</a:t>
                      </a:r>
                    </a:p>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Department of AI&amp;DS</a:t>
                      </a:r>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415250" y="117338"/>
            <a:ext cx="8229600" cy="1143000"/>
          </a:xfrm>
          <a:prstGeom prst="rect">
            <a:avLst/>
          </a:prstGeom>
          <a:noFill/>
          <a:ln>
            <a:noFill/>
          </a:ln>
        </p:spPr>
        <p:txBody>
          <a:bodyPr spcFirstLastPara="1" wrap="square" lIns="91425" tIns="45700" rIns="91425" bIns="45700" anchor="ctr" anchorCtr="0">
            <a:normAutofit/>
          </a:bodyPr>
          <a:lstStyle/>
          <a:p>
            <a:pPr>
              <a:buSzPts val="4400"/>
            </a:pPr>
            <a:r>
              <a:rPr lang="en-US" b="1" dirty="0">
                <a:latin typeface="Times New Roman" panose="02020603050405020304" pitchFamily="18" charset="0"/>
                <a:cs typeface="Times New Roman" panose="02020603050405020304" pitchFamily="18" charset="0"/>
                <a:sym typeface="Times New Roman"/>
              </a:rPr>
              <a:t>Agenda</a:t>
            </a:r>
            <a:endParaRPr b="1" dirty="0">
              <a:latin typeface="Times New Roman" panose="02020603050405020304" pitchFamily="18" charset="0"/>
              <a:cs typeface="Times New Roman" panose="02020603050405020304" pitchFamily="18" charset="0"/>
              <a:sym typeface="Times New Roman"/>
            </a:endParaRPr>
          </a:p>
        </p:txBody>
      </p:sp>
      <p:sp>
        <p:nvSpPr>
          <p:cNvPr id="103" name="Google Shape;103;p2"/>
          <p:cNvSpPr txBox="1">
            <a:spLocks noGrp="1"/>
          </p:cNvSpPr>
          <p:nvPr>
            <p:ph type="body" idx="1"/>
          </p:nvPr>
        </p:nvSpPr>
        <p:spPr>
          <a:xfrm>
            <a:off x="270500" y="789250"/>
            <a:ext cx="8519100" cy="5182200"/>
          </a:xfrm>
          <a:prstGeom prst="rect">
            <a:avLst/>
          </a:prstGeom>
          <a:noFill/>
          <a:ln>
            <a:noFill/>
          </a:ln>
        </p:spPr>
        <p:txBody>
          <a:bodyPr spcFirstLastPara="1" wrap="square" lIns="91425" tIns="45700" rIns="91425" bIns="45700" anchor="t" anchorCtr="0">
            <a:noAutofit/>
          </a:bodyPr>
          <a:lstStyle/>
          <a:p>
            <a:pPr marL="342900" lvl="0" indent="-342900" algn="l" rtl="0">
              <a:spcBef>
                <a:spcPts val="1000"/>
              </a:spcBef>
              <a:spcAft>
                <a:spcPts val="0"/>
              </a:spcAft>
              <a:buSzPts val="1800"/>
              <a:buFont typeface="Times New Roman"/>
              <a:buChar char="•"/>
            </a:pPr>
            <a:r>
              <a:rPr lang="en-US" sz="1800" dirty="0">
                <a:solidFill>
                  <a:srgbClr val="000000"/>
                </a:solidFill>
                <a:latin typeface="Times New Roman"/>
                <a:ea typeface="Times New Roman"/>
                <a:cs typeface="Times New Roman"/>
                <a:sym typeface="Times New Roman"/>
              </a:rPr>
              <a:t>Introduction</a:t>
            </a:r>
            <a:endParaRPr sz="1800"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Base Paper </a:t>
            </a:r>
            <a:r>
              <a:rPr lang="en-US" sz="1600" dirty="0">
                <a:solidFill>
                  <a:srgbClr val="000000"/>
                </a:solidFill>
                <a:latin typeface="Times New Roman"/>
                <a:ea typeface="Times New Roman"/>
                <a:cs typeface="Times New Roman"/>
                <a:sym typeface="Times New Roman"/>
              </a:rPr>
              <a:t>[ IEEE Transactions, ACM, springer, etc.. </a:t>
            </a:r>
            <a:r>
              <a:rPr lang="en-US" sz="1600" dirty="0">
                <a:solidFill>
                  <a:srgbClr val="FF0000"/>
                </a:solidFill>
                <a:latin typeface="Times New Roman"/>
                <a:ea typeface="Times New Roman"/>
                <a:cs typeface="Times New Roman"/>
                <a:sym typeface="Times New Roman"/>
              </a:rPr>
              <a:t>Note: base paper should not be conference or survey paper</a:t>
            </a:r>
            <a:r>
              <a:rPr lang="en-US" sz="1600" dirty="0">
                <a:solidFill>
                  <a:srgbClr val="000000"/>
                </a:solidFill>
                <a:latin typeface="Times New Roman"/>
                <a:ea typeface="Times New Roman"/>
                <a:cs typeface="Times New Roman"/>
                <a:sym typeface="Times New Roman"/>
              </a:rPr>
              <a:t>]</a:t>
            </a:r>
            <a:endParaRPr sz="1600"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Abstract</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Scope and Motivation</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Literature Survey </a:t>
            </a:r>
            <a:r>
              <a:rPr lang="en-US" sz="1400" dirty="0">
                <a:solidFill>
                  <a:srgbClr val="000000"/>
                </a:solidFill>
                <a:latin typeface="Times New Roman"/>
                <a:ea typeface="Times New Roman"/>
                <a:cs typeface="Times New Roman"/>
                <a:sym typeface="Times New Roman"/>
              </a:rPr>
              <a:t>[ Authors, year, journal/conference name, findings, limitations in table - min 10 papers]</a:t>
            </a:r>
            <a:endParaRPr sz="14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Objectives / Problem Statement [</a:t>
            </a:r>
            <a:r>
              <a:rPr lang="en-US" sz="1400" dirty="0">
                <a:solidFill>
                  <a:srgbClr val="000000"/>
                </a:solidFill>
                <a:latin typeface="Times New Roman"/>
                <a:ea typeface="Times New Roman"/>
                <a:cs typeface="Times New Roman"/>
                <a:sym typeface="Times New Roman"/>
              </a:rPr>
              <a:t> Minimum 3 objectives</a:t>
            </a:r>
            <a:r>
              <a:rPr lang="en-US" sz="1800" dirty="0">
                <a:solidFill>
                  <a:srgbClr val="000000"/>
                </a:solidFill>
                <a:latin typeface="Times New Roman"/>
                <a:ea typeface="Times New Roman"/>
                <a:cs typeface="Times New Roman"/>
                <a:sym typeface="Times New Roman"/>
              </a:rPr>
              <a:t>]</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SDG Mapping and description</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Proposed Work</a:t>
            </a:r>
            <a:endParaRPr sz="1800" dirty="0">
              <a:solidFill>
                <a:srgbClr val="000000"/>
              </a:solidFill>
              <a:latin typeface="Times New Roman"/>
              <a:ea typeface="Times New Roman"/>
              <a:cs typeface="Times New Roman"/>
              <a:sym typeface="Times New Roman"/>
            </a:endParaRPr>
          </a:p>
          <a:p>
            <a:pPr marL="742950" lvl="1" indent="-3175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Architecture Diagram/Flow Diagram/Block Diagram</a:t>
            </a:r>
            <a:endParaRPr sz="1800" dirty="0">
              <a:solidFill>
                <a:srgbClr val="000000"/>
              </a:solidFill>
              <a:latin typeface="Times New Roman"/>
              <a:ea typeface="Times New Roman"/>
              <a:cs typeface="Times New Roman"/>
              <a:sym typeface="Times New Roman"/>
            </a:endParaRPr>
          </a:p>
          <a:p>
            <a:pPr marL="742950" lvl="1" indent="-3175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Modules</a:t>
            </a:r>
            <a:endParaRPr sz="1800" dirty="0">
              <a:solidFill>
                <a:srgbClr val="000000"/>
              </a:solidFill>
              <a:latin typeface="Times New Roman"/>
              <a:ea typeface="Times New Roman"/>
              <a:cs typeface="Times New Roman"/>
              <a:sym typeface="Times New Roman"/>
            </a:endParaRPr>
          </a:p>
          <a:p>
            <a:pPr marL="742950" lvl="1" indent="-3175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Module Description</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Software &amp; Hardware Requirements</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References [</a:t>
            </a:r>
            <a:r>
              <a:rPr lang="en-US" sz="1400" dirty="0">
                <a:solidFill>
                  <a:srgbClr val="000000"/>
                </a:solidFill>
                <a:latin typeface="Times New Roman"/>
                <a:ea typeface="Times New Roman"/>
                <a:cs typeface="Times New Roman"/>
                <a:sym typeface="Times New Roman"/>
              </a:rPr>
              <a:t> should include 10 references and follow MLA/ IEEE format</a:t>
            </a:r>
            <a:r>
              <a:rPr lang="en-US" sz="1800" dirty="0">
                <a:solidFill>
                  <a:srgbClr val="000000"/>
                </a:solidFill>
                <a:latin typeface="Times New Roman"/>
                <a:ea typeface="Times New Roman"/>
                <a:cs typeface="Times New Roman"/>
                <a:sym typeface="Times New Roman"/>
              </a:rPr>
              <a:t> ] </a:t>
            </a:r>
            <a:endParaRPr sz="1800" dirty="0">
              <a:solidFill>
                <a:srgbClr val="000000"/>
              </a:solidFill>
              <a:latin typeface="Times New Roman"/>
              <a:ea typeface="Times New Roman"/>
              <a:cs typeface="Times New Roman"/>
              <a:sym typeface="Times New Roman"/>
            </a:endParaRPr>
          </a:p>
          <a:p>
            <a:pPr marL="342900" lvl="0" indent="0" algn="l" rtl="0">
              <a:lnSpc>
                <a:spcPct val="100000"/>
              </a:lnSpc>
              <a:spcBef>
                <a:spcPts val="1000"/>
              </a:spcBef>
              <a:spcAft>
                <a:spcPts val="0"/>
              </a:spcAft>
              <a:buSzPts val="1800"/>
              <a:buNone/>
            </a:pPr>
            <a:endParaRPr sz="1800" dirty="0">
              <a:solidFill>
                <a:srgbClr val="000000"/>
              </a:solidFill>
              <a:latin typeface="Times New Roman"/>
              <a:ea typeface="Times New Roman"/>
              <a:cs typeface="Times New Roman"/>
              <a:sym typeface="Times New Roman"/>
            </a:endParaRPr>
          </a:p>
          <a:p>
            <a:pPr marL="342900" lvl="0" indent="-154940" algn="l" rtl="0">
              <a:lnSpc>
                <a:spcPct val="100000"/>
              </a:lnSpc>
              <a:spcBef>
                <a:spcPts val="590"/>
              </a:spcBef>
              <a:spcAft>
                <a:spcPts val="0"/>
              </a:spcAft>
              <a:buClr>
                <a:schemeClr val="dk1"/>
              </a:buClr>
              <a:buSzPts val="3200"/>
              <a:buNone/>
            </a:pPr>
            <a:endParaRPr sz="1800" dirty="0">
              <a:solidFill>
                <a:srgbClr val="000000"/>
              </a:solidFill>
              <a:latin typeface="Times New Roman"/>
              <a:ea typeface="Times New Roman"/>
              <a:cs typeface="Times New Roman"/>
              <a:sym typeface="Times New Roman"/>
            </a:endParaRPr>
          </a:p>
        </p:txBody>
      </p:sp>
      <p:sp>
        <p:nvSpPr>
          <p:cNvPr id="105" name="Google Shape;105;p2"/>
          <p:cNvSpPr txBox="1">
            <a:spLocks noGrp="1"/>
          </p:cNvSpPr>
          <p:nvPr>
            <p:ph type="dt" idx="10"/>
          </p:nvPr>
        </p:nvSpPr>
        <p:spPr>
          <a:xfrm>
            <a:off x="457200" y="6386513"/>
            <a:ext cx="2133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100">
                <a:latin typeface="Times New Roman" panose="02020603050405020304" pitchFamily="18" charset="0"/>
                <a:cs typeface="Times New Roman" panose="02020603050405020304" pitchFamily="18" charset="0"/>
              </a:rPr>
              <a:t>20/07/2026</a:t>
            </a:r>
            <a:endParaRPr sz="1100" dirty="0">
              <a:latin typeface="Times New Roman" panose="02020603050405020304" pitchFamily="18" charset="0"/>
              <a:cs typeface="Times New Roman" panose="02020603050405020304" pitchFamily="18" charset="0"/>
            </a:endParaRPr>
          </a:p>
        </p:txBody>
      </p:sp>
      <p:sp>
        <p:nvSpPr>
          <p:cNvPr id="106" name="Google Shape;106;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Times New Roman" panose="02020603050405020304" pitchFamily="18" charset="0"/>
                <a:cs typeface="Times New Roman" panose="02020603050405020304" pitchFamily="18" charset="0"/>
              </a:rPr>
              <a:t>2</a:t>
            </a:fld>
            <a:endParaRPr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idx="11"/>
          </p:nvPr>
        </p:nvSpPr>
        <p:spPr/>
        <p:txBody>
          <a:bodyPr/>
          <a:lstStyle/>
          <a:p>
            <a:r>
              <a:rPr lang="en-US" sz="105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Introduction</a:t>
            </a:r>
            <a:endParaRPr b="1" dirty="0">
              <a:latin typeface="Times New Roman" panose="02020603050405020304" pitchFamily="18" charset="0"/>
              <a:cs typeface="Times New Roman" panose="02020603050405020304" pitchFamily="18" charset="0"/>
            </a:endParaRPr>
          </a:p>
        </p:txBody>
      </p:sp>
      <p:sp>
        <p:nvSpPr>
          <p:cNvPr id="115" name="Google Shape;115;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114300" indent="0" algn="just">
              <a:buNone/>
            </a:pPr>
            <a:r>
              <a:rPr lang="en-IN" sz="2400" dirty="0">
                <a:latin typeface="Times New Roman" panose="02020603050405020304" pitchFamily="18" charset="0"/>
                <a:cs typeface="Times New Roman" panose="02020603050405020304" pitchFamily="18" charset="0"/>
              </a:rPr>
              <a:t>Aircraft component failures pose significant challenges to aviation safety, operational reliability, and maintenance costs. AERIS is an AI-powered Evidence-Driven Investigation Platform that goes beyond conventional predictive maintenance by identifying not only what is likely to fail, but also why it is failing. By intelligently fusing aircraft sensor data, maintenance history, operational context, and engineering knowledge, the system reconstructs the most probable failure narrative and generates explainable insights with actionable maintenance recommendations, enabling engineers to make faster, more informed decisions while enhancing aircraft safety and reducing unexpected failures.</a:t>
            </a:r>
          </a:p>
        </p:txBody>
      </p:sp>
      <p:sp>
        <p:nvSpPr>
          <p:cNvPr id="2" name="Date Placeholder 1"/>
          <p:cNvSpPr>
            <a:spLocks noGrp="1"/>
          </p:cNvSpPr>
          <p:nvPr>
            <p:ph type="dt" idx="10"/>
          </p:nvPr>
        </p:nvSpPr>
        <p:spPr/>
        <p:txBody>
          <a:bodyPr/>
          <a:lstStyle/>
          <a:p>
            <a:r>
              <a:rPr lang="en-US"/>
              <a:t>20/07/2026</a:t>
            </a:r>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4" name="Footer Placeholder 3"/>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g3f4fb01c2df_0_0"/>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a:buSzPts val="4400"/>
            </a:pPr>
            <a:r>
              <a:rPr lang="en-US" b="1" dirty="0">
                <a:latin typeface="Times New Roman" panose="02020603050405020304" pitchFamily="18" charset="0"/>
                <a:cs typeface="Times New Roman" panose="02020603050405020304" pitchFamily="18" charset="0"/>
                <a:sym typeface="Times New Roman"/>
              </a:rPr>
              <a:t>Base Paper</a:t>
            </a:r>
            <a:endParaRPr b="1" dirty="0">
              <a:latin typeface="Times New Roman" panose="02020603050405020304" pitchFamily="18" charset="0"/>
              <a:cs typeface="Times New Roman" panose="02020603050405020304" pitchFamily="18" charset="0"/>
              <a:sym typeface="Times New Roman"/>
            </a:endParaRPr>
          </a:p>
        </p:txBody>
      </p:sp>
      <p:sp>
        <p:nvSpPr>
          <p:cNvPr id="122" name="Google Shape;122;g3f4fb01c2df_0_0"/>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lgn="just">
              <a:buNone/>
            </a:pPr>
            <a:r>
              <a:rPr lang="en-US" sz="2400" b="1" dirty="0">
                <a:latin typeface="Times New Roman"/>
                <a:ea typeface="Times New Roman"/>
                <a:cs typeface="Times New Roman"/>
                <a:sym typeface="Times New Roman"/>
              </a:rPr>
              <a:t>TITLE </a:t>
            </a:r>
            <a:r>
              <a:rPr lang="en-US" sz="2400" dirty="0">
                <a:latin typeface="Times New Roman"/>
                <a:ea typeface="Times New Roman"/>
                <a:cs typeface="Times New Roman"/>
                <a:sym typeface="Times New Roman"/>
              </a:rPr>
              <a:t>: </a:t>
            </a:r>
            <a:r>
              <a:rPr lang="en-IN" sz="2400" dirty="0">
                <a:latin typeface="Times New Roman" panose="02020603050405020304" pitchFamily="18" charset="0"/>
                <a:cs typeface="Times New Roman" panose="02020603050405020304" pitchFamily="18" charset="0"/>
              </a:rPr>
              <a:t>Fault inference diagnosis based on causal network and large language model-enhanced knowledge graph network</a:t>
            </a:r>
            <a:endParaRPr sz="2400" dirty="0">
              <a:latin typeface="Times New Roman" panose="02020603050405020304" pitchFamily="18" charset="0"/>
              <a:ea typeface="Times New Roman"/>
              <a:cs typeface="Times New Roman" panose="02020603050405020304" pitchFamily="18" charset="0"/>
              <a:sym typeface="Times New Roman"/>
            </a:endParaRPr>
          </a:p>
          <a:p>
            <a:pPr marL="0" lvl="0" indent="0" algn="just" rtl="0">
              <a:spcBef>
                <a:spcPts val="360"/>
              </a:spcBef>
              <a:spcAft>
                <a:spcPts val="0"/>
              </a:spcAft>
              <a:buNone/>
            </a:pPr>
            <a:r>
              <a:rPr lang="en-US" sz="2400" b="1" dirty="0">
                <a:latin typeface="Times New Roman"/>
                <a:ea typeface="Times New Roman"/>
                <a:cs typeface="Times New Roman"/>
                <a:sym typeface="Times New Roman"/>
              </a:rPr>
              <a:t>YEAR</a:t>
            </a:r>
            <a:r>
              <a:rPr lang="en-US" sz="2400" dirty="0">
                <a:latin typeface="Times New Roman"/>
                <a:ea typeface="Times New Roman"/>
                <a:cs typeface="Times New Roman"/>
                <a:sym typeface="Times New Roman"/>
              </a:rPr>
              <a:t> : 2026</a:t>
            </a:r>
            <a:endParaRPr sz="2400" dirty="0">
              <a:latin typeface="Times New Roman"/>
              <a:ea typeface="Times New Roman"/>
              <a:cs typeface="Times New Roman"/>
              <a:sym typeface="Times New Roman"/>
            </a:endParaRPr>
          </a:p>
          <a:p>
            <a:pPr marL="0" lvl="0" indent="0" algn="just">
              <a:buNone/>
            </a:pPr>
            <a:r>
              <a:rPr lang="en-US" sz="2400" b="1" dirty="0">
                <a:latin typeface="Times New Roman"/>
                <a:ea typeface="Times New Roman"/>
                <a:cs typeface="Times New Roman"/>
                <a:sym typeface="Times New Roman"/>
              </a:rPr>
              <a:t>JOURNAL NAME</a:t>
            </a:r>
            <a:r>
              <a:rPr lang="en-US" sz="2400" dirty="0">
                <a:latin typeface="Times New Roman"/>
                <a:ea typeface="Times New Roman"/>
                <a:cs typeface="Times New Roman"/>
                <a:sym typeface="Times New Roman"/>
              </a:rPr>
              <a:t>: </a:t>
            </a:r>
            <a:r>
              <a:rPr lang="en-IN" sz="2400" dirty="0">
                <a:latin typeface="Times New Roman" panose="02020603050405020304" pitchFamily="18" charset="0"/>
                <a:cs typeface="Times New Roman" panose="02020603050405020304" pitchFamily="18" charset="0"/>
              </a:rPr>
              <a:t>Chinese Journal of Mechanical Engineering</a:t>
            </a:r>
            <a:endParaRPr sz="2400" dirty="0">
              <a:latin typeface="Times New Roman" panose="02020603050405020304" pitchFamily="18" charset="0"/>
              <a:ea typeface="Times New Roman"/>
              <a:cs typeface="Times New Roman" panose="02020603050405020304" pitchFamily="18" charset="0"/>
              <a:sym typeface="Times New Roman"/>
            </a:endParaRPr>
          </a:p>
          <a:p>
            <a:pPr marL="0" lvl="0" indent="0" algn="just">
              <a:buNone/>
            </a:pPr>
            <a:r>
              <a:rPr lang="en-US" sz="2400" b="1" dirty="0">
                <a:latin typeface="Times New Roman"/>
                <a:ea typeface="Times New Roman"/>
                <a:cs typeface="Times New Roman"/>
                <a:sym typeface="Times New Roman"/>
              </a:rPr>
              <a:t>ARTICLE TYPE </a:t>
            </a:r>
            <a:r>
              <a:rPr lang="en-US" sz="2400" dirty="0">
                <a:latin typeface="Times New Roman" panose="02020603050405020304" pitchFamily="18" charset="0"/>
                <a:ea typeface="Times New Roman"/>
                <a:cs typeface="Times New Roman" panose="02020603050405020304" pitchFamily="18" charset="0"/>
                <a:sym typeface="Times New Roman"/>
              </a:rPr>
              <a:t>: </a:t>
            </a:r>
            <a:r>
              <a:rPr lang="en-IN" sz="2400" dirty="0">
                <a:latin typeface="Times New Roman" panose="02020603050405020304" pitchFamily="18" charset="0"/>
                <a:cs typeface="Times New Roman" panose="02020603050405020304" pitchFamily="18" charset="0"/>
              </a:rPr>
              <a:t>Original Research Article</a:t>
            </a:r>
          </a:p>
          <a:p>
            <a:pPr marL="0" lvl="0" indent="0" algn="just">
              <a:buNone/>
            </a:pPr>
            <a:endParaRPr lang="en-IN" sz="2400" dirty="0">
              <a:latin typeface="Times New Roman" panose="02020603050405020304" pitchFamily="18" charset="0"/>
              <a:cs typeface="Times New Roman" panose="02020603050405020304" pitchFamily="18" charset="0"/>
            </a:endParaRPr>
          </a:p>
          <a:p>
            <a:pPr marL="0" lvl="0" indent="0" algn="just">
              <a:buNone/>
            </a:pPr>
            <a:r>
              <a:rPr lang="en-IN" sz="1800" dirty="0">
                <a:latin typeface="Times New Roman" panose="02020603050405020304" pitchFamily="18" charset="0"/>
                <a:cs typeface="Times New Roman" panose="02020603050405020304" pitchFamily="18" charset="0"/>
              </a:rPr>
              <a:t>The base paper proposes a </a:t>
            </a:r>
            <a:r>
              <a:rPr lang="en-IN" sz="1800" b="1" dirty="0">
                <a:latin typeface="Times New Roman" panose="02020603050405020304" pitchFamily="18" charset="0"/>
                <a:cs typeface="Times New Roman" panose="02020603050405020304" pitchFamily="18" charset="0"/>
              </a:rPr>
              <a:t>CN-LLM-KGN</a:t>
            </a:r>
            <a:r>
              <a:rPr lang="en-IN" sz="1800" dirty="0">
                <a:latin typeface="Times New Roman" panose="02020603050405020304" pitchFamily="18" charset="0"/>
                <a:cs typeface="Times New Roman" panose="02020603050405020304" pitchFamily="18" charset="0"/>
              </a:rPr>
              <a:t> framework that integrates </a:t>
            </a:r>
            <a:r>
              <a:rPr lang="en-IN" sz="1800" b="1" dirty="0">
                <a:latin typeface="Times New Roman" panose="02020603050405020304" pitchFamily="18" charset="0"/>
                <a:cs typeface="Times New Roman" panose="02020603050405020304" pitchFamily="18" charset="0"/>
              </a:rPr>
              <a:t>Causal Networks (CN), Knowledge Graphs (KG), and Large Language Models (LLMs)</a:t>
            </a:r>
            <a:r>
              <a:rPr lang="en-IN" sz="1800" dirty="0">
                <a:latin typeface="Times New Roman" panose="02020603050405020304" pitchFamily="18" charset="0"/>
                <a:cs typeface="Times New Roman" panose="02020603050405020304" pitchFamily="18" charset="0"/>
              </a:rPr>
              <a:t> to perform </a:t>
            </a:r>
            <a:r>
              <a:rPr lang="en-IN" sz="1800" b="1" dirty="0">
                <a:latin typeface="Times New Roman" panose="02020603050405020304" pitchFamily="18" charset="0"/>
                <a:cs typeface="Times New Roman" panose="02020603050405020304" pitchFamily="18" charset="0"/>
              </a:rPr>
              <a:t>fault diagnosis and root cause localization</a:t>
            </a:r>
            <a:r>
              <a:rPr lang="en-IN" sz="1800" dirty="0">
                <a:latin typeface="Times New Roman" panose="02020603050405020304" pitchFamily="18" charset="0"/>
                <a:cs typeface="Times New Roman" panose="02020603050405020304" pitchFamily="18" charset="0"/>
              </a:rPr>
              <a:t> in rotating machinery. It improves explainability by identifying causal relationships behind equipment failures and achieved </a:t>
            </a:r>
            <a:r>
              <a:rPr lang="en-IN" sz="1800" b="1" dirty="0">
                <a:latin typeface="Times New Roman" panose="02020603050405020304" pitchFamily="18" charset="0"/>
                <a:cs typeface="Times New Roman" panose="02020603050405020304" pitchFamily="18" charset="0"/>
              </a:rPr>
              <a:t>81.12% root cause localization accuracy</a:t>
            </a:r>
            <a:r>
              <a:rPr lang="en-IN"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ea typeface="Times New Roman"/>
              <a:cs typeface="Times New Roman" panose="02020603050405020304" pitchFamily="18" charset="0"/>
              <a:sym typeface="Times New Roman"/>
            </a:endParaRPr>
          </a:p>
        </p:txBody>
      </p:sp>
      <p:sp>
        <p:nvSpPr>
          <p:cNvPr id="123" name="Google Shape;123;g3f4fb01c2df_0_0"/>
          <p:cNvSpPr txBox="1">
            <a:spLocks noGrp="1"/>
          </p:cNvSpPr>
          <p:nvPr>
            <p:ph type="sldNum" idx="12"/>
          </p:nvPr>
        </p:nvSpPr>
        <p:spPr>
          <a:xfrm>
            <a:off x="6553200" y="635635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
        <p:nvSpPr>
          <p:cNvPr id="2" name="Date Placeholder 1"/>
          <p:cNvSpPr>
            <a:spLocks noGrp="1"/>
          </p:cNvSpPr>
          <p:nvPr>
            <p:ph type="dt" idx="10"/>
          </p:nvPr>
        </p:nvSpPr>
        <p:spPr/>
        <p:txBody>
          <a:bodyPr/>
          <a:lstStyle/>
          <a:p>
            <a:r>
              <a:rPr lang="en-US"/>
              <a:t>20/07/2026</a:t>
            </a:r>
          </a:p>
        </p:txBody>
      </p:sp>
      <p:sp>
        <p:nvSpPr>
          <p:cNvPr id="4" name="Footer Placeholder 3"/>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dirty="0">
                <a:latin typeface="Times New Roman" panose="02020603050405020304" pitchFamily="18" charset="0"/>
                <a:cs typeface="Times New Roman" panose="02020603050405020304" pitchFamily="18" charset="0"/>
              </a:rPr>
              <a:t>Abstract</a:t>
            </a:r>
            <a:endParaRPr b="1" dirty="0">
              <a:latin typeface="Times New Roman" panose="02020603050405020304" pitchFamily="18" charset="0"/>
              <a:cs typeface="Times New Roman" panose="02020603050405020304" pitchFamily="18" charset="0"/>
            </a:endParaRPr>
          </a:p>
        </p:txBody>
      </p:sp>
      <p:sp>
        <p:nvSpPr>
          <p:cNvPr id="129" name="Google Shape;129;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114300" lvl="0" indent="0" algn="just">
              <a:buNone/>
            </a:pPr>
            <a:r>
              <a:rPr lang="en-IN" sz="2400" dirty="0">
                <a:latin typeface="Times New Roman" panose="02020603050405020304" pitchFamily="18" charset="0"/>
                <a:cs typeface="Times New Roman" panose="02020603050405020304" pitchFamily="18" charset="0"/>
              </a:rPr>
              <a:t>Aircraft component failure investigation is critical for ensuring aviation safety and operational reliability. AERIS is an AI-powered Evidence-Driven Aircraft Investigation Platform that predicts potential failures while identifying the underlying causes through intelligent evidence fusion. By integrating aircraft sensor data, maintenance history, operational context, and engineering knowledge, the system generates explainable root-cause analysis, evidence-backed maintenance recommendations, and comprehensive investigation reports. It is designed to support maintenance engineers with transparent, reliable, and intelligent decision-making.</a:t>
            </a:r>
            <a:endParaRPr sz="2400" dirty="0">
              <a:latin typeface="Times New Roman" panose="02020603050405020304" pitchFamily="18" charset="0"/>
              <a:ea typeface="Times New Roman"/>
              <a:cs typeface="Times New Roman" panose="02020603050405020304" pitchFamily="18" charset="0"/>
              <a:sym typeface="Times New Roman"/>
            </a:endParaRPr>
          </a:p>
        </p:txBody>
      </p:sp>
      <p:sp>
        <p:nvSpPr>
          <p:cNvPr id="130" name="Google Shape;130;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32" name="Google Shape;132;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8" name="Google Shape;138;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Scope and Motivation</a:t>
            </a:r>
            <a:endParaRPr b="1" dirty="0">
              <a:latin typeface="Times New Roman" panose="02020603050405020304" pitchFamily="18" charset="0"/>
              <a:cs typeface="Times New Roman" panose="02020603050405020304" pitchFamily="18" charset="0"/>
            </a:endParaRPr>
          </a:p>
        </p:txBody>
      </p:sp>
      <p:sp>
        <p:nvSpPr>
          <p:cNvPr id="139" name="Google Shape;139;p4"/>
          <p:cNvSpPr txBox="1">
            <a:spLocks noGrp="1"/>
          </p:cNvSpPr>
          <p:nvPr>
            <p:ph type="body" idx="1"/>
          </p:nvPr>
        </p:nvSpPr>
        <p:spPr>
          <a:xfrm>
            <a:off x="457200" y="1600200"/>
            <a:ext cx="8229600" cy="4853305"/>
          </a:xfrm>
          <a:prstGeom prst="rect">
            <a:avLst/>
          </a:prstGeom>
          <a:noFill/>
          <a:ln>
            <a:noFill/>
          </a:ln>
        </p:spPr>
        <p:txBody>
          <a:bodyPr spcFirstLastPara="1" wrap="square" lIns="91425" tIns="45700" rIns="91425" bIns="45700" anchor="t" anchorCtr="0">
            <a:noAutofit/>
          </a:bodyPr>
          <a:lstStyle/>
          <a:p>
            <a:pPr marL="342900" lvl="0" indent="-154940" algn="just">
              <a:lnSpc>
                <a:spcPct val="150000"/>
              </a:lnSpc>
              <a:spcBef>
                <a:spcPts val="590"/>
              </a:spcBef>
              <a:buSzPts val="2000"/>
              <a:buNone/>
            </a:pPr>
            <a:r>
              <a:rPr lang="en-US" sz="2000" b="1" dirty="0">
                <a:latin typeface="Times New Roman"/>
                <a:ea typeface="Times New Roman"/>
                <a:cs typeface="Times New Roman"/>
                <a:sym typeface="Times New Roman"/>
              </a:rPr>
              <a:t>Scope: </a:t>
            </a:r>
            <a:r>
              <a:rPr lang="en-IN" sz="2000" dirty="0">
                <a:latin typeface="Times New Roman" panose="02020603050405020304" pitchFamily="18" charset="0"/>
                <a:cs typeface="Times New Roman" panose="02020603050405020304" pitchFamily="18" charset="0"/>
              </a:rPr>
              <a:t>AERIS predicts and investigates aircraft component failures using AI by integrating sensor data, maintenance history, and operational records. It provides explainable root-cause analysis, evidence-backed recommendations, and intelligent investigation reports for maintenance engineers.</a:t>
            </a:r>
            <a:endParaRPr lang="en-US" sz="2000" dirty="0">
              <a:latin typeface="Times New Roman" panose="02020603050405020304" pitchFamily="18" charset="0"/>
              <a:ea typeface="Times New Roman"/>
              <a:cs typeface="Times New Roman" panose="02020603050405020304" pitchFamily="18" charset="0"/>
              <a:sym typeface="Times New Roman"/>
            </a:endParaRPr>
          </a:p>
          <a:p>
            <a:pPr marL="342900" lvl="0" indent="-154940" algn="just">
              <a:lnSpc>
                <a:spcPct val="150000"/>
              </a:lnSpc>
              <a:spcBef>
                <a:spcPts val="590"/>
              </a:spcBef>
              <a:buSzPts val="2000"/>
              <a:buNone/>
            </a:pPr>
            <a:r>
              <a:rPr lang="en-US" sz="2000" b="1" dirty="0">
                <a:latin typeface="Times New Roman"/>
                <a:ea typeface="Times New Roman"/>
                <a:cs typeface="Times New Roman"/>
                <a:sym typeface="Times New Roman"/>
              </a:rPr>
              <a:t>Motivation:</a:t>
            </a:r>
            <a:r>
              <a:rPr lang="en-US" sz="2000" dirty="0">
                <a:latin typeface="Times New Roman"/>
                <a:ea typeface="Times New Roman"/>
                <a:cs typeface="Times New Roman"/>
                <a:sym typeface="Times New Roman"/>
              </a:rPr>
              <a:t> </a:t>
            </a:r>
            <a:r>
              <a:rPr lang="en-IN" sz="2000" dirty="0">
                <a:latin typeface="Times New Roman" panose="02020603050405020304" pitchFamily="18" charset="0"/>
                <a:cs typeface="Times New Roman" panose="02020603050405020304" pitchFamily="18" charset="0"/>
              </a:rPr>
              <a:t>To improve aviation safety by developing a transparent AI system that not only predicts failures but also explains why they occur. This enables faster maintenance decisions, reduces unexpected failures, and improves aircraft reliability.</a:t>
            </a:r>
            <a:endParaRPr lang="en-US" sz="2000" dirty="0">
              <a:latin typeface="Times New Roman" panose="02020603050405020304" pitchFamily="18" charset="0"/>
              <a:ea typeface="Times New Roman"/>
              <a:cs typeface="Times New Roman" panose="02020603050405020304" pitchFamily="18" charset="0"/>
              <a:sym typeface="Times New Roman"/>
            </a:endParaRPr>
          </a:p>
        </p:txBody>
      </p:sp>
      <p:sp>
        <p:nvSpPr>
          <p:cNvPr id="141" name="Google Shape;141;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42" name="Google Shape;142;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6"/>
          <p:cNvSpPr txBox="1">
            <a:spLocks noGrp="1"/>
          </p:cNvSpPr>
          <p:nvPr>
            <p:ph type="title"/>
          </p:nvPr>
        </p:nvSpPr>
        <p:spPr>
          <a:xfrm>
            <a:off x="457200" y="-110887"/>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Literature Survey</a:t>
            </a:r>
            <a:endParaRPr b="1" dirty="0">
              <a:latin typeface="Times New Roman" panose="02020603050405020304" pitchFamily="18" charset="0"/>
              <a:cs typeface="Times New Roman" panose="02020603050405020304" pitchFamily="18" charset="0"/>
            </a:endParaRPr>
          </a:p>
        </p:txBody>
      </p:sp>
      <p:graphicFrame>
        <p:nvGraphicFramePr>
          <p:cNvPr id="149" name="Google Shape;149;p6"/>
          <p:cNvGraphicFramePr/>
          <p:nvPr>
            <p:extLst>
              <p:ext uri="{D42A27DB-BD31-4B8C-83A1-F6EECF244321}">
                <p14:modId xmlns:p14="http://schemas.microsoft.com/office/powerpoint/2010/main" val="469151307"/>
              </p:ext>
            </p:extLst>
          </p:nvPr>
        </p:nvGraphicFramePr>
        <p:xfrm>
          <a:off x="457200" y="730664"/>
          <a:ext cx="8229601" cy="5613863"/>
        </p:xfrm>
        <a:graphic>
          <a:graphicData uri="http://schemas.openxmlformats.org/drawingml/2006/table">
            <a:tbl>
              <a:tblPr firstRow="1" bandRow="1">
                <a:noFill/>
                <a:tableStyleId>{6EB1FC0C-1D29-42B7-B8E6-0F5DF3C737FC}</a:tableStyleId>
              </a:tblPr>
              <a:tblGrid>
                <a:gridCol w="289018">
                  <a:extLst>
                    <a:ext uri="{9D8B030D-6E8A-4147-A177-3AD203B41FA5}">
                      <a16:colId xmlns:a16="http://schemas.microsoft.com/office/drawing/2014/main" val="20000"/>
                    </a:ext>
                  </a:extLst>
                </a:gridCol>
                <a:gridCol w="2334333">
                  <a:extLst>
                    <a:ext uri="{9D8B030D-6E8A-4147-A177-3AD203B41FA5}">
                      <a16:colId xmlns:a16="http://schemas.microsoft.com/office/drawing/2014/main" val="20001"/>
                    </a:ext>
                  </a:extLst>
                </a:gridCol>
                <a:gridCol w="665826">
                  <a:extLst>
                    <a:ext uri="{9D8B030D-6E8A-4147-A177-3AD203B41FA5}">
                      <a16:colId xmlns:a16="http://schemas.microsoft.com/office/drawing/2014/main" val="20002"/>
                    </a:ext>
                  </a:extLst>
                </a:gridCol>
                <a:gridCol w="1171852">
                  <a:extLst>
                    <a:ext uri="{9D8B030D-6E8A-4147-A177-3AD203B41FA5}">
                      <a16:colId xmlns:a16="http://schemas.microsoft.com/office/drawing/2014/main" val="20003"/>
                    </a:ext>
                  </a:extLst>
                </a:gridCol>
                <a:gridCol w="2201662">
                  <a:extLst>
                    <a:ext uri="{9D8B030D-6E8A-4147-A177-3AD203B41FA5}">
                      <a16:colId xmlns:a16="http://schemas.microsoft.com/office/drawing/2014/main" val="20004"/>
                    </a:ext>
                  </a:extLst>
                </a:gridCol>
                <a:gridCol w="1566910">
                  <a:extLst>
                    <a:ext uri="{9D8B030D-6E8A-4147-A177-3AD203B41FA5}">
                      <a16:colId xmlns:a16="http://schemas.microsoft.com/office/drawing/2014/main" val="2874578075"/>
                    </a:ext>
                  </a:extLst>
                </a:gridCol>
              </a:tblGrid>
              <a:tr h="729497">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S no</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Title of the Paper</a:t>
                      </a:r>
                      <a:endParaRPr sz="1600" u="none" strike="noStrike" cap="none">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Year</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Journal/</a:t>
                      </a:r>
                      <a:endParaRPr sz="1600" u="none" strike="noStrike" cap="none">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Conference</a:t>
                      </a:r>
                      <a:endParaRPr sz="1600" u="none" strike="noStrike" cap="none">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Inferences/Findings</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i="0" u="none" strike="noStrike" cap="none" dirty="0">
                          <a:solidFill>
                            <a:srgbClr val="000000"/>
                          </a:solidFill>
                          <a:latin typeface="Times New Roman" panose="02020603050405020304" pitchFamily="18" charset="0"/>
                          <a:ea typeface="Calibri"/>
                          <a:cs typeface="Times New Roman" panose="02020603050405020304" pitchFamily="18" charset="0"/>
                          <a:sym typeface="Arial"/>
                        </a:rPr>
                        <a:t>Limitations</a:t>
                      </a:r>
                      <a:endParaRPr sz="1600" b="1" i="0" u="none" strike="noStrike" cap="none" dirty="0">
                        <a:solidFill>
                          <a:srgbClr val="000000"/>
                        </a:solidFill>
                        <a:latin typeface="Times New Roman" panose="02020603050405020304" pitchFamily="18" charset="0"/>
                        <a:ea typeface="Calibri"/>
                        <a:cs typeface="Times New Roman" panose="02020603050405020304" pitchFamily="18" charset="0"/>
                        <a:sym typeface="Arial"/>
                      </a:endParaRPr>
                    </a:p>
                  </a:txBody>
                  <a:tcPr marL="37075" marR="37075" marT="37075" marB="37075">
                    <a:lnB w="381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1233684">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dirty="0">
                          <a:solidFill>
                            <a:srgbClr val="000000"/>
                          </a:solidFill>
                          <a:latin typeface="Times New Roman" panose="02020603050405020304" pitchFamily="18" charset="0"/>
                          <a:cs typeface="Times New Roman" panose="02020603050405020304" pitchFamily="18" charset="0"/>
                        </a:rPr>
                        <a:t>1</a:t>
                      </a:r>
                      <a:endParaRPr sz="1400" u="none" strike="noStrike" cap="none" dirty="0">
                        <a:latin typeface="Times New Roman" panose="02020603050405020304" pitchFamily="18" charset="0"/>
                        <a:cs typeface="Times New Roman" panose="02020603050405020304" pitchFamily="18" charset="0"/>
                      </a:endParaRPr>
                    </a:p>
                  </a:txBody>
                  <a:tcPr marL="37075" marR="37075" marT="37075" marB="37075">
                    <a:lnR w="12700" cap="flat" cmpd="sng">
                      <a:solidFill>
                        <a:schemeClr val="lt1"/>
                      </a:solidFill>
                      <a:prstDash val="solid"/>
                      <a:round/>
                      <a:headEnd type="none" w="sm" len="sm"/>
                      <a:tailEnd type="none" w="sm" len="sm"/>
                    </a:lnR>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Fault Inference Diagnosis Based on Causal Network and Large Language Model-Enhanced Knowledge Graph Network</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2026</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IN" dirty="0">
                          <a:latin typeface="Times New Roman" panose="02020603050405020304" pitchFamily="18" charset="0"/>
                          <a:cs typeface="Times New Roman" panose="02020603050405020304" pitchFamily="18" charset="0"/>
                        </a:rPr>
                        <a:t>Chinese Journal of Mechanical Engineering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Improved root cause localization using </a:t>
                      </a:r>
                      <a:r>
                        <a:rPr lang="en-IN" b="1" dirty="0">
                          <a:latin typeface="Times New Roman" panose="02020603050405020304" pitchFamily="18" charset="0"/>
                          <a:cs typeface="Times New Roman" panose="02020603050405020304" pitchFamily="18" charset="0"/>
                        </a:rPr>
                        <a:t>CN + LLM + Knowledge Graph</a:t>
                      </a:r>
                      <a:r>
                        <a:rPr lang="en-IN" dirty="0">
                          <a:latin typeface="Times New Roman" panose="02020603050405020304" pitchFamily="18" charset="0"/>
                          <a:cs typeface="Times New Roman" panose="02020603050405020304" pitchFamily="18" charset="0"/>
                        </a:rPr>
                        <a:t> with explainable reasoning.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Limited to rotating machinery; not designed for aerospace systems.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1165469">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a:solidFill>
                            <a:srgbClr val="000000"/>
                          </a:solidFill>
                          <a:latin typeface="Times New Roman" panose="02020603050405020304" pitchFamily="18" charset="0"/>
                          <a:cs typeface="Times New Roman" panose="02020603050405020304" pitchFamily="18" charset="0"/>
                        </a:rPr>
                        <a:t>2</a:t>
                      </a:r>
                      <a:endParaRPr sz="1400" u="none" strike="noStrike" cap="none">
                        <a:latin typeface="Times New Roman" panose="02020603050405020304" pitchFamily="18" charset="0"/>
                        <a:cs typeface="Times New Roman" panose="02020603050405020304" pitchFamily="18" charset="0"/>
                      </a:endParaRPr>
                    </a:p>
                  </a:txBody>
                  <a:tcPr marL="37075" marR="37075" marT="37075" marB="37075"/>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Aircraft Engine Root Cause Analysis (Nature Paper)</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2026</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Scientific Reports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chemeClr val="dk1"/>
                        </a:buClr>
                        <a:buSzPts val="1100"/>
                        <a:buFont typeface="Arial"/>
                        <a:buNone/>
                      </a:pPr>
                      <a:r>
                        <a:rPr lang="en-IN" dirty="0">
                          <a:latin typeface="Times New Roman" panose="02020603050405020304" pitchFamily="18" charset="0"/>
                          <a:cs typeface="Times New Roman" panose="02020603050405020304" pitchFamily="18" charset="0"/>
                        </a:rPr>
                        <a:t>Improved aircraft fault diagnosis using graph reasoning.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chemeClr val="dk1"/>
                        </a:buClr>
                        <a:buSzPts val="1100"/>
                        <a:buFont typeface="Arial"/>
                        <a:buNone/>
                      </a:pPr>
                      <a:r>
                        <a:rPr lang="en-IN" dirty="0">
                          <a:latin typeface="Times New Roman" panose="02020603050405020304" pitchFamily="18" charset="0"/>
                          <a:cs typeface="Times New Roman" panose="02020603050405020304" pitchFamily="18" charset="0"/>
                        </a:rPr>
                        <a:t>No LLM or RAG integration.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965938">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a:solidFill>
                            <a:srgbClr val="000000"/>
                          </a:solidFill>
                          <a:latin typeface="Times New Roman" panose="02020603050405020304" pitchFamily="18" charset="0"/>
                          <a:cs typeface="Times New Roman" panose="02020603050405020304" pitchFamily="18" charset="0"/>
                        </a:rPr>
                        <a:t>3</a:t>
                      </a:r>
                      <a:endParaRPr sz="1400" u="none" strike="noStrike" cap="none">
                        <a:latin typeface="Times New Roman" panose="02020603050405020304" pitchFamily="18" charset="0"/>
                        <a:cs typeface="Times New Roman" panose="02020603050405020304" pitchFamily="18" charset="0"/>
                      </a:endParaRPr>
                    </a:p>
                  </a:txBody>
                  <a:tcPr marL="37075" marR="37075" marT="37075" marB="37075">
                    <a:lnR w="12700" cap="flat" cmpd="sng" algn="ctr">
                      <a:solidFill>
                        <a:schemeClr val="lt1"/>
                      </a:solidFill>
                      <a:prstDash val="solid"/>
                      <a:round/>
                      <a:headEnd type="none" w="sm" len="sm"/>
                      <a:tailEnd type="none" w="sm" len="sm"/>
                    </a:lnR>
                  </a:tcPr>
                </a:tc>
                <a:tc>
                  <a:txBody>
                    <a:bodyPr/>
                    <a:lstStyle/>
                    <a:p>
                      <a:pPr>
                        <a:buNone/>
                      </a:pPr>
                      <a:r>
                        <a:rPr lang="en-IN" dirty="0" err="1">
                          <a:latin typeface="Times New Roman" panose="02020603050405020304" pitchFamily="18" charset="0"/>
                          <a:cs typeface="Times New Roman" panose="02020603050405020304" pitchFamily="18" charset="0"/>
                        </a:rPr>
                        <a:t>DiagLLM</a:t>
                      </a:r>
                      <a:r>
                        <a:rPr lang="en-IN" dirty="0">
                          <a:latin typeface="Times New Roman" panose="02020603050405020304" pitchFamily="18" charset="0"/>
                          <a:cs typeface="Times New Roman" panose="02020603050405020304" pitchFamily="18" charset="0"/>
                        </a:rPr>
                        <a:t>: Multimodal Reasoning with Large Language Model for Explainable Bearing Fault Diagnosis</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None/>
                      </a:pPr>
                      <a:r>
                        <a:rPr lang="en-IN" dirty="0">
                          <a:latin typeface="Times New Roman" panose="02020603050405020304" pitchFamily="18" charset="0"/>
                          <a:cs typeface="Times New Roman" panose="02020603050405020304" pitchFamily="18" charset="0"/>
                        </a:rPr>
                        <a:t>Science China Information Sciences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Uses LLM for explainable fault diagnosis through multimodal reasoning.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Focused only on bearing faults; lacks multi-source evidence fusion.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1326973">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a:solidFill>
                            <a:srgbClr val="000000"/>
                          </a:solidFill>
                          <a:latin typeface="Times New Roman" panose="02020603050405020304" pitchFamily="18" charset="0"/>
                          <a:cs typeface="Times New Roman" panose="02020603050405020304" pitchFamily="18" charset="0"/>
                        </a:rPr>
                        <a:t>4</a:t>
                      </a:r>
                      <a:endParaRPr sz="1400" u="none" strike="noStrike" cap="none">
                        <a:latin typeface="Times New Roman" panose="02020603050405020304" pitchFamily="18" charset="0"/>
                        <a:cs typeface="Times New Roman" panose="02020603050405020304" pitchFamily="18" charset="0"/>
                      </a:endParaRPr>
                    </a:p>
                  </a:txBody>
                  <a:tcPr marL="37075" marR="37075" marT="37075" marB="37075">
                    <a:lnR w="12700" cap="flat" cmpd="sng">
                      <a:solidFill>
                        <a:schemeClr val="lt1"/>
                      </a:solidFill>
                      <a:prstDash val="solid"/>
                      <a:round/>
                      <a:headEnd type="none" w="sm" len="sm"/>
                      <a:tailEnd type="none" w="sm" len="sm"/>
                    </a:lnR>
                  </a:tcPr>
                </a:tc>
                <a:tc>
                  <a:txBody>
                    <a:bodyPr/>
                    <a:lstStyle/>
                    <a:p>
                      <a:pPr marL="127000" marR="0" lvl="0" indent="-12700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Causal Inference-Enabled Graph Neural Networks for Generalized Fault Diagnosis in Industrial IoT Systems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127000" marR="0" lvl="0" indent="-12700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Information Sciences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Applies causal inference with GNNs for generalized industrial fault diagnosis.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Industrial IoT focused; no knowledge retrieval or report generation.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50" name="Google Shape;150;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3" name="Footer Placeholder 2"/>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A6E37BEC-6BB4-4553-46FF-E12AAE0676AA}"/>
            </a:ext>
          </a:extLst>
        </p:cNvPr>
        <p:cNvGrpSpPr/>
        <p:nvPr/>
      </p:nvGrpSpPr>
      <p:grpSpPr>
        <a:xfrm>
          <a:off x="0" y="0"/>
          <a:ext cx="0" cy="0"/>
          <a:chOff x="0" y="0"/>
          <a:chExt cx="0" cy="0"/>
        </a:xfrm>
      </p:grpSpPr>
      <p:sp>
        <p:nvSpPr>
          <p:cNvPr id="147" name="Google Shape;147;p6">
            <a:extLst>
              <a:ext uri="{FF2B5EF4-FFF2-40B4-BE49-F238E27FC236}">
                <a16:creationId xmlns:a16="http://schemas.microsoft.com/office/drawing/2014/main" id="{FB1027E5-A680-3230-0AF6-2373E59187B0}"/>
              </a:ext>
            </a:extLst>
          </p:cNvPr>
          <p:cNvSpPr txBox="1">
            <a:spLocks noGrp="1"/>
          </p:cNvSpPr>
          <p:nvPr>
            <p:ph type="title"/>
          </p:nvPr>
        </p:nvSpPr>
        <p:spPr>
          <a:xfrm>
            <a:off x="457200" y="-110887"/>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Literature Survey</a:t>
            </a:r>
            <a:endParaRPr b="1" dirty="0">
              <a:latin typeface="Times New Roman" panose="02020603050405020304" pitchFamily="18" charset="0"/>
              <a:cs typeface="Times New Roman" panose="02020603050405020304" pitchFamily="18" charset="0"/>
            </a:endParaRPr>
          </a:p>
        </p:txBody>
      </p:sp>
      <p:graphicFrame>
        <p:nvGraphicFramePr>
          <p:cNvPr id="149" name="Google Shape;149;p6">
            <a:extLst>
              <a:ext uri="{FF2B5EF4-FFF2-40B4-BE49-F238E27FC236}">
                <a16:creationId xmlns:a16="http://schemas.microsoft.com/office/drawing/2014/main" id="{4D439736-7DEF-545B-A553-9AD4599C3E10}"/>
              </a:ext>
            </a:extLst>
          </p:cNvPr>
          <p:cNvGraphicFramePr/>
          <p:nvPr>
            <p:extLst>
              <p:ext uri="{D42A27DB-BD31-4B8C-83A1-F6EECF244321}">
                <p14:modId xmlns:p14="http://schemas.microsoft.com/office/powerpoint/2010/main" val="411047869"/>
              </p:ext>
            </p:extLst>
          </p:nvPr>
        </p:nvGraphicFramePr>
        <p:xfrm>
          <a:off x="457200" y="730664"/>
          <a:ext cx="8443358" cy="5872639"/>
        </p:xfrm>
        <a:graphic>
          <a:graphicData uri="http://schemas.openxmlformats.org/drawingml/2006/table">
            <a:tbl>
              <a:tblPr firstRow="1" bandRow="1">
                <a:noFill/>
                <a:tableStyleId>{6EB1FC0C-1D29-42B7-B8E6-0F5DF3C737FC}</a:tableStyleId>
              </a:tblPr>
              <a:tblGrid>
                <a:gridCol w="502775">
                  <a:extLst>
                    <a:ext uri="{9D8B030D-6E8A-4147-A177-3AD203B41FA5}">
                      <a16:colId xmlns:a16="http://schemas.microsoft.com/office/drawing/2014/main" val="20000"/>
                    </a:ext>
                  </a:extLst>
                </a:gridCol>
                <a:gridCol w="2334333">
                  <a:extLst>
                    <a:ext uri="{9D8B030D-6E8A-4147-A177-3AD203B41FA5}">
                      <a16:colId xmlns:a16="http://schemas.microsoft.com/office/drawing/2014/main" val="20001"/>
                    </a:ext>
                  </a:extLst>
                </a:gridCol>
                <a:gridCol w="665826">
                  <a:extLst>
                    <a:ext uri="{9D8B030D-6E8A-4147-A177-3AD203B41FA5}">
                      <a16:colId xmlns:a16="http://schemas.microsoft.com/office/drawing/2014/main" val="20002"/>
                    </a:ext>
                  </a:extLst>
                </a:gridCol>
                <a:gridCol w="1171852">
                  <a:extLst>
                    <a:ext uri="{9D8B030D-6E8A-4147-A177-3AD203B41FA5}">
                      <a16:colId xmlns:a16="http://schemas.microsoft.com/office/drawing/2014/main" val="20003"/>
                    </a:ext>
                  </a:extLst>
                </a:gridCol>
                <a:gridCol w="2201662">
                  <a:extLst>
                    <a:ext uri="{9D8B030D-6E8A-4147-A177-3AD203B41FA5}">
                      <a16:colId xmlns:a16="http://schemas.microsoft.com/office/drawing/2014/main" val="20004"/>
                    </a:ext>
                  </a:extLst>
                </a:gridCol>
                <a:gridCol w="1566910">
                  <a:extLst>
                    <a:ext uri="{9D8B030D-6E8A-4147-A177-3AD203B41FA5}">
                      <a16:colId xmlns:a16="http://schemas.microsoft.com/office/drawing/2014/main" val="2874578075"/>
                    </a:ext>
                  </a:extLst>
                </a:gridCol>
              </a:tblGrid>
              <a:tr h="890872">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S no</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Title of the Paper</a:t>
                      </a:r>
                      <a:endParaRPr sz="1600" u="none" strike="noStrike" cap="none">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Year</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Journal/</a:t>
                      </a:r>
                      <a:endParaRPr sz="1600" u="none" strike="noStrike" cap="none">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Conference</a:t>
                      </a:r>
                      <a:endParaRPr sz="1600" u="none" strike="noStrike" cap="none">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Inferences/Findings</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i="0" u="none" strike="noStrike" cap="none" dirty="0">
                          <a:solidFill>
                            <a:srgbClr val="000000"/>
                          </a:solidFill>
                          <a:latin typeface="Times New Roman" panose="02020603050405020304" pitchFamily="18" charset="0"/>
                          <a:ea typeface="Calibri"/>
                          <a:cs typeface="Times New Roman" panose="02020603050405020304" pitchFamily="18" charset="0"/>
                          <a:sym typeface="Arial"/>
                        </a:rPr>
                        <a:t>Limitations</a:t>
                      </a:r>
                      <a:endParaRPr sz="1600" b="1" i="0" u="none" strike="noStrike" cap="none" dirty="0">
                        <a:solidFill>
                          <a:srgbClr val="000000"/>
                        </a:solidFill>
                        <a:latin typeface="Times New Roman" panose="02020603050405020304" pitchFamily="18" charset="0"/>
                        <a:ea typeface="Calibri"/>
                        <a:cs typeface="Times New Roman" panose="02020603050405020304" pitchFamily="18" charset="0"/>
                        <a:sym typeface="Arial"/>
                      </a:endParaRPr>
                    </a:p>
                  </a:txBody>
                  <a:tcPr marL="37075" marR="37075" marT="37075" marB="37075">
                    <a:lnB w="381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1233684">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dirty="0">
                          <a:solidFill>
                            <a:srgbClr val="000000"/>
                          </a:solidFill>
                          <a:latin typeface="Times New Roman" panose="02020603050405020304" pitchFamily="18" charset="0"/>
                          <a:cs typeface="Times New Roman" panose="02020603050405020304" pitchFamily="18" charset="0"/>
                        </a:rPr>
                        <a:t>6</a:t>
                      </a:r>
                      <a:endParaRPr sz="1400" u="none" strike="noStrike" cap="none" dirty="0">
                        <a:latin typeface="Times New Roman" panose="02020603050405020304" pitchFamily="18" charset="0"/>
                        <a:cs typeface="Times New Roman" panose="02020603050405020304" pitchFamily="18" charset="0"/>
                      </a:endParaRPr>
                    </a:p>
                  </a:txBody>
                  <a:tcPr marL="37075" marR="37075" marT="37075" marB="37075">
                    <a:lnR w="12700" cap="flat" cmpd="sng">
                      <a:solidFill>
                        <a:schemeClr val="lt1"/>
                      </a:solidFill>
                      <a:prstDash val="solid"/>
                      <a:round/>
                      <a:headEnd type="none" w="sm" len="sm"/>
                      <a:tailEnd type="none" w="sm" len="sm"/>
                    </a:lnR>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Large Language Model Assisted Fine-Grained Knowledge Graph Construction for Robotic Fault Diagnosis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IN" dirty="0">
                          <a:latin typeface="Times New Roman" panose="02020603050405020304" pitchFamily="18" charset="0"/>
                          <a:cs typeface="Times New Roman" panose="02020603050405020304" pitchFamily="18" charset="0"/>
                        </a:rPr>
                        <a:t>Advanced Engineering Informatics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Uses LLMs to enhance Knowledge Graph construction for diagnosis.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Focused on KG construction rather than complete investigation.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1165469">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dirty="0">
                          <a:solidFill>
                            <a:srgbClr val="000000"/>
                          </a:solidFill>
                          <a:latin typeface="Times New Roman" panose="02020603050405020304" pitchFamily="18" charset="0"/>
                          <a:cs typeface="Times New Roman" panose="02020603050405020304" pitchFamily="18" charset="0"/>
                        </a:rPr>
                        <a:t>7</a:t>
                      </a:r>
                      <a:endParaRPr sz="1400" u="none" strike="noStrike" cap="none" dirty="0">
                        <a:latin typeface="Times New Roman" panose="02020603050405020304" pitchFamily="18" charset="0"/>
                        <a:cs typeface="Times New Roman" panose="02020603050405020304" pitchFamily="18" charset="0"/>
                      </a:endParaRPr>
                    </a:p>
                  </a:txBody>
                  <a:tcPr marL="37075" marR="37075" marT="37075" marB="37075"/>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Causal Discovery for Rolling Bearing Fault Under Missing Data: From the Perspective of Causal Effect and Information Flow</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IEEE Transactions on Instrumentation and Measurement</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chemeClr val="dk1"/>
                        </a:buClr>
                        <a:buSzPts val="1100"/>
                        <a:buFont typeface="Arial"/>
                        <a:buNone/>
                      </a:pPr>
                      <a:r>
                        <a:rPr lang="en-IN" dirty="0">
                          <a:latin typeface="Times New Roman" panose="02020603050405020304" pitchFamily="18" charset="0"/>
                          <a:cs typeface="Times New Roman" panose="02020603050405020304" pitchFamily="18" charset="0"/>
                        </a:rPr>
                        <a:t>Discovers causal relationships from incomplete sensor data.</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chemeClr val="dk1"/>
                        </a:buClr>
                        <a:buSzPts val="1100"/>
                        <a:buFont typeface="Arial"/>
                        <a:buNone/>
                      </a:pPr>
                      <a:r>
                        <a:rPr lang="en-IN" dirty="0">
                          <a:latin typeface="Times New Roman" panose="02020603050405020304" pitchFamily="18" charset="0"/>
                          <a:cs typeface="Times New Roman" panose="02020603050405020304" pitchFamily="18" charset="0"/>
                        </a:rPr>
                        <a:t>Limited to causal discovery; lacks recommendation and reporting.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965938">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dirty="0">
                          <a:solidFill>
                            <a:srgbClr val="000000"/>
                          </a:solidFill>
                          <a:latin typeface="Times New Roman" panose="02020603050405020304" pitchFamily="18" charset="0"/>
                          <a:cs typeface="Times New Roman" panose="02020603050405020304" pitchFamily="18" charset="0"/>
                        </a:rPr>
                        <a:t>8</a:t>
                      </a:r>
                      <a:endParaRPr sz="1400" u="none" strike="noStrike" cap="none" dirty="0">
                        <a:latin typeface="Times New Roman" panose="02020603050405020304" pitchFamily="18" charset="0"/>
                        <a:cs typeface="Times New Roman" panose="02020603050405020304" pitchFamily="18" charset="0"/>
                      </a:endParaRPr>
                    </a:p>
                  </a:txBody>
                  <a:tcPr marL="37075" marR="37075" marT="37075" marB="37075">
                    <a:lnR w="12700" cap="flat" cmpd="sng">
                      <a:solidFill>
                        <a:schemeClr val="lt1"/>
                      </a:solidFill>
                      <a:prstDash val="solid"/>
                      <a:round/>
                      <a:headEnd type="none" w="sm" len="sm"/>
                      <a:tailEnd type="none" w="sm" len="sm"/>
                    </a:lnR>
                  </a:tcPr>
                </a:tc>
                <a:tc>
                  <a:txBody>
                    <a:bodyPr/>
                    <a:lstStyle/>
                    <a:p>
                      <a:pPr marL="0" marR="0" lvl="0" indent="0" algn="just" rtl="0">
                        <a:lnSpc>
                          <a:spcPct val="100000"/>
                        </a:lnSpc>
                        <a:spcBef>
                          <a:spcPts val="0"/>
                        </a:spcBef>
                        <a:spcAft>
                          <a:spcPts val="0"/>
                        </a:spcAft>
                        <a:buNone/>
                      </a:pPr>
                      <a:r>
                        <a:rPr lang="en-IN" dirty="0">
                          <a:latin typeface="Times New Roman" panose="02020603050405020304" pitchFamily="18" charset="0"/>
                          <a:cs typeface="Times New Roman" panose="02020603050405020304" pitchFamily="18" charset="0"/>
                        </a:rPr>
                        <a:t>An Interpretable Integration Fusion Time-Frequency Prototype Contrastive Learning for Machine Fault Diagnosis with Limited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Samples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None/>
                      </a:pPr>
                      <a:r>
                        <a:rPr lang="en-IN" dirty="0">
                          <a:latin typeface="Times New Roman" panose="02020603050405020304" pitchFamily="18" charset="0"/>
                          <a:cs typeface="Times New Roman" panose="02020603050405020304" pitchFamily="18" charset="0"/>
                        </a:rPr>
                        <a:t>Information Fusion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Improves diagnosis accuracy using interpretable time-frequency learning.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Focuses on classification; no root cause investigation.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1326973">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dirty="0">
                          <a:solidFill>
                            <a:srgbClr val="000000"/>
                          </a:solidFill>
                          <a:latin typeface="Times New Roman" panose="02020603050405020304" pitchFamily="18" charset="0"/>
                          <a:cs typeface="Times New Roman" panose="02020603050405020304" pitchFamily="18" charset="0"/>
                        </a:rPr>
                        <a:t>9</a:t>
                      </a:r>
                      <a:endParaRPr sz="1400" u="none" strike="noStrike" cap="none" dirty="0">
                        <a:latin typeface="Times New Roman" panose="02020603050405020304" pitchFamily="18" charset="0"/>
                        <a:cs typeface="Times New Roman" panose="02020603050405020304" pitchFamily="18" charset="0"/>
                      </a:endParaRPr>
                    </a:p>
                  </a:txBody>
                  <a:tcPr marL="37075" marR="37075" marT="37075" marB="37075">
                    <a:lnR w="12700" cap="flat" cmpd="sng">
                      <a:solidFill>
                        <a:schemeClr val="lt1"/>
                      </a:solidFill>
                      <a:prstDash val="solid"/>
                      <a:round/>
                      <a:headEnd type="none" w="sm" len="sm"/>
                      <a:tailEnd type="none" w="sm" len="sm"/>
                    </a:lnR>
                  </a:tcPr>
                </a:tc>
                <a:tc>
                  <a:txBody>
                    <a:bodyPr/>
                    <a:lstStyle/>
                    <a:p>
                      <a:pPr marL="127000" marR="0" lvl="0" indent="-12700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A Trustworthy Lightweight Multi-Expert Wavelet Transformer for Rotating Machinery Fault Diagnosis</a:t>
                      </a:r>
                      <a:endParaRPr lang="en-US"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127000" marR="0" lvl="0" indent="-12700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Mechanical Systems and Signal Processing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Uses lightweight Transformer for accurate rotating machinery fault diagnosis.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Concentrates on prediction only; lacks explainable investigation and evidence fusion.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50" name="Google Shape;150;p6">
            <a:extLst>
              <a:ext uri="{FF2B5EF4-FFF2-40B4-BE49-F238E27FC236}">
                <a16:creationId xmlns:a16="http://schemas.microsoft.com/office/drawing/2014/main" id="{D4AB3487-5EC2-59DC-3289-E765ECDEB041}"/>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 name="Slide Number Placeholder 1">
            <a:extLst>
              <a:ext uri="{FF2B5EF4-FFF2-40B4-BE49-F238E27FC236}">
                <a16:creationId xmlns:a16="http://schemas.microsoft.com/office/drawing/2014/main" id="{351C461F-7466-15B6-7F6D-08D6BC473C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3" name="Footer Placeholder 2">
            <a:extLst>
              <a:ext uri="{FF2B5EF4-FFF2-40B4-BE49-F238E27FC236}">
                <a16:creationId xmlns:a16="http://schemas.microsoft.com/office/drawing/2014/main" id="{523718D5-4135-025B-49EE-D8C16D4136FD}"/>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extLst>
      <p:ext uri="{BB962C8B-B14F-4D97-AF65-F5344CB8AC3E}">
        <p14:creationId xmlns:p14="http://schemas.microsoft.com/office/powerpoint/2010/main" val="3786302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7"/>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ct val="100000"/>
              <a:buFont typeface="Calibri"/>
              <a:buNone/>
            </a:pPr>
            <a:r>
              <a:rPr lang="en-US" b="1" dirty="0">
                <a:latin typeface="Times New Roman" panose="02020603050405020304" pitchFamily="18" charset="0"/>
                <a:cs typeface="Times New Roman" panose="02020603050405020304" pitchFamily="18" charset="0"/>
              </a:rPr>
              <a:t>Objectives</a:t>
            </a:r>
            <a:endParaRPr b="1" dirty="0">
              <a:latin typeface="Times New Roman" panose="02020603050405020304" pitchFamily="18" charset="0"/>
              <a:cs typeface="Times New Roman" panose="02020603050405020304" pitchFamily="18" charset="0"/>
            </a:endParaRPr>
          </a:p>
        </p:txBody>
      </p:sp>
      <p:sp>
        <p:nvSpPr>
          <p:cNvPr id="156" name="Google Shape;156;p7"/>
          <p:cNvSpPr txBox="1">
            <a:spLocks noGrp="1"/>
          </p:cNvSpPr>
          <p:nvPr>
            <p:ph type="body" idx="1"/>
          </p:nvPr>
        </p:nvSpPr>
        <p:spPr>
          <a:xfrm>
            <a:off x="533400" y="1524000"/>
            <a:ext cx="8229600" cy="4411200"/>
          </a:xfrm>
          <a:prstGeom prst="rect">
            <a:avLst/>
          </a:prstGeom>
          <a:noFill/>
          <a:ln>
            <a:noFill/>
          </a:ln>
        </p:spPr>
        <p:txBody>
          <a:bodyPr spcFirstLastPara="1" wrap="square" lIns="91425" tIns="45700" rIns="91425" bIns="45700" anchor="t" anchorCtr="0">
            <a:noAutofit/>
          </a:bodyPr>
          <a:lstStyle/>
          <a:p>
            <a:pPr marL="0" lvl="0" indent="0" algn="just">
              <a:spcBef>
                <a:spcPts val="1600"/>
              </a:spcBef>
              <a:buSzPts val="2000"/>
              <a:buNone/>
            </a:pPr>
            <a:r>
              <a:rPr lang="en-IN" sz="2400" dirty="0"/>
              <a:t>The main objective of AERIS is to develop an AI-powered Aircraft Investigation Platform that predicts potential component failures and explains their root causes using evidence-driven AI. The system provides explainable insights and maintenance recommendations to support better decision-making.</a:t>
            </a:r>
          </a:p>
          <a:p>
            <a:pPr marL="0" lvl="0" indent="0" algn="just">
              <a:spcBef>
                <a:spcPts val="1600"/>
              </a:spcBef>
              <a:buSzPts val="2000"/>
              <a:buNone/>
            </a:pPr>
            <a:r>
              <a:rPr lang="en-US" sz="2400" dirty="0">
                <a:solidFill>
                  <a:srgbClr val="FF0000"/>
                </a:solidFill>
                <a:latin typeface="Times New Roman"/>
                <a:ea typeface="Times New Roman"/>
                <a:cs typeface="Times New Roman"/>
                <a:sym typeface="Times New Roman"/>
              </a:rPr>
              <a:t>Objective 1 : </a:t>
            </a:r>
            <a:r>
              <a:rPr lang="en-IN" sz="2400" dirty="0"/>
              <a:t>To Predict potential aircraft component failures..</a:t>
            </a:r>
            <a:endParaRPr sz="2400" dirty="0">
              <a:solidFill>
                <a:srgbClr val="FF0000"/>
              </a:solidFill>
              <a:latin typeface="Times New Roman"/>
              <a:ea typeface="Times New Roman"/>
              <a:cs typeface="Times New Roman"/>
              <a:sym typeface="Times New Roman"/>
            </a:endParaRPr>
          </a:p>
          <a:p>
            <a:pPr marL="0" lvl="0" indent="0" algn="just">
              <a:spcBef>
                <a:spcPts val="1600"/>
              </a:spcBef>
              <a:buSzPts val="2000"/>
              <a:buNone/>
            </a:pPr>
            <a:r>
              <a:rPr lang="en-US" sz="2400" dirty="0">
                <a:solidFill>
                  <a:srgbClr val="FF0000"/>
                </a:solidFill>
                <a:latin typeface="Times New Roman"/>
                <a:ea typeface="Times New Roman"/>
                <a:cs typeface="Times New Roman"/>
                <a:sym typeface="Times New Roman"/>
              </a:rPr>
              <a:t>Objective 2 :</a:t>
            </a:r>
            <a:r>
              <a:rPr lang="en-US" sz="2400" dirty="0">
                <a:solidFill>
                  <a:schemeClr val="tx1"/>
                </a:solidFill>
                <a:latin typeface="Times New Roman"/>
                <a:ea typeface="Times New Roman"/>
                <a:cs typeface="Times New Roman"/>
                <a:sym typeface="Times New Roman"/>
              </a:rPr>
              <a:t> To </a:t>
            </a:r>
            <a:r>
              <a:rPr lang="en-IN" sz="2400" dirty="0"/>
              <a:t>Identify the root cause using multiple evidence sources.</a:t>
            </a:r>
            <a:endParaRPr sz="2400" dirty="0">
              <a:solidFill>
                <a:srgbClr val="FF0000"/>
              </a:solidFill>
              <a:latin typeface="Times New Roman"/>
              <a:ea typeface="Times New Roman"/>
              <a:cs typeface="Times New Roman"/>
              <a:sym typeface="Times New Roman"/>
            </a:endParaRPr>
          </a:p>
          <a:p>
            <a:pPr marL="0" lvl="0" indent="0" algn="just">
              <a:spcBef>
                <a:spcPts val="1600"/>
              </a:spcBef>
              <a:buSzPts val="2000"/>
              <a:buNone/>
            </a:pPr>
            <a:r>
              <a:rPr lang="en-US" sz="2400" dirty="0">
                <a:solidFill>
                  <a:srgbClr val="FF0000"/>
                </a:solidFill>
                <a:latin typeface="Times New Roman"/>
                <a:ea typeface="Times New Roman"/>
                <a:cs typeface="Times New Roman"/>
                <a:sym typeface="Times New Roman"/>
              </a:rPr>
              <a:t>Objective 3 : </a:t>
            </a:r>
            <a:r>
              <a:rPr lang="en-US" sz="2400" dirty="0">
                <a:solidFill>
                  <a:schemeClr val="tx1"/>
                </a:solidFill>
                <a:latin typeface="Times New Roman"/>
                <a:ea typeface="Times New Roman"/>
                <a:cs typeface="Times New Roman"/>
                <a:sym typeface="Times New Roman"/>
              </a:rPr>
              <a:t>To</a:t>
            </a:r>
            <a:r>
              <a:rPr lang="en-US" sz="2400" dirty="0">
                <a:solidFill>
                  <a:srgbClr val="FF0000"/>
                </a:solidFill>
                <a:latin typeface="Times New Roman"/>
                <a:ea typeface="Times New Roman"/>
                <a:cs typeface="Times New Roman"/>
                <a:sym typeface="Times New Roman"/>
              </a:rPr>
              <a:t> </a:t>
            </a:r>
            <a:r>
              <a:rPr lang="en-IN" sz="2400" dirty="0"/>
              <a:t>Generate explainable maintenance recommendations and investigation reports.</a:t>
            </a:r>
            <a:endParaRPr sz="2400" dirty="0">
              <a:solidFill>
                <a:srgbClr val="FF0000"/>
              </a:solidFill>
              <a:latin typeface="Times New Roman"/>
              <a:ea typeface="Times New Roman"/>
              <a:cs typeface="Times New Roman"/>
              <a:sym typeface="Times New Roman"/>
            </a:endParaRPr>
          </a:p>
          <a:p>
            <a:pPr marL="0" lvl="0" indent="0" algn="just" rtl="0">
              <a:lnSpc>
                <a:spcPct val="100000"/>
              </a:lnSpc>
              <a:spcBef>
                <a:spcPts val="1600"/>
              </a:spcBef>
              <a:spcAft>
                <a:spcPts val="0"/>
              </a:spcAft>
              <a:buClr>
                <a:schemeClr val="dk1"/>
              </a:buClr>
              <a:buSzPts val="2000"/>
              <a:buNone/>
            </a:pPr>
            <a:endParaRPr sz="2400" dirty="0">
              <a:latin typeface="Times New Roman"/>
              <a:ea typeface="Times New Roman"/>
              <a:cs typeface="Times New Roman"/>
              <a:sym typeface="Times New Roman"/>
            </a:endParaRPr>
          </a:p>
        </p:txBody>
      </p:sp>
      <p:sp>
        <p:nvSpPr>
          <p:cNvPr id="158" name="Google Shape;158;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59" name="Google Shape;15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Problem Statement</a:t>
            </a:r>
            <a:endParaRPr b="1" dirty="0">
              <a:latin typeface="Times New Roman" panose="02020603050405020304" pitchFamily="18" charset="0"/>
              <a:cs typeface="Times New Roman" panose="02020603050405020304" pitchFamily="18" charset="0"/>
            </a:endParaRPr>
          </a:p>
        </p:txBody>
      </p:sp>
      <p:sp>
        <p:nvSpPr>
          <p:cNvPr id="165" name="Google Shape;165;p8"/>
          <p:cNvSpPr txBox="1">
            <a:spLocks noGrp="1"/>
          </p:cNvSpPr>
          <p:nvPr>
            <p:ph type="body" idx="1"/>
          </p:nvPr>
        </p:nvSpPr>
        <p:spPr>
          <a:xfrm>
            <a:off x="457200" y="1600201"/>
            <a:ext cx="8229600" cy="3962400"/>
          </a:xfrm>
          <a:prstGeom prst="rect">
            <a:avLst/>
          </a:prstGeom>
          <a:noFill/>
          <a:ln>
            <a:noFill/>
          </a:ln>
        </p:spPr>
        <p:txBody>
          <a:bodyPr spcFirstLastPara="1" wrap="square" lIns="91425" tIns="45700" rIns="91425" bIns="45700" anchor="t" anchorCtr="0">
            <a:noAutofit/>
          </a:bodyPr>
          <a:lstStyle/>
          <a:p>
            <a:pPr marL="114300" indent="0" algn="just">
              <a:buNone/>
            </a:pPr>
            <a:r>
              <a:rPr lang="en-IN" sz="2400" dirty="0">
                <a:latin typeface="Times New Roman" panose="02020603050405020304" pitchFamily="18" charset="0"/>
                <a:cs typeface="Times New Roman" panose="02020603050405020304" pitchFamily="18" charset="0"/>
              </a:rPr>
              <a:t>Aircraft component failures can compromise aviation safety, increase maintenance costs, and cause unexpected operational delays. Existing systems mainly predict failures or detect anomalies but often fail to explain why a failure is occurring or provide evidence-backed maintenance recommendations. AERIS addresses this by delivering explainable, evidence-driven failure investigation with root-cause analysis and intelligent maintenance recommendations for engineers.</a:t>
            </a:r>
          </a:p>
        </p:txBody>
      </p:sp>
      <p:sp>
        <p:nvSpPr>
          <p:cNvPr id="167" name="Google Shape;167;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68" name="Google Shape;168;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9"/>
          <p:cNvSpPr txBox="1">
            <a:spLocks noGrp="1"/>
          </p:cNvSpPr>
          <p:nvPr>
            <p:ph type="title"/>
          </p:nvPr>
        </p:nvSpPr>
        <p:spPr>
          <a:xfrm>
            <a:off x="457200" y="86043"/>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Proposed Work-Block Diagram</a:t>
            </a:r>
            <a:endParaRPr b="1" dirty="0">
              <a:latin typeface="Times New Roman" panose="02020603050405020304" pitchFamily="18" charset="0"/>
              <a:cs typeface="Times New Roman" panose="02020603050405020304" pitchFamily="18" charset="0"/>
            </a:endParaRPr>
          </a:p>
        </p:txBody>
      </p:sp>
      <p:sp>
        <p:nvSpPr>
          <p:cNvPr id="175" name="Google Shape;175;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76" name="Google Shape;176;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pic>
        <p:nvPicPr>
          <p:cNvPr id="3" name="Picture 2" descr="PlantUML diagram">
            <a:extLst>
              <a:ext uri="{FF2B5EF4-FFF2-40B4-BE49-F238E27FC236}">
                <a16:creationId xmlns:a16="http://schemas.microsoft.com/office/drawing/2014/main" id="{C4649AC3-FB56-5DD3-D97D-7DB75BE99B21}"/>
              </a:ext>
            </a:extLst>
          </p:cNvPr>
          <p:cNvPicPr>
            <a:picLocks noChangeAspect="1"/>
          </p:cNvPicPr>
          <p:nvPr/>
        </p:nvPicPr>
        <p:blipFill>
          <a:blip r:embed="rId3"/>
          <a:stretch>
            <a:fillRect/>
          </a:stretch>
        </p:blipFill>
        <p:spPr>
          <a:xfrm>
            <a:off x="457200" y="1573162"/>
            <a:ext cx="8226849" cy="443434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Architecture Diagram</a:t>
            </a:r>
            <a:endParaRPr b="1" dirty="0">
              <a:latin typeface="Times New Roman" panose="02020603050405020304" pitchFamily="18" charset="0"/>
              <a:cs typeface="Times New Roman" panose="02020603050405020304" pitchFamily="18" charset="0"/>
            </a:endParaRPr>
          </a:p>
        </p:txBody>
      </p:sp>
      <p:sp>
        <p:nvSpPr>
          <p:cNvPr id="185" name="Google Shape;18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86" name="Google Shape;186;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pic>
        <p:nvPicPr>
          <p:cNvPr id="3" name="Picture 2" descr="PlantUML diagram">
            <a:extLst>
              <a:ext uri="{FF2B5EF4-FFF2-40B4-BE49-F238E27FC236}">
                <a16:creationId xmlns:a16="http://schemas.microsoft.com/office/drawing/2014/main" id="{FAEF61CC-B122-E5A8-056F-8EF4C55DFE75}"/>
              </a:ext>
            </a:extLst>
          </p:cNvPr>
          <p:cNvPicPr>
            <a:picLocks noChangeAspect="1"/>
          </p:cNvPicPr>
          <p:nvPr/>
        </p:nvPicPr>
        <p:blipFill>
          <a:blip r:embed="rId3"/>
          <a:stretch>
            <a:fillRect/>
          </a:stretch>
        </p:blipFill>
        <p:spPr>
          <a:xfrm>
            <a:off x="2340078" y="1146474"/>
            <a:ext cx="4626077" cy="520987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Modules</a:t>
            </a:r>
            <a:endParaRPr b="1" dirty="0">
              <a:latin typeface="Times New Roman" panose="02020603050405020304" pitchFamily="18" charset="0"/>
              <a:cs typeface="Times New Roman" panose="02020603050405020304" pitchFamily="18" charset="0"/>
            </a:endParaRPr>
          </a:p>
        </p:txBody>
      </p:sp>
      <p:sp>
        <p:nvSpPr>
          <p:cNvPr id="194" name="Google Shape;194;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114300" lvl="0" indent="0" algn="just">
              <a:buNone/>
            </a:pPr>
            <a:r>
              <a:rPr lang="en-IN" sz="2400" dirty="0"/>
              <a:t>Module 1 – Data Collection &amp; Preprocessing </a:t>
            </a:r>
          </a:p>
          <a:p>
            <a:pPr marL="114300" lvl="0" indent="0" algn="just">
              <a:buNone/>
            </a:pPr>
            <a:r>
              <a:rPr lang="en-IN" sz="2400" dirty="0"/>
              <a:t>Module 2 – Failure Prediction </a:t>
            </a:r>
          </a:p>
          <a:p>
            <a:pPr marL="114300" lvl="0" indent="0" algn="just">
              <a:buNone/>
            </a:pPr>
            <a:r>
              <a:rPr lang="en-IN" sz="2400" dirty="0"/>
              <a:t>Module 3 – Investigation &amp; Root Cause Analysis </a:t>
            </a:r>
          </a:p>
          <a:p>
            <a:pPr marL="114300" lvl="0" indent="0" algn="just">
              <a:buNone/>
            </a:pPr>
            <a:r>
              <a:rPr lang="en-IN" sz="2400" dirty="0"/>
              <a:t>Module 4 – Report Generation &amp; Maintenance                   Recommendation</a:t>
            </a:r>
            <a:endParaRPr sz="2400" dirty="0">
              <a:latin typeface="Times New Roman" panose="02020603050405020304" pitchFamily="18" charset="0"/>
              <a:cs typeface="Times New Roman" panose="02020603050405020304" pitchFamily="18" charset="0"/>
            </a:endParaRPr>
          </a:p>
        </p:txBody>
      </p:sp>
      <p:sp>
        <p:nvSpPr>
          <p:cNvPr id="196" name="Google Shape;196;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97" name="Google Shape;197;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Proposed-Module Description</a:t>
            </a:r>
            <a:endParaRPr b="1" dirty="0">
              <a:latin typeface="Times New Roman" panose="02020603050405020304" pitchFamily="18" charset="0"/>
              <a:cs typeface="Times New Roman" panose="02020603050405020304" pitchFamily="18" charset="0"/>
            </a:endParaRPr>
          </a:p>
        </p:txBody>
      </p:sp>
      <p:sp>
        <p:nvSpPr>
          <p:cNvPr id="203" name="Google Shape;203;p13"/>
          <p:cNvSpPr txBox="1">
            <a:spLocks noGrp="1"/>
          </p:cNvSpPr>
          <p:nvPr>
            <p:ph type="body" idx="1"/>
          </p:nvPr>
        </p:nvSpPr>
        <p:spPr>
          <a:xfrm>
            <a:off x="457200" y="1600200"/>
            <a:ext cx="8229600" cy="4661535"/>
          </a:xfrm>
          <a:prstGeom prst="rect">
            <a:avLst/>
          </a:prstGeom>
          <a:noFill/>
          <a:ln>
            <a:noFill/>
          </a:ln>
        </p:spPr>
        <p:txBody>
          <a:bodyPr spcFirstLastPara="1" wrap="square" lIns="91425" tIns="45700" rIns="91425" bIns="45700" anchor="t" anchorCtr="0">
            <a:normAutofit fontScale="97500" lnSpcReduction="10000"/>
          </a:bodyPr>
          <a:lstStyle/>
          <a:p>
            <a:pPr algn="just">
              <a:buFont typeface="Wingdings" panose="05000000000000000000" pitchFamily="2" charset="2"/>
              <a:buChar char="q"/>
            </a:pPr>
            <a:r>
              <a:rPr lang="en-IN" sz="1800" b="1" dirty="0">
                <a:latin typeface="Times New Roman" panose="02020603050405020304" pitchFamily="18" charset="0"/>
                <a:cs typeface="Times New Roman" panose="02020603050405020304" pitchFamily="18" charset="0"/>
              </a:rPr>
              <a:t>Module 1 – Data Collection &amp; Preprocessing</a:t>
            </a:r>
          </a:p>
          <a:p>
            <a:pPr marL="114300" indent="0" algn="just">
              <a:lnSpc>
                <a:spcPct val="150000"/>
              </a:lnSpc>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Collect and prepare aircraft operational data.</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How it Works:</a:t>
            </a:r>
            <a:r>
              <a:rPr lang="en-IN" sz="1800" dirty="0">
                <a:latin typeface="Times New Roman" panose="02020603050405020304" pitchFamily="18" charset="0"/>
                <a:cs typeface="Times New Roman" panose="02020603050405020304" pitchFamily="18" charset="0"/>
              </a:rPr>
              <a:t> Integrates sensor data, maintenance records, flight logs, and weather 	 information, then cleans and transforms them into structured features.</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Outcome:</a:t>
            </a:r>
            <a:r>
              <a:rPr lang="en-IN" sz="1800" dirty="0">
                <a:latin typeface="Times New Roman" panose="02020603050405020304" pitchFamily="18" charset="0"/>
                <a:cs typeface="Times New Roman" panose="02020603050405020304" pitchFamily="18" charset="0"/>
              </a:rPr>
              <a:t> A high-quality dataset ready for AI analysis.</a:t>
            </a:r>
          </a:p>
          <a:p>
            <a:pPr marL="114300" lvl="0" indent="0" algn="just">
              <a:lnSpc>
                <a:spcPct val="150000"/>
              </a:lnSpc>
              <a:buSzPct val="100000"/>
              <a:buNone/>
            </a:pPr>
            <a:endParaRPr lang="en-US" sz="1800" dirty="0">
              <a:latin typeface="Times New Roman" panose="02020603050405020304" pitchFamily="18" charset="0"/>
              <a:ea typeface="Times New Roman"/>
              <a:cs typeface="Times New Roman" panose="02020603050405020304" pitchFamily="18" charset="0"/>
              <a:sym typeface="Times New Roman"/>
            </a:endParaRPr>
          </a:p>
          <a:p>
            <a:pPr algn="just">
              <a:lnSpc>
                <a:spcPct val="150000"/>
              </a:lnSpc>
              <a:buFont typeface="Wingdings" panose="05000000000000000000" pitchFamily="2" charset="2"/>
              <a:buChar char="q"/>
            </a:pPr>
            <a:r>
              <a:rPr lang="en-IN" sz="1800" b="1" dirty="0">
                <a:latin typeface="Times New Roman" panose="02020603050405020304" pitchFamily="18" charset="0"/>
                <a:cs typeface="Times New Roman" panose="02020603050405020304" pitchFamily="18" charset="0"/>
              </a:rPr>
              <a:t>Module 2 – Failure Prediction</a:t>
            </a:r>
          </a:p>
          <a:p>
            <a:pPr marL="114300" indent="0" algn="just">
              <a:lnSpc>
                <a:spcPct val="150000"/>
              </a:lnSpc>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Predict potential aircraft component failures.</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How it Works:</a:t>
            </a:r>
            <a:r>
              <a:rPr lang="en-IN" sz="1800" dirty="0">
                <a:latin typeface="Times New Roman" panose="02020603050405020304" pitchFamily="18" charset="0"/>
                <a:cs typeface="Times New Roman" panose="02020603050405020304" pitchFamily="18" charset="0"/>
              </a:rPr>
              <a:t> A Time-Series AI model </a:t>
            </a:r>
            <a:r>
              <a:rPr lang="en-IN" sz="1800" dirty="0" err="1">
                <a:latin typeface="Times New Roman" panose="02020603050405020304" pitchFamily="18" charset="0"/>
                <a:cs typeface="Times New Roman" panose="02020603050405020304" pitchFamily="18" charset="0"/>
              </a:rPr>
              <a:t>analyzes</a:t>
            </a:r>
            <a:r>
              <a:rPr lang="en-IN" sz="1800" dirty="0">
                <a:latin typeface="Times New Roman" panose="02020603050405020304" pitchFamily="18" charset="0"/>
                <a:cs typeface="Times New Roman" panose="02020603050405020304" pitchFamily="18" charset="0"/>
              </a:rPr>
              <a:t> historical patterns and detects anomalies to estimate failure risk.</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Outcome:</a:t>
            </a:r>
            <a:r>
              <a:rPr lang="en-IN" sz="1800" dirty="0">
                <a:latin typeface="Times New Roman" panose="02020603050405020304" pitchFamily="18" charset="0"/>
                <a:cs typeface="Times New Roman" panose="02020603050405020304" pitchFamily="18" charset="0"/>
              </a:rPr>
              <a:t> Early warnings with predicted failure probability and confidence score.</a:t>
            </a:r>
          </a:p>
          <a:p>
            <a:pPr marL="114300" indent="0" algn="just">
              <a:lnSpc>
                <a:spcPct val="150000"/>
              </a:lnSpc>
              <a:buNone/>
            </a:pPr>
            <a:endParaRPr lang="en-IN" sz="1800" dirty="0">
              <a:latin typeface="Times New Roman" panose="02020603050405020304" pitchFamily="18" charset="0"/>
              <a:cs typeface="Times New Roman" panose="02020603050405020304" pitchFamily="18" charset="0"/>
            </a:endParaRPr>
          </a:p>
          <a:p>
            <a:pPr marL="114300" lvl="0" indent="0" algn="just">
              <a:buSzPct val="100000"/>
              <a:buNone/>
            </a:pPr>
            <a:endParaRPr lang="en-US" sz="1800" dirty="0">
              <a:latin typeface="Times New Roman" panose="02020603050405020304" pitchFamily="18" charset="0"/>
              <a:ea typeface="Times New Roman"/>
              <a:cs typeface="Times New Roman" panose="02020603050405020304" pitchFamily="18" charset="0"/>
              <a:sym typeface="Times New Roman"/>
            </a:endParaRPr>
          </a:p>
        </p:txBody>
      </p:sp>
      <p:sp>
        <p:nvSpPr>
          <p:cNvPr id="205" name="Google Shape;205;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06" name="Google Shape;206;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Proposed-Module Description</a:t>
            </a:r>
            <a:endParaRPr dirty="0">
              <a:latin typeface="Times New Roman" panose="02020603050405020304" pitchFamily="18" charset="0"/>
              <a:cs typeface="Times New Roman" panose="02020603050405020304" pitchFamily="18" charset="0"/>
            </a:endParaRPr>
          </a:p>
        </p:txBody>
      </p:sp>
      <p:sp>
        <p:nvSpPr>
          <p:cNvPr id="212" name="Google Shape;212;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algn="just">
              <a:lnSpc>
                <a:spcPct val="150000"/>
              </a:lnSpc>
              <a:buFont typeface="Wingdings" panose="05000000000000000000" pitchFamily="2" charset="2"/>
              <a:buChar char="q"/>
            </a:pPr>
            <a:r>
              <a:rPr lang="en-IN" sz="1800" b="1" dirty="0">
                <a:latin typeface="Times New Roman" panose="02020603050405020304" pitchFamily="18" charset="0"/>
                <a:cs typeface="Times New Roman" panose="02020603050405020304" pitchFamily="18" charset="0"/>
              </a:rPr>
              <a:t>Module 3 – Evidence-Driven Investigation</a:t>
            </a:r>
          </a:p>
          <a:p>
            <a:pPr marL="114300" indent="0" algn="just">
              <a:lnSpc>
                <a:spcPct val="150000"/>
              </a:lnSpc>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Identify the root cause behind predicted failures.</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How it Works:</a:t>
            </a:r>
            <a:r>
              <a:rPr lang="en-IN" sz="1800" dirty="0">
                <a:latin typeface="Times New Roman" panose="02020603050405020304" pitchFamily="18" charset="0"/>
                <a:cs typeface="Times New Roman" panose="02020603050405020304" pitchFamily="18" charset="0"/>
              </a:rPr>
              <a:t> The Investigation Engine combines maintenance history, operational context, and causal relationships to reconstruct the chain of evidence.</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Outcome:</a:t>
            </a:r>
            <a:r>
              <a:rPr lang="en-IN" sz="1800" dirty="0">
                <a:latin typeface="Times New Roman" panose="02020603050405020304" pitchFamily="18" charset="0"/>
                <a:cs typeface="Times New Roman" panose="02020603050405020304" pitchFamily="18" charset="0"/>
              </a:rPr>
              <a:t> Explainable root cause with supporting evidence and confidence level.</a:t>
            </a:r>
          </a:p>
          <a:p>
            <a:pPr marL="114300" indent="0" algn="just">
              <a:buNone/>
            </a:pPr>
            <a:endParaRPr lang="en-IN" sz="1800" b="1"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lang="en-IN" sz="1800" b="1" dirty="0">
                <a:latin typeface="Times New Roman" panose="02020603050405020304" pitchFamily="18" charset="0"/>
                <a:cs typeface="Times New Roman" panose="02020603050405020304" pitchFamily="18" charset="0"/>
              </a:rPr>
              <a:t>Module 4 – Recommendation &amp; Report Generation</a:t>
            </a:r>
          </a:p>
          <a:p>
            <a:pPr marL="114300" indent="0" algn="just">
              <a:lnSpc>
                <a:spcPct val="150000"/>
              </a:lnSpc>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Assist engineers in making maintenance decisions.</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How it Works:</a:t>
            </a:r>
            <a:r>
              <a:rPr lang="en-IN" sz="1800" dirty="0">
                <a:latin typeface="Times New Roman" panose="02020603050405020304" pitchFamily="18" charset="0"/>
                <a:cs typeface="Times New Roman" panose="02020603050405020304" pitchFamily="18" charset="0"/>
              </a:rPr>
              <a:t> RAG and an LLM retrieve relevant technical knowledge and generate evidence-based maintenance recommendations.</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Outcome:</a:t>
            </a:r>
            <a:r>
              <a:rPr lang="en-IN" sz="1800" dirty="0">
                <a:latin typeface="Times New Roman" panose="02020603050405020304" pitchFamily="18" charset="0"/>
                <a:cs typeface="Times New Roman" panose="02020603050405020304" pitchFamily="18" charset="0"/>
              </a:rPr>
              <a:t> A clear investigation report with actionable maintenance suggestions.</a:t>
            </a:r>
          </a:p>
          <a:p>
            <a:pPr marL="114300" lvl="0" indent="0" algn="just" rtl="0">
              <a:lnSpc>
                <a:spcPct val="100000"/>
              </a:lnSpc>
              <a:spcBef>
                <a:spcPts val="360"/>
              </a:spcBef>
              <a:spcAft>
                <a:spcPts val="0"/>
              </a:spcAft>
              <a:buSzPts val="1800"/>
              <a:buNone/>
            </a:pPr>
            <a:endParaRPr sz="1800" dirty="0">
              <a:latin typeface="Times New Roman" panose="02020603050405020304" pitchFamily="18" charset="0"/>
              <a:ea typeface="Times New Roman"/>
              <a:cs typeface="Times New Roman" panose="02020603050405020304" pitchFamily="18" charset="0"/>
              <a:sym typeface="Times New Roman"/>
            </a:endParaRPr>
          </a:p>
        </p:txBody>
      </p:sp>
      <p:sp>
        <p:nvSpPr>
          <p:cNvPr id="214" name="Google Shape;214;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15" name="Google Shape;215;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ct val="100000"/>
              <a:buFont typeface="Calibri"/>
              <a:buNone/>
            </a:pPr>
            <a:r>
              <a:rPr lang="en-US" b="1" dirty="0">
                <a:latin typeface="Times New Roman" panose="02020603050405020304" pitchFamily="18" charset="0"/>
                <a:cs typeface="Times New Roman" panose="02020603050405020304" pitchFamily="18" charset="0"/>
              </a:rPr>
              <a:t>Software Requirements</a:t>
            </a:r>
            <a:endParaRPr b="1" dirty="0">
              <a:latin typeface="Times New Roman" panose="02020603050405020304" pitchFamily="18" charset="0"/>
              <a:cs typeface="Times New Roman" panose="02020603050405020304" pitchFamily="18" charset="0"/>
            </a:endParaRPr>
          </a:p>
        </p:txBody>
      </p:sp>
      <p:sp>
        <p:nvSpPr>
          <p:cNvPr id="221" name="Google Shape;221;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571500" lvl="0" algn="just">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Operating System:</a:t>
            </a:r>
            <a:r>
              <a:rPr lang="en-IN" sz="2400" dirty="0">
                <a:latin typeface="Times New Roman" panose="02020603050405020304" pitchFamily="18" charset="0"/>
                <a:cs typeface="Times New Roman" panose="02020603050405020304" pitchFamily="18" charset="0"/>
              </a:rPr>
              <a:t> Windows 10/11 or Ubuntu </a:t>
            </a:r>
          </a:p>
          <a:p>
            <a:pPr marL="571500" lvl="0" algn="just">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Programming Language:</a:t>
            </a:r>
            <a:r>
              <a:rPr lang="en-IN" sz="2400" dirty="0">
                <a:latin typeface="Times New Roman" panose="02020603050405020304" pitchFamily="18" charset="0"/>
                <a:cs typeface="Times New Roman" panose="02020603050405020304" pitchFamily="18" charset="0"/>
              </a:rPr>
              <a:t> Python 3.11+ </a:t>
            </a:r>
          </a:p>
          <a:p>
            <a:pPr marL="571500" lvl="0" algn="just">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IDE:</a:t>
            </a:r>
            <a:r>
              <a:rPr lang="en-IN" sz="2400" dirty="0">
                <a:latin typeface="Times New Roman" panose="02020603050405020304" pitchFamily="18" charset="0"/>
                <a:cs typeface="Times New Roman" panose="02020603050405020304" pitchFamily="18" charset="0"/>
              </a:rPr>
              <a:t> Visual Studio Code / Jupyter Notebook</a:t>
            </a:r>
            <a:endParaRPr sz="2400" dirty="0">
              <a:latin typeface="Times New Roman" panose="02020603050405020304" pitchFamily="18" charset="0"/>
              <a:cs typeface="Times New Roman" panose="02020603050405020304" pitchFamily="18" charset="0"/>
            </a:endParaRPr>
          </a:p>
          <a:p>
            <a:pPr marL="571500" lvl="0" algn="just">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Database:</a:t>
            </a:r>
            <a:r>
              <a:rPr lang="en-IN" sz="2400" dirty="0">
                <a:latin typeface="Times New Roman" panose="02020603050405020304" pitchFamily="18" charset="0"/>
                <a:cs typeface="Times New Roman" panose="02020603050405020304" pitchFamily="18" charset="0"/>
              </a:rPr>
              <a:t> SQLite / PostgreSQL</a:t>
            </a:r>
          </a:p>
          <a:p>
            <a:pPr marL="571500" lvl="0" algn="just">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Libraries &amp; Frameworks:</a:t>
            </a:r>
            <a:endParaRPr lang="en-IN" sz="2400" dirty="0">
              <a:latin typeface="Times New Roman" panose="02020603050405020304" pitchFamily="18" charset="0"/>
              <a:cs typeface="Times New Roman" panose="02020603050405020304" pitchFamily="18" charset="0"/>
            </a:endParaRPr>
          </a:p>
          <a:p>
            <a:pPr marL="1028700" lvl="2" indent="0" algn="just">
              <a:buNone/>
            </a:pPr>
            <a:r>
              <a:rPr lang="en-IN" sz="1900" dirty="0">
                <a:latin typeface="Times New Roman" panose="02020603050405020304" pitchFamily="18" charset="0"/>
                <a:cs typeface="Times New Roman" panose="02020603050405020304" pitchFamily="18" charset="0"/>
              </a:rPr>
              <a:t>Pandas, NumPy – Data processing </a:t>
            </a:r>
          </a:p>
          <a:p>
            <a:pPr marL="1028700" lvl="2" indent="0" algn="just">
              <a:buNone/>
            </a:pPr>
            <a:r>
              <a:rPr lang="en-IN" sz="1900" dirty="0">
                <a:latin typeface="Times New Roman" panose="02020603050405020304" pitchFamily="18" charset="0"/>
                <a:cs typeface="Times New Roman" panose="02020603050405020304" pitchFamily="18" charset="0"/>
              </a:rPr>
              <a:t>Scikit-learn – Machine Learning </a:t>
            </a:r>
          </a:p>
          <a:p>
            <a:pPr marL="1028700" lvl="2" indent="0" algn="just">
              <a:buNone/>
            </a:pPr>
            <a:r>
              <a:rPr lang="en-IN" sz="1900" dirty="0" err="1">
                <a:latin typeface="Times New Roman" panose="02020603050405020304" pitchFamily="18" charset="0"/>
                <a:cs typeface="Times New Roman" panose="02020603050405020304" pitchFamily="18" charset="0"/>
              </a:rPr>
              <a:t>PyTorch</a:t>
            </a:r>
            <a:r>
              <a:rPr lang="en-IN" sz="1900" dirty="0">
                <a:latin typeface="Times New Roman" panose="02020603050405020304" pitchFamily="18" charset="0"/>
                <a:cs typeface="Times New Roman" panose="02020603050405020304" pitchFamily="18" charset="0"/>
              </a:rPr>
              <a:t> – Time-Series Transformer </a:t>
            </a:r>
          </a:p>
          <a:p>
            <a:pPr marL="1028700" lvl="2" indent="0" algn="just">
              <a:buNone/>
            </a:pPr>
            <a:r>
              <a:rPr lang="en-IN" sz="1900" dirty="0" err="1">
                <a:latin typeface="Times New Roman" panose="02020603050405020304" pitchFamily="18" charset="0"/>
                <a:cs typeface="Times New Roman" panose="02020603050405020304" pitchFamily="18" charset="0"/>
              </a:rPr>
              <a:t>NetworkX</a:t>
            </a:r>
            <a:r>
              <a:rPr lang="en-IN" sz="1900" dirty="0">
                <a:latin typeface="Times New Roman" panose="02020603050405020304" pitchFamily="18" charset="0"/>
                <a:cs typeface="Times New Roman" panose="02020603050405020304" pitchFamily="18" charset="0"/>
              </a:rPr>
              <a:t> / Neo4j – Knowledge Graph </a:t>
            </a:r>
          </a:p>
          <a:p>
            <a:pPr marL="1028700" lvl="2" indent="0" algn="just">
              <a:buNone/>
            </a:pPr>
            <a:r>
              <a:rPr lang="en-IN" sz="1900" dirty="0" err="1">
                <a:latin typeface="Times New Roman" panose="02020603050405020304" pitchFamily="18" charset="0"/>
                <a:cs typeface="Times New Roman" panose="02020603050405020304" pitchFamily="18" charset="0"/>
              </a:rPr>
              <a:t>LangChain</a:t>
            </a:r>
            <a:r>
              <a:rPr lang="en-IN" sz="1900" dirty="0">
                <a:latin typeface="Times New Roman" panose="02020603050405020304" pitchFamily="18" charset="0"/>
                <a:cs typeface="Times New Roman" panose="02020603050405020304" pitchFamily="18" charset="0"/>
              </a:rPr>
              <a:t> – RAG Pipeline </a:t>
            </a:r>
          </a:p>
          <a:p>
            <a:pPr marL="1028700" lvl="2" indent="0" algn="just">
              <a:buNone/>
            </a:pPr>
            <a:r>
              <a:rPr lang="en-IN" sz="1900" dirty="0">
                <a:latin typeface="Times New Roman" panose="02020603050405020304" pitchFamily="18" charset="0"/>
                <a:cs typeface="Times New Roman" panose="02020603050405020304" pitchFamily="18" charset="0"/>
              </a:rPr>
              <a:t>FAISS – Vector Database </a:t>
            </a:r>
          </a:p>
          <a:p>
            <a:pPr marL="1028700" lvl="2" indent="0" algn="just">
              <a:buNone/>
            </a:pPr>
            <a:r>
              <a:rPr lang="en-IN" sz="1900" dirty="0">
                <a:latin typeface="Times New Roman" panose="02020603050405020304" pitchFamily="18" charset="0"/>
                <a:cs typeface="Times New Roman" panose="02020603050405020304" pitchFamily="18" charset="0"/>
              </a:rPr>
              <a:t>Hugging Face Transformers – LLM Integration </a:t>
            </a:r>
          </a:p>
          <a:p>
            <a:pPr marL="1028700" lvl="2" indent="0" algn="just">
              <a:buNone/>
            </a:pPr>
            <a:r>
              <a:rPr lang="en-IN" sz="1900" dirty="0">
                <a:latin typeface="Times New Roman" panose="02020603050405020304" pitchFamily="18" charset="0"/>
                <a:cs typeface="Times New Roman" panose="02020603050405020304" pitchFamily="18" charset="0"/>
              </a:rPr>
              <a:t>Matplotlib, Seaborn – Visualization </a:t>
            </a:r>
          </a:p>
          <a:p>
            <a:pPr marL="1028700" lvl="2" indent="0" algn="just">
              <a:buNone/>
            </a:pPr>
            <a:r>
              <a:rPr lang="en-IN" sz="1900" dirty="0" err="1">
                <a:latin typeface="Times New Roman" panose="02020603050405020304" pitchFamily="18" charset="0"/>
                <a:cs typeface="Times New Roman" panose="02020603050405020304" pitchFamily="18" charset="0"/>
              </a:rPr>
              <a:t>Streamlit</a:t>
            </a:r>
            <a:r>
              <a:rPr lang="en-IN" sz="1900" dirty="0">
                <a:latin typeface="Times New Roman" panose="02020603050405020304" pitchFamily="18" charset="0"/>
                <a:cs typeface="Times New Roman" panose="02020603050405020304" pitchFamily="18" charset="0"/>
              </a:rPr>
              <a:t> – Dashboard Development</a:t>
            </a:r>
          </a:p>
          <a:p>
            <a:pPr lvl="1" indent="-228600" algn="just">
              <a:buNone/>
            </a:pPr>
            <a:endParaRPr sz="2000" dirty="0">
              <a:latin typeface="Times New Roman" panose="02020603050405020304" pitchFamily="18" charset="0"/>
              <a:cs typeface="Times New Roman" panose="02020603050405020304" pitchFamily="18" charset="0"/>
            </a:endParaRPr>
          </a:p>
          <a:p>
            <a:pPr marL="457200" lvl="0" indent="-228600" algn="just" rtl="0">
              <a:lnSpc>
                <a:spcPct val="100000"/>
              </a:lnSpc>
              <a:spcBef>
                <a:spcPts val="360"/>
              </a:spcBef>
              <a:spcAft>
                <a:spcPts val="0"/>
              </a:spcAft>
              <a:buSzPts val="1800"/>
              <a:buNone/>
            </a:pPr>
            <a:endParaRPr sz="2400" dirty="0">
              <a:latin typeface="Times New Roman" panose="02020603050405020304" pitchFamily="18" charset="0"/>
              <a:cs typeface="Times New Roman" panose="02020603050405020304" pitchFamily="18" charset="0"/>
            </a:endParaRPr>
          </a:p>
          <a:p>
            <a:pPr marL="457200" lvl="0" indent="-228600" algn="just" rtl="0">
              <a:lnSpc>
                <a:spcPct val="100000"/>
              </a:lnSpc>
              <a:spcBef>
                <a:spcPts val="360"/>
              </a:spcBef>
              <a:spcAft>
                <a:spcPts val="0"/>
              </a:spcAft>
              <a:buSzPts val="1800"/>
              <a:buNone/>
            </a:pPr>
            <a:endParaRPr sz="2400" dirty="0">
              <a:latin typeface="Times New Roman" panose="02020603050405020304" pitchFamily="18" charset="0"/>
              <a:cs typeface="Times New Roman" panose="02020603050405020304" pitchFamily="18" charset="0"/>
            </a:endParaRPr>
          </a:p>
        </p:txBody>
      </p:sp>
      <p:sp>
        <p:nvSpPr>
          <p:cNvPr id="223" name="Google Shape;223;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24" name="Google Shape;224;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9"/>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sz="4900" b="1" dirty="0">
                <a:latin typeface="Times New Roman" panose="02020603050405020304" pitchFamily="18" charset="0"/>
                <a:cs typeface="Times New Roman" panose="02020603050405020304" pitchFamily="18" charset="0"/>
              </a:rPr>
              <a:t>References</a:t>
            </a:r>
            <a:endParaRPr b="1" dirty="0">
              <a:latin typeface="Times New Roman" panose="02020603050405020304" pitchFamily="18" charset="0"/>
              <a:cs typeface="Times New Roman" panose="02020603050405020304" pitchFamily="18" charset="0"/>
            </a:endParaRPr>
          </a:p>
        </p:txBody>
      </p:sp>
      <p:sp>
        <p:nvSpPr>
          <p:cNvPr id="239" name="Google Shape;239;p19"/>
          <p:cNvSpPr txBox="1">
            <a:spLocks noGrp="1"/>
          </p:cNvSpPr>
          <p:nvPr>
            <p:ph type="body" idx="1"/>
          </p:nvPr>
        </p:nvSpPr>
        <p:spPr>
          <a:xfrm>
            <a:off x="457200" y="990600"/>
            <a:ext cx="8229600" cy="5445125"/>
          </a:xfrm>
          <a:prstGeom prst="rect">
            <a:avLst/>
          </a:prstGeom>
          <a:noFill/>
          <a:ln>
            <a:noFill/>
          </a:ln>
        </p:spPr>
        <p:txBody>
          <a:bodyPr spcFirstLastPara="1" wrap="square" lIns="91425" tIns="45700" rIns="91425" bIns="45700" anchor="t" anchorCtr="0">
            <a:noAutofit/>
          </a:bodyPr>
          <a:lstStyle/>
          <a:p>
            <a:pPr marL="114300" indent="0" algn="just">
              <a:buNone/>
            </a:pPr>
            <a:r>
              <a:rPr lang="en-IN" sz="1600" b="1" dirty="0">
                <a:latin typeface="Times New Roman" panose="02020603050405020304" pitchFamily="18" charset="0"/>
                <a:cs typeface="Times New Roman" panose="02020603050405020304" pitchFamily="18" charset="0"/>
              </a:rPr>
              <a:t>[1] </a:t>
            </a:r>
            <a:r>
              <a:rPr lang="en-IN" sz="1600" dirty="0">
                <a:latin typeface="Times New Roman" panose="02020603050405020304" pitchFamily="18" charset="0"/>
                <a:cs typeface="Times New Roman" panose="02020603050405020304" pitchFamily="18" charset="0"/>
              </a:rPr>
              <a:t>Z. Guo, Z. Liu, E. Estupiñan, and D. Cabrera, “Fault Inference Diagnosis Based on Causal Network and Large Language Model-Enhanced Knowledge Graph Network,” </a:t>
            </a:r>
            <a:r>
              <a:rPr lang="en-IN" sz="1600" i="1" dirty="0">
                <a:latin typeface="Times New Roman" panose="02020603050405020304" pitchFamily="18" charset="0"/>
                <a:cs typeface="Times New Roman" panose="02020603050405020304" pitchFamily="18" charset="0"/>
              </a:rPr>
              <a:t>Chinese Journal of Mechanical Engineering</a:t>
            </a:r>
            <a:r>
              <a:rPr lang="en-IN" sz="1600" dirty="0">
                <a:latin typeface="Times New Roman" panose="02020603050405020304" pitchFamily="18" charset="0"/>
                <a:cs typeface="Times New Roman" panose="02020603050405020304" pitchFamily="18" charset="0"/>
              </a:rPr>
              <a:t>, vol. 39, Art. no. 100162, 2026.</a:t>
            </a:r>
          </a:p>
          <a:p>
            <a:pPr marL="114300" indent="0" algn="just">
              <a:buNone/>
            </a:pPr>
            <a:endParaRPr lang="en-IN" sz="1600" dirty="0">
              <a:latin typeface="Times New Roman" panose="02020603050405020304" pitchFamily="18" charset="0"/>
              <a:cs typeface="Times New Roman" panose="02020603050405020304" pitchFamily="18" charset="0"/>
            </a:endParaRPr>
          </a:p>
          <a:p>
            <a:pPr marL="114300" indent="0" algn="just">
              <a:buNone/>
            </a:pPr>
            <a:r>
              <a:rPr lang="en-IN" sz="1600" b="1" dirty="0">
                <a:latin typeface="Times New Roman" panose="02020603050405020304" pitchFamily="18" charset="0"/>
                <a:cs typeface="Times New Roman" panose="02020603050405020304" pitchFamily="18" charset="0"/>
              </a:rPr>
              <a:t>[2] </a:t>
            </a:r>
            <a:r>
              <a:rPr lang="en-IN" sz="1600" dirty="0">
                <a:latin typeface="Times New Roman" panose="02020603050405020304" pitchFamily="18" charset="0"/>
                <a:cs typeface="Times New Roman" panose="02020603050405020304" pitchFamily="18" charset="0"/>
              </a:rPr>
              <a:t>J. Wang, T. Li, Y. Yang, et al., “</a:t>
            </a:r>
            <a:r>
              <a:rPr lang="en-IN" sz="1600" dirty="0" err="1">
                <a:latin typeface="Times New Roman" panose="02020603050405020304" pitchFamily="18" charset="0"/>
                <a:cs typeface="Times New Roman" panose="02020603050405020304" pitchFamily="18" charset="0"/>
              </a:rPr>
              <a:t>DiagLLM</a:t>
            </a:r>
            <a:r>
              <a:rPr lang="en-IN" sz="1600" dirty="0">
                <a:latin typeface="Times New Roman" panose="02020603050405020304" pitchFamily="18" charset="0"/>
                <a:cs typeface="Times New Roman" panose="02020603050405020304" pitchFamily="18" charset="0"/>
              </a:rPr>
              <a:t>: Multimodal Reasoning with Large Language Model for Explainable Bearing Fault Diagnosis,” </a:t>
            </a:r>
            <a:r>
              <a:rPr lang="en-IN" sz="1600" i="1" dirty="0">
                <a:latin typeface="Times New Roman" panose="02020603050405020304" pitchFamily="18" charset="0"/>
                <a:cs typeface="Times New Roman" panose="02020603050405020304" pitchFamily="18" charset="0"/>
              </a:rPr>
              <a:t>Science China Information Sciences</a:t>
            </a:r>
            <a:r>
              <a:rPr lang="en-IN" sz="1600" dirty="0">
                <a:latin typeface="Times New Roman" panose="02020603050405020304" pitchFamily="18" charset="0"/>
                <a:cs typeface="Times New Roman" panose="02020603050405020304" pitchFamily="18" charset="0"/>
              </a:rPr>
              <a:t>, vol. 68, no. 1, 2025.</a:t>
            </a:r>
          </a:p>
          <a:p>
            <a:pPr marL="114300" indent="0" algn="just">
              <a:buNone/>
            </a:pPr>
            <a:endParaRPr lang="en-IN" sz="1600" b="1" dirty="0">
              <a:latin typeface="Times New Roman" panose="02020603050405020304" pitchFamily="18" charset="0"/>
              <a:cs typeface="Times New Roman" panose="02020603050405020304" pitchFamily="18" charset="0"/>
            </a:endParaRPr>
          </a:p>
          <a:p>
            <a:pPr marL="114300" indent="0" algn="just">
              <a:buNone/>
            </a:pPr>
            <a:r>
              <a:rPr lang="en-IN" sz="1600" b="1" dirty="0">
                <a:latin typeface="Times New Roman" panose="02020603050405020304" pitchFamily="18" charset="0"/>
                <a:cs typeface="Times New Roman" panose="02020603050405020304" pitchFamily="18" charset="0"/>
              </a:rPr>
              <a:t>[3] </a:t>
            </a:r>
            <a:r>
              <a:rPr lang="en-IN" sz="1600" dirty="0">
                <a:latin typeface="Times New Roman" panose="02020603050405020304" pitchFamily="18" charset="0"/>
                <a:cs typeface="Times New Roman" panose="02020603050405020304" pitchFamily="18" charset="0"/>
              </a:rPr>
              <a:t>S. Zheng, K. Pan, J. Liu, et al., “Empirical Study on Fine-Tuning Pre-trained Large Language Models for Fault Diagnosis of Complex Systems,” </a:t>
            </a:r>
            <a:r>
              <a:rPr lang="en-IN" sz="1600" i="1" dirty="0">
                <a:latin typeface="Times New Roman" panose="02020603050405020304" pitchFamily="18" charset="0"/>
                <a:cs typeface="Times New Roman" panose="02020603050405020304" pitchFamily="18" charset="0"/>
              </a:rPr>
              <a:t>Reliability Engineering &amp; System Safety</a:t>
            </a:r>
            <a:r>
              <a:rPr lang="en-IN" sz="1600" dirty="0">
                <a:latin typeface="Times New Roman" panose="02020603050405020304" pitchFamily="18" charset="0"/>
                <a:cs typeface="Times New Roman" panose="02020603050405020304" pitchFamily="18" charset="0"/>
              </a:rPr>
              <a:t>, vol. 252, Art. no. 110382, 2024.</a:t>
            </a:r>
          </a:p>
          <a:p>
            <a:pPr marL="114300" indent="0" algn="just">
              <a:buNone/>
            </a:pPr>
            <a:endParaRPr lang="en-IN" sz="1600" dirty="0">
              <a:latin typeface="Times New Roman" panose="02020603050405020304" pitchFamily="18" charset="0"/>
              <a:cs typeface="Times New Roman" panose="02020603050405020304" pitchFamily="18" charset="0"/>
            </a:endParaRPr>
          </a:p>
          <a:p>
            <a:pPr marL="114300" indent="0" algn="just">
              <a:buNone/>
            </a:pPr>
            <a:r>
              <a:rPr lang="en-IN" sz="1600" b="1" dirty="0">
                <a:latin typeface="Times New Roman" panose="02020603050405020304" pitchFamily="18" charset="0"/>
                <a:cs typeface="Times New Roman" panose="02020603050405020304" pitchFamily="18" charset="0"/>
              </a:rPr>
              <a:t>[4] </a:t>
            </a:r>
            <a:r>
              <a:rPr lang="en-IN" sz="1600" dirty="0">
                <a:latin typeface="Times New Roman" panose="02020603050405020304" pitchFamily="18" charset="0"/>
                <a:cs typeface="Times New Roman" panose="02020603050405020304" pitchFamily="18" charset="0"/>
              </a:rPr>
              <a:t>Z. Zhang, Q. Li, S. Liu, et al., “Causal Inference-Enabled Graph Neural Networks for Generalized Fault Diagnosis in Industrial IoT Systems,” </a:t>
            </a:r>
            <a:r>
              <a:rPr lang="en-IN" sz="1600" i="1" dirty="0">
                <a:latin typeface="Times New Roman" panose="02020603050405020304" pitchFamily="18" charset="0"/>
                <a:cs typeface="Times New Roman" panose="02020603050405020304" pitchFamily="18" charset="0"/>
              </a:rPr>
              <a:t>Information Sciences</a:t>
            </a:r>
            <a:r>
              <a:rPr lang="en-IN" sz="1600" dirty="0">
                <a:latin typeface="Times New Roman" panose="02020603050405020304" pitchFamily="18" charset="0"/>
                <a:cs typeface="Times New Roman" panose="02020603050405020304" pitchFamily="18" charset="0"/>
              </a:rPr>
              <a:t>, vol. 694, Art. no. 121719, 2025.</a:t>
            </a:r>
          </a:p>
          <a:p>
            <a:pPr marL="114300" indent="0" algn="just">
              <a:buNone/>
            </a:pPr>
            <a:endParaRPr lang="en-IN" sz="1600" dirty="0">
              <a:latin typeface="Times New Roman" panose="02020603050405020304" pitchFamily="18" charset="0"/>
              <a:cs typeface="Times New Roman" panose="02020603050405020304" pitchFamily="18" charset="0"/>
            </a:endParaRPr>
          </a:p>
          <a:p>
            <a:pPr marL="114300" indent="0" algn="just">
              <a:buNone/>
            </a:pPr>
            <a:r>
              <a:rPr lang="en-IN" sz="1600" b="1" dirty="0">
                <a:latin typeface="Times New Roman" panose="02020603050405020304" pitchFamily="18" charset="0"/>
                <a:cs typeface="Times New Roman" panose="02020603050405020304" pitchFamily="18" charset="0"/>
              </a:rPr>
              <a:t>[5] </a:t>
            </a:r>
            <a:r>
              <a:rPr lang="en-IN" sz="1600" dirty="0">
                <a:latin typeface="Times New Roman" panose="02020603050405020304" pitchFamily="18" charset="0"/>
                <a:cs typeface="Times New Roman" panose="02020603050405020304" pitchFamily="18" charset="0"/>
              </a:rPr>
              <a:t>Z. Mao, H. Wang, B. Jiang, et al., “Graph Convolutional Neural Network for Intelligent Fault Diagnosis of Machines via Knowledge Graph,” </a:t>
            </a:r>
            <a:r>
              <a:rPr lang="en-IN" sz="1600" i="1" dirty="0">
                <a:latin typeface="Times New Roman" panose="02020603050405020304" pitchFamily="18" charset="0"/>
                <a:cs typeface="Times New Roman" panose="02020603050405020304" pitchFamily="18" charset="0"/>
              </a:rPr>
              <a:t>IEEE Transactions on Industrial Informatics</a:t>
            </a:r>
            <a:r>
              <a:rPr lang="en-IN" sz="1600" dirty="0">
                <a:latin typeface="Times New Roman" panose="02020603050405020304" pitchFamily="18" charset="0"/>
                <a:cs typeface="Times New Roman" panose="02020603050405020304" pitchFamily="18" charset="0"/>
              </a:rPr>
              <a:t>, vol. 20, no. 5, pp. 7862–7870, 2024.</a:t>
            </a:r>
          </a:p>
          <a:p>
            <a:pPr marL="0" lvl="0" indent="0" algn="just" rtl="0">
              <a:lnSpc>
                <a:spcPct val="100000"/>
              </a:lnSpc>
              <a:spcBef>
                <a:spcPts val="240"/>
              </a:spcBef>
              <a:spcAft>
                <a:spcPts val="0"/>
              </a:spcAft>
              <a:buSzPts val="1800"/>
              <a:buNone/>
            </a:pPr>
            <a:endParaRPr lang="en-IN" sz="1600" dirty="0">
              <a:solidFill>
                <a:srgbClr val="000000"/>
              </a:solidFill>
              <a:latin typeface="Times New Roman"/>
              <a:ea typeface="Times New Roman"/>
              <a:cs typeface="Times New Roman"/>
              <a:sym typeface="Times New Roman"/>
            </a:endParaRPr>
          </a:p>
          <a:p>
            <a:pPr marL="0" lvl="0" indent="0" algn="just" rtl="0">
              <a:lnSpc>
                <a:spcPct val="100000"/>
              </a:lnSpc>
              <a:spcBef>
                <a:spcPts val="240"/>
              </a:spcBef>
              <a:spcAft>
                <a:spcPts val="0"/>
              </a:spcAft>
              <a:buSzPts val="1800"/>
              <a:buNone/>
            </a:pPr>
            <a:endParaRPr sz="1600" dirty="0">
              <a:solidFill>
                <a:srgbClr val="000000"/>
              </a:solidFill>
              <a:latin typeface="Times New Roman"/>
              <a:ea typeface="Times New Roman"/>
              <a:cs typeface="Times New Roman"/>
              <a:sym typeface="Times New Roman"/>
            </a:endParaRPr>
          </a:p>
        </p:txBody>
      </p:sp>
      <p:sp>
        <p:nvSpPr>
          <p:cNvPr id="241" name="Google Shape;24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42" name="Google Shape;242;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8"/>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ct val="100000"/>
              <a:buFont typeface="Calibri"/>
              <a:buNone/>
            </a:pPr>
            <a:r>
              <a:rPr lang="en-US" dirty="0">
                <a:latin typeface="Times New Roman" panose="02020603050405020304" pitchFamily="18" charset="0"/>
                <a:cs typeface="Times New Roman" panose="02020603050405020304" pitchFamily="18" charset="0"/>
              </a:rPr>
              <a:t>References</a:t>
            </a:r>
            <a:endParaRPr dirty="0">
              <a:latin typeface="Times New Roman" panose="02020603050405020304" pitchFamily="18" charset="0"/>
              <a:cs typeface="Times New Roman" panose="02020603050405020304" pitchFamily="18" charset="0"/>
            </a:endParaRPr>
          </a:p>
        </p:txBody>
      </p:sp>
      <p:sp>
        <p:nvSpPr>
          <p:cNvPr id="230" name="Google Shape;230;p18"/>
          <p:cNvSpPr txBox="1">
            <a:spLocks noGrp="1"/>
          </p:cNvSpPr>
          <p:nvPr>
            <p:ph type="body" idx="1"/>
          </p:nvPr>
        </p:nvSpPr>
        <p:spPr>
          <a:xfrm>
            <a:off x="457200" y="899160"/>
            <a:ext cx="8229600" cy="5456555"/>
          </a:xfrm>
          <a:prstGeom prst="rect">
            <a:avLst/>
          </a:prstGeom>
          <a:noFill/>
          <a:ln>
            <a:noFill/>
          </a:ln>
        </p:spPr>
        <p:txBody>
          <a:bodyPr spcFirstLastPara="1" wrap="square" lIns="91425" tIns="45700" rIns="91425" bIns="45700" anchor="t" anchorCtr="0">
            <a:noAutofit/>
          </a:bodyPr>
          <a:lstStyle/>
          <a:p>
            <a:pPr marL="114300" indent="0" algn="just">
              <a:buNone/>
            </a:pPr>
            <a:r>
              <a:rPr lang="en-IN" sz="1600" b="1" dirty="0">
                <a:latin typeface="Times New Roman" panose="02020603050405020304" pitchFamily="18" charset="0"/>
                <a:cs typeface="Times New Roman" panose="02020603050405020304" pitchFamily="18" charset="0"/>
              </a:rPr>
              <a:t>[6] </a:t>
            </a:r>
            <a:r>
              <a:rPr lang="en-IN" sz="1600" dirty="0">
                <a:latin typeface="Times New Roman" panose="02020603050405020304" pitchFamily="18" charset="0"/>
                <a:cs typeface="Times New Roman" panose="02020603050405020304" pitchFamily="18" charset="0"/>
              </a:rPr>
              <a:t>X. Liao, C. Chen, Z. Wang, et al., “Large Language Model Assisted Fine-Grained Knowledge Graph Construction for Robotic Fault Diagnosis,” </a:t>
            </a:r>
            <a:r>
              <a:rPr lang="en-IN" sz="1600" i="1" dirty="0">
                <a:latin typeface="Times New Roman" panose="02020603050405020304" pitchFamily="18" charset="0"/>
                <a:cs typeface="Times New Roman" panose="02020603050405020304" pitchFamily="18" charset="0"/>
              </a:rPr>
              <a:t>Advanced Engineering Informatics</a:t>
            </a:r>
            <a:r>
              <a:rPr lang="en-IN" sz="1600" dirty="0">
                <a:latin typeface="Times New Roman" panose="02020603050405020304" pitchFamily="18" charset="0"/>
                <a:cs typeface="Times New Roman" panose="02020603050405020304" pitchFamily="18" charset="0"/>
              </a:rPr>
              <a:t>, vol. 65, Art. no. 103134, 2025.</a:t>
            </a:r>
            <a:endParaRPr lang="en-IN" sz="1600" dirty="0">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00000"/>
              </a:lnSpc>
              <a:spcBef>
                <a:spcPts val="240"/>
              </a:spcBef>
              <a:spcAft>
                <a:spcPts val="0"/>
              </a:spcAft>
              <a:buSzPts val="1800"/>
              <a:buNone/>
            </a:pPr>
            <a:endParaRPr lang="en-IN" sz="1600" dirty="0">
              <a:latin typeface="Times New Roman" panose="02020603050405020304" pitchFamily="18" charset="0"/>
              <a:ea typeface="Times New Roman"/>
              <a:cs typeface="Times New Roman" panose="02020603050405020304" pitchFamily="18" charset="0"/>
              <a:sym typeface="Times New Roman"/>
            </a:endParaRPr>
          </a:p>
          <a:p>
            <a:pPr marL="114300" indent="0" algn="just">
              <a:buNone/>
            </a:pPr>
            <a:r>
              <a:rPr lang="en-IN" sz="1600" b="1" dirty="0">
                <a:latin typeface="Times New Roman" panose="02020603050405020304" pitchFamily="18" charset="0"/>
                <a:cs typeface="Times New Roman" panose="02020603050405020304" pitchFamily="18" charset="0"/>
              </a:rPr>
              <a:t>[7] </a:t>
            </a:r>
            <a:r>
              <a:rPr lang="en-IN" sz="1600" dirty="0">
                <a:latin typeface="Times New Roman" panose="02020603050405020304" pitchFamily="18" charset="0"/>
                <a:cs typeface="Times New Roman" panose="02020603050405020304" pitchFamily="18" charset="0"/>
              </a:rPr>
              <a:t>X. Ding, H. Wu, J. Wang, et al., “Causal Discovery for Rolling Bearing Fault Under Missing Data: From the Perspective of Causal Effect and Information Flow,” </a:t>
            </a:r>
            <a:r>
              <a:rPr lang="en-IN" sz="1600" i="1" dirty="0">
                <a:latin typeface="Times New Roman" panose="02020603050405020304" pitchFamily="18" charset="0"/>
                <a:cs typeface="Times New Roman" panose="02020603050405020304" pitchFamily="18" charset="0"/>
              </a:rPr>
              <a:t>IEEE Transactions on Instrumentation and Measurement</a:t>
            </a:r>
            <a:r>
              <a:rPr lang="en-IN" sz="1600" dirty="0">
                <a:latin typeface="Times New Roman" panose="02020603050405020304" pitchFamily="18" charset="0"/>
                <a:cs typeface="Times New Roman" panose="02020603050405020304" pitchFamily="18" charset="0"/>
              </a:rPr>
              <a:t>, vol. 74, pp. 1–17, 2025.</a:t>
            </a:r>
          </a:p>
          <a:p>
            <a:pPr marL="114300" indent="0" algn="just">
              <a:buNone/>
            </a:pPr>
            <a:endParaRPr lang="en-IN" sz="1600" dirty="0">
              <a:latin typeface="Times New Roman" panose="02020603050405020304" pitchFamily="18" charset="0"/>
              <a:cs typeface="Times New Roman" panose="02020603050405020304" pitchFamily="18" charset="0"/>
            </a:endParaRPr>
          </a:p>
          <a:p>
            <a:pPr marL="114300" indent="0" algn="just">
              <a:buNone/>
            </a:pPr>
            <a:r>
              <a:rPr lang="en-IN" sz="1600" b="1" dirty="0">
                <a:latin typeface="Times New Roman" panose="02020603050405020304" pitchFamily="18" charset="0"/>
                <a:cs typeface="Times New Roman" panose="02020603050405020304" pitchFamily="18" charset="0"/>
              </a:rPr>
              <a:t>[8] </a:t>
            </a:r>
            <a:r>
              <a:rPr lang="en-IN" sz="1600" dirty="0">
                <a:latin typeface="Times New Roman" panose="02020603050405020304" pitchFamily="18" charset="0"/>
                <a:cs typeface="Times New Roman" panose="02020603050405020304" pitchFamily="18" charset="0"/>
              </a:rPr>
              <a:t>Y. Dong, H. Jiang, X. Wang, et al., “An Interpretable Integration Fusion Time-Frequency Prototype Contrastive Learning for Machine Fault Diagnosis with Limited </a:t>
            </a:r>
            <a:r>
              <a:rPr lang="en-IN" sz="1600" dirty="0" err="1">
                <a:latin typeface="Times New Roman" panose="02020603050405020304" pitchFamily="18" charset="0"/>
                <a:cs typeface="Times New Roman" panose="02020603050405020304" pitchFamily="18" charset="0"/>
              </a:rPr>
              <a:t>Labeled</a:t>
            </a:r>
            <a:r>
              <a:rPr lang="en-IN" sz="1600" dirty="0">
                <a:latin typeface="Times New Roman" panose="02020603050405020304" pitchFamily="18" charset="0"/>
                <a:cs typeface="Times New Roman" panose="02020603050405020304" pitchFamily="18" charset="0"/>
              </a:rPr>
              <a:t> Samples,” </a:t>
            </a:r>
            <a:r>
              <a:rPr lang="en-IN" sz="1600" i="1" dirty="0">
                <a:latin typeface="Times New Roman" panose="02020603050405020304" pitchFamily="18" charset="0"/>
                <a:cs typeface="Times New Roman" panose="02020603050405020304" pitchFamily="18" charset="0"/>
              </a:rPr>
              <a:t>Information Fusion</a:t>
            </a:r>
            <a:r>
              <a:rPr lang="en-IN" sz="1600" dirty="0">
                <a:latin typeface="Times New Roman" panose="02020603050405020304" pitchFamily="18" charset="0"/>
                <a:cs typeface="Times New Roman" panose="02020603050405020304" pitchFamily="18" charset="0"/>
              </a:rPr>
              <a:t>, vol. 124, Art. no. 103340, 2025.</a:t>
            </a:r>
          </a:p>
          <a:p>
            <a:pPr marL="114300" indent="0" algn="just">
              <a:buNone/>
            </a:pPr>
            <a:endParaRPr lang="en-IN" sz="1600" b="1" dirty="0">
              <a:latin typeface="Times New Roman" panose="02020603050405020304" pitchFamily="18" charset="0"/>
              <a:cs typeface="Times New Roman" panose="02020603050405020304" pitchFamily="18" charset="0"/>
            </a:endParaRPr>
          </a:p>
          <a:p>
            <a:pPr marL="114300" indent="0" algn="just">
              <a:buNone/>
            </a:pPr>
            <a:r>
              <a:rPr lang="en-IN" sz="1600" b="1" dirty="0">
                <a:latin typeface="Times New Roman" panose="02020603050405020304" pitchFamily="18" charset="0"/>
                <a:cs typeface="Times New Roman" panose="02020603050405020304" pitchFamily="18" charset="0"/>
              </a:rPr>
              <a:t>[9] </a:t>
            </a:r>
            <a:r>
              <a:rPr lang="en-IN" sz="1600" dirty="0">
                <a:latin typeface="Times New Roman" panose="02020603050405020304" pitchFamily="18" charset="0"/>
                <a:cs typeface="Times New Roman" panose="02020603050405020304" pitchFamily="18" charset="0"/>
              </a:rPr>
              <a:t>D. Song, F. Zhang, M. Lu, et al., “</a:t>
            </a:r>
            <a:r>
              <a:rPr lang="en-IN" sz="1600" dirty="0" err="1">
                <a:latin typeface="Times New Roman" panose="02020603050405020304" pitchFamily="18" charset="0"/>
                <a:cs typeface="Times New Roman" panose="02020603050405020304" pitchFamily="18" charset="0"/>
              </a:rPr>
              <a:t>DTransE</a:t>
            </a:r>
            <a:r>
              <a:rPr lang="en-IN" sz="1600" dirty="0">
                <a:latin typeface="Times New Roman" panose="02020603050405020304" pitchFamily="18" charset="0"/>
                <a:cs typeface="Times New Roman" panose="02020603050405020304" pitchFamily="18" charset="0"/>
              </a:rPr>
              <a:t>: Distributed Translating Embedding for Knowledge Graph,” </a:t>
            </a:r>
            <a:r>
              <a:rPr lang="en-IN" sz="1600" i="1" dirty="0">
                <a:latin typeface="Times New Roman" panose="02020603050405020304" pitchFamily="18" charset="0"/>
                <a:cs typeface="Times New Roman" panose="02020603050405020304" pitchFamily="18" charset="0"/>
              </a:rPr>
              <a:t>IEEE Transactions on Parallel and Distributed Systems</a:t>
            </a:r>
            <a:r>
              <a:rPr lang="en-IN" sz="1600" dirty="0">
                <a:latin typeface="Times New Roman" panose="02020603050405020304" pitchFamily="18" charset="0"/>
                <a:cs typeface="Times New Roman" panose="02020603050405020304" pitchFamily="18" charset="0"/>
              </a:rPr>
              <a:t>, vol. 32, no. 10, pp. 2509–2523, 2021.</a:t>
            </a:r>
          </a:p>
          <a:p>
            <a:pPr marL="114300" indent="0" algn="just">
              <a:buNone/>
            </a:pPr>
            <a:endParaRPr lang="en-IN" sz="1600" dirty="0">
              <a:latin typeface="Times New Roman" panose="02020603050405020304" pitchFamily="18" charset="0"/>
              <a:ea typeface="Times New Roman"/>
              <a:cs typeface="Times New Roman" panose="02020603050405020304" pitchFamily="18" charset="0"/>
              <a:sym typeface="Times New Roman"/>
            </a:endParaRPr>
          </a:p>
          <a:p>
            <a:pPr marL="114300" indent="0" algn="just">
              <a:buNone/>
            </a:pPr>
            <a:r>
              <a:rPr lang="en-IN" sz="1600" b="1" dirty="0">
                <a:latin typeface="Times New Roman" panose="02020603050405020304" pitchFamily="18" charset="0"/>
                <a:cs typeface="Times New Roman" panose="02020603050405020304" pitchFamily="18" charset="0"/>
              </a:rPr>
              <a:t>[10]</a:t>
            </a:r>
            <a:r>
              <a:rPr lang="en-IN" sz="1600" dirty="0">
                <a:latin typeface="Times New Roman" panose="02020603050405020304" pitchFamily="18" charset="0"/>
                <a:cs typeface="Times New Roman" panose="02020603050405020304" pitchFamily="18" charset="0"/>
              </a:rPr>
              <a:t>Y. Dong, H. Jiang, M. Mu, et al., “A Trustworthy Lightweight Multi-Expert Wavelet Transformer for Rotating Machinery Fault Diagnosis,” </a:t>
            </a:r>
            <a:r>
              <a:rPr lang="en-IN" sz="1600" i="1" dirty="0">
                <a:latin typeface="Times New Roman" panose="02020603050405020304" pitchFamily="18" charset="0"/>
                <a:cs typeface="Times New Roman" panose="02020603050405020304" pitchFamily="18" charset="0"/>
              </a:rPr>
              <a:t>Mechanical Systems and Signal Processing</a:t>
            </a:r>
            <a:r>
              <a:rPr lang="en-IN" sz="1600" dirty="0">
                <a:latin typeface="Times New Roman" panose="02020603050405020304" pitchFamily="18" charset="0"/>
                <a:cs typeface="Times New Roman" panose="02020603050405020304" pitchFamily="18" charset="0"/>
              </a:rPr>
              <a:t>, vol. 235, Art. no. 112945, 2025.</a:t>
            </a:r>
            <a:endParaRPr lang="en-IN" sz="1600" dirty="0">
              <a:latin typeface="Times New Roman" panose="02020603050405020304" pitchFamily="18" charset="0"/>
              <a:ea typeface="Times New Roman"/>
              <a:cs typeface="Times New Roman" panose="02020603050405020304" pitchFamily="18" charset="0"/>
              <a:sym typeface="Times New Roman"/>
            </a:endParaRPr>
          </a:p>
        </p:txBody>
      </p:sp>
      <p:sp>
        <p:nvSpPr>
          <p:cNvPr id="232" name="Google Shape;232;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33" name="Google Shape;233;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198</TotalTime>
  <Words>1993</Words>
  <Application>Microsoft Office PowerPoint</Application>
  <PresentationFormat>On-screen Show (4:3)</PresentationFormat>
  <Paragraphs>222</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Times New Roman</vt:lpstr>
      <vt:lpstr>Wingdings</vt:lpstr>
      <vt:lpstr>Office Theme</vt:lpstr>
      <vt:lpstr>S.A. ENGINEERING COLLEGE- CHENNAI-77 (Autonomous- Institute Level Research Centre, Affiliated to Anna University) DEPARTMENT OF ARTIFICIAL INTELLIGENCE &amp; DATA SCIENCE</vt:lpstr>
      <vt:lpstr>Agenda</vt:lpstr>
      <vt:lpstr>Introduction</vt:lpstr>
      <vt:lpstr>Base Paper</vt:lpstr>
      <vt:lpstr>Abstract</vt:lpstr>
      <vt:lpstr>Scope and Motivation</vt:lpstr>
      <vt:lpstr>Literature Survey</vt:lpstr>
      <vt:lpstr>Literature Survey</vt:lpstr>
      <vt:lpstr>Objectives</vt:lpstr>
      <vt:lpstr>Problem Statement</vt:lpstr>
      <vt:lpstr>Proposed Work-Block Diagram</vt:lpstr>
      <vt:lpstr>Architecture Diagram</vt:lpstr>
      <vt:lpstr>Modules</vt:lpstr>
      <vt:lpstr>Proposed-Module Description</vt:lpstr>
      <vt:lpstr>Proposed-Module Description</vt:lpstr>
      <vt:lpstr>Software Requirements</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 ENGINEERING COLLEGE- CHENNAI-77 (Autonomous- Institute Level Research Centre, Affiliated to Anna University) DEPARTMENT OF ARTIFICIAL INTELLIGENCE &amp; DATA SCIENCE</dc:title>
  <dc:creator>22101316I</dc:creator>
  <cp:lastModifiedBy>Menaka M</cp:lastModifiedBy>
  <cp:revision>14</cp:revision>
  <dcterms:created xsi:type="dcterms:W3CDTF">2025-08-02T14:18:00Z</dcterms:created>
  <dcterms:modified xsi:type="dcterms:W3CDTF">2026-08-02T13:16:03Z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5D9E7A7B5D9B44D59A24B41C6AB6D90A_13</vt:lpwstr>
  </property>
  <property fmtid="{D5CDD505-2E9C-101B-9397-08002B2CF9AE}" pid="3" name="KSOProductBuildVer">
    <vt:lpwstr>1033-12.2.0.22549</vt:lpwstr>
  </property>
</Properties>
</file>
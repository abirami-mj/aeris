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74" r:id="rId9"/>
    <p:sldId id="263" r:id="rId10"/>
    <p:sldId id="264" r:id="rId11"/>
    <p:sldId id="265" r:id="rId12"/>
    <p:sldId id="266" r:id="rId13"/>
    <p:sldId id="284" r:id="rId14"/>
    <p:sldId id="285" r:id="rId15"/>
    <p:sldId id="269" r:id="rId16"/>
    <p:sldId id="270" r:id="rId17"/>
    <p:sldId id="272" r:id="rId18"/>
    <p:sldId id="271" r:id="rId19"/>
    <p:sldId id="278" r:id="rId20"/>
    <p:sldId id="282" r:id="rId21"/>
    <p:sldId id="283" r:id="rId22"/>
    <p:sldId id="286" r:id="rId23"/>
    <p:sldId id="287" r:id="rId24"/>
    <p:sldId id="288" r:id="rId25"/>
    <p:sldId id="281" r:id="rId26"/>
    <p:sldId id="289" r:id="rId27"/>
    <p:sldId id="267" r:id="rId28"/>
    <p:sldId id="268" r:id="rId29"/>
    <p:sldId id="275" r:id="rId30"/>
    <p:sldId id="276" r:id="rId31"/>
    <p:sldId id="291" r:id="rId32"/>
    <p:sldId id="319" r:id="rId33"/>
    <p:sldId id="292" r:id="rId34"/>
    <p:sldId id="312" r:id="rId35"/>
    <p:sldId id="310" r:id="rId36"/>
    <p:sldId id="314" r:id="rId37"/>
    <p:sldId id="299" r:id="rId38"/>
    <p:sldId id="315" r:id="rId39"/>
    <p:sldId id="316" r:id="rId40"/>
    <p:sldId id="298" r:id="rId41"/>
    <p:sldId id="294" r:id="rId42"/>
    <p:sldId id="295" r:id="rId43"/>
    <p:sldId id="318" r:id="rId44"/>
    <p:sldId id="317" r:id="rId45"/>
    <p:sldId id="296" r:id="rId46"/>
    <p:sldId id="290" r:id="rId47"/>
    <p:sldId id="305" r:id="rId48"/>
    <p:sldId id="301" r:id="rId49"/>
    <p:sldId id="302" r:id="rId50"/>
    <p:sldId id="308" r:id="rId51"/>
    <p:sldId id="303" r:id="rId52"/>
    <p:sldId id="304" r:id="rId53"/>
    <p:sldId id="320" r:id="rId54"/>
    <p:sldId id="321" r:id="rId55"/>
    <p:sldId id="328" r:id="rId56"/>
    <p:sldId id="327" r:id="rId57"/>
    <p:sldId id="329" r:id="rId58"/>
    <p:sldId id="330" r:id="rId59"/>
    <p:sldId id="322" r:id="rId60"/>
    <p:sldId id="323" r:id="rId61"/>
    <p:sldId id="324" r:id="rId62"/>
    <p:sldId id="325" r:id="rId63"/>
    <p:sldId id="326" r:id="rId64"/>
    <p:sldId id="331" r:id="rId65"/>
    <p:sldId id="332" r:id="rId66"/>
    <p:sldId id="333" r:id="rId67"/>
    <p:sldId id="334" r:id="rId68"/>
    <p:sldId id="335" r:id="rId69"/>
    <p:sldId id="336" r:id="rId70"/>
    <p:sldId id="337" r:id="rId71"/>
    <p:sldId id="338" r:id="rId72"/>
    <p:sldId id="339" r:id="rId73"/>
    <p:sldId id="340" r:id="rId74"/>
    <p:sldId id="341" r:id="rId75"/>
    <p:sldId id="343" r:id="rId7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i8ZpY56QUA1/6CfgTxRwtTv1PV2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879F58-94FC-4AB5-AACA-6E85711E4052}">
  <a:tblStyle styleId="{47879F58-94FC-4AB5-AACA-6E85711E4052}"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fill>
          <a:solidFill>
            <a:schemeClr val="accent5">
              <a:alpha val="20000"/>
            </a:schemeClr>
          </a:solidFill>
        </a:fill>
      </a:tcStyle>
    </a:band2H>
    <a:band1V>
      <a:tcTxStyle/>
      <a:tcStyle>
        <a:tcBdr/>
        <a:fill>
          <a:solidFill>
            <a:schemeClr val="accent5">
              <a:alpha val="20000"/>
            </a:schemeClr>
          </a:solidFill>
        </a:fill>
      </a:tcStyle>
    </a:band1V>
    <a:band2V>
      <a:tcTxStyle/>
      <a:tcStyle>
        <a:tcBdr/>
        <a:fill>
          <a:solidFill>
            <a:schemeClr val="accent5">
              <a:alpha val="20000"/>
            </a:schemeClr>
          </a:solidFill>
        </a:fill>
      </a:tcStyle>
    </a:band2V>
    <a:lastCol>
      <a:tcTxStyle b="on" i="off"/>
      <a:tcStyle>
        <a:tcBdr/>
        <a:fill>
          <a:solidFill>
            <a:schemeClr val="accent5">
              <a:alpha val="20000"/>
            </a:schemeClr>
          </a:solidFill>
        </a:fill>
      </a:tcStyle>
    </a:lastCol>
    <a:firstCol>
      <a:tcTxStyle b="on" i="off"/>
      <a:tcStyle>
        <a:tcBdr/>
        <a:fill>
          <a:solidFill>
            <a:schemeClr val="accent5">
              <a:alpha val="20000"/>
            </a:schemeClr>
          </a:solidFill>
        </a:fill>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op>
            <a:ln w="50800" cap="flat" cmpd="sng">
              <a:solidFill>
                <a:schemeClr val="accent5"/>
              </a:solidFill>
              <a:prstDash val="solid"/>
              <a:round/>
              <a:headEnd type="none" w="sm" len="sm"/>
              <a:tailEnd type="none" w="sm" len="sm"/>
            </a:ln>
          </a:top>
        </a:tcBdr>
        <a:fill>
          <a:solidFill>
            <a:srgbClr val="FFFFFF">
              <a:alpha val="0"/>
            </a:srgbClr>
          </a:solidFill>
        </a:fill>
      </a:tcStyle>
    </a:seCell>
    <a:swCell>
      <a:tcTxStyle/>
      <a:tcStyle>
        <a:tcBdr>
          <a:top>
            <a:ln w="50800" cap="flat" cmpd="sng">
              <a:solidFill>
                <a:schemeClr val="accent5"/>
              </a:solidFill>
              <a:prstDash val="solid"/>
              <a:round/>
              <a:headEnd type="none" w="sm" len="sm"/>
              <a:tailEnd type="none" w="sm" len="sm"/>
            </a:ln>
          </a:top>
        </a:tcBdr>
        <a:fill>
          <a:solidFill>
            <a:srgbClr val="FFFFFF">
              <a:alpha val="0"/>
            </a:srgbClr>
          </a:solidFill>
        </a:fill>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neCell>
    <a:nwCell>
      <a:tcTxStyle/>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nwCell>
  </a:tblStyle>
  <a:tblStyle styleId="{6EB1FC0C-1D29-42B7-B8E6-0F5DF3C737FC}"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fill>
          <a:solidFill>
            <a:srgbClr val="CFD7E7"/>
          </a:solidFill>
        </a:fill>
      </a:tcStyle>
    </a:band2H>
    <a:band1V>
      <a:tcTxStyle/>
      <a:tcStyle>
        <a:tcBdr/>
        <a:fill>
          <a:solidFill>
            <a:srgbClr val="CFD7E7"/>
          </a:solidFill>
        </a:fill>
      </a:tcStyle>
    </a:band1V>
    <a:band2V>
      <a:tcTxStyle/>
      <a:tcStyle>
        <a:tcBdr/>
        <a:fill>
          <a:solidFill>
            <a:srgbClr val="CFD7E7"/>
          </a:solidFill>
        </a:fill>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op>
            <a:ln w="38100" cap="flat" cmpd="sng">
              <a:solidFill>
                <a:schemeClr val="lt1"/>
              </a:solidFill>
              <a:prstDash val="solid"/>
              <a:round/>
              <a:headEnd type="none" w="sm" len="sm"/>
              <a:tailEnd type="none" w="sm" len="sm"/>
            </a:ln>
          </a:top>
        </a:tcBdr>
        <a:fill>
          <a:solidFill>
            <a:schemeClr val="accent1"/>
          </a:solidFill>
        </a:fill>
      </a:tcStyle>
    </a:seCell>
    <a:swCell>
      <a:tcTxStyle/>
      <a:tcStyle>
        <a:tcBdr>
          <a:top>
            <a:ln w="38100" cap="flat" cmpd="sng">
              <a:solidFill>
                <a:schemeClr val="lt1"/>
              </a:solidFill>
              <a:prstDash val="solid"/>
              <a:round/>
              <a:headEnd type="none" w="sm" len="sm"/>
              <a:tailEnd type="none" w="sm" len="sm"/>
            </a:ln>
          </a:top>
        </a:tcBdr>
        <a:fill>
          <a:solidFill>
            <a:schemeClr val="accent1"/>
          </a:solidFill>
        </a:fill>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bottom>
            <a:ln w="38100" cap="flat" cmpd="sng">
              <a:solidFill>
                <a:schemeClr val="lt1"/>
              </a:solidFill>
              <a:prstDash val="solid"/>
              <a:round/>
              <a:headEnd type="none" w="sm" len="sm"/>
              <a:tailEnd type="none" w="sm" len="sm"/>
            </a:ln>
          </a:bottom>
        </a:tcBdr>
        <a:fill>
          <a:solidFill>
            <a:schemeClr val="accent1"/>
          </a:solidFill>
        </a:fill>
      </a:tcStyle>
    </a:neCell>
    <a:nwCell>
      <a:tcTxStyle/>
      <a:tcStyle>
        <a:tcBdr>
          <a:bottom>
            <a:ln w="38100" cap="flat" cmpd="sng">
              <a:solidFill>
                <a:schemeClr val="lt1"/>
              </a:solidFill>
              <a:prstDash val="solid"/>
              <a:round/>
              <a:headEnd type="none" w="sm" len="sm"/>
              <a:tailEnd type="none" w="sm" len="sm"/>
            </a:ln>
          </a:bottom>
        </a:tcBdr>
        <a:fill>
          <a:solidFill>
            <a:schemeClr val="accent1"/>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5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9" name="Google Shape;10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f4fb01c2d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f4fb01c2df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f4fb01c2df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5" name="Google Shape;13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22D0E7DF-7534-0CF1-09E0-3C9AA8E40604}"/>
            </a:ext>
          </a:extLst>
        </p:cNvPr>
        <p:cNvGrpSpPr/>
        <p:nvPr/>
      </p:nvGrpSpPr>
      <p:grpSpPr>
        <a:xfrm>
          <a:off x="0" y="0"/>
          <a:ext cx="0" cy="0"/>
          <a:chOff x="0" y="0"/>
          <a:chExt cx="0" cy="0"/>
        </a:xfrm>
      </p:grpSpPr>
      <p:sp>
        <p:nvSpPr>
          <p:cNvPr id="144" name="Google Shape;144;p6:notes">
            <a:extLst>
              <a:ext uri="{FF2B5EF4-FFF2-40B4-BE49-F238E27FC236}">
                <a16:creationId xmlns:a16="http://schemas.microsoft.com/office/drawing/2014/main" id="{4AE045E0-6DD4-00F4-109B-A4A8BC54AD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6:notes">
            <a:extLst>
              <a:ext uri="{FF2B5EF4-FFF2-40B4-BE49-F238E27FC236}">
                <a16:creationId xmlns:a16="http://schemas.microsoft.com/office/drawing/2014/main" id="{E0FF730A-050D-CFBE-2B1C-74474669131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0632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53" name="Google Shape;15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62" name="Google Shape;16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1" name="Google Shape;17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1" name="Google Shape;18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1" name="Google Shape;19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9" name="Google Shape;20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18" name="Google Shape;21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36" name="Google Shape;23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27" name="Google Shape;22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60326EBD-95AB-DC80-5B28-273FF67496C2}"/>
            </a:ext>
          </a:extLst>
        </p:cNvPr>
        <p:cNvGrpSpPr/>
        <p:nvPr/>
      </p:nvGrpSpPr>
      <p:grpSpPr>
        <a:xfrm>
          <a:off x="0" y="0"/>
          <a:ext cx="0" cy="0"/>
          <a:chOff x="0" y="0"/>
          <a:chExt cx="0" cy="0"/>
        </a:xfrm>
      </p:grpSpPr>
      <p:sp>
        <p:nvSpPr>
          <p:cNvPr id="91" name="Google Shape;91;p1:notes">
            <a:extLst>
              <a:ext uri="{FF2B5EF4-FFF2-40B4-BE49-F238E27FC236}">
                <a16:creationId xmlns:a16="http://schemas.microsoft.com/office/drawing/2014/main" id="{E49CC420-1C6E-4CBF-6A0C-6809036EF5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a:extLst>
              <a:ext uri="{FF2B5EF4-FFF2-40B4-BE49-F238E27FC236}">
                <a16:creationId xmlns:a16="http://schemas.microsoft.com/office/drawing/2014/main" id="{8EB8141E-4965-63BC-DB58-81B753AAEF6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9144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123E77A-20FF-F89E-2C63-CFDFB399FC8C}"/>
            </a:ext>
          </a:extLst>
        </p:cNvPr>
        <p:cNvGrpSpPr/>
        <p:nvPr/>
      </p:nvGrpSpPr>
      <p:grpSpPr>
        <a:xfrm>
          <a:off x="0" y="0"/>
          <a:ext cx="0" cy="0"/>
          <a:chOff x="0" y="0"/>
          <a:chExt cx="0" cy="0"/>
        </a:xfrm>
      </p:grpSpPr>
      <p:sp>
        <p:nvSpPr>
          <p:cNvPr id="180" name="Google Shape;180;p10:notes">
            <a:extLst>
              <a:ext uri="{FF2B5EF4-FFF2-40B4-BE49-F238E27FC236}">
                <a16:creationId xmlns:a16="http://schemas.microsoft.com/office/drawing/2014/main" id="{6A5B230D-B211-DDA6-5319-9D56EE0143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1" name="Google Shape;181;p10:notes">
            <a:extLst>
              <a:ext uri="{FF2B5EF4-FFF2-40B4-BE49-F238E27FC236}">
                <a16:creationId xmlns:a16="http://schemas.microsoft.com/office/drawing/2014/main" id="{C9840167-2CC3-2499-6BC4-6F366691965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5075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223D140B-9C8D-7AAB-C37B-200C9E3C49F2}"/>
            </a:ext>
          </a:extLst>
        </p:cNvPr>
        <p:cNvGrpSpPr/>
        <p:nvPr/>
      </p:nvGrpSpPr>
      <p:grpSpPr>
        <a:xfrm>
          <a:off x="0" y="0"/>
          <a:ext cx="0" cy="0"/>
          <a:chOff x="0" y="0"/>
          <a:chExt cx="0" cy="0"/>
        </a:xfrm>
      </p:grpSpPr>
      <p:sp>
        <p:nvSpPr>
          <p:cNvPr id="190" name="Google Shape;190;p12:notes">
            <a:extLst>
              <a:ext uri="{FF2B5EF4-FFF2-40B4-BE49-F238E27FC236}">
                <a16:creationId xmlns:a16="http://schemas.microsoft.com/office/drawing/2014/main" id="{B359C0C6-00C9-34FD-CC51-8A04316752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1" name="Google Shape;191;p12:notes">
            <a:extLst>
              <a:ext uri="{FF2B5EF4-FFF2-40B4-BE49-F238E27FC236}">
                <a16:creationId xmlns:a16="http://schemas.microsoft.com/office/drawing/2014/main" id="{BDEA8F80-B470-83A0-6A9A-D9126958FAE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793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1" name="Google Shape;19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2E045088-8F02-4C8C-6665-6254A5B634D6}"/>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3F64B3B9-FEC3-0D53-7485-46DF9D58C9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3CCAFE08-81B1-7B24-72FE-609A819C039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32851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B356463-9462-C8A2-02F1-987E950FE8FE}"/>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B7AF8ACE-0BC5-3714-8150-80A5827DDD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B2E96B72-F37D-A2A5-6D97-24D553AE06A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6655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9FC2BBF6-AB67-F7E5-0665-9F7ABB6CB022}"/>
            </a:ext>
          </a:extLst>
        </p:cNvPr>
        <p:cNvGrpSpPr/>
        <p:nvPr/>
      </p:nvGrpSpPr>
      <p:grpSpPr>
        <a:xfrm>
          <a:off x="0" y="0"/>
          <a:ext cx="0" cy="0"/>
          <a:chOff x="0" y="0"/>
          <a:chExt cx="0" cy="0"/>
        </a:xfrm>
      </p:grpSpPr>
      <p:sp>
        <p:nvSpPr>
          <p:cNvPr id="91" name="Google Shape;91;p1:notes">
            <a:extLst>
              <a:ext uri="{FF2B5EF4-FFF2-40B4-BE49-F238E27FC236}">
                <a16:creationId xmlns:a16="http://schemas.microsoft.com/office/drawing/2014/main" id="{21422CD5-E921-324B-0A59-E6DA2E4612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a:extLst>
              <a:ext uri="{FF2B5EF4-FFF2-40B4-BE49-F238E27FC236}">
                <a16:creationId xmlns:a16="http://schemas.microsoft.com/office/drawing/2014/main" id="{95229364-6B3F-18F4-B3E7-106927A7D77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9142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D43D7E54-0F3F-3010-3DD6-6B03A4713F9E}"/>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774A5008-BBB4-2485-7FAB-B8B9BF54D2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EB1C026E-C536-0EFB-35BA-FD3B59028C5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7410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E3B291EC-2571-AD71-7450-C81FA5FF3D88}"/>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55E7C5A7-7DE8-6834-C343-2586258D37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5E57EABF-8231-71C2-C162-61F95758D33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79347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6D4C37E-882E-FDD4-1788-54A353A8D127}"/>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F250A372-196F-32A4-FD44-0767AB8838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2C8A7864-305F-851E-74C0-DA99A24F443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7733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1D96909-6207-2C3A-7F33-FD34C79E4EE3}"/>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EA148528-6369-D6B3-2F27-5B83820F42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A2C45646-A19A-4C7C-EC5E-5225BB1D2DD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37505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EA417F8-25E0-FEAC-1234-7D21B925B7DE}"/>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62A74763-7944-0E68-02B8-4FB9188748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838EE1D0-EE4C-A4B3-076B-759ABAEFC52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18754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6FC4D9EF-B487-AB71-4CB3-64065A48D7EA}"/>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A54C9020-8DDA-ED51-D7FD-117A770FD5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1C92A205-C306-57BA-AD24-00E9EEC3F28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53370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05F407D9-848B-B23C-1534-51424D7EC595}"/>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918F0E35-032F-BC13-4A55-080400AD8F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95C94628-6458-7582-D8B9-1B5EC556EAD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18356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E17B2190-37B1-D7C0-FFC1-A48995812CFE}"/>
            </a:ext>
          </a:extLst>
        </p:cNvPr>
        <p:cNvGrpSpPr/>
        <p:nvPr/>
      </p:nvGrpSpPr>
      <p:grpSpPr>
        <a:xfrm>
          <a:off x="0" y="0"/>
          <a:ext cx="0" cy="0"/>
          <a:chOff x="0" y="0"/>
          <a:chExt cx="0" cy="0"/>
        </a:xfrm>
      </p:grpSpPr>
      <p:sp>
        <p:nvSpPr>
          <p:cNvPr id="91" name="Google Shape;91;p1:notes">
            <a:extLst>
              <a:ext uri="{FF2B5EF4-FFF2-40B4-BE49-F238E27FC236}">
                <a16:creationId xmlns:a16="http://schemas.microsoft.com/office/drawing/2014/main" id="{F016D5C6-849A-B303-3098-EB0B67DF27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a:extLst>
              <a:ext uri="{FF2B5EF4-FFF2-40B4-BE49-F238E27FC236}">
                <a16:creationId xmlns:a16="http://schemas.microsoft.com/office/drawing/2014/main" id="{CD01F1B9-5917-9396-57D6-D3E67BD14BB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9919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8FEAAC62-866B-F89B-895B-B8948562E883}"/>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E6A1CB8B-A76C-7BBE-3A7F-C9EC8F38E0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7D8E8313-E008-55A6-106C-1175B9E3FC7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26727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D4549639-6A02-7A2B-7B46-ED3BAE937CDA}"/>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2ECA55D6-7557-5A9D-E89F-11A7673E5B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2259D005-9BCB-D8D3-38D7-391C510827C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03405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ECC67BD5-8BC1-F2BA-8239-F78651741036}"/>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DD8B3EA8-A0B2-23C8-BB3E-CB99952197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F72465C1-676A-E1C1-0D7F-FC3B9BE9FC3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63411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545ADE71-963C-5F70-3852-196FE5439ECB}"/>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BCB5EB8E-C51F-A20A-BB5F-B4FC9AB25E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325B21DE-3D96-BAAC-91E0-BAD398E5962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29846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D5CF307F-41F9-79E8-AB8B-9767F79D2782}"/>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173CC6C5-1C82-16BF-589D-BAA8688CB9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119F0805-17F6-DEE4-041A-DE6BDE18527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02374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07FA6DC1-4763-6DED-D842-D0F727B2F489}"/>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F35171E8-44B7-8581-4545-65A42BC35A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9FC752D0-71F6-C8AD-7A61-00342C6C391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709707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09CAE271-77A0-20C6-9142-93EBCDDA4CDA}"/>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AD636943-DC25-0C14-7489-C5CDE2B7D5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A25E222B-1466-BDEA-3D48-F68493CCBD4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43130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27496868-7A34-F901-8729-840AD510307A}"/>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3C0C5C12-79FC-29AC-C1FC-C782D6EAC9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8C02DFD4-DEA9-B14C-5B9A-0ECD537E2CF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55729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33E7A570-32BC-7FEF-CD63-9276637DA59D}"/>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C9BF927A-369C-6A4B-A1C4-81F732D091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C02BDCAE-BB12-A057-82DC-F13B2CDC33D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77007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D224C028-156F-01AA-8993-3499916D25CD}"/>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05A76897-8D8C-5D1D-9C15-F599786141E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A141FC65-770D-B1A6-062B-53964DAB8E5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26018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4B82FBF7-BAB1-A089-5534-46121EDDB469}"/>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B19DAB54-06C5-A637-590C-46C4A0D5D6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F4CC65CB-45A0-C1A2-E116-1BA5A8AFF0C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22545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1ACB0E8B-4523-B631-A951-544CF58BE13C}"/>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E6B0EA15-0D73-9908-BEAC-8389784330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1D50C7F1-D987-086F-A7D4-A637812AF3D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52201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6693F80E-5684-0502-7AEA-09332DE05E58}"/>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9B29C060-9490-5C7E-6C2C-3A081F9E18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5E9E4C2F-9836-9300-08E0-1AC6652CB15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78982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D7E3B6D4-1B0A-4439-4D8A-1BD418E44356}"/>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3A1EF827-486A-C8A1-C335-0AB8FC6F08F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FD5BD56B-BD0F-689F-9CAF-74550B9BE6E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13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19" name="Google Shape;19;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20" name="Google Shape;2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25" name="Google Shape;25;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26" name="Google Shape;2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31" name="Google Shape;3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32" name="Google Shape;3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38" name="Google Shape;3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39" name="Google Shape;3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47" name="Google Shape;47;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48" name="Google Shape;4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52" name="Google Shape;5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53" name="Google Shape;5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56" name="Google Shape;5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57" name="Google Shape;5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63" name="Google Shape;63;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64" name="Google Shape;6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9"/>
          <p:cNvSpPr>
            <a:spLocks noGrp="1"/>
          </p:cNvSpPr>
          <p:nvPr>
            <p:ph type="pic" idx="2"/>
          </p:nvPr>
        </p:nvSpPr>
        <p:spPr>
          <a:xfrm>
            <a:off x="1792288" y="612775"/>
            <a:ext cx="5486400" cy="4114800"/>
          </a:xfrm>
          <a:prstGeom prst="rect">
            <a:avLst/>
          </a:prstGeom>
          <a:noFill/>
          <a:ln>
            <a:noFill/>
          </a:ln>
        </p:spPr>
      </p:sp>
      <p:sp>
        <p:nvSpPr>
          <p:cNvPr id="68" name="Google Shape;68;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70" name="Google Shape;7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71" name="Google Shape;7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76" name="Google Shape;7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77" name="Google Shape;7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82" name="Google Shape;8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83" name="Google Shape;8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84"/>
        <p:cNvGrpSpPr/>
        <p:nvPr/>
      </p:nvGrpSpPr>
      <p:grpSpPr>
        <a:xfrm>
          <a:off x="0" y="0"/>
          <a:ext cx="0" cy="0"/>
          <a:chOff x="0" y="0"/>
          <a:chExt cx="0" cy="0"/>
        </a:xfrm>
      </p:grpSpPr>
      <p:sp>
        <p:nvSpPr>
          <p:cNvPr id="85" name="Google Shape;85;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87" name="Google Shape;87;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88" name="Google Shape;88;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89" name="Google Shape;89;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20/07/2026</a:t>
            </a:r>
            <a:endParaRPr/>
          </a:p>
        </p:txBody>
      </p:sp>
      <p:sp>
        <p:nvSpPr>
          <p:cNvPr id="13" name="Google Shape;1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DEPT OF AI&amp;DS, SAEC</a:t>
            </a:r>
            <a:endParaRPr/>
          </a:p>
        </p:txBody>
      </p:sp>
      <p:sp>
        <p:nvSpPr>
          <p:cNvPr id="14" name="Google Shape;1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ZEROTH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AERIS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13</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p:cNvGraphicFramePr/>
          <p:nvPr>
            <p:extLst>
              <p:ext uri="{D42A27DB-BD31-4B8C-83A1-F6EECF244321}">
                <p14:modId xmlns:p14="http://schemas.microsoft.com/office/powerpoint/2010/main" val="2678088885"/>
              </p:ext>
            </p:extLst>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415250" y="117338"/>
            <a:ext cx="8229600" cy="1143000"/>
          </a:xfrm>
          <a:prstGeom prst="rect">
            <a:avLst/>
          </a:prstGeom>
          <a:noFill/>
          <a:ln>
            <a:noFill/>
          </a:ln>
        </p:spPr>
        <p:txBody>
          <a:bodyPr spcFirstLastPara="1" wrap="square" lIns="91425" tIns="45700" rIns="91425" bIns="45700" anchor="ctr" anchorCtr="0">
            <a:normAutofit/>
          </a:bodyPr>
          <a:lstStyle/>
          <a:p>
            <a:pPr>
              <a:buSzPts val="4400"/>
            </a:pPr>
            <a:r>
              <a:rPr lang="en-US" b="1" dirty="0">
                <a:latin typeface="Times New Roman" panose="02020603050405020304" pitchFamily="18" charset="0"/>
                <a:cs typeface="Times New Roman" panose="02020603050405020304" pitchFamily="18" charset="0"/>
                <a:sym typeface="Times New Roman"/>
              </a:rPr>
              <a:t>Agenda</a:t>
            </a:r>
            <a:endParaRPr b="1" dirty="0">
              <a:latin typeface="Times New Roman" panose="02020603050405020304" pitchFamily="18" charset="0"/>
              <a:cs typeface="Times New Roman" panose="02020603050405020304" pitchFamily="18" charset="0"/>
              <a:sym typeface="Times New Roman"/>
            </a:endParaRPr>
          </a:p>
        </p:txBody>
      </p:sp>
      <p:sp>
        <p:nvSpPr>
          <p:cNvPr id="103" name="Google Shape;103;p2"/>
          <p:cNvSpPr txBox="1">
            <a:spLocks noGrp="1"/>
          </p:cNvSpPr>
          <p:nvPr>
            <p:ph type="body" idx="1"/>
          </p:nvPr>
        </p:nvSpPr>
        <p:spPr>
          <a:xfrm>
            <a:off x="270500" y="789250"/>
            <a:ext cx="8519100" cy="5182200"/>
          </a:xfrm>
          <a:prstGeom prst="rect">
            <a:avLst/>
          </a:prstGeom>
          <a:noFill/>
          <a:ln>
            <a:noFill/>
          </a:ln>
        </p:spPr>
        <p:txBody>
          <a:bodyPr spcFirstLastPara="1" wrap="square" lIns="91425" tIns="45700" rIns="91425" bIns="45700" anchor="t" anchorCtr="0">
            <a:noAutofit/>
          </a:bodyPr>
          <a:lstStyle/>
          <a:p>
            <a:pPr marL="342900" lvl="0" indent="-342900" algn="l" rtl="0">
              <a:spcBef>
                <a:spcPts val="1000"/>
              </a:spcBef>
              <a:spcAft>
                <a:spcPts val="0"/>
              </a:spcAft>
              <a:buSzPts val="1800"/>
              <a:buFont typeface="Times New Roman"/>
              <a:buChar char="•"/>
            </a:pPr>
            <a:r>
              <a:rPr lang="en-US" sz="1800" dirty="0">
                <a:solidFill>
                  <a:srgbClr val="000000"/>
                </a:solidFill>
                <a:latin typeface="Times New Roman"/>
                <a:ea typeface="Times New Roman"/>
                <a:cs typeface="Times New Roman"/>
                <a:sym typeface="Times New Roman"/>
              </a:rPr>
              <a:t>Introduction</a:t>
            </a:r>
            <a:endParaRPr sz="1800"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Base Paper </a:t>
            </a:r>
            <a:r>
              <a:rPr lang="en-US" sz="1600" dirty="0">
                <a:solidFill>
                  <a:srgbClr val="000000"/>
                </a:solidFill>
                <a:latin typeface="Times New Roman"/>
                <a:ea typeface="Times New Roman"/>
                <a:cs typeface="Times New Roman"/>
                <a:sym typeface="Times New Roman"/>
              </a:rPr>
              <a:t>[ IEEE Transactions, ACM, springer, etc.. </a:t>
            </a:r>
            <a:r>
              <a:rPr lang="en-US" sz="1600" dirty="0">
                <a:solidFill>
                  <a:srgbClr val="FF0000"/>
                </a:solidFill>
                <a:latin typeface="Times New Roman"/>
                <a:ea typeface="Times New Roman"/>
                <a:cs typeface="Times New Roman"/>
                <a:sym typeface="Times New Roman"/>
              </a:rPr>
              <a:t>Note: base paper should not be conference or survey paper</a:t>
            </a:r>
            <a:r>
              <a:rPr lang="en-US" sz="1600" dirty="0">
                <a:solidFill>
                  <a:srgbClr val="000000"/>
                </a:solidFill>
                <a:latin typeface="Times New Roman"/>
                <a:ea typeface="Times New Roman"/>
                <a:cs typeface="Times New Roman"/>
                <a:sym typeface="Times New Roman"/>
              </a:rPr>
              <a:t>]</a:t>
            </a:r>
            <a:endParaRPr sz="1600"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Abstract</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Scope and Motivation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Literature Survey </a:t>
            </a:r>
            <a:r>
              <a:rPr lang="en-US" sz="1400" dirty="0">
                <a:solidFill>
                  <a:srgbClr val="000000"/>
                </a:solidFill>
                <a:latin typeface="Times New Roman"/>
                <a:ea typeface="Times New Roman"/>
                <a:cs typeface="Times New Roman"/>
                <a:sym typeface="Times New Roman"/>
              </a:rPr>
              <a:t>[ Authors, year, journal/conference name, findings, limitations in table - min 10 papers]</a:t>
            </a:r>
            <a:endParaRPr sz="14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Objectives / Problem Statement [</a:t>
            </a:r>
            <a:r>
              <a:rPr lang="en-US" sz="1400" dirty="0">
                <a:solidFill>
                  <a:srgbClr val="000000"/>
                </a:solidFill>
                <a:latin typeface="Times New Roman"/>
                <a:ea typeface="Times New Roman"/>
                <a:cs typeface="Times New Roman"/>
                <a:sym typeface="Times New Roman"/>
              </a:rPr>
              <a:t> Minimum 3 objectives</a:t>
            </a:r>
            <a:r>
              <a:rPr lang="en-US" sz="1800" dirty="0">
                <a:solidFill>
                  <a:srgbClr val="000000"/>
                </a:solidFill>
                <a:latin typeface="Times New Roman"/>
                <a:ea typeface="Times New Roman"/>
                <a:cs typeface="Times New Roman"/>
                <a:sym typeface="Times New Roman"/>
              </a:rPr>
              <a:t>]</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SDG Mapping and description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Proposed Work</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Architecture Diagram/Flow Diagram/Block Diagram</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Modules</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Module Description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Software &amp; Hardware Requirements</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References [</a:t>
            </a:r>
            <a:r>
              <a:rPr lang="en-US" sz="1400" dirty="0">
                <a:solidFill>
                  <a:srgbClr val="000000"/>
                </a:solidFill>
                <a:latin typeface="Times New Roman"/>
                <a:ea typeface="Times New Roman"/>
                <a:cs typeface="Times New Roman"/>
                <a:sym typeface="Times New Roman"/>
              </a:rPr>
              <a:t> should include 10 references and follow MLA/ IEEE format</a:t>
            </a:r>
            <a:r>
              <a:rPr lang="en-US" sz="1800" dirty="0">
                <a:solidFill>
                  <a:srgbClr val="000000"/>
                </a:solidFill>
                <a:latin typeface="Times New Roman"/>
                <a:ea typeface="Times New Roman"/>
                <a:cs typeface="Times New Roman"/>
                <a:sym typeface="Times New Roman"/>
              </a:rPr>
              <a:t> ] </a:t>
            </a:r>
            <a:endParaRPr sz="1800" dirty="0">
              <a:solidFill>
                <a:srgbClr val="000000"/>
              </a:solidFill>
              <a:latin typeface="Times New Roman"/>
              <a:ea typeface="Times New Roman"/>
              <a:cs typeface="Times New Roman"/>
              <a:sym typeface="Times New Roman"/>
            </a:endParaRPr>
          </a:p>
          <a:p>
            <a:pPr marL="342900" lvl="0" indent="0" algn="l" rtl="0">
              <a:lnSpc>
                <a:spcPct val="100000"/>
              </a:lnSpc>
              <a:spcBef>
                <a:spcPts val="1000"/>
              </a:spcBef>
              <a:spcAft>
                <a:spcPts val="0"/>
              </a:spcAft>
              <a:buSzPts val="1800"/>
              <a:buNone/>
            </a:pPr>
            <a:endParaRPr sz="1800" dirty="0">
              <a:solidFill>
                <a:srgbClr val="000000"/>
              </a:solidFill>
              <a:latin typeface="Times New Roman"/>
              <a:ea typeface="Times New Roman"/>
              <a:cs typeface="Times New Roman"/>
              <a:sym typeface="Times New Roman"/>
            </a:endParaRPr>
          </a:p>
          <a:p>
            <a:pPr marL="342900" lvl="0" indent="-154940" algn="l" rtl="0">
              <a:lnSpc>
                <a:spcPct val="100000"/>
              </a:lnSpc>
              <a:spcBef>
                <a:spcPts val="590"/>
              </a:spcBef>
              <a:spcAft>
                <a:spcPts val="0"/>
              </a:spcAft>
              <a:buClr>
                <a:schemeClr val="dk1"/>
              </a:buClr>
              <a:buSzPts val="3200"/>
              <a:buNone/>
            </a:pPr>
            <a:endParaRPr sz="1800" dirty="0">
              <a:solidFill>
                <a:srgbClr val="000000"/>
              </a:solidFill>
              <a:latin typeface="Times New Roman"/>
              <a:ea typeface="Times New Roman"/>
              <a:cs typeface="Times New Roman"/>
              <a:sym typeface="Times New Roman"/>
            </a:endParaRPr>
          </a:p>
        </p:txBody>
      </p:sp>
      <p:sp>
        <p:nvSpPr>
          <p:cNvPr id="105" name="Google Shape;105;p2"/>
          <p:cNvSpPr txBox="1">
            <a:spLocks noGrp="1"/>
          </p:cNvSpPr>
          <p:nvPr>
            <p:ph type="dt" idx="10"/>
          </p:nvPr>
        </p:nvSpPr>
        <p:spPr>
          <a:xfrm>
            <a:off x="457200" y="6386513"/>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100">
                <a:latin typeface="Times New Roman" panose="02020603050405020304" pitchFamily="18" charset="0"/>
                <a:cs typeface="Times New Roman" panose="02020603050405020304" pitchFamily="18" charset="0"/>
              </a:rPr>
              <a:t>20/07/2026</a:t>
            </a:r>
            <a:endParaRPr sz="1100" dirty="0">
              <a:latin typeface="Times New Roman" panose="02020603050405020304" pitchFamily="18" charset="0"/>
              <a:cs typeface="Times New Roman" panose="02020603050405020304" pitchFamily="18" charset="0"/>
            </a:endParaRPr>
          </a:p>
        </p:txBody>
      </p:sp>
      <p:sp>
        <p:nvSpPr>
          <p:cNvPr id="106" name="Google Shape;10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panose="02020603050405020304" pitchFamily="18" charset="0"/>
                <a:cs typeface="Times New Roman" panose="02020603050405020304" pitchFamily="18" charset="0"/>
              </a:rPr>
              <a:t>2</a:t>
            </a:fld>
            <a:endParaRPr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idx="11"/>
          </p:nvPr>
        </p:nvSpPr>
        <p:spPr/>
        <p:txBody>
          <a:bodyPr/>
          <a:lstStyle/>
          <a:p>
            <a:r>
              <a:rPr lang="en-US" sz="105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Introduction</a:t>
            </a:r>
            <a:endParaRPr b="1" dirty="0">
              <a:latin typeface="Times New Roman" panose="02020603050405020304" pitchFamily="18" charset="0"/>
              <a:cs typeface="Times New Roman" panose="02020603050405020304" pitchFamily="18" charset="0"/>
            </a:endParaRPr>
          </a:p>
        </p:txBody>
      </p:sp>
      <p:sp>
        <p:nvSpPr>
          <p:cNvPr id="115" name="Google Shape;115;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indent="0">
              <a:buNone/>
            </a:pPr>
            <a:r>
              <a:rPr lang="en-IN" sz="2400" dirty="0">
                <a:latin typeface="Times New Roman" panose="02020603050405020304" pitchFamily="18" charset="0"/>
                <a:cs typeface="Times New Roman" panose="02020603050405020304" pitchFamily="18" charset="0"/>
              </a:rPr>
              <a:t>Aircraft component failures pose significant challenges to aviation safety, operational reliability, and maintenance costs. </a:t>
            </a:r>
            <a:r>
              <a:rPr lang="en-IN" sz="2400" b="1" dirty="0">
                <a:latin typeface="Times New Roman" panose="02020603050405020304" pitchFamily="18" charset="0"/>
                <a:cs typeface="Times New Roman" panose="02020603050405020304" pitchFamily="18" charset="0"/>
              </a:rPr>
              <a:t>AERIS is an AI-powered Evidence-Driven Investigation Platform that goes beyond conventional predictive maintenance by identifying what is likely to fail, when it may fail, and why it may happen.</a:t>
            </a:r>
            <a:r>
              <a:rPr lang="en-IN" sz="2400" dirty="0">
                <a:latin typeface="Times New Roman" panose="02020603050405020304" pitchFamily="18" charset="0"/>
                <a:cs typeface="Times New Roman" panose="02020603050405020304" pitchFamily="18" charset="0"/>
              </a:rPr>
              <a:t> By combining aircraft sensor data, maintenance records, historical failure cases, causal knowledge, and technical documents, the system investigates potential root causes, fuses supporting and conflicting evidence, and generates explainable investigation reports with actionable maintenance recommendations.</a:t>
            </a:r>
          </a:p>
        </p:txBody>
      </p:sp>
      <p:sp>
        <p:nvSpPr>
          <p:cNvPr id="2" name="Date Placeholder 1"/>
          <p:cNvSpPr>
            <a:spLocks noGrp="1"/>
          </p:cNvSpPr>
          <p:nvPr>
            <p:ph type="dt" idx="10"/>
          </p:nvPr>
        </p:nvSpPr>
        <p:spPr/>
        <p:txBody>
          <a:bodyPr/>
          <a:lstStyle/>
          <a:p>
            <a:r>
              <a:rPr lang="en-US"/>
              <a:t>20/07/2026</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4" name="Footer Placeholder 3"/>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f4fb01c2df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a:buSzPts val="4400"/>
            </a:pPr>
            <a:r>
              <a:rPr lang="en-US" b="1" dirty="0">
                <a:latin typeface="Times New Roman" panose="02020603050405020304" pitchFamily="18" charset="0"/>
                <a:cs typeface="Times New Roman" panose="02020603050405020304" pitchFamily="18" charset="0"/>
                <a:sym typeface="Times New Roman"/>
              </a:rPr>
              <a:t>Base Paper</a:t>
            </a:r>
            <a:endParaRPr b="1" dirty="0">
              <a:latin typeface="Times New Roman" panose="02020603050405020304" pitchFamily="18" charset="0"/>
              <a:cs typeface="Times New Roman" panose="02020603050405020304" pitchFamily="18" charset="0"/>
              <a:sym typeface="Times New Roman"/>
            </a:endParaRPr>
          </a:p>
        </p:txBody>
      </p:sp>
      <p:sp>
        <p:nvSpPr>
          <p:cNvPr id="122" name="Google Shape;122;g3f4fb01c2df_0_0"/>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buNone/>
            </a:pPr>
            <a:r>
              <a:rPr lang="en-US" sz="2400" b="1" dirty="0">
                <a:latin typeface="Times New Roman"/>
                <a:ea typeface="Times New Roman"/>
                <a:cs typeface="Times New Roman"/>
                <a:sym typeface="Times New Roman"/>
              </a:rPr>
              <a:t>TITLE </a:t>
            </a:r>
            <a:r>
              <a:rPr lang="en-US" sz="2400" dirty="0">
                <a:latin typeface="Times New Roman"/>
                <a:ea typeface="Times New Roman"/>
                <a:cs typeface="Times New Roman"/>
                <a:sym typeface="Times New Roman"/>
              </a:rPr>
              <a:t>: </a:t>
            </a:r>
            <a:r>
              <a:rPr lang="en-IN" sz="2400" dirty="0">
                <a:latin typeface="Times New Roman" panose="02020603050405020304" pitchFamily="18" charset="0"/>
                <a:cs typeface="Times New Roman" panose="02020603050405020304" pitchFamily="18" charset="0"/>
              </a:rPr>
              <a:t>Fault inference diagnosis based on causal network and large language model-enhanced knowledge graph network</a:t>
            </a:r>
            <a:endParaRPr sz="2400" dirty="0">
              <a:latin typeface="Times New Roman" panose="02020603050405020304" pitchFamily="18" charset="0"/>
              <a:ea typeface="Times New Roman"/>
              <a:cs typeface="Times New Roman" panose="02020603050405020304" pitchFamily="18" charset="0"/>
              <a:sym typeface="Times New Roman"/>
            </a:endParaRPr>
          </a:p>
          <a:p>
            <a:pPr marL="0" lvl="0" indent="0" algn="l" rtl="0">
              <a:spcBef>
                <a:spcPts val="360"/>
              </a:spcBef>
              <a:spcAft>
                <a:spcPts val="0"/>
              </a:spcAft>
              <a:buNone/>
            </a:pPr>
            <a:r>
              <a:rPr lang="en-US" sz="2400" b="1" dirty="0">
                <a:latin typeface="Times New Roman"/>
                <a:ea typeface="Times New Roman"/>
                <a:cs typeface="Times New Roman"/>
                <a:sym typeface="Times New Roman"/>
              </a:rPr>
              <a:t>YEAR</a:t>
            </a:r>
            <a:r>
              <a:rPr lang="en-US" sz="2400" dirty="0">
                <a:latin typeface="Times New Roman"/>
                <a:ea typeface="Times New Roman"/>
                <a:cs typeface="Times New Roman"/>
                <a:sym typeface="Times New Roman"/>
              </a:rPr>
              <a:t> : 2026</a:t>
            </a:r>
            <a:endParaRPr sz="2400" dirty="0">
              <a:latin typeface="Times New Roman"/>
              <a:ea typeface="Times New Roman"/>
              <a:cs typeface="Times New Roman"/>
              <a:sym typeface="Times New Roman"/>
            </a:endParaRPr>
          </a:p>
          <a:p>
            <a:pPr marL="0" lvl="0" indent="0">
              <a:buNone/>
            </a:pPr>
            <a:r>
              <a:rPr lang="en-US" sz="2400" b="1" dirty="0">
                <a:latin typeface="Times New Roman"/>
                <a:ea typeface="Times New Roman"/>
                <a:cs typeface="Times New Roman"/>
                <a:sym typeface="Times New Roman"/>
              </a:rPr>
              <a:t>JOURNAL NAME</a:t>
            </a:r>
            <a:r>
              <a:rPr lang="en-US" sz="2400" dirty="0">
                <a:latin typeface="Times New Roman"/>
                <a:ea typeface="Times New Roman"/>
                <a:cs typeface="Times New Roman"/>
                <a:sym typeface="Times New Roman"/>
              </a:rPr>
              <a:t>: </a:t>
            </a:r>
            <a:r>
              <a:rPr lang="en-IN" sz="2400" dirty="0">
                <a:latin typeface="Times New Roman" panose="02020603050405020304" pitchFamily="18" charset="0"/>
                <a:cs typeface="Times New Roman" panose="02020603050405020304" pitchFamily="18" charset="0"/>
              </a:rPr>
              <a:t>Chinese Journal of Mechanical Engineering</a:t>
            </a:r>
            <a:endParaRPr sz="2400" dirty="0">
              <a:latin typeface="Times New Roman" panose="02020603050405020304" pitchFamily="18" charset="0"/>
              <a:ea typeface="Times New Roman"/>
              <a:cs typeface="Times New Roman" panose="02020603050405020304" pitchFamily="18" charset="0"/>
              <a:sym typeface="Times New Roman"/>
            </a:endParaRPr>
          </a:p>
          <a:p>
            <a:pPr marL="0" lvl="0" indent="0">
              <a:buNone/>
            </a:pPr>
            <a:r>
              <a:rPr lang="en-US" sz="2400" b="1" dirty="0">
                <a:latin typeface="Times New Roman"/>
                <a:ea typeface="Times New Roman"/>
                <a:cs typeface="Times New Roman"/>
                <a:sym typeface="Times New Roman"/>
              </a:rPr>
              <a:t>ARTICLE TYPE </a:t>
            </a:r>
            <a:r>
              <a:rPr lang="en-US" sz="2400" dirty="0">
                <a:latin typeface="Times New Roman" panose="02020603050405020304" pitchFamily="18" charset="0"/>
                <a:ea typeface="Times New Roman"/>
                <a:cs typeface="Times New Roman" panose="02020603050405020304" pitchFamily="18" charset="0"/>
                <a:sym typeface="Times New Roman"/>
              </a:rPr>
              <a:t>: </a:t>
            </a:r>
            <a:r>
              <a:rPr lang="en-IN" sz="2400" dirty="0">
                <a:latin typeface="Times New Roman" panose="02020603050405020304" pitchFamily="18" charset="0"/>
                <a:cs typeface="Times New Roman" panose="02020603050405020304" pitchFamily="18" charset="0"/>
              </a:rPr>
              <a:t>Original Research Article</a:t>
            </a:r>
          </a:p>
          <a:p>
            <a:pPr marL="0" lvl="0" indent="0">
              <a:buNone/>
            </a:pPr>
            <a:endParaRPr lang="en-IN" sz="2400" dirty="0">
              <a:latin typeface="Times New Roman" panose="02020603050405020304" pitchFamily="18" charset="0"/>
              <a:cs typeface="Times New Roman" panose="02020603050405020304" pitchFamily="18" charset="0"/>
            </a:endParaRPr>
          </a:p>
          <a:p>
            <a:pPr marL="0" lvl="0" indent="0">
              <a:buNone/>
            </a:pPr>
            <a:r>
              <a:rPr lang="en-IN" sz="1800" dirty="0">
                <a:latin typeface="Times New Roman" panose="02020603050405020304" pitchFamily="18" charset="0"/>
                <a:cs typeface="Times New Roman" panose="02020603050405020304" pitchFamily="18" charset="0"/>
              </a:rPr>
              <a:t>The base paper proposes a </a:t>
            </a:r>
            <a:r>
              <a:rPr lang="en-IN" sz="1800" b="1" dirty="0">
                <a:latin typeface="Times New Roman" panose="02020603050405020304" pitchFamily="18" charset="0"/>
                <a:cs typeface="Times New Roman" panose="02020603050405020304" pitchFamily="18" charset="0"/>
              </a:rPr>
              <a:t>CN-LLM-KGN</a:t>
            </a:r>
            <a:r>
              <a:rPr lang="en-IN" sz="1800" dirty="0">
                <a:latin typeface="Times New Roman" panose="02020603050405020304" pitchFamily="18" charset="0"/>
                <a:cs typeface="Times New Roman" panose="02020603050405020304" pitchFamily="18" charset="0"/>
              </a:rPr>
              <a:t> framework that integrates </a:t>
            </a:r>
            <a:r>
              <a:rPr lang="en-IN" sz="1800" b="1" dirty="0">
                <a:latin typeface="Times New Roman" panose="02020603050405020304" pitchFamily="18" charset="0"/>
                <a:cs typeface="Times New Roman" panose="02020603050405020304" pitchFamily="18" charset="0"/>
              </a:rPr>
              <a:t>Causal Networks (CN), Knowledge Graphs (KG), and Large Language Models (LLMs)</a:t>
            </a:r>
            <a:r>
              <a:rPr lang="en-IN" sz="1800" dirty="0">
                <a:latin typeface="Times New Roman" panose="02020603050405020304" pitchFamily="18" charset="0"/>
                <a:cs typeface="Times New Roman" panose="02020603050405020304" pitchFamily="18" charset="0"/>
              </a:rPr>
              <a:t> to perform </a:t>
            </a:r>
            <a:r>
              <a:rPr lang="en-IN" sz="1800" b="1" dirty="0">
                <a:latin typeface="Times New Roman" panose="02020603050405020304" pitchFamily="18" charset="0"/>
                <a:cs typeface="Times New Roman" panose="02020603050405020304" pitchFamily="18" charset="0"/>
              </a:rPr>
              <a:t>fault diagnosis and root cause localization</a:t>
            </a:r>
            <a:r>
              <a:rPr lang="en-IN" sz="1800" dirty="0">
                <a:latin typeface="Times New Roman" panose="02020603050405020304" pitchFamily="18" charset="0"/>
                <a:cs typeface="Times New Roman" panose="02020603050405020304" pitchFamily="18" charset="0"/>
              </a:rPr>
              <a:t> in rotating machinery. It improves explainability by identifying causal relationships behind equipment failures and achieved </a:t>
            </a:r>
            <a:r>
              <a:rPr lang="en-IN" sz="1800" b="1" dirty="0">
                <a:latin typeface="Times New Roman" panose="02020603050405020304" pitchFamily="18" charset="0"/>
                <a:cs typeface="Times New Roman" panose="02020603050405020304" pitchFamily="18" charset="0"/>
              </a:rPr>
              <a:t>81.12% root cause localization accuracy</a:t>
            </a:r>
            <a:r>
              <a:rPr lang="en-IN"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ea typeface="Times New Roman"/>
              <a:cs typeface="Times New Roman" panose="02020603050405020304" pitchFamily="18" charset="0"/>
              <a:sym typeface="Times New Roman"/>
            </a:endParaRPr>
          </a:p>
        </p:txBody>
      </p:sp>
      <p:sp>
        <p:nvSpPr>
          <p:cNvPr id="123" name="Google Shape;123;g3f4fb01c2df_0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
        <p:nvSpPr>
          <p:cNvPr id="2" name="Date Placeholder 1"/>
          <p:cNvSpPr>
            <a:spLocks noGrp="1"/>
          </p:cNvSpPr>
          <p:nvPr>
            <p:ph type="dt" idx="10"/>
          </p:nvPr>
        </p:nvSpPr>
        <p:spPr/>
        <p:txBody>
          <a:bodyPr/>
          <a:lstStyle/>
          <a:p>
            <a:r>
              <a:rPr lang="en-US"/>
              <a:t>20/07/2026</a:t>
            </a:r>
          </a:p>
        </p:txBody>
      </p:sp>
      <p:sp>
        <p:nvSpPr>
          <p:cNvPr id="4" name="Footer Placeholder 3"/>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latin typeface="Times New Roman" panose="02020603050405020304" pitchFamily="18" charset="0"/>
                <a:cs typeface="Times New Roman" panose="02020603050405020304" pitchFamily="18" charset="0"/>
              </a:rPr>
              <a:t>Abstract</a:t>
            </a:r>
            <a:endParaRPr b="1" dirty="0">
              <a:latin typeface="Times New Roman" panose="02020603050405020304" pitchFamily="18" charset="0"/>
              <a:cs typeface="Times New Roman" panose="02020603050405020304" pitchFamily="18" charset="0"/>
            </a:endParaRPr>
          </a:p>
        </p:txBody>
      </p:sp>
      <p:sp>
        <p:nvSpPr>
          <p:cNvPr id="129" name="Google Shape;12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114300" lvl="0" indent="0" algn="just">
              <a:buNone/>
            </a:pPr>
            <a:r>
              <a:rPr lang="en-IN" sz="2400" dirty="0">
                <a:latin typeface="Times New Roman" panose="02020603050405020304" pitchFamily="18" charset="0"/>
                <a:cs typeface="Times New Roman" panose="02020603050405020304" pitchFamily="18" charset="0"/>
              </a:rPr>
              <a:t>Aircraft component failures pose significant challenges to aviation safety, operational reliability, and maintenance costs. The proposed system investigates potential failures by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sensor data, maintenance records, historical failure cases, causal relationships, and technical documents. A time-series model identifies abnormal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and potential degradation, while causal reasoning and knowledge graphs explore possible failure causes. Dempster-Shafer evidence fusion combines supporting and conflicting evidence to generate reliable root-cause hypotheses. Finally, RAG and LLM-based report generation provide explainable findings and actionable maintenance recommendations for maintenance engineers.</a:t>
            </a: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130" name="Google Shape;13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32" name="Google Shape;13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Scope and Motivation</a:t>
            </a:r>
            <a:endParaRPr b="1" dirty="0">
              <a:latin typeface="Times New Roman" panose="02020603050405020304" pitchFamily="18" charset="0"/>
              <a:cs typeface="Times New Roman" panose="02020603050405020304" pitchFamily="18" charset="0"/>
            </a:endParaRPr>
          </a:p>
        </p:txBody>
      </p:sp>
      <p:sp>
        <p:nvSpPr>
          <p:cNvPr id="139" name="Google Shape;139;p4"/>
          <p:cNvSpPr txBox="1">
            <a:spLocks noGrp="1"/>
          </p:cNvSpPr>
          <p:nvPr>
            <p:ph type="body" idx="1"/>
          </p:nvPr>
        </p:nvSpPr>
        <p:spPr>
          <a:xfrm>
            <a:off x="457200" y="1295400"/>
            <a:ext cx="8229600" cy="5203723"/>
          </a:xfrm>
          <a:prstGeom prst="rect">
            <a:avLst/>
          </a:prstGeom>
          <a:noFill/>
          <a:ln>
            <a:noFill/>
          </a:ln>
        </p:spPr>
        <p:txBody>
          <a:bodyPr spcFirstLastPara="1" wrap="square" lIns="91425" tIns="45700" rIns="91425" bIns="45700" anchor="t" anchorCtr="0">
            <a:noAutofit/>
          </a:bodyPr>
          <a:lstStyle/>
          <a:p>
            <a:pPr marL="342900" lvl="0" indent="-154940" algn="just">
              <a:lnSpc>
                <a:spcPct val="150000"/>
              </a:lnSpc>
              <a:spcBef>
                <a:spcPts val="590"/>
              </a:spcBef>
              <a:buSzPts val="2000"/>
              <a:buNone/>
            </a:pPr>
            <a:r>
              <a:rPr lang="en-US" sz="2000" b="1" dirty="0">
                <a:latin typeface="Times New Roman" panose="02020603050405020304" pitchFamily="18" charset="0"/>
                <a:ea typeface="Times New Roman"/>
                <a:cs typeface="Times New Roman" panose="02020603050405020304" pitchFamily="18" charset="0"/>
                <a:sym typeface="Times New Roman"/>
              </a:rPr>
              <a:t>Scope: </a:t>
            </a:r>
            <a:r>
              <a:rPr lang="en-IN" sz="2000" dirty="0">
                <a:latin typeface="Times New Roman" panose="02020603050405020304" pitchFamily="18" charset="0"/>
                <a:cs typeface="Times New Roman" panose="02020603050405020304" pitchFamily="18" charset="0"/>
              </a:rPr>
              <a:t>AERIS focuses on AI-driven investigation of aircraft component failures, covering failure detection, root-cause investigation, evidence analysis, and maintenance decision support. The system is intended for use by aircraft maintenance engineers to assist in failure investigation and assessment.</a:t>
            </a:r>
          </a:p>
          <a:p>
            <a:pPr marL="342900" lvl="0" indent="-154940" algn="just">
              <a:lnSpc>
                <a:spcPct val="150000"/>
              </a:lnSpc>
              <a:spcBef>
                <a:spcPts val="590"/>
              </a:spcBef>
              <a:buSzPts val="2000"/>
              <a:buNone/>
            </a:pPr>
            <a:r>
              <a:rPr lang="en-US" sz="2000" b="1" dirty="0">
                <a:latin typeface="Times New Roman" panose="02020603050405020304" pitchFamily="18" charset="0"/>
                <a:ea typeface="Times New Roman"/>
                <a:cs typeface="Times New Roman" panose="02020603050405020304" pitchFamily="18" charset="0"/>
                <a:sym typeface="Times New Roman"/>
              </a:rPr>
              <a:t>Motivation:</a:t>
            </a:r>
            <a:r>
              <a:rPr lang="en-US" sz="2000" dirty="0">
                <a:latin typeface="Times New Roman" panose="02020603050405020304" pitchFamily="18" charset="0"/>
                <a:ea typeface="Times New Roman"/>
                <a:cs typeface="Times New Roman" panose="02020603050405020304" pitchFamily="18" charset="0"/>
                <a:sym typeface="Times New Roman"/>
              </a:rPr>
              <a:t> </a:t>
            </a:r>
            <a:r>
              <a:rPr lang="en-IN" sz="2000" dirty="0">
                <a:latin typeface="Times New Roman" panose="02020603050405020304" pitchFamily="18" charset="0"/>
                <a:cs typeface="Times New Roman" panose="02020603050405020304" pitchFamily="18" charset="0"/>
              </a:rPr>
              <a:t>Existing predictive maintenance approaches mainly focus on detecting or predicting failures, leaving engineers to investigate the reasons separately. AERIS is motivated by the need for a transparent system that can connect different sources of evidence and support engineers in understanding potential failure causes and making informed maintenance decisions.</a:t>
            </a:r>
            <a:endParaRPr lang="en-US" sz="2000" dirty="0">
              <a:latin typeface="Times New Roman" panose="02020603050405020304" pitchFamily="18" charset="0"/>
              <a:ea typeface="Times New Roman"/>
              <a:cs typeface="Times New Roman" panose="02020603050405020304" pitchFamily="18" charset="0"/>
              <a:sym typeface="Times New Roman"/>
            </a:endParaRPr>
          </a:p>
        </p:txBody>
      </p:sp>
      <p:sp>
        <p:nvSpPr>
          <p:cNvPr id="141" name="Google Shape;14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42" name="Google Shape;14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57200" y="-11088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Literature Survey</a:t>
            </a:r>
            <a:endParaRPr b="1" dirty="0">
              <a:latin typeface="Times New Roman" panose="02020603050405020304" pitchFamily="18" charset="0"/>
              <a:cs typeface="Times New Roman" panose="02020603050405020304" pitchFamily="18" charset="0"/>
            </a:endParaRPr>
          </a:p>
        </p:txBody>
      </p:sp>
      <p:graphicFrame>
        <p:nvGraphicFramePr>
          <p:cNvPr id="149" name="Google Shape;149;p6"/>
          <p:cNvGraphicFramePr/>
          <p:nvPr>
            <p:extLst>
              <p:ext uri="{D42A27DB-BD31-4B8C-83A1-F6EECF244321}">
                <p14:modId xmlns:p14="http://schemas.microsoft.com/office/powerpoint/2010/main" val="469151307"/>
              </p:ext>
            </p:extLst>
          </p:nvPr>
        </p:nvGraphicFramePr>
        <p:xfrm>
          <a:off x="457200" y="730664"/>
          <a:ext cx="8229601" cy="5613863"/>
        </p:xfrm>
        <a:graphic>
          <a:graphicData uri="http://schemas.openxmlformats.org/drawingml/2006/table">
            <a:tbl>
              <a:tblPr firstRow="1" bandRow="1">
                <a:noFill/>
                <a:tableStyleId>{6EB1FC0C-1D29-42B7-B8E6-0F5DF3C737FC}</a:tableStyleId>
              </a:tblPr>
              <a:tblGrid>
                <a:gridCol w="289018">
                  <a:extLst>
                    <a:ext uri="{9D8B030D-6E8A-4147-A177-3AD203B41FA5}">
                      <a16:colId xmlns:a16="http://schemas.microsoft.com/office/drawing/2014/main" val="20000"/>
                    </a:ext>
                  </a:extLst>
                </a:gridCol>
                <a:gridCol w="2334333">
                  <a:extLst>
                    <a:ext uri="{9D8B030D-6E8A-4147-A177-3AD203B41FA5}">
                      <a16:colId xmlns:a16="http://schemas.microsoft.com/office/drawing/2014/main" val="20001"/>
                    </a:ext>
                  </a:extLst>
                </a:gridCol>
                <a:gridCol w="665826">
                  <a:extLst>
                    <a:ext uri="{9D8B030D-6E8A-4147-A177-3AD203B41FA5}">
                      <a16:colId xmlns:a16="http://schemas.microsoft.com/office/drawing/2014/main" val="20002"/>
                    </a:ext>
                  </a:extLst>
                </a:gridCol>
                <a:gridCol w="1171852">
                  <a:extLst>
                    <a:ext uri="{9D8B030D-6E8A-4147-A177-3AD203B41FA5}">
                      <a16:colId xmlns:a16="http://schemas.microsoft.com/office/drawing/2014/main" val="20003"/>
                    </a:ext>
                  </a:extLst>
                </a:gridCol>
                <a:gridCol w="2201662">
                  <a:extLst>
                    <a:ext uri="{9D8B030D-6E8A-4147-A177-3AD203B41FA5}">
                      <a16:colId xmlns:a16="http://schemas.microsoft.com/office/drawing/2014/main" val="20004"/>
                    </a:ext>
                  </a:extLst>
                </a:gridCol>
                <a:gridCol w="1566910">
                  <a:extLst>
                    <a:ext uri="{9D8B030D-6E8A-4147-A177-3AD203B41FA5}">
                      <a16:colId xmlns:a16="http://schemas.microsoft.com/office/drawing/2014/main" val="2874578075"/>
                    </a:ext>
                  </a:extLst>
                </a:gridCol>
              </a:tblGrid>
              <a:tr h="729497">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S no</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Title of the Paper</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Year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Journal/</a:t>
                      </a:r>
                      <a:endParaRPr sz="1600" u="none" strike="noStrike" cap="none">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Conference</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Inferences/Findings</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rPr>
                        <a:t>Limitations</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endParaRPr>
                    </a:p>
                  </a:txBody>
                  <a:tcPr marL="37075" marR="37075" marT="37075" marB="37075">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33684">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1</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Fault Inference Diagnosis Based on Causal Network and Large Language Model-Enhanced Knowledge Graph Network</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2026</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dirty="0">
                          <a:latin typeface="Times New Roman" panose="02020603050405020304" pitchFamily="18" charset="0"/>
                          <a:cs typeface="Times New Roman" panose="02020603050405020304" pitchFamily="18" charset="0"/>
                        </a:rPr>
                        <a:t>Chinese Journal of Mechanical Engineering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Improved root cause localization using </a:t>
                      </a:r>
                      <a:r>
                        <a:rPr lang="en-IN" b="1" dirty="0">
                          <a:latin typeface="Times New Roman" panose="02020603050405020304" pitchFamily="18" charset="0"/>
                          <a:cs typeface="Times New Roman" panose="02020603050405020304" pitchFamily="18" charset="0"/>
                        </a:rPr>
                        <a:t>CN + LLM + Knowledge Graph</a:t>
                      </a:r>
                      <a:r>
                        <a:rPr lang="en-IN" dirty="0">
                          <a:latin typeface="Times New Roman" panose="02020603050405020304" pitchFamily="18" charset="0"/>
                          <a:cs typeface="Times New Roman" panose="02020603050405020304" pitchFamily="18" charset="0"/>
                        </a:rPr>
                        <a:t> with explainable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Limited to rotating machinery; not designed for aerospace systems.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65469">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2</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Aircraft Engine Root Cause Analysis (Nature Paper)</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2026</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Scientific Reports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Improved aircraft fault diagnosis using graph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No LLM or RAG integration.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965938">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3</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lnR w="12700" cap="flat" cmpd="sng" algn="ctr">
                      <a:solidFill>
                        <a:schemeClr val="lt1"/>
                      </a:solidFill>
                      <a:prstDash val="solid"/>
                      <a:round/>
                      <a:headEnd type="none" w="sm" len="sm"/>
                      <a:tailEnd type="none" w="sm" len="sm"/>
                    </a:lnR>
                  </a:tcPr>
                </a:tc>
                <a:tc>
                  <a:txBody>
                    <a:bodyPr/>
                    <a:lstStyle/>
                    <a:p>
                      <a:pPr>
                        <a:buNone/>
                      </a:pPr>
                      <a:r>
                        <a:rPr lang="en-IN" dirty="0" err="1">
                          <a:latin typeface="Times New Roman" panose="02020603050405020304" pitchFamily="18" charset="0"/>
                          <a:cs typeface="Times New Roman" panose="02020603050405020304" pitchFamily="18" charset="0"/>
                        </a:rPr>
                        <a:t>DiagLLM</a:t>
                      </a:r>
                      <a:r>
                        <a:rPr lang="en-IN" dirty="0">
                          <a:latin typeface="Times New Roman" panose="02020603050405020304" pitchFamily="18" charset="0"/>
                          <a:cs typeface="Times New Roman" panose="02020603050405020304" pitchFamily="18" charset="0"/>
                        </a:rPr>
                        <a:t>: Multimodal Reasoning with Large Language Model for Explainable Bearing Fault Diagnosis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Science China Information Sciences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LLM for explainable fault diagnosis through multimodal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Focused only on bearing faults; lacks multi-source evidence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326973">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4</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127000" marR="0" lvl="0" indent="-12700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Causal Inference-Enabled Graph Neural Networks for Generalized Fault Diagnosis in Industrial IoT Systems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127000" marR="0" lvl="0" indent="-12700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Information Sciences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Applies causal inference with GNNs for generalized industrial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Industrial IoT focused; no knowledge retrieval or report generation.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0" name="Google Shape;15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Footer Placeholder 2"/>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A6E37BEC-6BB4-4553-46FF-E12AAE0676AA}"/>
            </a:ext>
          </a:extLst>
        </p:cNvPr>
        <p:cNvGrpSpPr/>
        <p:nvPr/>
      </p:nvGrpSpPr>
      <p:grpSpPr>
        <a:xfrm>
          <a:off x="0" y="0"/>
          <a:ext cx="0" cy="0"/>
          <a:chOff x="0" y="0"/>
          <a:chExt cx="0" cy="0"/>
        </a:xfrm>
      </p:grpSpPr>
      <p:sp>
        <p:nvSpPr>
          <p:cNvPr id="147" name="Google Shape;147;p6">
            <a:extLst>
              <a:ext uri="{FF2B5EF4-FFF2-40B4-BE49-F238E27FC236}">
                <a16:creationId xmlns:a16="http://schemas.microsoft.com/office/drawing/2014/main" id="{FB1027E5-A680-3230-0AF6-2373E59187B0}"/>
              </a:ext>
            </a:extLst>
          </p:cNvPr>
          <p:cNvSpPr txBox="1">
            <a:spLocks noGrp="1"/>
          </p:cNvSpPr>
          <p:nvPr>
            <p:ph type="title"/>
          </p:nvPr>
        </p:nvSpPr>
        <p:spPr>
          <a:xfrm>
            <a:off x="457200" y="-11088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Literature Survey</a:t>
            </a:r>
            <a:endParaRPr b="1" dirty="0">
              <a:latin typeface="Times New Roman" panose="02020603050405020304" pitchFamily="18" charset="0"/>
              <a:cs typeface="Times New Roman" panose="02020603050405020304" pitchFamily="18" charset="0"/>
            </a:endParaRPr>
          </a:p>
        </p:txBody>
      </p:sp>
      <p:graphicFrame>
        <p:nvGraphicFramePr>
          <p:cNvPr id="149" name="Google Shape;149;p6">
            <a:extLst>
              <a:ext uri="{FF2B5EF4-FFF2-40B4-BE49-F238E27FC236}">
                <a16:creationId xmlns:a16="http://schemas.microsoft.com/office/drawing/2014/main" id="{4D439736-7DEF-545B-A553-9AD4599C3E10}"/>
              </a:ext>
            </a:extLst>
          </p:cNvPr>
          <p:cNvGraphicFramePr/>
          <p:nvPr>
            <p:extLst>
              <p:ext uri="{D42A27DB-BD31-4B8C-83A1-F6EECF244321}">
                <p14:modId xmlns:p14="http://schemas.microsoft.com/office/powerpoint/2010/main" val="411047869"/>
              </p:ext>
            </p:extLst>
          </p:nvPr>
        </p:nvGraphicFramePr>
        <p:xfrm>
          <a:off x="457200" y="730664"/>
          <a:ext cx="8443358" cy="5872639"/>
        </p:xfrm>
        <a:graphic>
          <a:graphicData uri="http://schemas.openxmlformats.org/drawingml/2006/table">
            <a:tbl>
              <a:tblPr firstRow="1" bandRow="1">
                <a:noFill/>
                <a:tableStyleId>{6EB1FC0C-1D29-42B7-B8E6-0F5DF3C737FC}</a:tableStyleId>
              </a:tblPr>
              <a:tblGrid>
                <a:gridCol w="502775">
                  <a:extLst>
                    <a:ext uri="{9D8B030D-6E8A-4147-A177-3AD203B41FA5}">
                      <a16:colId xmlns:a16="http://schemas.microsoft.com/office/drawing/2014/main" val="20000"/>
                    </a:ext>
                  </a:extLst>
                </a:gridCol>
                <a:gridCol w="2334333">
                  <a:extLst>
                    <a:ext uri="{9D8B030D-6E8A-4147-A177-3AD203B41FA5}">
                      <a16:colId xmlns:a16="http://schemas.microsoft.com/office/drawing/2014/main" val="20001"/>
                    </a:ext>
                  </a:extLst>
                </a:gridCol>
                <a:gridCol w="665826">
                  <a:extLst>
                    <a:ext uri="{9D8B030D-6E8A-4147-A177-3AD203B41FA5}">
                      <a16:colId xmlns:a16="http://schemas.microsoft.com/office/drawing/2014/main" val="20002"/>
                    </a:ext>
                  </a:extLst>
                </a:gridCol>
                <a:gridCol w="1171852">
                  <a:extLst>
                    <a:ext uri="{9D8B030D-6E8A-4147-A177-3AD203B41FA5}">
                      <a16:colId xmlns:a16="http://schemas.microsoft.com/office/drawing/2014/main" val="20003"/>
                    </a:ext>
                  </a:extLst>
                </a:gridCol>
                <a:gridCol w="2201662">
                  <a:extLst>
                    <a:ext uri="{9D8B030D-6E8A-4147-A177-3AD203B41FA5}">
                      <a16:colId xmlns:a16="http://schemas.microsoft.com/office/drawing/2014/main" val="20004"/>
                    </a:ext>
                  </a:extLst>
                </a:gridCol>
                <a:gridCol w="1566910">
                  <a:extLst>
                    <a:ext uri="{9D8B030D-6E8A-4147-A177-3AD203B41FA5}">
                      <a16:colId xmlns:a16="http://schemas.microsoft.com/office/drawing/2014/main" val="2874578075"/>
                    </a:ext>
                  </a:extLst>
                </a:gridCol>
              </a:tblGrid>
              <a:tr h="890872">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S no</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Title of the Paper</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Year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Journal/</a:t>
                      </a:r>
                      <a:endParaRPr sz="1600" u="none" strike="noStrike" cap="none">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Conference</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Inferences/Findings</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rPr>
                        <a:t>Limitations</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endParaRPr>
                    </a:p>
                  </a:txBody>
                  <a:tcPr marL="37075" marR="37075" marT="37075" marB="37075">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33684">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6</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Large Language Model Assisted Fine-Grained Knowledge Graph Construction for Robotic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dirty="0">
                          <a:latin typeface="Times New Roman" panose="02020603050405020304" pitchFamily="18" charset="0"/>
                          <a:cs typeface="Times New Roman" panose="02020603050405020304" pitchFamily="18" charset="0"/>
                        </a:rPr>
                        <a:t>Advanced Engineering Informatics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LLMs to enhance Knowledge Graph construction for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Focused on KG construction rather than complete investigation.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65469">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7</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Causal Discovery for Rolling Bearing Fault Under Missing Data: From the Perspective of Causal Effect and Information Flow</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IEEE Transactions on Instrumentation and Measurement</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Discovers causal relationships from incomplete sensor data.</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Limited to causal discovery; lacks recommendation and reporting.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965938">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8</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An Interpretable Integration Fusion Time-Frequency Prototype Contrastive Learning for Machine Fault Diagnosis with Limited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Samples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Information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Improves diagnosis accuracy using interpretable time-frequency learning.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Focuses on classification; no root cause investigation.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326973">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9</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127000" marR="0" lvl="0" indent="-12700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 Trustworthy Lightweight Multi-Expert Wavelet Transformer for Rotating Machinery Fault Diagnosis</a:t>
                      </a:r>
                      <a:endParaRPr lang="en-US"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127000" marR="0" lvl="0" indent="-12700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Mechanical Systems and Signal Processing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lightweight Transformer for accurate rotating machinery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Concentrates on prediction only; lacks explainable investigation and evidence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0" name="Google Shape;150;p6">
            <a:extLst>
              <a:ext uri="{FF2B5EF4-FFF2-40B4-BE49-F238E27FC236}">
                <a16:creationId xmlns:a16="http://schemas.microsoft.com/office/drawing/2014/main" id="{D4AB3487-5EC2-59DC-3289-E765ECDEB041}"/>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 name="Slide Number Placeholder 1">
            <a:extLst>
              <a:ext uri="{FF2B5EF4-FFF2-40B4-BE49-F238E27FC236}">
                <a16:creationId xmlns:a16="http://schemas.microsoft.com/office/drawing/2014/main" id="{351C461F-7466-15B6-7F6D-08D6BC473C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Footer Placeholder 2">
            <a:extLst>
              <a:ext uri="{FF2B5EF4-FFF2-40B4-BE49-F238E27FC236}">
                <a16:creationId xmlns:a16="http://schemas.microsoft.com/office/drawing/2014/main" id="{523718D5-4135-025B-49EE-D8C16D4136FD}"/>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78630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Objectives</a:t>
            </a:r>
            <a:endParaRPr b="1" dirty="0">
              <a:latin typeface="Times New Roman" panose="02020603050405020304" pitchFamily="18" charset="0"/>
              <a:cs typeface="Times New Roman" panose="02020603050405020304" pitchFamily="18" charset="0"/>
            </a:endParaRPr>
          </a:p>
        </p:txBody>
      </p:sp>
      <p:sp>
        <p:nvSpPr>
          <p:cNvPr id="156" name="Google Shape;156;p7"/>
          <p:cNvSpPr txBox="1">
            <a:spLocks noGrp="1"/>
          </p:cNvSpPr>
          <p:nvPr>
            <p:ph type="body" idx="1"/>
          </p:nvPr>
        </p:nvSpPr>
        <p:spPr>
          <a:xfrm>
            <a:off x="592393" y="1120878"/>
            <a:ext cx="8229600" cy="5235472"/>
          </a:xfrm>
          <a:prstGeom prst="rect">
            <a:avLst/>
          </a:prstGeom>
          <a:noFill/>
          <a:ln>
            <a:noFill/>
          </a:ln>
        </p:spPr>
        <p:txBody>
          <a:bodyPr spcFirstLastPara="1" wrap="square" lIns="91425" tIns="45700" rIns="91425" bIns="45700" anchor="t" anchorCtr="0">
            <a:noAutofit/>
          </a:bodyPr>
          <a:lstStyle/>
          <a:p>
            <a:pPr marL="0" lvl="0" indent="0" algn="just">
              <a:spcBef>
                <a:spcPts val="1600"/>
              </a:spcBef>
              <a:buSzPts val="2000"/>
              <a:buNone/>
            </a:pPr>
            <a:r>
              <a:rPr lang="en-IN" sz="2400" dirty="0">
                <a:latin typeface="Times New Roman" panose="02020603050405020304" pitchFamily="18" charset="0"/>
                <a:cs typeface="Times New Roman" panose="02020603050405020304" pitchFamily="18" charset="0"/>
              </a:rPr>
              <a:t>The main objective of AERIS is to develop an AI-powered Aircraft Investigation Platform that predicts potential component failures and explains their root causes using evidence-driven AI. The system provides explainable insights and maintenance recommendations to support better decision-making.</a:t>
            </a:r>
          </a:p>
          <a:p>
            <a:pPr marL="342900" algn="just">
              <a:spcBef>
                <a:spcPts val="1600"/>
              </a:spcBef>
              <a:buSzPts val="2000"/>
            </a:pPr>
            <a:r>
              <a:rPr lang="en-US" sz="2400" dirty="0">
                <a:latin typeface="Times New Roman" panose="02020603050405020304" pitchFamily="18" charset="0"/>
                <a:ea typeface="Times New Roman"/>
                <a:cs typeface="Times New Roman" panose="02020603050405020304" pitchFamily="18" charset="0"/>
                <a:sym typeface="Times New Roman"/>
              </a:rPr>
              <a:t>Objective 1 : </a:t>
            </a:r>
            <a:r>
              <a:rPr lang="en-IN" sz="2400" dirty="0">
                <a:latin typeface="Times New Roman" panose="02020603050405020304" pitchFamily="18" charset="0"/>
                <a:cs typeface="Times New Roman" panose="02020603050405020304" pitchFamily="18" charset="0"/>
              </a:rPr>
              <a:t>To detect abnormal aircraft component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and assess potential degradation.</a:t>
            </a:r>
          </a:p>
          <a:p>
            <a:pPr marL="342900" algn="just">
              <a:spcBef>
                <a:spcPts val="1600"/>
              </a:spcBef>
              <a:buSzPts val="2000"/>
            </a:pPr>
            <a:r>
              <a:rPr lang="en-IN" sz="2400" dirty="0">
                <a:latin typeface="Times New Roman" panose="02020603050405020304" pitchFamily="18" charset="0"/>
                <a:ea typeface="Times New Roman"/>
                <a:cs typeface="Times New Roman" panose="02020603050405020304" pitchFamily="18" charset="0"/>
                <a:sym typeface="Times New Roman"/>
              </a:rPr>
              <a:t>Objective 2 : </a:t>
            </a:r>
            <a:r>
              <a:rPr lang="en-IN" sz="2400" dirty="0">
                <a:latin typeface="Times New Roman" panose="02020603050405020304" pitchFamily="18" charset="0"/>
                <a:cs typeface="Times New Roman" panose="02020603050405020304" pitchFamily="18" charset="0"/>
              </a:rPr>
              <a:t>To investigate possible failure causes by analysing and fusing diverse sources of evidence.</a:t>
            </a:r>
          </a:p>
          <a:p>
            <a:pPr marL="342900" algn="just">
              <a:spcBef>
                <a:spcPts val="1600"/>
              </a:spcBef>
              <a:buSzPts val="2000"/>
            </a:pPr>
            <a:r>
              <a:rPr lang="en-IN" sz="2400" dirty="0">
                <a:latin typeface="Times New Roman" panose="02020603050405020304" pitchFamily="18" charset="0"/>
                <a:ea typeface="Times New Roman"/>
                <a:cs typeface="Times New Roman" panose="02020603050405020304" pitchFamily="18" charset="0"/>
                <a:sym typeface="Times New Roman"/>
              </a:rPr>
              <a:t>Objective 3 : </a:t>
            </a:r>
            <a:r>
              <a:rPr lang="en-IN" sz="2400" dirty="0">
                <a:latin typeface="Times New Roman" panose="02020603050405020304" pitchFamily="18" charset="0"/>
                <a:cs typeface="Times New Roman" panose="02020603050405020304" pitchFamily="18" charset="0"/>
              </a:rPr>
              <a:t>To deliver clear investigation findings and maintenance actions for engineering decision-making.</a:t>
            </a: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158" name="Google Shape;15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59" name="Google Shape;1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Problem Statement</a:t>
            </a:r>
            <a:endParaRPr b="1" dirty="0">
              <a:latin typeface="Times New Roman" panose="02020603050405020304" pitchFamily="18" charset="0"/>
              <a:cs typeface="Times New Roman" panose="02020603050405020304" pitchFamily="18" charset="0"/>
            </a:endParaRPr>
          </a:p>
        </p:txBody>
      </p:sp>
      <p:sp>
        <p:nvSpPr>
          <p:cNvPr id="165" name="Google Shape;165;p8"/>
          <p:cNvSpPr txBox="1">
            <a:spLocks noGrp="1"/>
          </p:cNvSpPr>
          <p:nvPr>
            <p:ph type="body" idx="1"/>
          </p:nvPr>
        </p:nvSpPr>
        <p:spPr>
          <a:xfrm>
            <a:off x="457200" y="1600201"/>
            <a:ext cx="8229600" cy="3962400"/>
          </a:xfrm>
          <a:prstGeom prst="rect">
            <a:avLst/>
          </a:prstGeom>
          <a:noFill/>
          <a:ln>
            <a:noFill/>
          </a:ln>
        </p:spPr>
        <p:txBody>
          <a:bodyPr spcFirstLastPara="1" wrap="square" lIns="91425" tIns="45700" rIns="91425" bIns="45700" anchor="t" anchorCtr="0">
            <a:noAutofit/>
          </a:bodyPr>
          <a:lstStyle/>
          <a:p>
            <a:pPr marL="114300" indent="0">
              <a:buNone/>
            </a:pPr>
            <a:r>
              <a:rPr lang="en-IN" sz="2400" dirty="0">
                <a:latin typeface="Times New Roman" panose="02020603050405020304" pitchFamily="18" charset="0"/>
                <a:cs typeface="Times New Roman" panose="02020603050405020304" pitchFamily="18" charset="0"/>
              </a:rPr>
              <a:t>Aircraft component failures can compromise aviation safety, increase maintenance costs, and cause unexpected operational delays. Existing systems mainly predict failures or detect anomalies but often fail to explain why a failure is occurring or provide evidence-backed maintenance recommendations. AERIS addresses this by delivering explainable, evidence-driven failure investigation with root-cause analysis and intelligent maintenance recommendations for engineers.</a:t>
            </a:r>
          </a:p>
        </p:txBody>
      </p:sp>
      <p:sp>
        <p:nvSpPr>
          <p:cNvPr id="167" name="Google Shape;167;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68" name="Google Shape;16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457200" y="86043"/>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 Work-Block Diagram</a:t>
            </a:r>
            <a:endParaRPr b="1" dirty="0">
              <a:latin typeface="Times New Roman" panose="02020603050405020304" pitchFamily="18" charset="0"/>
              <a:cs typeface="Times New Roman" panose="02020603050405020304" pitchFamily="18" charset="0"/>
            </a:endParaRPr>
          </a:p>
        </p:txBody>
      </p:sp>
      <p:sp>
        <p:nvSpPr>
          <p:cNvPr id="175" name="Google Shape;175;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76" name="Google Shape;17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3" name="Picture 2" descr="PlantUML diagram">
            <a:extLst>
              <a:ext uri="{FF2B5EF4-FFF2-40B4-BE49-F238E27FC236}">
                <a16:creationId xmlns:a16="http://schemas.microsoft.com/office/drawing/2014/main" id="{C4649AC3-FB56-5DD3-D97D-7DB75BE99B21}"/>
              </a:ext>
            </a:extLst>
          </p:cNvPr>
          <p:cNvPicPr>
            <a:picLocks noChangeAspect="1"/>
          </p:cNvPicPr>
          <p:nvPr/>
        </p:nvPicPr>
        <p:blipFill>
          <a:blip r:embed="rId3"/>
          <a:stretch>
            <a:fillRect/>
          </a:stretch>
        </p:blipFill>
        <p:spPr>
          <a:xfrm>
            <a:off x="457200" y="1573162"/>
            <a:ext cx="8226849" cy="44343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Architecture Diagram</a:t>
            </a:r>
            <a:endParaRPr b="1" dirty="0">
              <a:latin typeface="Times New Roman" panose="02020603050405020304" pitchFamily="18" charset="0"/>
              <a:cs typeface="Times New Roman" panose="02020603050405020304" pitchFamily="18" charset="0"/>
            </a:endParaRPr>
          </a:p>
        </p:txBody>
      </p:sp>
      <p:sp>
        <p:nvSpPr>
          <p:cNvPr id="185" name="Google Shape;18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86" name="Google Shape;186;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5" name="Picture 4">
            <a:extLst>
              <a:ext uri="{FF2B5EF4-FFF2-40B4-BE49-F238E27FC236}">
                <a16:creationId xmlns:a16="http://schemas.microsoft.com/office/drawing/2014/main" id="{0D2056B9-6C2C-828C-2E8D-B94944EB938B}"/>
              </a:ext>
            </a:extLst>
          </p:cNvPr>
          <p:cNvPicPr>
            <a:picLocks noChangeAspect="1"/>
          </p:cNvPicPr>
          <p:nvPr/>
        </p:nvPicPr>
        <p:blipFill>
          <a:blip r:embed="rId3"/>
          <a:stretch>
            <a:fillRect/>
          </a:stretch>
        </p:blipFill>
        <p:spPr>
          <a:xfrm>
            <a:off x="1720854" y="1048928"/>
            <a:ext cx="5702292" cy="51556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Modules</a:t>
            </a:r>
            <a:endParaRPr b="1" dirty="0">
              <a:latin typeface="Times New Roman" panose="02020603050405020304" pitchFamily="18" charset="0"/>
              <a:cs typeface="Times New Roman" panose="02020603050405020304" pitchFamily="18" charset="0"/>
            </a:endParaRPr>
          </a:p>
        </p:txBody>
      </p:sp>
      <p:sp>
        <p:nvSpPr>
          <p:cNvPr id="194" name="Google Shape;194;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lvl="0" indent="0" algn="just">
              <a:buNone/>
            </a:pPr>
            <a:r>
              <a:rPr lang="en-IN" sz="2400" dirty="0">
                <a:latin typeface="Times New Roman" panose="02020603050405020304" pitchFamily="18" charset="0"/>
                <a:cs typeface="Times New Roman" panose="02020603050405020304" pitchFamily="18" charset="0"/>
              </a:rPr>
              <a:t>Module 1 – Data Collection &amp; Preprocessing </a:t>
            </a:r>
          </a:p>
          <a:p>
            <a:pPr marL="114300" lvl="0" indent="0" algn="just">
              <a:buNone/>
            </a:pPr>
            <a:r>
              <a:rPr lang="en-IN" sz="2400" dirty="0">
                <a:latin typeface="Times New Roman" panose="02020603050405020304" pitchFamily="18" charset="0"/>
                <a:cs typeface="Times New Roman" panose="02020603050405020304" pitchFamily="18" charset="0"/>
              </a:rPr>
              <a:t>Module 2 – Failure Prediction </a:t>
            </a:r>
          </a:p>
          <a:p>
            <a:pPr marL="114300" lvl="0" indent="0" algn="just">
              <a:buNone/>
            </a:pPr>
            <a:r>
              <a:rPr lang="en-IN" sz="2400" dirty="0">
                <a:latin typeface="Times New Roman" panose="02020603050405020304" pitchFamily="18" charset="0"/>
                <a:cs typeface="Times New Roman" panose="02020603050405020304" pitchFamily="18" charset="0"/>
              </a:rPr>
              <a:t>Module 3 – Investigation &amp; Root Cause Analysis </a:t>
            </a:r>
          </a:p>
          <a:p>
            <a:pPr marL="114300" lvl="0" indent="0" algn="just">
              <a:buNone/>
            </a:pPr>
            <a:r>
              <a:rPr lang="en-IN" sz="2400" dirty="0">
                <a:latin typeface="Times New Roman" panose="02020603050405020304" pitchFamily="18" charset="0"/>
                <a:cs typeface="Times New Roman" panose="02020603050405020304" pitchFamily="18" charset="0"/>
              </a:rPr>
              <a:t>Module 4 – Report Generation &amp; Maintenance                   Recommendation</a:t>
            </a:r>
            <a:endParaRPr sz="2400" dirty="0">
              <a:latin typeface="Times New Roman" panose="02020603050405020304" pitchFamily="18" charset="0"/>
              <a:cs typeface="Times New Roman" panose="02020603050405020304" pitchFamily="18" charset="0"/>
            </a:endParaRPr>
          </a:p>
        </p:txBody>
      </p:sp>
      <p:sp>
        <p:nvSpPr>
          <p:cNvPr id="196" name="Google Shape;19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97" name="Google Shape;197;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p:cNvSpPr txBox="1">
            <a:spLocks noGrp="1"/>
          </p:cNvSpPr>
          <p:nvPr>
            <p:ph type="body" idx="1"/>
          </p:nvPr>
        </p:nvSpPr>
        <p:spPr>
          <a:xfrm>
            <a:off x="457200" y="1600200"/>
            <a:ext cx="8229600" cy="4661535"/>
          </a:xfrm>
          <a:prstGeom prst="rect">
            <a:avLst/>
          </a:prstGeom>
          <a:noFill/>
          <a:ln>
            <a:noFill/>
          </a:ln>
        </p:spPr>
        <p:txBody>
          <a:bodyPr spcFirstLastPara="1" wrap="square" lIns="91425" tIns="45700" rIns="91425" bIns="45700" anchor="t" anchorCtr="0">
            <a:normAutofit fontScale="97500" lnSpcReduction="10000"/>
          </a:bodyPr>
          <a:lstStyle/>
          <a:p>
            <a:pPr algn="just">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1 – Data Collection &amp; Preprocessing</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Collect and prepare aircraft operational data.</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Integrates sensor data, maintenance records, flight logs, and weather 	 information, then cleans and transforms them into structured features.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A high-quality dataset ready for AI analysis.</a:t>
            </a:r>
          </a:p>
          <a:p>
            <a:pPr marL="114300" lvl="0" indent="0" algn="just">
              <a:lnSpc>
                <a:spcPct val="150000"/>
              </a:lnSpc>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2 – Failure Prediction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Predict potential aircraft component failures.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A Time-Series AI model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historical patterns and detects anomalies to estimate failure risk.</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Early warnings with predicted failure probability and confidence score.</a:t>
            </a:r>
          </a:p>
          <a:p>
            <a:pPr marL="114300"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06" name="Google Shape;20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Proposed-Module Description</a:t>
            </a:r>
            <a:endParaRPr dirty="0">
              <a:latin typeface="Times New Roman" panose="02020603050405020304" pitchFamily="18" charset="0"/>
              <a:cs typeface="Times New Roman" panose="02020603050405020304" pitchFamily="18" charset="0"/>
            </a:endParaRPr>
          </a:p>
        </p:txBody>
      </p:sp>
      <p:sp>
        <p:nvSpPr>
          <p:cNvPr id="212" name="Google Shape;212;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3 – Evidence-Driven Investigation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Identify the root cause behind predicted failures.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The Investigation Engine combines maintenance history, operational context, and causal relationships to reconstruct the chain of evidence.</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Explainable root cause with supporting evidence and confidence level.</a:t>
            </a:r>
          </a:p>
          <a:p>
            <a:pPr marL="114300" indent="0" algn="just">
              <a:buNone/>
            </a:pPr>
            <a:endParaRPr lang="en-IN" sz="1800" b="1"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4 – Recommendation &amp; Report Generation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Assist engineers in making maintenance decisions.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RAG and an LLM retrieve relevant technical knowledge and generate evidence-based maintenance recommendations.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A clear investigation report with actionable maintenance suggestions.</a:t>
            </a:r>
          </a:p>
          <a:p>
            <a:pPr marL="114300" lvl="0" indent="0" algn="just" rtl="0">
              <a:lnSpc>
                <a:spcPct val="100000"/>
              </a:lnSpc>
              <a:spcBef>
                <a:spcPts val="360"/>
              </a:spcBef>
              <a:spcAft>
                <a:spcPts val="0"/>
              </a:spcAft>
              <a:buSzPts val="1800"/>
              <a:buNone/>
            </a:pP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14" name="Google Shape;21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15" name="Google Shape;21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Software Requirements</a:t>
            </a:r>
            <a:endParaRPr b="1" dirty="0">
              <a:latin typeface="Times New Roman" panose="02020603050405020304" pitchFamily="18" charset="0"/>
              <a:cs typeface="Times New Roman" panose="02020603050405020304" pitchFamily="18" charset="0"/>
            </a:endParaRPr>
          </a:p>
        </p:txBody>
      </p:sp>
      <p:sp>
        <p:nvSpPr>
          <p:cNvPr id="221" name="Google Shape;221;p15"/>
          <p:cNvSpPr txBox="1">
            <a:spLocks noGrp="1"/>
          </p:cNvSpPr>
          <p:nvPr>
            <p:ph type="body" idx="1"/>
          </p:nvPr>
        </p:nvSpPr>
        <p:spPr>
          <a:xfrm>
            <a:off x="545691" y="954856"/>
            <a:ext cx="8229600" cy="5589638"/>
          </a:xfrm>
          <a:prstGeom prst="rect">
            <a:avLst/>
          </a:prstGeom>
          <a:noFill/>
          <a:ln>
            <a:noFill/>
          </a:ln>
        </p:spPr>
        <p:txBody>
          <a:bodyPr spcFirstLastPara="1" wrap="square" lIns="91425" tIns="45700" rIns="91425" bIns="45700" anchor="t" anchorCtr="0">
            <a:normAutofit fontScale="85000" lnSpcReduction="20000"/>
          </a:bodyPr>
          <a:lstStyle/>
          <a:p>
            <a:pPr marL="114300" indent="0">
              <a:buNone/>
            </a:pPr>
            <a:r>
              <a:rPr lang="en-IN" sz="2400" b="1" dirty="0">
                <a:latin typeface="Times New Roman" panose="02020603050405020304" pitchFamily="18" charset="0"/>
                <a:cs typeface="Times New Roman" panose="02020603050405020304" pitchFamily="18" charset="0"/>
              </a:rPr>
              <a:t>Software Requirements</a:t>
            </a:r>
          </a:p>
          <a:p>
            <a:pPr marL="114300" indent="0">
              <a:buNone/>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10/11 or Ubuntu</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3.11+</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IDE:</a:t>
            </a:r>
            <a:r>
              <a:rPr lang="en-IN" sz="2400" dirty="0">
                <a:latin typeface="Times New Roman" panose="02020603050405020304" pitchFamily="18" charset="0"/>
                <a:cs typeface="Times New Roman" panose="02020603050405020304" pitchFamily="18" charset="0"/>
              </a:rPr>
              <a:t> Visual Studio Code / Jupyter Notebook </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PostgreSQL</a:t>
            </a:r>
          </a:p>
          <a:p>
            <a:pPr marL="114300" indent="0">
              <a:buNone/>
            </a:pPr>
            <a:endParaRPr lang="en-IN" sz="2400" dirty="0">
              <a:latin typeface="Times New Roman" panose="02020603050405020304" pitchFamily="18" charset="0"/>
              <a:cs typeface="Times New Roman" panose="02020603050405020304" pitchFamily="18" charset="0"/>
            </a:endParaRPr>
          </a:p>
          <a:p>
            <a:pPr marL="114300" indent="0">
              <a:buNone/>
            </a:pPr>
            <a:r>
              <a:rPr lang="en-IN" sz="2400" b="1" dirty="0">
                <a:latin typeface="Times New Roman" panose="02020603050405020304" pitchFamily="18" charset="0"/>
                <a:cs typeface="Times New Roman" panose="02020603050405020304" pitchFamily="18" charset="0"/>
              </a:rPr>
              <a:t>Libraries &amp; Frameworks:</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Pandas, NumPy</a:t>
            </a:r>
            <a:r>
              <a:rPr lang="en-IN" sz="2400" dirty="0">
                <a:latin typeface="Times New Roman" panose="02020603050405020304" pitchFamily="18" charset="0"/>
                <a:cs typeface="Times New Roman" panose="02020603050405020304" pitchFamily="18" charset="0"/>
              </a:rPr>
              <a:t> – Data Processing</a:t>
            </a:r>
          </a:p>
          <a:p>
            <a:pPr lvl="0"/>
            <a:r>
              <a:rPr lang="en-IN" sz="2400" b="1" dirty="0">
                <a:latin typeface="Times New Roman" panose="02020603050405020304" pitchFamily="18" charset="0"/>
                <a:cs typeface="Times New Roman" panose="02020603050405020304" pitchFamily="18" charset="0"/>
              </a:rPr>
              <a:t>Scikit-learn</a:t>
            </a:r>
            <a:r>
              <a:rPr lang="en-IN" sz="2400" dirty="0">
                <a:latin typeface="Times New Roman" panose="02020603050405020304" pitchFamily="18" charset="0"/>
                <a:cs typeface="Times New Roman" panose="02020603050405020304" pitchFamily="18" charset="0"/>
              </a:rPr>
              <a:t> – Machine Learning</a:t>
            </a:r>
          </a:p>
          <a:p>
            <a:pPr lvl="0"/>
            <a:r>
              <a:rPr lang="en-IN" sz="2400" b="1"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 – Time-Series Transformer</a:t>
            </a:r>
          </a:p>
          <a:p>
            <a:pPr lvl="0"/>
            <a:r>
              <a:rPr lang="en-IN" sz="2400" b="1" dirty="0" err="1">
                <a:latin typeface="Times New Roman" panose="02020603050405020304" pitchFamily="18" charset="0"/>
                <a:cs typeface="Times New Roman" panose="02020603050405020304" pitchFamily="18" charset="0"/>
              </a:rPr>
              <a:t>DoWhy</a:t>
            </a:r>
            <a:r>
              <a:rPr lang="en-IN" sz="2400" dirty="0">
                <a:latin typeface="Times New Roman" panose="02020603050405020304" pitchFamily="18" charset="0"/>
                <a:cs typeface="Times New Roman" panose="02020603050405020304" pitchFamily="18" charset="0"/>
              </a:rPr>
              <a:t> – Causal Analysis</a:t>
            </a:r>
          </a:p>
          <a:p>
            <a:pPr lvl="0"/>
            <a:r>
              <a:rPr lang="en-IN" sz="2400" b="1" dirty="0">
                <a:latin typeface="Times New Roman" panose="02020603050405020304" pitchFamily="18" charset="0"/>
                <a:cs typeface="Times New Roman" panose="02020603050405020304" pitchFamily="18" charset="0"/>
              </a:rPr>
              <a:t>Neo4j</a:t>
            </a:r>
            <a:r>
              <a:rPr lang="en-IN" sz="2400" dirty="0">
                <a:latin typeface="Times New Roman" panose="02020603050405020304" pitchFamily="18" charset="0"/>
                <a:cs typeface="Times New Roman" panose="02020603050405020304" pitchFamily="18" charset="0"/>
              </a:rPr>
              <a:t> – Knowledge Graph</a:t>
            </a:r>
          </a:p>
          <a:p>
            <a:pPr lvl="0"/>
            <a:r>
              <a:rPr lang="en-IN" sz="2400" b="1" dirty="0" err="1">
                <a:latin typeface="Times New Roman" panose="02020603050405020304" pitchFamily="18" charset="0"/>
                <a:cs typeface="Times New Roman" panose="02020603050405020304" pitchFamily="18" charset="0"/>
              </a:rPr>
              <a:t>LangChain</a:t>
            </a:r>
            <a:r>
              <a:rPr lang="en-IN" sz="2400" dirty="0">
                <a:latin typeface="Times New Roman" panose="02020603050405020304" pitchFamily="18" charset="0"/>
                <a:cs typeface="Times New Roman" panose="02020603050405020304" pitchFamily="18" charset="0"/>
              </a:rPr>
              <a:t> – RAG Pipeline</a:t>
            </a:r>
          </a:p>
          <a:p>
            <a:pPr lvl="0"/>
            <a:r>
              <a:rPr lang="en-IN" sz="2400" b="1" dirty="0">
                <a:latin typeface="Times New Roman" panose="02020603050405020304" pitchFamily="18" charset="0"/>
                <a:cs typeface="Times New Roman" panose="02020603050405020304" pitchFamily="18" charset="0"/>
              </a:rPr>
              <a:t>FAISS</a:t>
            </a:r>
            <a:r>
              <a:rPr lang="en-IN" sz="2400" dirty="0">
                <a:latin typeface="Times New Roman" panose="02020603050405020304" pitchFamily="18" charset="0"/>
                <a:cs typeface="Times New Roman" panose="02020603050405020304" pitchFamily="18" charset="0"/>
              </a:rPr>
              <a:t> – Vector Search</a:t>
            </a:r>
          </a:p>
          <a:p>
            <a:pPr lvl="0"/>
            <a:r>
              <a:rPr lang="en-IN" sz="2400" b="1" dirty="0">
                <a:latin typeface="Times New Roman" panose="02020603050405020304" pitchFamily="18" charset="0"/>
                <a:cs typeface="Times New Roman" panose="02020603050405020304" pitchFamily="18" charset="0"/>
              </a:rPr>
              <a:t>Hugging Face Transformers</a:t>
            </a:r>
            <a:r>
              <a:rPr lang="en-IN" sz="2400" dirty="0">
                <a:latin typeface="Times New Roman" panose="02020603050405020304" pitchFamily="18" charset="0"/>
                <a:cs typeface="Times New Roman" panose="02020603050405020304" pitchFamily="18" charset="0"/>
              </a:rPr>
              <a:t> – LLM Integration</a:t>
            </a:r>
          </a:p>
          <a:p>
            <a:pPr lvl="0"/>
            <a:r>
              <a:rPr lang="en-IN" sz="2400" b="1" dirty="0">
                <a:latin typeface="Times New Roman" panose="02020603050405020304" pitchFamily="18" charset="0"/>
                <a:cs typeface="Times New Roman" panose="02020603050405020304" pitchFamily="18" charset="0"/>
              </a:rPr>
              <a:t>SHAP</a:t>
            </a:r>
            <a:r>
              <a:rPr lang="en-IN" sz="2400" dirty="0">
                <a:latin typeface="Times New Roman" panose="02020603050405020304" pitchFamily="18" charset="0"/>
                <a:cs typeface="Times New Roman" panose="02020603050405020304" pitchFamily="18" charset="0"/>
              </a:rPr>
              <a:t> – Model Explainability</a:t>
            </a:r>
          </a:p>
          <a:p>
            <a:pPr lvl="0"/>
            <a:r>
              <a:rPr lang="en-IN" sz="2400" b="1" dirty="0">
                <a:latin typeface="Times New Roman" panose="02020603050405020304" pitchFamily="18" charset="0"/>
                <a:cs typeface="Times New Roman" panose="02020603050405020304" pitchFamily="18" charset="0"/>
              </a:rPr>
              <a:t>Matplotlib, Seaborn</a:t>
            </a:r>
            <a:r>
              <a:rPr lang="en-IN" sz="2400" dirty="0">
                <a:latin typeface="Times New Roman" panose="02020603050405020304" pitchFamily="18" charset="0"/>
                <a:cs typeface="Times New Roman" panose="02020603050405020304" pitchFamily="18" charset="0"/>
              </a:rPr>
              <a:t> – Visualization</a:t>
            </a:r>
          </a:p>
          <a:p>
            <a:pPr lvl="0"/>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FastAPI</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 Tailwind CSS</a:t>
            </a:r>
          </a:p>
        </p:txBody>
      </p:sp>
      <p:sp>
        <p:nvSpPr>
          <p:cNvPr id="223" name="Google Shape;22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24" name="Google Shape;22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4900" b="1" dirty="0">
                <a:latin typeface="Times New Roman" panose="02020603050405020304" pitchFamily="18" charset="0"/>
                <a:cs typeface="Times New Roman" panose="02020603050405020304" pitchFamily="18" charset="0"/>
              </a:rPr>
              <a:t>References</a:t>
            </a:r>
            <a:endParaRPr b="1" dirty="0">
              <a:latin typeface="Times New Roman" panose="02020603050405020304" pitchFamily="18" charset="0"/>
              <a:cs typeface="Times New Roman" panose="02020603050405020304" pitchFamily="18" charset="0"/>
            </a:endParaRPr>
          </a:p>
        </p:txBody>
      </p:sp>
      <p:sp>
        <p:nvSpPr>
          <p:cNvPr id="239" name="Google Shape;239;p19"/>
          <p:cNvSpPr txBox="1">
            <a:spLocks noGrp="1"/>
          </p:cNvSpPr>
          <p:nvPr>
            <p:ph type="body" idx="1"/>
          </p:nvPr>
        </p:nvSpPr>
        <p:spPr>
          <a:xfrm>
            <a:off x="457200" y="990600"/>
            <a:ext cx="8229600" cy="5445125"/>
          </a:xfrm>
          <a:prstGeom prst="rect">
            <a:avLst/>
          </a:prstGeom>
          <a:noFill/>
          <a:ln>
            <a:noFill/>
          </a:ln>
        </p:spPr>
        <p:txBody>
          <a:bodyPr spcFirstLastPara="1" wrap="square" lIns="91425" tIns="45700" rIns="91425" bIns="45700" anchor="t" anchorCtr="0">
            <a:noAutofit/>
          </a:bodyPr>
          <a:lstStyle/>
          <a:p>
            <a:pPr marL="114300" indent="0">
              <a:buNone/>
            </a:pPr>
            <a:r>
              <a:rPr lang="en-IN" sz="1600" b="1" dirty="0">
                <a:latin typeface="Times New Roman" panose="02020603050405020304" pitchFamily="18" charset="0"/>
                <a:cs typeface="Times New Roman" panose="02020603050405020304" pitchFamily="18" charset="0"/>
              </a:rPr>
              <a:t>[1] </a:t>
            </a:r>
            <a:r>
              <a:rPr lang="en-IN" sz="1600" dirty="0">
                <a:latin typeface="Times New Roman" panose="02020603050405020304" pitchFamily="18" charset="0"/>
                <a:cs typeface="Times New Roman" panose="02020603050405020304" pitchFamily="18" charset="0"/>
              </a:rPr>
              <a:t>Z. Guo, Z. Liu, E. Estupiñan, and D. Cabrera, “Fault Inference Diagnosis Based on Causal Network and Large Language Model-Enhanced Knowledge Graph Network,” </a:t>
            </a:r>
            <a:r>
              <a:rPr lang="en-IN" sz="1600" i="1" dirty="0">
                <a:latin typeface="Times New Roman" panose="02020603050405020304" pitchFamily="18" charset="0"/>
                <a:cs typeface="Times New Roman" panose="02020603050405020304" pitchFamily="18" charset="0"/>
              </a:rPr>
              <a:t>Chinese Journal of Mechanical Engineering</a:t>
            </a:r>
            <a:r>
              <a:rPr lang="en-IN" sz="1600" dirty="0">
                <a:latin typeface="Times New Roman" panose="02020603050405020304" pitchFamily="18" charset="0"/>
                <a:cs typeface="Times New Roman" panose="02020603050405020304" pitchFamily="18" charset="0"/>
              </a:rPr>
              <a:t>, vol. 39, Art. no. 100162, 2026.</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[2] </a:t>
            </a:r>
            <a:r>
              <a:rPr lang="en-IN" sz="1600" dirty="0">
                <a:latin typeface="Times New Roman" panose="02020603050405020304" pitchFamily="18" charset="0"/>
                <a:cs typeface="Times New Roman" panose="02020603050405020304" pitchFamily="18" charset="0"/>
              </a:rPr>
              <a:t>J. Wang, T. Li, Y. Yang, et al., “</a:t>
            </a:r>
            <a:r>
              <a:rPr lang="en-IN" sz="1600" dirty="0" err="1">
                <a:latin typeface="Times New Roman" panose="02020603050405020304" pitchFamily="18" charset="0"/>
                <a:cs typeface="Times New Roman" panose="02020603050405020304" pitchFamily="18" charset="0"/>
              </a:rPr>
              <a:t>DiagLLM</a:t>
            </a:r>
            <a:r>
              <a:rPr lang="en-IN" sz="1600" dirty="0">
                <a:latin typeface="Times New Roman" panose="02020603050405020304" pitchFamily="18" charset="0"/>
                <a:cs typeface="Times New Roman" panose="02020603050405020304" pitchFamily="18" charset="0"/>
              </a:rPr>
              <a:t>: Multimodal Reasoning with Large Language Model for Explainable Bearing Fault Diagnosis,” </a:t>
            </a:r>
            <a:r>
              <a:rPr lang="en-IN" sz="1600" i="1" dirty="0">
                <a:latin typeface="Times New Roman" panose="02020603050405020304" pitchFamily="18" charset="0"/>
                <a:cs typeface="Times New Roman" panose="02020603050405020304" pitchFamily="18" charset="0"/>
              </a:rPr>
              <a:t>Science China Information Sciences</a:t>
            </a:r>
            <a:r>
              <a:rPr lang="en-IN" sz="1600" dirty="0">
                <a:latin typeface="Times New Roman" panose="02020603050405020304" pitchFamily="18" charset="0"/>
                <a:cs typeface="Times New Roman" panose="02020603050405020304" pitchFamily="18" charset="0"/>
              </a:rPr>
              <a:t>, vol. 68, no. 1, 2025.</a:t>
            </a:r>
          </a:p>
          <a:p>
            <a:pPr marL="114300" indent="0">
              <a:buNone/>
            </a:pPr>
            <a:endParaRPr lang="en-IN" sz="16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[3] </a:t>
            </a:r>
            <a:r>
              <a:rPr lang="en-IN" sz="1600" dirty="0">
                <a:latin typeface="Times New Roman" panose="02020603050405020304" pitchFamily="18" charset="0"/>
                <a:cs typeface="Times New Roman" panose="02020603050405020304" pitchFamily="18" charset="0"/>
              </a:rPr>
              <a:t>S. Zheng, K. Pan, J. Liu, et al., “Empirical Study on Fine-Tuning Pre-trained Large Language Models for Fault Diagnosis of Complex Systems,” </a:t>
            </a:r>
            <a:r>
              <a:rPr lang="en-IN" sz="1600" i="1" dirty="0">
                <a:latin typeface="Times New Roman" panose="02020603050405020304" pitchFamily="18" charset="0"/>
                <a:cs typeface="Times New Roman" panose="02020603050405020304" pitchFamily="18" charset="0"/>
              </a:rPr>
              <a:t>Reliability Engineering &amp; System Safety</a:t>
            </a:r>
            <a:r>
              <a:rPr lang="en-IN" sz="1600" dirty="0">
                <a:latin typeface="Times New Roman" panose="02020603050405020304" pitchFamily="18" charset="0"/>
                <a:cs typeface="Times New Roman" panose="02020603050405020304" pitchFamily="18" charset="0"/>
              </a:rPr>
              <a:t>, vol. 252, Art. no. 110382, 2024.</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[4] </a:t>
            </a:r>
            <a:r>
              <a:rPr lang="en-IN" sz="1600" dirty="0">
                <a:latin typeface="Times New Roman" panose="02020603050405020304" pitchFamily="18" charset="0"/>
                <a:cs typeface="Times New Roman" panose="02020603050405020304" pitchFamily="18" charset="0"/>
              </a:rPr>
              <a:t>Z. Zhang, Q. Li, S. Liu, et al., “Causal Inference-Enabled Graph Neural Networks for Generalized Fault Diagnosis in Industrial IoT Systems,” </a:t>
            </a:r>
            <a:r>
              <a:rPr lang="en-IN" sz="1600" i="1" dirty="0">
                <a:latin typeface="Times New Roman" panose="02020603050405020304" pitchFamily="18" charset="0"/>
                <a:cs typeface="Times New Roman" panose="02020603050405020304" pitchFamily="18" charset="0"/>
              </a:rPr>
              <a:t>Information Sciences</a:t>
            </a:r>
            <a:r>
              <a:rPr lang="en-IN" sz="1600" dirty="0">
                <a:latin typeface="Times New Roman" panose="02020603050405020304" pitchFamily="18" charset="0"/>
                <a:cs typeface="Times New Roman" panose="02020603050405020304" pitchFamily="18" charset="0"/>
              </a:rPr>
              <a:t>, vol. 694, Art. no. 121719, 2025.</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[5] </a:t>
            </a:r>
            <a:r>
              <a:rPr lang="en-IN" sz="1600" dirty="0">
                <a:latin typeface="Times New Roman" panose="02020603050405020304" pitchFamily="18" charset="0"/>
                <a:cs typeface="Times New Roman" panose="02020603050405020304" pitchFamily="18" charset="0"/>
              </a:rPr>
              <a:t>Z. Mao, H. Wang, B. Jiang, et al., “Graph Convolutional Neural Network for Intelligent Fault Diagnosis of Machines via Knowledge Graph,” </a:t>
            </a:r>
            <a:r>
              <a:rPr lang="en-IN" sz="1600" i="1" dirty="0">
                <a:latin typeface="Times New Roman" panose="02020603050405020304" pitchFamily="18" charset="0"/>
                <a:cs typeface="Times New Roman" panose="02020603050405020304" pitchFamily="18" charset="0"/>
              </a:rPr>
              <a:t>IEEE Transactions on Industrial Informatics</a:t>
            </a:r>
            <a:r>
              <a:rPr lang="en-IN" sz="1600" dirty="0">
                <a:latin typeface="Times New Roman" panose="02020603050405020304" pitchFamily="18" charset="0"/>
                <a:cs typeface="Times New Roman" panose="02020603050405020304" pitchFamily="18" charset="0"/>
              </a:rPr>
              <a:t>, vol. 20, no. 5, pp. 7862–7870, 2024.</a:t>
            </a:r>
          </a:p>
          <a:p>
            <a:pPr marL="0" lvl="0" indent="0" algn="just" rtl="0">
              <a:lnSpc>
                <a:spcPct val="100000"/>
              </a:lnSpc>
              <a:spcBef>
                <a:spcPts val="240"/>
              </a:spcBef>
              <a:spcAft>
                <a:spcPts val="0"/>
              </a:spcAft>
              <a:buSzPts val="1800"/>
              <a:buNone/>
            </a:pPr>
            <a:endParaRPr lang="en-IN" sz="1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00000"/>
              </a:lnSpc>
              <a:spcBef>
                <a:spcPts val="240"/>
              </a:spcBef>
              <a:spcAft>
                <a:spcPts val="0"/>
              </a:spcAft>
              <a:buSzPts val="1800"/>
              <a:buNone/>
            </a:pPr>
            <a:endParaRPr sz="1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41" name="Google Shape;24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42" name="Google Shape;24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00000"/>
              <a:buFont typeface="Calibri"/>
              <a:buNone/>
            </a:pPr>
            <a:r>
              <a:rPr lang="en-US"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30" name="Google Shape;230;p18"/>
          <p:cNvSpPr txBox="1">
            <a:spLocks noGrp="1"/>
          </p:cNvSpPr>
          <p:nvPr>
            <p:ph type="body" idx="1"/>
          </p:nvPr>
        </p:nvSpPr>
        <p:spPr>
          <a:xfrm>
            <a:off x="457200" y="899160"/>
            <a:ext cx="8229600" cy="5456555"/>
          </a:xfrm>
          <a:prstGeom prst="rect">
            <a:avLst/>
          </a:prstGeom>
          <a:noFill/>
          <a:ln>
            <a:noFill/>
          </a:ln>
        </p:spPr>
        <p:txBody>
          <a:bodyPr spcFirstLastPara="1" wrap="square" lIns="91425" tIns="45700" rIns="91425" bIns="45700" anchor="t" anchorCtr="0">
            <a:noAutofit/>
          </a:bodyPr>
          <a:lstStyle/>
          <a:p>
            <a:pPr marL="114300" indent="0">
              <a:buNone/>
            </a:pPr>
            <a:r>
              <a:rPr lang="en-IN" sz="1600" b="1" dirty="0">
                <a:latin typeface="Times New Roman" panose="02020603050405020304" pitchFamily="18" charset="0"/>
                <a:cs typeface="Times New Roman" panose="02020603050405020304" pitchFamily="18" charset="0"/>
              </a:rPr>
              <a:t>[6] </a:t>
            </a:r>
            <a:r>
              <a:rPr lang="en-IN" sz="1600" dirty="0">
                <a:latin typeface="Times New Roman" panose="02020603050405020304" pitchFamily="18" charset="0"/>
                <a:cs typeface="Times New Roman" panose="02020603050405020304" pitchFamily="18" charset="0"/>
              </a:rPr>
              <a:t>X. Liao, C. Chen, Z. Wang, et al., “Large Language Model Assisted Fine-Grained Knowledge Graph Construction for Robotic Fault Diagnosis,” </a:t>
            </a:r>
            <a:r>
              <a:rPr lang="en-IN" sz="1600" i="1" dirty="0">
                <a:latin typeface="Times New Roman" panose="02020603050405020304" pitchFamily="18" charset="0"/>
                <a:cs typeface="Times New Roman" panose="02020603050405020304" pitchFamily="18" charset="0"/>
              </a:rPr>
              <a:t>Advanced Engineering Informatics</a:t>
            </a:r>
            <a:r>
              <a:rPr lang="en-IN" sz="1600" dirty="0">
                <a:latin typeface="Times New Roman" panose="02020603050405020304" pitchFamily="18" charset="0"/>
                <a:cs typeface="Times New Roman" panose="02020603050405020304" pitchFamily="18" charset="0"/>
              </a:rPr>
              <a:t>, vol. 65, Art. no. 103134, 2025.</a:t>
            </a: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00000"/>
              </a:lnSpc>
              <a:spcBef>
                <a:spcPts val="240"/>
              </a:spcBef>
              <a:spcAft>
                <a:spcPts val="0"/>
              </a:spcAft>
              <a:buSzPts val="1800"/>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IN" sz="1600" b="1" dirty="0">
                <a:latin typeface="Times New Roman" panose="02020603050405020304" pitchFamily="18" charset="0"/>
                <a:cs typeface="Times New Roman" panose="02020603050405020304" pitchFamily="18" charset="0"/>
              </a:rPr>
              <a:t>[7] </a:t>
            </a:r>
            <a:r>
              <a:rPr lang="en-IN" sz="1600" dirty="0">
                <a:latin typeface="Times New Roman" panose="02020603050405020304" pitchFamily="18" charset="0"/>
                <a:cs typeface="Times New Roman" panose="02020603050405020304" pitchFamily="18" charset="0"/>
              </a:rPr>
              <a:t>X. Ding, H. Wu, J. Wang, et al., “Causal Discovery for Rolling Bearing Fault Under Missing Data: From the Perspective of Causal Effect and Information Flow,” </a:t>
            </a:r>
            <a:r>
              <a:rPr lang="en-IN" sz="1600" i="1" dirty="0">
                <a:latin typeface="Times New Roman" panose="02020603050405020304" pitchFamily="18" charset="0"/>
                <a:cs typeface="Times New Roman" panose="02020603050405020304" pitchFamily="18" charset="0"/>
              </a:rPr>
              <a:t>IEEE Transactions on Instrumentation and Measurement</a:t>
            </a:r>
            <a:r>
              <a:rPr lang="en-IN" sz="1600" dirty="0">
                <a:latin typeface="Times New Roman" panose="02020603050405020304" pitchFamily="18" charset="0"/>
                <a:cs typeface="Times New Roman" panose="02020603050405020304" pitchFamily="18" charset="0"/>
              </a:rPr>
              <a:t>, vol. 74, pp. 1–17, 2025.</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[8] </a:t>
            </a:r>
            <a:r>
              <a:rPr lang="en-IN" sz="1600" dirty="0">
                <a:latin typeface="Times New Roman" panose="02020603050405020304" pitchFamily="18" charset="0"/>
                <a:cs typeface="Times New Roman" panose="02020603050405020304" pitchFamily="18" charset="0"/>
              </a:rPr>
              <a:t>Y. Dong, H. Jiang, X. Wang, et al., “An Interpretable Integration Fusion Time-Frequency Prototype Contrastive Learning for Machine Fault Diagnosis with Limited </a:t>
            </a:r>
            <a:r>
              <a:rPr lang="en-IN" sz="1600" dirty="0" err="1">
                <a:latin typeface="Times New Roman" panose="02020603050405020304" pitchFamily="18" charset="0"/>
                <a:cs typeface="Times New Roman" panose="02020603050405020304" pitchFamily="18" charset="0"/>
              </a:rPr>
              <a:t>Labeled</a:t>
            </a:r>
            <a:r>
              <a:rPr lang="en-IN" sz="1600" dirty="0">
                <a:latin typeface="Times New Roman" panose="02020603050405020304" pitchFamily="18" charset="0"/>
                <a:cs typeface="Times New Roman" panose="02020603050405020304" pitchFamily="18" charset="0"/>
              </a:rPr>
              <a:t> Samples,” </a:t>
            </a:r>
            <a:r>
              <a:rPr lang="en-IN" sz="1600" i="1" dirty="0">
                <a:latin typeface="Times New Roman" panose="02020603050405020304" pitchFamily="18" charset="0"/>
                <a:cs typeface="Times New Roman" panose="02020603050405020304" pitchFamily="18" charset="0"/>
              </a:rPr>
              <a:t>Information Fusion</a:t>
            </a:r>
            <a:r>
              <a:rPr lang="en-IN" sz="1600" dirty="0">
                <a:latin typeface="Times New Roman" panose="02020603050405020304" pitchFamily="18" charset="0"/>
                <a:cs typeface="Times New Roman" panose="02020603050405020304" pitchFamily="18" charset="0"/>
              </a:rPr>
              <a:t>, vol. 124, Art. no. 103340, 2025.</a:t>
            </a:r>
          </a:p>
          <a:p>
            <a:pPr marL="114300" indent="0">
              <a:buNone/>
            </a:pPr>
            <a:endParaRPr lang="en-IN" sz="16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[9] </a:t>
            </a:r>
            <a:r>
              <a:rPr lang="en-IN" sz="1600" dirty="0">
                <a:latin typeface="Times New Roman" panose="02020603050405020304" pitchFamily="18" charset="0"/>
                <a:cs typeface="Times New Roman" panose="02020603050405020304" pitchFamily="18" charset="0"/>
              </a:rPr>
              <a:t>D. Song, F. Zhang, M. Lu, et al., “</a:t>
            </a:r>
            <a:r>
              <a:rPr lang="en-IN" sz="1600" dirty="0" err="1">
                <a:latin typeface="Times New Roman" panose="02020603050405020304" pitchFamily="18" charset="0"/>
                <a:cs typeface="Times New Roman" panose="02020603050405020304" pitchFamily="18" charset="0"/>
              </a:rPr>
              <a:t>DTransE</a:t>
            </a:r>
            <a:r>
              <a:rPr lang="en-IN" sz="1600" dirty="0">
                <a:latin typeface="Times New Roman" panose="02020603050405020304" pitchFamily="18" charset="0"/>
                <a:cs typeface="Times New Roman" panose="02020603050405020304" pitchFamily="18" charset="0"/>
              </a:rPr>
              <a:t>: Distributed Translating Embedding for Knowledge Graph,” </a:t>
            </a:r>
            <a:r>
              <a:rPr lang="en-IN" sz="1600" i="1" dirty="0">
                <a:latin typeface="Times New Roman" panose="02020603050405020304" pitchFamily="18" charset="0"/>
                <a:cs typeface="Times New Roman" panose="02020603050405020304" pitchFamily="18" charset="0"/>
              </a:rPr>
              <a:t>IEEE Transactions on Parallel and Distributed Systems</a:t>
            </a:r>
            <a:r>
              <a:rPr lang="en-IN" sz="1600" dirty="0">
                <a:latin typeface="Times New Roman" panose="02020603050405020304" pitchFamily="18" charset="0"/>
                <a:cs typeface="Times New Roman" panose="02020603050405020304" pitchFamily="18" charset="0"/>
              </a:rPr>
              <a:t>, vol. 32, no. 10, pp. 2509–2523, 2021.</a:t>
            </a:r>
          </a:p>
          <a:p>
            <a:pPr marL="114300" indent="0">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IN" sz="1600" b="1" dirty="0">
                <a:latin typeface="Times New Roman" panose="02020603050405020304" pitchFamily="18" charset="0"/>
                <a:cs typeface="Times New Roman" panose="02020603050405020304" pitchFamily="18" charset="0"/>
              </a:rPr>
              <a:t>[10]</a:t>
            </a:r>
            <a:r>
              <a:rPr lang="en-IN" sz="1600" dirty="0">
                <a:latin typeface="Times New Roman" panose="02020603050405020304" pitchFamily="18" charset="0"/>
                <a:cs typeface="Times New Roman" panose="02020603050405020304" pitchFamily="18" charset="0"/>
              </a:rPr>
              <a:t>Y. Dong, H. Jiang, M. Mu, et al., “A Trustworthy Lightweight Multi-Expert Wavelet Transformer for Rotating Machinery Fault Diagnosis,” </a:t>
            </a:r>
            <a:r>
              <a:rPr lang="en-IN" sz="1600" i="1" dirty="0">
                <a:latin typeface="Times New Roman" panose="02020603050405020304" pitchFamily="18" charset="0"/>
                <a:cs typeface="Times New Roman" panose="02020603050405020304" pitchFamily="18" charset="0"/>
              </a:rPr>
              <a:t>Mechanical Systems and Signal Processing</a:t>
            </a:r>
            <a:r>
              <a:rPr lang="en-IN" sz="1600" dirty="0">
                <a:latin typeface="Times New Roman" panose="02020603050405020304" pitchFamily="18" charset="0"/>
                <a:cs typeface="Times New Roman" panose="02020603050405020304" pitchFamily="18" charset="0"/>
              </a:rPr>
              <a:t>, vol. 235, Art. no. 112945, 2025.</a:t>
            </a:r>
            <a:endParaRPr lang="en-IN"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32" name="Google Shape;23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33" name="Google Shape;23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533BE903-3D6D-CEAE-4AA0-38E3AEBB57AA}"/>
            </a:ext>
          </a:extLst>
        </p:cNvPr>
        <p:cNvGrpSpPr/>
        <p:nvPr/>
      </p:nvGrpSpPr>
      <p:grpSpPr>
        <a:xfrm>
          <a:off x="0" y="0"/>
          <a:ext cx="0" cy="0"/>
          <a:chOff x="0" y="0"/>
          <a:chExt cx="0" cy="0"/>
        </a:xfrm>
      </p:grpSpPr>
      <p:sp>
        <p:nvSpPr>
          <p:cNvPr id="94" name="Google Shape;94;p1">
            <a:extLst>
              <a:ext uri="{FF2B5EF4-FFF2-40B4-BE49-F238E27FC236}">
                <a16:creationId xmlns:a16="http://schemas.microsoft.com/office/drawing/2014/main" id="{3524BCE0-5736-BA95-083C-2D2EAB93C709}"/>
              </a:ext>
            </a:extLst>
          </p:cNvPr>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a:extLst>
              <a:ext uri="{FF2B5EF4-FFF2-40B4-BE49-F238E27FC236}">
                <a16:creationId xmlns:a16="http://schemas.microsoft.com/office/drawing/2014/main" id="{6B0DA332-5EAC-38C5-8867-28C7ADEB7BAA}"/>
              </a:ext>
            </a:extLst>
          </p:cNvPr>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FIRST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AERIS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a:extLst>
              <a:ext uri="{FF2B5EF4-FFF2-40B4-BE49-F238E27FC236}">
                <a16:creationId xmlns:a16="http://schemas.microsoft.com/office/drawing/2014/main" id="{3C8A3660-5ADD-E45D-CB26-E1DF3E07D89A}"/>
              </a:ext>
            </a:extLst>
          </p:cNvPr>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13</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a:extLst>
              <a:ext uri="{FF2B5EF4-FFF2-40B4-BE49-F238E27FC236}">
                <a16:creationId xmlns:a16="http://schemas.microsoft.com/office/drawing/2014/main" id="{2B24DA41-E0CA-DF29-8084-A2CF88B2B3D7}"/>
              </a:ext>
            </a:extLst>
          </p:cNvPr>
          <p:cNvGraphicFramePr/>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70765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7236CAD2-06F1-5470-700A-2D5A18DA579B}"/>
            </a:ext>
          </a:extLst>
        </p:cNvPr>
        <p:cNvGrpSpPr/>
        <p:nvPr/>
      </p:nvGrpSpPr>
      <p:grpSpPr>
        <a:xfrm>
          <a:off x="0" y="0"/>
          <a:ext cx="0" cy="0"/>
          <a:chOff x="0" y="0"/>
          <a:chExt cx="0" cy="0"/>
        </a:xfrm>
      </p:grpSpPr>
      <p:sp>
        <p:nvSpPr>
          <p:cNvPr id="183" name="Google Shape;183;p10">
            <a:extLst>
              <a:ext uri="{FF2B5EF4-FFF2-40B4-BE49-F238E27FC236}">
                <a16:creationId xmlns:a16="http://schemas.microsoft.com/office/drawing/2014/main" id="{046C761A-2246-3297-0882-397B89DA0F5C}"/>
              </a:ext>
            </a:extLst>
          </p:cNvPr>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Architecture Diagram</a:t>
            </a:r>
            <a:endParaRPr b="1" dirty="0">
              <a:latin typeface="Times New Roman" panose="02020603050405020304" pitchFamily="18" charset="0"/>
              <a:cs typeface="Times New Roman" panose="02020603050405020304" pitchFamily="18" charset="0"/>
            </a:endParaRPr>
          </a:p>
        </p:txBody>
      </p:sp>
      <p:sp>
        <p:nvSpPr>
          <p:cNvPr id="185" name="Google Shape;185;p10">
            <a:extLst>
              <a:ext uri="{FF2B5EF4-FFF2-40B4-BE49-F238E27FC236}">
                <a16:creationId xmlns:a16="http://schemas.microsoft.com/office/drawing/2014/main" id="{4246A77F-6E32-101D-FDE5-1CE6987878AB}"/>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186" name="Google Shape;186;p10">
            <a:extLst>
              <a:ext uri="{FF2B5EF4-FFF2-40B4-BE49-F238E27FC236}">
                <a16:creationId xmlns:a16="http://schemas.microsoft.com/office/drawing/2014/main" id="{5E0CC060-D044-F5DE-C13A-1A191B69445D}"/>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
        <p:nvSpPr>
          <p:cNvPr id="2" name="Footer Placeholder 1">
            <a:extLst>
              <a:ext uri="{FF2B5EF4-FFF2-40B4-BE49-F238E27FC236}">
                <a16:creationId xmlns:a16="http://schemas.microsoft.com/office/drawing/2014/main" id="{49B04648-C5FE-B328-0A74-E396E0EF752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9" name="Picture 8">
            <a:extLst>
              <a:ext uri="{FF2B5EF4-FFF2-40B4-BE49-F238E27FC236}">
                <a16:creationId xmlns:a16="http://schemas.microsoft.com/office/drawing/2014/main" id="{0FAAD80B-3BFE-FB09-67D2-CD009DE6BFE8}"/>
              </a:ext>
            </a:extLst>
          </p:cNvPr>
          <p:cNvPicPr>
            <a:picLocks noChangeAspect="1"/>
          </p:cNvPicPr>
          <p:nvPr/>
        </p:nvPicPr>
        <p:blipFill>
          <a:blip r:embed="rId3"/>
          <a:stretch>
            <a:fillRect/>
          </a:stretch>
        </p:blipFill>
        <p:spPr>
          <a:xfrm>
            <a:off x="1574500" y="974471"/>
            <a:ext cx="6045500" cy="5747004"/>
          </a:xfrm>
          <a:prstGeom prst="rect">
            <a:avLst/>
          </a:prstGeom>
        </p:spPr>
      </p:pic>
    </p:spTree>
    <p:extLst>
      <p:ext uri="{BB962C8B-B14F-4D97-AF65-F5344CB8AC3E}">
        <p14:creationId xmlns:p14="http://schemas.microsoft.com/office/powerpoint/2010/main" val="3729676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6D136-1E5A-75FB-1B9A-A4FF720703F3}"/>
              </a:ext>
            </a:extLst>
          </p:cNvPr>
          <p:cNvSpPr>
            <a:spLocks noGrp="1"/>
          </p:cNvSpPr>
          <p:nvPr>
            <p:ph type="title"/>
          </p:nvPr>
        </p:nvSpPr>
        <p:spPr/>
        <p:txBody>
          <a:bodyPr>
            <a:normAutofit fontScale="90000"/>
          </a:bodyPr>
          <a:lstStyle/>
          <a:p>
            <a:r>
              <a:rPr lang="en-IN" dirty="0"/>
              <a:t>SYSTEM ARCHITECTURE DESCRIPTION</a:t>
            </a:r>
          </a:p>
        </p:txBody>
      </p:sp>
      <p:sp>
        <p:nvSpPr>
          <p:cNvPr id="3" name="Text Placeholder 2">
            <a:extLst>
              <a:ext uri="{FF2B5EF4-FFF2-40B4-BE49-F238E27FC236}">
                <a16:creationId xmlns:a16="http://schemas.microsoft.com/office/drawing/2014/main" id="{9875F6CF-4519-0426-3D1F-6E5FECCF4C23}"/>
              </a:ext>
            </a:extLst>
          </p:cNvPr>
          <p:cNvSpPr>
            <a:spLocks noGrp="1"/>
          </p:cNvSpPr>
          <p:nvPr>
            <p:ph type="body" idx="1"/>
          </p:nvPr>
        </p:nvSpPr>
        <p:spPr>
          <a:xfrm>
            <a:off x="457200" y="1337188"/>
            <a:ext cx="8229600" cy="5019162"/>
          </a:xfrm>
        </p:spPr>
        <p:txBody>
          <a:bodyPr>
            <a:normAutofit fontScale="55000" lnSpcReduction="20000"/>
          </a:bodyPr>
          <a:lstStyle/>
          <a:p>
            <a:pPr marL="114300" indent="0">
              <a:buNone/>
            </a:pPr>
            <a:r>
              <a:rPr lang="en-IN" b="1" dirty="0">
                <a:latin typeface="Times New Roman" panose="02020603050405020304" pitchFamily="18" charset="0"/>
                <a:cs typeface="Times New Roman" panose="02020603050405020304" pitchFamily="18" charset="0"/>
              </a:rPr>
              <a:t>1. Data &amp; Processing Layer</a:t>
            </a:r>
          </a:p>
          <a:p>
            <a:pPr marL="114300" lvl="0" indent="0">
              <a:buNone/>
            </a:pPr>
            <a:r>
              <a:rPr lang="en-IN" b="1" dirty="0">
                <a:latin typeface="Times New Roman" panose="02020603050405020304" pitchFamily="18" charset="0"/>
                <a:cs typeface="Times New Roman" panose="02020603050405020304" pitchFamily="18" charset="0"/>
              </a:rPr>
              <a:t>Data Sources:</a:t>
            </a:r>
            <a:r>
              <a:rPr lang="en-IN" dirty="0">
                <a:latin typeface="Times New Roman" panose="02020603050405020304" pitchFamily="18" charset="0"/>
                <a:cs typeface="Times New Roman" panose="02020603050405020304" pitchFamily="18" charset="0"/>
              </a:rPr>
              <a:t> NASA C-MAPSS/N-CMAPSS, NGAFID, FAA SDR, Aircraft Maintenance Manuals</a:t>
            </a:r>
          </a:p>
          <a:p>
            <a:pPr marL="114300" lvl="0" indent="0">
              <a:buNone/>
            </a:pPr>
            <a:r>
              <a:rPr lang="en-IN" b="1" dirty="0">
                <a:latin typeface="Times New Roman" panose="02020603050405020304" pitchFamily="18" charset="0"/>
                <a:cs typeface="Times New Roman" panose="02020603050405020304" pitchFamily="18" charset="0"/>
              </a:rPr>
              <a:t>Data Integration:</a:t>
            </a:r>
            <a:r>
              <a:rPr lang="en-IN" dirty="0">
                <a:latin typeface="Times New Roman" panose="02020603050405020304" pitchFamily="18" charset="0"/>
                <a:cs typeface="Times New Roman" panose="02020603050405020304" pitchFamily="18" charset="0"/>
              </a:rPr>
              <a:t> Collects and integrates information from multiple sources</a:t>
            </a:r>
          </a:p>
          <a:p>
            <a:pPr marL="114300" lvl="0" indent="0">
              <a:buNone/>
            </a:pPr>
            <a:r>
              <a:rPr lang="en-IN" b="1" dirty="0">
                <a:latin typeface="Times New Roman" panose="02020603050405020304" pitchFamily="18" charset="0"/>
                <a:cs typeface="Times New Roman" panose="02020603050405020304" pitchFamily="18" charset="0"/>
              </a:rPr>
              <a:t>Data Processing:</a:t>
            </a:r>
            <a:r>
              <a:rPr lang="en-IN" dirty="0">
                <a:latin typeface="Times New Roman" panose="02020603050405020304" pitchFamily="18" charset="0"/>
                <a:cs typeface="Times New Roman" panose="02020603050405020304" pitchFamily="18" charset="0"/>
              </a:rPr>
              <a:t> Performs data cleaning and feature engineering</a:t>
            </a:r>
          </a:p>
          <a:p>
            <a:pPr marL="114300" indent="0">
              <a:buNone/>
            </a:pPr>
            <a:endParaRPr lang="en-IN" b="1"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2. AI, Reasoning &amp; Application Layer</a:t>
            </a:r>
          </a:p>
          <a:p>
            <a:pPr marL="114300" lvl="0" indent="0">
              <a:buNone/>
            </a:pPr>
            <a:r>
              <a:rPr lang="en-IN" b="1" dirty="0">
                <a:latin typeface="Times New Roman" panose="02020603050405020304" pitchFamily="18" charset="0"/>
                <a:cs typeface="Times New Roman" panose="02020603050405020304" pitchFamily="18" charset="0"/>
              </a:rPr>
              <a:t>Failure Prediction:</a:t>
            </a:r>
            <a:r>
              <a:rPr lang="en-IN" dirty="0">
                <a:latin typeface="Times New Roman" panose="02020603050405020304" pitchFamily="18" charset="0"/>
                <a:cs typeface="Times New Roman" panose="02020603050405020304" pitchFamily="18" charset="0"/>
              </a:rPr>
              <a:t> Time-Series Transformer performs RUL estimation and anomaly scoring</a:t>
            </a:r>
          </a:p>
          <a:p>
            <a:pPr marL="114300" lvl="0" indent="0">
              <a:buNone/>
            </a:pPr>
            <a:r>
              <a:rPr lang="en-IN" b="1" dirty="0">
                <a:latin typeface="Times New Roman" panose="02020603050405020304" pitchFamily="18" charset="0"/>
                <a:cs typeface="Times New Roman" panose="02020603050405020304" pitchFamily="18" charset="0"/>
              </a:rPr>
              <a:t>Causal Analysis: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DoWhy</a:t>
            </a:r>
            <a:r>
              <a:rPr lang="en-IN" dirty="0">
                <a:latin typeface="Times New Roman" panose="02020603050405020304" pitchFamily="18" charset="0"/>
                <a:cs typeface="Times New Roman" panose="02020603050405020304" pitchFamily="18" charset="0"/>
              </a:rPr>
              <a:t> identifies causal relationships behind potential failures</a:t>
            </a:r>
          </a:p>
          <a:p>
            <a:pPr marL="114300" lvl="0" indent="0">
              <a:buNone/>
            </a:pPr>
            <a:r>
              <a:rPr lang="en-IN" b="1" dirty="0">
                <a:latin typeface="Times New Roman" panose="02020603050405020304" pitchFamily="18" charset="0"/>
                <a:cs typeface="Times New Roman" panose="02020603050405020304" pitchFamily="18" charset="0"/>
              </a:rPr>
              <a:t>Knowledge Graph:</a:t>
            </a:r>
            <a:r>
              <a:rPr lang="en-IN" dirty="0">
                <a:latin typeface="Times New Roman" panose="02020603050405020304" pitchFamily="18" charset="0"/>
                <a:cs typeface="Times New Roman" panose="02020603050405020304" pitchFamily="18" charset="0"/>
              </a:rPr>
              <a:t> Neo4j represents relationships between components, events and failures</a:t>
            </a:r>
          </a:p>
          <a:p>
            <a:pPr marL="114300" lvl="0" indent="0">
              <a:buNone/>
            </a:pPr>
            <a:r>
              <a:rPr lang="en-IN" b="1" dirty="0">
                <a:latin typeface="Times New Roman" panose="02020603050405020304" pitchFamily="18" charset="0"/>
                <a:cs typeface="Times New Roman" panose="02020603050405020304" pitchFamily="18" charset="0"/>
              </a:rPr>
              <a:t>Knowledge Retrieval: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 FAISS retrieves relevant technical information</a:t>
            </a:r>
          </a:p>
          <a:p>
            <a:pPr marL="114300" lvl="0" indent="0">
              <a:buNone/>
            </a:pPr>
            <a:r>
              <a:rPr lang="en-IN" b="1" dirty="0">
                <a:latin typeface="Times New Roman" panose="02020603050405020304" pitchFamily="18" charset="0"/>
                <a:cs typeface="Times New Roman" panose="02020603050405020304" pitchFamily="18" charset="0"/>
              </a:rPr>
              <a:t>Explainability:</a:t>
            </a:r>
            <a:r>
              <a:rPr lang="en-IN" dirty="0">
                <a:latin typeface="Times New Roman" panose="02020603050405020304" pitchFamily="18" charset="0"/>
                <a:cs typeface="Times New Roman" panose="02020603050405020304" pitchFamily="18" charset="0"/>
              </a:rPr>
              <a:t> SHAP provides feature-level explanations</a:t>
            </a:r>
          </a:p>
          <a:p>
            <a:pPr marL="114300" lvl="0" indent="0">
              <a:buNone/>
            </a:pPr>
            <a:r>
              <a:rPr lang="en-IN" b="1" dirty="0">
                <a:latin typeface="Times New Roman" panose="02020603050405020304" pitchFamily="18" charset="0"/>
                <a:cs typeface="Times New Roman" panose="02020603050405020304" pitchFamily="18" charset="0"/>
              </a:rPr>
              <a:t>Evidence Fusion:</a:t>
            </a:r>
            <a:r>
              <a:rPr lang="en-IN" dirty="0">
                <a:latin typeface="Times New Roman" panose="02020603050405020304" pitchFamily="18" charset="0"/>
                <a:cs typeface="Times New Roman" panose="02020603050405020304" pitchFamily="18" charset="0"/>
              </a:rPr>
              <a:t> Dempster-Shafer combines evidence from multiple sources</a:t>
            </a:r>
          </a:p>
          <a:p>
            <a:pPr marL="114300" lvl="0" indent="0">
              <a:buNone/>
            </a:pPr>
            <a:r>
              <a:rPr lang="en-IN" b="1" dirty="0">
                <a:latin typeface="Times New Roman" panose="02020603050405020304" pitchFamily="18" charset="0"/>
                <a:cs typeface="Times New Roman" panose="02020603050405020304" pitchFamily="18" charset="0"/>
              </a:rPr>
              <a:t>Report Generation:</a:t>
            </a:r>
            <a:r>
              <a:rPr lang="en-IN" dirty="0">
                <a:latin typeface="Times New Roman" panose="02020603050405020304" pitchFamily="18" charset="0"/>
                <a:cs typeface="Times New Roman" panose="02020603050405020304" pitchFamily="18" charset="0"/>
              </a:rPr>
              <a:t> Qwen/Llama + </a:t>
            </a:r>
            <a:r>
              <a:rPr lang="en-IN" dirty="0" err="1">
                <a:latin typeface="Times New Roman" panose="02020603050405020304" pitchFamily="18" charset="0"/>
                <a:cs typeface="Times New Roman" panose="02020603050405020304" pitchFamily="18" charset="0"/>
              </a:rPr>
              <a:t>LangGraph</a:t>
            </a:r>
            <a:r>
              <a:rPr lang="en-IN" dirty="0">
                <a:latin typeface="Times New Roman" panose="02020603050405020304" pitchFamily="18" charset="0"/>
                <a:cs typeface="Times New Roman" panose="02020603050405020304" pitchFamily="18" charset="0"/>
              </a:rPr>
              <a:t> generates investigation reports</a:t>
            </a:r>
          </a:p>
          <a:p>
            <a:pPr marL="114300" lvl="0" indent="0">
              <a:buNone/>
            </a:pPr>
            <a:r>
              <a:rPr lang="en-IN" b="1" dirty="0">
                <a:latin typeface="Times New Roman" panose="02020603050405020304" pitchFamily="18" charset="0"/>
                <a:cs typeface="Times New Roman" panose="02020603050405020304" pitchFamily="18" charset="0"/>
              </a:rPr>
              <a:t>Application: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connects the AI system with PostgreSQL/Neo4j and the React + Tailwind CSS dashboard</a:t>
            </a: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8B5EE79-39AD-1A2F-B7A0-080429FFC993}"/>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AE8866FD-AEA9-1012-3AFB-886328E19CEE}"/>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4B03A6B0-E1B7-4C71-BE81-603FD5D073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3170082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0360E-9BDB-ACAC-780C-1B79D6684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61C56-789B-C860-FEF3-1E625C924349}"/>
              </a:ext>
            </a:extLst>
          </p:cNvPr>
          <p:cNvSpPr>
            <a:spLocks noGrp="1"/>
          </p:cNvSpPr>
          <p:nvPr>
            <p:ph type="title"/>
          </p:nvPr>
        </p:nvSpPr>
        <p:spPr/>
        <p:txBody>
          <a:bodyPr>
            <a:normAutofit fontScale="90000"/>
          </a:bodyPr>
          <a:lstStyle/>
          <a:p>
            <a:r>
              <a:rPr lang="en-IN" dirty="0"/>
              <a:t>SYSTEM ARCHITECTURE DESCRIPTION</a:t>
            </a:r>
          </a:p>
        </p:txBody>
      </p:sp>
      <p:sp>
        <p:nvSpPr>
          <p:cNvPr id="3" name="Text Placeholder 2">
            <a:extLst>
              <a:ext uri="{FF2B5EF4-FFF2-40B4-BE49-F238E27FC236}">
                <a16:creationId xmlns:a16="http://schemas.microsoft.com/office/drawing/2014/main" id="{3A3E0601-929B-AA28-FC81-E4637356D1FB}"/>
              </a:ext>
            </a:extLst>
          </p:cNvPr>
          <p:cNvSpPr>
            <a:spLocks noGrp="1"/>
          </p:cNvSpPr>
          <p:nvPr>
            <p:ph type="body" idx="1"/>
          </p:nvPr>
        </p:nvSpPr>
        <p:spPr>
          <a:xfrm>
            <a:off x="535858" y="1239327"/>
            <a:ext cx="8229600" cy="5482148"/>
          </a:xfrm>
        </p:spPr>
        <p:txBody>
          <a:bodyPr>
            <a:normAutofit fontScale="55000" lnSpcReduction="20000"/>
          </a:bodyPr>
          <a:lstStyle/>
          <a:p>
            <a:pPr marL="114300" indent="0">
              <a:buNone/>
            </a:pPr>
            <a:r>
              <a:rPr lang="en-IN" b="1" dirty="0">
                <a:latin typeface="Times New Roman" panose="02020603050405020304" pitchFamily="18" charset="0"/>
                <a:cs typeface="Times New Roman" panose="02020603050405020304" pitchFamily="18" charset="0"/>
              </a:rPr>
              <a:t>3. AI Prediction &amp; Investigation Layer</a:t>
            </a:r>
          </a:p>
          <a:p>
            <a:pPr marL="114300" indent="0">
              <a:buNone/>
            </a:pPr>
            <a:r>
              <a:rPr lang="en-IN" b="1" dirty="0">
                <a:latin typeface="Times New Roman" panose="02020603050405020304" pitchFamily="18" charset="0"/>
                <a:cs typeface="Times New Roman" panose="02020603050405020304" pitchFamily="18" charset="0"/>
              </a:rPr>
              <a:t>Health Monitoring:</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aircraft operating conditions and component health trends</a:t>
            </a:r>
          </a:p>
          <a:p>
            <a:pPr marL="114300" indent="0">
              <a:buNone/>
            </a:pPr>
            <a:r>
              <a:rPr lang="en-IN" b="1" dirty="0">
                <a:latin typeface="Times New Roman" panose="02020603050405020304" pitchFamily="18" charset="0"/>
                <a:cs typeface="Times New Roman" panose="02020603050405020304" pitchFamily="18" charset="0"/>
              </a:rPr>
              <a:t>Anomaly Detection:</a:t>
            </a:r>
            <a:r>
              <a:rPr lang="en-IN" dirty="0">
                <a:latin typeface="Times New Roman" panose="02020603050405020304" pitchFamily="18" charset="0"/>
                <a:cs typeface="Times New Roman" panose="02020603050405020304" pitchFamily="18" charset="0"/>
              </a:rPr>
              <a:t> Identifies deviations from normal aircraft </a:t>
            </a:r>
            <a:r>
              <a:rPr lang="en-IN" dirty="0" err="1">
                <a:latin typeface="Times New Roman" panose="02020603050405020304" pitchFamily="18" charset="0"/>
                <a:cs typeface="Times New Roman" panose="02020603050405020304" pitchFamily="18" charset="0"/>
              </a:rPr>
              <a:t>behavior</a:t>
            </a:r>
            <a:endParaRPr lang="en-IN"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RUL Estimation:</a:t>
            </a:r>
            <a:r>
              <a:rPr lang="en-IN" dirty="0">
                <a:latin typeface="Times New Roman" panose="02020603050405020304" pitchFamily="18" charset="0"/>
                <a:cs typeface="Times New Roman" panose="02020603050405020304" pitchFamily="18" charset="0"/>
              </a:rPr>
              <a:t> Predicts the remaining useful life of critical components</a:t>
            </a:r>
          </a:p>
          <a:p>
            <a:pPr marL="114300" indent="0">
              <a:buNone/>
            </a:pPr>
            <a:r>
              <a:rPr lang="en-IN" b="1" dirty="0">
                <a:latin typeface="Times New Roman" panose="02020603050405020304" pitchFamily="18" charset="0"/>
                <a:cs typeface="Times New Roman" panose="02020603050405020304" pitchFamily="18" charset="0"/>
              </a:rPr>
              <a:t>Root Cause Analysis:</a:t>
            </a:r>
            <a:r>
              <a:rPr lang="en-IN" dirty="0">
                <a:latin typeface="Times New Roman" panose="02020603050405020304" pitchFamily="18" charset="0"/>
                <a:cs typeface="Times New Roman" panose="02020603050405020304" pitchFamily="18" charset="0"/>
              </a:rPr>
              <a:t> Traces the probable cause of an emerging failure</a:t>
            </a:r>
          </a:p>
          <a:p>
            <a:pPr marL="114300" indent="0">
              <a:buNone/>
            </a:pPr>
            <a:r>
              <a:rPr lang="en-IN" b="1" dirty="0">
                <a:latin typeface="Times New Roman" panose="02020603050405020304" pitchFamily="18" charset="0"/>
                <a:cs typeface="Times New Roman" panose="02020603050405020304" pitchFamily="18" charset="0"/>
              </a:rPr>
              <a:t>Causal Reasoning:</a:t>
            </a:r>
            <a:r>
              <a:rPr lang="en-IN" dirty="0">
                <a:latin typeface="Times New Roman" panose="02020603050405020304" pitchFamily="18" charset="0"/>
                <a:cs typeface="Times New Roman" panose="02020603050405020304" pitchFamily="18" charset="0"/>
              </a:rPr>
              <a:t> Links observed symptoms with potential underlying causes</a:t>
            </a:r>
          </a:p>
          <a:p>
            <a:pPr marL="114300" indent="0">
              <a:buNone/>
            </a:pPr>
            <a:r>
              <a:rPr lang="en-IN" b="1" dirty="0">
                <a:latin typeface="Times New Roman" panose="02020603050405020304" pitchFamily="18" charset="0"/>
                <a:cs typeface="Times New Roman" panose="02020603050405020304" pitchFamily="18" charset="0"/>
              </a:rPr>
              <a:t>Historical Comparison:</a:t>
            </a:r>
            <a:r>
              <a:rPr lang="en-IN" dirty="0">
                <a:latin typeface="Times New Roman" panose="02020603050405020304" pitchFamily="18" charset="0"/>
                <a:cs typeface="Times New Roman" panose="02020603050405020304" pitchFamily="18" charset="0"/>
              </a:rPr>
              <a:t> Compares current failure patterns with previous similar cases</a:t>
            </a:r>
          </a:p>
          <a:p>
            <a:endParaRPr lang="en-IN" b="1"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4. Evidence &amp; Decision Layer</a:t>
            </a:r>
          </a:p>
          <a:p>
            <a:pPr marL="114300" indent="0">
              <a:buNone/>
            </a:pPr>
            <a:r>
              <a:rPr lang="en-IN" b="1" dirty="0">
                <a:latin typeface="Times New Roman" panose="02020603050405020304" pitchFamily="18" charset="0"/>
                <a:cs typeface="Times New Roman" panose="02020603050405020304" pitchFamily="18" charset="0"/>
              </a:rPr>
              <a:t>Evidence Collection:</a:t>
            </a:r>
            <a:r>
              <a:rPr lang="en-IN" dirty="0">
                <a:latin typeface="Times New Roman" panose="02020603050405020304" pitchFamily="18" charset="0"/>
                <a:cs typeface="Times New Roman" panose="02020603050405020304" pitchFamily="18" charset="0"/>
              </a:rPr>
              <a:t> Gathers supporting information from sensors, maintenance and operational data</a:t>
            </a:r>
          </a:p>
          <a:p>
            <a:pPr marL="114300" indent="0">
              <a:buNone/>
            </a:pPr>
            <a:r>
              <a:rPr lang="en-IN" b="1" dirty="0">
                <a:latin typeface="Times New Roman" panose="02020603050405020304" pitchFamily="18" charset="0"/>
                <a:cs typeface="Times New Roman" panose="02020603050405020304" pitchFamily="18" charset="0"/>
              </a:rPr>
              <a:t>Evidence Fusion:</a:t>
            </a:r>
            <a:r>
              <a:rPr lang="en-IN" dirty="0">
                <a:latin typeface="Times New Roman" panose="02020603050405020304" pitchFamily="18" charset="0"/>
                <a:cs typeface="Times New Roman" panose="02020603050405020304" pitchFamily="18" charset="0"/>
              </a:rPr>
              <a:t> Combines evidence to strengthen the root-cause conclusion</a:t>
            </a:r>
          </a:p>
          <a:p>
            <a:pPr marL="114300" indent="0">
              <a:buNone/>
            </a:pPr>
            <a:r>
              <a:rPr lang="en-IN" b="1" dirty="0">
                <a:latin typeface="Times New Roman" panose="02020603050405020304" pitchFamily="18" charset="0"/>
                <a:cs typeface="Times New Roman" panose="02020603050405020304" pitchFamily="18" charset="0"/>
              </a:rPr>
              <a:t>Confidence Assessment:</a:t>
            </a:r>
            <a:r>
              <a:rPr lang="en-IN" dirty="0">
                <a:latin typeface="Times New Roman" panose="02020603050405020304" pitchFamily="18" charset="0"/>
                <a:cs typeface="Times New Roman" panose="02020603050405020304" pitchFamily="18" charset="0"/>
              </a:rPr>
              <a:t> Determines the confidence of the investigation result</a:t>
            </a:r>
          </a:p>
          <a:p>
            <a:pPr marL="114300" indent="0">
              <a:buNone/>
            </a:pPr>
            <a:r>
              <a:rPr lang="en-IN" b="1" dirty="0">
                <a:latin typeface="Times New Roman" panose="02020603050405020304" pitchFamily="18" charset="0"/>
                <a:cs typeface="Times New Roman" panose="02020603050405020304" pitchFamily="18" charset="0"/>
              </a:rPr>
              <a:t>Maintenance Recommendation:</a:t>
            </a:r>
            <a:r>
              <a:rPr lang="en-IN" dirty="0">
                <a:latin typeface="Times New Roman" panose="02020603050405020304" pitchFamily="18" charset="0"/>
                <a:cs typeface="Times New Roman" panose="02020603050405020304" pitchFamily="18" charset="0"/>
              </a:rPr>
              <a:t> Suggests appropriate maintenance actions</a:t>
            </a:r>
          </a:p>
          <a:p>
            <a:pPr marL="114300" indent="0">
              <a:buNone/>
            </a:pPr>
            <a:r>
              <a:rPr lang="en-IN" b="1" dirty="0">
                <a:latin typeface="Times New Roman" panose="02020603050405020304" pitchFamily="18" charset="0"/>
                <a:cs typeface="Times New Roman" panose="02020603050405020304" pitchFamily="18" charset="0"/>
              </a:rPr>
              <a:t>Risk Assessment:</a:t>
            </a:r>
            <a:r>
              <a:rPr lang="en-IN" dirty="0">
                <a:latin typeface="Times New Roman" panose="02020603050405020304" pitchFamily="18" charset="0"/>
                <a:cs typeface="Times New Roman" panose="02020603050405020304" pitchFamily="18" charset="0"/>
              </a:rPr>
              <a:t> Highlights potential consequences if the issue is not addressed</a:t>
            </a:r>
          </a:p>
          <a:p>
            <a:pPr marL="114300" indent="0">
              <a:buNone/>
            </a:pPr>
            <a:r>
              <a:rPr lang="en-IN" b="1" dirty="0">
                <a:latin typeface="Times New Roman" panose="02020603050405020304" pitchFamily="18" charset="0"/>
                <a:cs typeface="Times New Roman" panose="02020603050405020304" pitchFamily="18" charset="0"/>
              </a:rPr>
              <a:t>Investigation Report:</a:t>
            </a:r>
            <a:r>
              <a:rPr lang="en-IN" dirty="0">
                <a:latin typeface="Times New Roman" panose="02020603050405020304" pitchFamily="18" charset="0"/>
                <a:cs typeface="Times New Roman" panose="02020603050405020304" pitchFamily="18" charset="0"/>
              </a:rPr>
              <a:t> Presents the findings, evidence and recommended action in an engineer-readable format.</a:t>
            </a: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E34A088-73D5-289A-237A-2A596356602F}"/>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6079AA55-6092-9C02-EC31-62FE34834047}"/>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8754AFE0-29AF-B97F-9910-82B6273483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3943981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6C4A-B0D9-C4E1-DDC5-9B3319149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5319E-4BEF-F2F2-A5F9-D63485AE839C}"/>
              </a:ext>
            </a:extLst>
          </p:cNvPr>
          <p:cNvSpPr>
            <a:spLocks noGrp="1"/>
          </p:cNvSpPr>
          <p:nvPr>
            <p:ph type="title"/>
          </p:nvPr>
        </p:nvSpPr>
        <p:spPr>
          <a:xfrm>
            <a:off x="457200" y="136525"/>
            <a:ext cx="8229600" cy="1143000"/>
          </a:xfrm>
        </p:spPr>
        <p:txBody>
          <a:bodyPr>
            <a:normAutofit fontScale="90000"/>
          </a:bodyPr>
          <a:lstStyle/>
          <a:p>
            <a:r>
              <a:rPr lang="en-IN" dirty="0"/>
              <a:t>SYSTEM ARCHITECTURE DESCRIPTION</a:t>
            </a:r>
          </a:p>
        </p:txBody>
      </p:sp>
      <p:sp>
        <p:nvSpPr>
          <p:cNvPr id="3" name="Text Placeholder 2">
            <a:extLst>
              <a:ext uri="{FF2B5EF4-FFF2-40B4-BE49-F238E27FC236}">
                <a16:creationId xmlns:a16="http://schemas.microsoft.com/office/drawing/2014/main" id="{698938BD-F97A-4B56-4166-D71EA699D8B1}"/>
              </a:ext>
            </a:extLst>
          </p:cNvPr>
          <p:cNvSpPr>
            <a:spLocks noGrp="1"/>
          </p:cNvSpPr>
          <p:nvPr>
            <p:ph type="body" idx="1"/>
          </p:nvPr>
        </p:nvSpPr>
        <p:spPr>
          <a:xfrm>
            <a:off x="457200" y="1199075"/>
            <a:ext cx="8229600" cy="5384287"/>
          </a:xfrm>
        </p:spPr>
        <p:txBody>
          <a:bodyPr>
            <a:normAutofit fontScale="62500" lnSpcReduction="20000"/>
          </a:bodyPr>
          <a:lstStyle/>
          <a:p>
            <a:pPr marL="114300" indent="0">
              <a:buNone/>
            </a:pPr>
            <a:r>
              <a:rPr lang="en-IN" b="1" dirty="0">
                <a:latin typeface="Times New Roman" panose="02020603050405020304" pitchFamily="18" charset="0"/>
                <a:cs typeface="Times New Roman" panose="02020603050405020304" pitchFamily="18" charset="0"/>
              </a:rPr>
              <a:t>5. Backend &amp; Storage Layer</a:t>
            </a:r>
          </a:p>
          <a:p>
            <a:pPr marL="114300" indent="0">
              <a:buNone/>
            </a:pPr>
            <a:r>
              <a:rPr lang="en-IN" b="1" dirty="0">
                <a:latin typeface="Times New Roman" panose="02020603050405020304" pitchFamily="18" charset="0"/>
                <a:cs typeface="Times New Roman" panose="02020603050405020304" pitchFamily="18" charset="0"/>
              </a:rPr>
              <a:t>API Management: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manages communication between the AI components and application</a:t>
            </a:r>
          </a:p>
          <a:p>
            <a:pPr marL="114300" indent="0">
              <a:buNone/>
            </a:pPr>
            <a:r>
              <a:rPr lang="en-IN" b="1" dirty="0">
                <a:latin typeface="Times New Roman" panose="02020603050405020304" pitchFamily="18" charset="0"/>
                <a:cs typeface="Times New Roman" panose="02020603050405020304" pitchFamily="18" charset="0"/>
              </a:rPr>
              <a:t>Structured Storage:</a:t>
            </a:r>
            <a:r>
              <a:rPr lang="en-IN" dirty="0">
                <a:latin typeface="Times New Roman" panose="02020603050405020304" pitchFamily="18" charset="0"/>
                <a:cs typeface="Times New Roman" panose="02020603050405020304" pitchFamily="18" charset="0"/>
              </a:rPr>
              <a:t> PostgreSQL stores aircraft, sensor, maintenance and prediction data</a:t>
            </a:r>
          </a:p>
          <a:p>
            <a:pPr marL="114300" indent="0">
              <a:buNone/>
            </a:pPr>
            <a:r>
              <a:rPr lang="en-IN" b="1" dirty="0">
                <a:latin typeface="Times New Roman" panose="02020603050405020304" pitchFamily="18" charset="0"/>
                <a:cs typeface="Times New Roman" panose="02020603050405020304" pitchFamily="18" charset="0"/>
              </a:rPr>
              <a:t>Graph Storage:</a:t>
            </a:r>
            <a:r>
              <a:rPr lang="en-IN" dirty="0">
                <a:latin typeface="Times New Roman" panose="02020603050405020304" pitchFamily="18" charset="0"/>
                <a:cs typeface="Times New Roman" panose="02020603050405020304" pitchFamily="18" charset="0"/>
              </a:rPr>
              <a:t> Neo4j stores component, event and failure relationships</a:t>
            </a:r>
          </a:p>
          <a:p>
            <a:pPr marL="114300" indent="0">
              <a:buNone/>
            </a:pPr>
            <a:r>
              <a:rPr lang="en-IN" b="1" dirty="0">
                <a:latin typeface="Times New Roman" panose="02020603050405020304" pitchFamily="18" charset="0"/>
                <a:cs typeface="Times New Roman" panose="02020603050405020304" pitchFamily="18" charset="0"/>
              </a:rPr>
              <a:t>Model Integration:</a:t>
            </a:r>
            <a:r>
              <a:rPr lang="en-IN" dirty="0">
                <a:latin typeface="Times New Roman" panose="02020603050405020304" pitchFamily="18" charset="0"/>
                <a:cs typeface="Times New Roman" panose="02020603050405020304" pitchFamily="18" charset="0"/>
              </a:rPr>
              <a:t> Connects prediction, reasoning, evidence and LLM services</a:t>
            </a:r>
          </a:p>
          <a:p>
            <a:pPr marL="114300" indent="0">
              <a:buNone/>
            </a:pPr>
            <a:r>
              <a:rPr lang="en-IN" b="1" dirty="0">
                <a:latin typeface="Times New Roman" panose="02020603050405020304" pitchFamily="18" charset="0"/>
                <a:cs typeface="Times New Roman" panose="02020603050405020304" pitchFamily="18" charset="0"/>
              </a:rPr>
              <a:t>Data Retrieval:</a:t>
            </a:r>
            <a:r>
              <a:rPr lang="en-IN" dirty="0">
                <a:latin typeface="Times New Roman" panose="02020603050405020304" pitchFamily="18" charset="0"/>
                <a:cs typeface="Times New Roman" panose="02020603050405020304" pitchFamily="18" charset="0"/>
              </a:rPr>
              <a:t> Provides required information to the investigation and reporting components</a:t>
            </a:r>
          </a:p>
          <a:p>
            <a:pPr marL="114300" indent="0">
              <a:buNone/>
            </a:pPr>
            <a:endParaRPr lang="en-IN" b="1"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6. Engineer Dashboard Layer</a:t>
            </a:r>
          </a:p>
          <a:p>
            <a:pPr marL="114300" indent="0">
              <a:buNone/>
            </a:pPr>
            <a:r>
              <a:rPr lang="en-IN" b="1" dirty="0">
                <a:latin typeface="Times New Roman" panose="02020603050405020304" pitchFamily="18" charset="0"/>
                <a:cs typeface="Times New Roman" panose="02020603050405020304" pitchFamily="18" charset="0"/>
              </a:rPr>
              <a:t>Health Overview:</a:t>
            </a:r>
            <a:r>
              <a:rPr lang="en-IN" dirty="0">
                <a:latin typeface="Times New Roman" panose="02020603050405020304" pitchFamily="18" charset="0"/>
                <a:cs typeface="Times New Roman" panose="02020603050405020304" pitchFamily="18" charset="0"/>
              </a:rPr>
              <a:t> Displays aircraft and component health status</a:t>
            </a:r>
          </a:p>
          <a:p>
            <a:pPr marL="114300" indent="0">
              <a:buNone/>
            </a:pPr>
            <a:r>
              <a:rPr lang="en-IN" b="1" dirty="0">
                <a:latin typeface="Times New Roman" panose="02020603050405020304" pitchFamily="18" charset="0"/>
                <a:cs typeface="Times New Roman" panose="02020603050405020304" pitchFamily="18" charset="0"/>
              </a:rPr>
              <a:t>Failure Prediction:</a:t>
            </a:r>
            <a:r>
              <a:rPr lang="en-IN" dirty="0">
                <a:latin typeface="Times New Roman" panose="02020603050405020304" pitchFamily="18" charset="0"/>
                <a:cs typeface="Times New Roman" panose="02020603050405020304" pitchFamily="18" charset="0"/>
              </a:rPr>
              <a:t> Shows predicted failures, anomaly scores and RUL</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Root Cause:</a:t>
            </a:r>
            <a:r>
              <a:rPr lang="en-IN" dirty="0">
                <a:latin typeface="Times New Roman" panose="02020603050405020304" pitchFamily="18" charset="0"/>
                <a:cs typeface="Times New Roman" panose="02020603050405020304" pitchFamily="18" charset="0"/>
              </a:rPr>
              <a:t> Displays the identified cause and causal relationships</a:t>
            </a:r>
          </a:p>
          <a:p>
            <a:pPr marL="114300" indent="0">
              <a:buNone/>
            </a:pPr>
            <a:r>
              <a:rPr lang="en-IN" b="1" dirty="0">
                <a:latin typeface="Times New Roman" panose="02020603050405020304" pitchFamily="18" charset="0"/>
                <a:cs typeface="Times New Roman" panose="02020603050405020304" pitchFamily="18" charset="0"/>
              </a:rPr>
              <a:t>Evidence:</a:t>
            </a:r>
            <a:r>
              <a:rPr lang="en-IN" dirty="0">
                <a:latin typeface="Times New Roman" panose="02020603050405020304" pitchFamily="18" charset="0"/>
                <a:cs typeface="Times New Roman" panose="02020603050405020304" pitchFamily="18" charset="0"/>
              </a:rPr>
              <a:t> Presents supporting evidence and confidence scores</a:t>
            </a:r>
          </a:p>
          <a:p>
            <a:pPr marL="114300" indent="0">
              <a:buNone/>
            </a:pPr>
            <a:r>
              <a:rPr lang="en-IN" b="1" dirty="0">
                <a:latin typeface="Times New Roman" panose="02020603050405020304" pitchFamily="18" charset="0"/>
                <a:cs typeface="Times New Roman" panose="02020603050405020304" pitchFamily="18" charset="0"/>
              </a:rPr>
              <a:t>Recommendations:</a:t>
            </a:r>
            <a:r>
              <a:rPr lang="en-IN" dirty="0">
                <a:latin typeface="Times New Roman" panose="02020603050405020304" pitchFamily="18" charset="0"/>
                <a:cs typeface="Times New Roman" panose="02020603050405020304" pitchFamily="18" charset="0"/>
              </a:rPr>
              <a:t> Shows suggested maintenance actions</a:t>
            </a:r>
          </a:p>
          <a:p>
            <a:pPr marL="114300" indent="0">
              <a:buNone/>
            </a:pPr>
            <a:r>
              <a:rPr lang="en-IN" b="1" dirty="0">
                <a:latin typeface="Times New Roman" panose="02020603050405020304" pitchFamily="18" charset="0"/>
                <a:cs typeface="Times New Roman" panose="02020603050405020304" pitchFamily="18" charset="0"/>
              </a:rPr>
              <a:t>Investigation Report:</a:t>
            </a:r>
            <a:r>
              <a:rPr lang="en-IN" dirty="0">
                <a:latin typeface="Times New Roman" panose="02020603050405020304" pitchFamily="18" charset="0"/>
                <a:cs typeface="Times New Roman" panose="02020603050405020304" pitchFamily="18" charset="0"/>
              </a:rPr>
              <a:t> Provides the generated report for engineer review</a:t>
            </a: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6F7678C-305C-DC69-0E15-9CD22D75F477}"/>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7A960713-4FFF-4427-6337-D0D473E43DC5}"/>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A1225961-D2CE-C006-D852-A86BB990DF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1082636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1C1A1-62FD-E6FF-7DF2-E2DC1E428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20827-7E90-4CDA-6051-9337E006BD3E}"/>
              </a:ext>
            </a:extLst>
          </p:cNvPr>
          <p:cNvSpPr>
            <a:spLocks noGrp="1"/>
          </p:cNvSpPr>
          <p:nvPr>
            <p:ph type="title"/>
          </p:nvPr>
        </p:nvSpPr>
        <p:spPr>
          <a:xfrm>
            <a:off x="457200" y="136525"/>
            <a:ext cx="8229600" cy="1143000"/>
          </a:xfrm>
        </p:spPr>
        <p:txBody>
          <a:bodyPr>
            <a:normAutofit fontScale="90000"/>
          </a:bodyPr>
          <a:lstStyle/>
          <a:p>
            <a:r>
              <a:rPr lang="en-IN" dirty="0"/>
              <a:t>SYSTEM ARCHITECTURE DESCRIPTION</a:t>
            </a:r>
          </a:p>
        </p:txBody>
      </p:sp>
      <p:sp>
        <p:nvSpPr>
          <p:cNvPr id="3" name="Text Placeholder 2">
            <a:extLst>
              <a:ext uri="{FF2B5EF4-FFF2-40B4-BE49-F238E27FC236}">
                <a16:creationId xmlns:a16="http://schemas.microsoft.com/office/drawing/2014/main" id="{C390FCD9-9683-1806-331B-31CA6935EB84}"/>
              </a:ext>
            </a:extLst>
          </p:cNvPr>
          <p:cNvSpPr>
            <a:spLocks noGrp="1"/>
          </p:cNvSpPr>
          <p:nvPr>
            <p:ph type="body" idx="1"/>
          </p:nvPr>
        </p:nvSpPr>
        <p:spPr>
          <a:xfrm>
            <a:off x="457200" y="1159745"/>
            <a:ext cx="8229600" cy="5384287"/>
          </a:xfrm>
        </p:spPr>
        <p:txBody>
          <a:bodyPr>
            <a:normAutofit fontScale="55000" lnSpcReduction="20000"/>
          </a:bodyPr>
          <a:lstStyle/>
          <a:p>
            <a:pPr marL="114300" indent="0">
              <a:buNone/>
            </a:pPr>
            <a:r>
              <a:rPr lang="en-IN" b="1" dirty="0"/>
              <a:t>7</a:t>
            </a:r>
            <a:r>
              <a:rPr lang="en-IN" sz="3400" b="1" dirty="0"/>
              <a:t>. System Output Layer</a:t>
            </a:r>
          </a:p>
          <a:p>
            <a:pPr marL="114300" indent="0">
              <a:buNone/>
            </a:pPr>
            <a:r>
              <a:rPr lang="en-IN" sz="3400" b="1" dirty="0"/>
              <a:t>Failure Alert:</a:t>
            </a:r>
            <a:r>
              <a:rPr lang="en-IN" sz="3400" dirty="0"/>
              <a:t> Highlights detected anomalies and potential component failures</a:t>
            </a:r>
          </a:p>
          <a:p>
            <a:pPr marL="114300" indent="0">
              <a:buNone/>
            </a:pPr>
            <a:r>
              <a:rPr lang="en-IN" sz="3400" b="1" dirty="0"/>
              <a:t>Root Cause Explanation:</a:t>
            </a:r>
            <a:r>
              <a:rPr lang="en-IN" sz="3400" dirty="0"/>
              <a:t> Presents the most probable cause with supporting relationships</a:t>
            </a:r>
          </a:p>
          <a:p>
            <a:pPr marL="114300" indent="0">
              <a:buNone/>
            </a:pPr>
            <a:r>
              <a:rPr lang="en-IN" sz="3400" b="1" dirty="0"/>
              <a:t>Evidence Summary:</a:t>
            </a:r>
            <a:r>
              <a:rPr lang="en-IN" sz="3400" dirty="0"/>
              <a:t> Displays the key evidence contributing to the conclusion</a:t>
            </a:r>
          </a:p>
          <a:p>
            <a:pPr marL="114300" indent="0">
              <a:buNone/>
            </a:pPr>
            <a:r>
              <a:rPr lang="en-IN" sz="3400" b="1" dirty="0"/>
              <a:t>Confidence Score:</a:t>
            </a:r>
            <a:r>
              <a:rPr lang="en-IN" sz="3400" dirty="0"/>
              <a:t> Indicates the confidence of the investigation result</a:t>
            </a:r>
          </a:p>
          <a:p>
            <a:pPr marL="114300" indent="0">
              <a:buNone/>
            </a:pPr>
            <a:r>
              <a:rPr lang="en-IN" sz="3400" b="1" dirty="0"/>
              <a:t>Maintenance Action:</a:t>
            </a:r>
            <a:r>
              <a:rPr lang="en-IN" sz="3400" dirty="0"/>
              <a:t> Provides the recommended inspection, repair or replacement action</a:t>
            </a:r>
          </a:p>
          <a:p>
            <a:pPr marL="114300" indent="0">
              <a:buNone/>
            </a:pPr>
            <a:r>
              <a:rPr lang="en-IN" sz="3400" b="1" dirty="0"/>
              <a:t>Investigation Report:</a:t>
            </a:r>
            <a:r>
              <a:rPr lang="en-IN" sz="3400" dirty="0"/>
              <a:t> Generates a consolidated report for maintenance engineers</a:t>
            </a:r>
          </a:p>
          <a:p>
            <a:pPr marL="114300" indent="0">
              <a:buNone/>
            </a:pPr>
            <a:endParaRPr lang="en-IN" sz="3400" b="1" dirty="0"/>
          </a:p>
          <a:p>
            <a:pPr marL="114300" indent="0">
              <a:buNone/>
            </a:pPr>
            <a:r>
              <a:rPr lang="en-IN" sz="3400" b="1" dirty="0"/>
              <a:t>8. Continuous Learning &amp; Improvement Layer</a:t>
            </a:r>
          </a:p>
          <a:p>
            <a:pPr marL="114300" indent="0">
              <a:buNone/>
            </a:pPr>
            <a:r>
              <a:rPr lang="en-IN" sz="3400" b="1" dirty="0"/>
              <a:t>Flight Updates:</a:t>
            </a:r>
            <a:r>
              <a:rPr lang="en-IN" sz="3400" dirty="0"/>
              <a:t> Incorporates data from newly completed flights</a:t>
            </a:r>
          </a:p>
          <a:p>
            <a:pPr marL="114300" indent="0">
              <a:buNone/>
            </a:pPr>
            <a:r>
              <a:rPr lang="en-IN" sz="3400" b="1" dirty="0"/>
              <a:t>Model Monitoring:</a:t>
            </a:r>
            <a:r>
              <a:rPr lang="en-IN" sz="3400" dirty="0"/>
              <a:t> Tracks prediction and anomaly-detection performance</a:t>
            </a:r>
          </a:p>
          <a:p>
            <a:pPr marL="114300" indent="0">
              <a:buNone/>
            </a:pPr>
            <a:r>
              <a:rPr lang="en-IN" sz="3400" b="1" dirty="0"/>
              <a:t>Knowledge Updates:</a:t>
            </a:r>
            <a:r>
              <a:rPr lang="en-IN" sz="3400" dirty="0"/>
              <a:t> Updates the Knowledge Graph with new aircraft events and relationships</a:t>
            </a:r>
          </a:p>
          <a:p>
            <a:pPr marL="114300" indent="0">
              <a:buNone/>
            </a:pPr>
            <a:r>
              <a:rPr lang="en-IN" sz="3400" b="1" dirty="0"/>
              <a:t>Feedback Integration:</a:t>
            </a:r>
            <a:r>
              <a:rPr lang="en-IN" sz="3400" dirty="0"/>
              <a:t> Uses engineer feedback to improve investigation results</a:t>
            </a:r>
          </a:p>
          <a:p>
            <a:pPr marL="114300" indent="0">
              <a:buNone/>
            </a:pPr>
            <a:r>
              <a:rPr lang="en-IN" sz="3400" b="1" dirty="0"/>
              <a:t>Continuous Improvement:</a:t>
            </a:r>
            <a:r>
              <a:rPr lang="en-IN" sz="3400" dirty="0"/>
              <a:t> Refines prediction, reasoning and recommendation performance over time</a:t>
            </a:r>
          </a:p>
          <a:p>
            <a:pPr marL="114300" indent="0">
              <a:buNone/>
            </a:pPr>
            <a:endParaRPr lang="en-IN" dirty="0"/>
          </a:p>
          <a:p>
            <a:pPr marL="114300" indent="0">
              <a:buNone/>
            </a:pPr>
            <a:endParaRPr lang="en-IN" dirty="0">
              <a:latin typeface="Times New Roman" panose="02020603050405020304" pitchFamily="18" charset="0"/>
              <a:cs typeface="Times New Roman" panose="02020603050405020304" pitchFamily="18" charset="0"/>
            </a:endParaRP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11EEFF5-EF7F-CF3D-A131-23B5AB511177}"/>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DEF1FB68-9FE9-D209-35E8-CE47AC2B9C2C}"/>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546E6696-FA96-C4DC-B2A5-6249031FD7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3799006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B3DEC-5D56-1F8D-F7EC-877EE500C917}"/>
              </a:ext>
            </a:extLst>
          </p:cNvPr>
          <p:cNvSpPr>
            <a:spLocks noGrp="1"/>
          </p:cNvSpPr>
          <p:nvPr>
            <p:ph type="title"/>
          </p:nvPr>
        </p:nvSpPr>
        <p:spPr>
          <a:xfrm>
            <a:off x="457200" y="11719"/>
            <a:ext cx="8229600" cy="846239"/>
          </a:xfrm>
        </p:spPr>
        <p:txBody>
          <a:bodyPr/>
          <a:lstStyle/>
          <a:p>
            <a:r>
              <a:rPr lang="en-IN" dirty="0"/>
              <a:t>DATASET USED</a:t>
            </a:r>
          </a:p>
        </p:txBody>
      </p:sp>
      <p:sp>
        <p:nvSpPr>
          <p:cNvPr id="7" name="Slide Number Placeholder 6">
            <a:extLst>
              <a:ext uri="{FF2B5EF4-FFF2-40B4-BE49-F238E27FC236}">
                <a16:creationId xmlns:a16="http://schemas.microsoft.com/office/drawing/2014/main" id="{A45C52D3-CC4C-1615-2477-5680245288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graphicFrame>
        <p:nvGraphicFramePr>
          <p:cNvPr id="10" name="Table 9">
            <a:extLst>
              <a:ext uri="{FF2B5EF4-FFF2-40B4-BE49-F238E27FC236}">
                <a16:creationId xmlns:a16="http://schemas.microsoft.com/office/drawing/2014/main" id="{8F3C90BD-2904-13BD-B015-80E0BB30CDD4}"/>
              </a:ext>
            </a:extLst>
          </p:cNvPr>
          <p:cNvGraphicFramePr>
            <a:graphicFrameLocks noGrp="1"/>
          </p:cNvGraphicFramePr>
          <p:nvPr>
            <p:extLst>
              <p:ext uri="{D42A27DB-BD31-4B8C-83A1-F6EECF244321}">
                <p14:modId xmlns:p14="http://schemas.microsoft.com/office/powerpoint/2010/main" val="2253963453"/>
              </p:ext>
            </p:extLst>
          </p:nvPr>
        </p:nvGraphicFramePr>
        <p:xfrm>
          <a:off x="614516" y="961071"/>
          <a:ext cx="8072284" cy="5712016"/>
        </p:xfrm>
        <a:graphic>
          <a:graphicData uri="http://schemas.openxmlformats.org/drawingml/2006/table">
            <a:tbl>
              <a:tblPr firstRow="1" bandRow="1">
                <a:tableStyleId>{47879F58-94FC-4AB5-AACA-6E85711E4052}</a:tableStyleId>
              </a:tblPr>
              <a:tblGrid>
                <a:gridCol w="2018071">
                  <a:extLst>
                    <a:ext uri="{9D8B030D-6E8A-4147-A177-3AD203B41FA5}">
                      <a16:colId xmlns:a16="http://schemas.microsoft.com/office/drawing/2014/main" val="1719257519"/>
                    </a:ext>
                  </a:extLst>
                </a:gridCol>
                <a:gridCol w="2018071">
                  <a:extLst>
                    <a:ext uri="{9D8B030D-6E8A-4147-A177-3AD203B41FA5}">
                      <a16:colId xmlns:a16="http://schemas.microsoft.com/office/drawing/2014/main" val="3783693501"/>
                    </a:ext>
                  </a:extLst>
                </a:gridCol>
                <a:gridCol w="2018071">
                  <a:extLst>
                    <a:ext uri="{9D8B030D-6E8A-4147-A177-3AD203B41FA5}">
                      <a16:colId xmlns:a16="http://schemas.microsoft.com/office/drawing/2014/main" val="3551716320"/>
                    </a:ext>
                  </a:extLst>
                </a:gridCol>
                <a:gridCol w="2018071">
                  <a:extLst>
                    <a:ext uri="{9D8B030D-6E8A-4147-A177-3AD203B41FA5}">
                      <a16:colId xmlns:a16="http://schemas.microsoft.com/office/drawing/2014/main" val="4205463055"/>
                    </a:ext>
                  </a:extLst>
                </a:gridCol>
              </a:tblGrid>
              <a:tr h="681509">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Dataset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Collected On / Domain</a:t>
                      </a:r>
                    </a:p>
                    <a:p>
                      <a:pPr>
                        <a:buNone/>
                      </a:pPr>
                      <a:endParaRPr lang="en-IN"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Source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Used For</a:t>
                      </a:r>
                    </a:p>
                  </a:txBody>
                  <a:tcPr anchor="ctr"/>
                </a:tc>
                <a:extLst>
                  <a:ext uri="{0D108BD9-81ED-4DB2-BD59-A6C34878D82A}">
                    <a16:rowId xmlns:a16="http://schemas.microsoft.com/office/drawing/2014/main" val="598200717"/>
                  </a:ext>
                </a:extLst>
              </a:tr>
              <a:tr h="1277829">
                <a:tc>
                  <a:txBody>
                    <a:bodyPr/>
                    <a:lstStyle/>
                    <a:p>
                      <a:r>
                        <a:rPr lang="en-IN" dirty="0">
                          <a:latin typeface="Times New Roman" panose="02020603050405020304" pitchFamily="18" charset="0"/>
                          <a:cs typeface="Times New Roman" panose="02020603050405020304" pitchFamily="18" charset="0"/>
                        </a:rPr>
                        <a:t>NASA C-MAPSS / N-CMAPSS</a:t>
                      </a:r>
                    </a:p>
                  </a:txBody>
                  <a:tcPr/>
                </a:tc>
                <a:tc>
                  <a:txBody>
                    <a:bodyPr/>
                    <a:lstStyle/>
                    <a:p>
                      <a:r>
                        <a:rPr lang="en-IN" dirty="0">
                          <a:latin typeface="Times New Roman" panose="02020603050405020304" pitchFamily="18" charset="0"/>
                          <a:cs typeface="Times New Roman" panose="02020603050405020304" pitchFamily="18" charset="0"/>
                        </a:rPr>
                        <a:t>Simulated aircraft turbofan engine sensor readings (temperature, pressure, speed, vibration across multiple flight cycles)</a:t>
                      </a:r>
                    </a:p>
                  </a:txBody>
                  <a:tcPr/>
                </a:tc>
                <a:tc>
                  <a:txBody>
                    <a:bodyPr/>
                    <a:lstStyle/>
                    <a:p>
                      <a:r>
                        <a:rPr lang="en-IN" dirty="0">
                          <a:latin typeface="Times New Roman" panose="02020603050405020304" pitchFamily="18" charset="0"/>
                          <a:cs typeface="Times New Roman" panose="02020603050405020304" pitchFamily="18" charset="0"/>
                        </a:rPr>
                        <a:t>NASA Prognostics </a:t>
                      </a:r>
                      <a:r>
                        <a:rPr lang="en-IN" dirty="0" err="1">
                          <a:latin typeface="Times New Roman" panose="02020603050405020304" pitchFamily="18" charset="0"/>
                          <a:cs typeface="Times New Roman" panose="02020603050405020304" pitchFamily="18" charset="0"/>
                        </a:rPr>
                        <a:t>Center</a:t>
                      </a:r>
                      <a:r>
                        <a:rPr lang="en-IN" dirty="0">
                          <a:latin typeface="Times New Roman" panose="02020603050405020304" pitchFamily="18" charset="0"/>
                          <a:cs typeface="Times New Roman" panose="02020603050405020304" pitchFamily="18" charset="0"/>
                        </a:rPr>
                        <a:t> of Excellence</a:t>
                      </a:r>
                    </a:p>
                  </a:txBody>
                  <a:tcPr/>
                </a:tc>
                <a:tc>
                  <a:txBody>
                    <a:bodyPr/>
                    <a:lstStyle/>
                    <a:p>
                      <a:r>
                        <a:rPr lang="en-IN" dirty="0">
                          <a:latin typeface="Times New Roman" panose="02020603050405020304" pitchFamily="18" charset="0"/>
                          <a:cs typeface="Times New Roman" panose="02020603050405020304" pitchFamily="18" charset="0"/>
                        </a:rPr>
                        <a:t>Training the Time-Series Transformer to predict Remaining Useful Life (RUL) and detect anomalies</a:t>
                      </a:r>
                    </a:p>
                  </a:txBody>
                  <a:tcPr/>
                </a:tc>
                <a:extLst>
                  <a:ext uri="{0D108BD9-81ED-4DB2-BD59-A6C34878D82A}">
                    <a16:rowId xmlns:a16="http://schemas.microsoft.com/office/drawing/2014/main" val="2579686480"/>
                  </a:ext>
                </a:extLst>
              </a:tr>
              <a:tr h="1079056">
                <a:tc>
                  <a:txBody>
                    <a:bodyPr/>
                    <a:lstStyle/>
                    <a:p>
                      <a:r>
                        <a:rPr lang="en-IN" b="1" dirty="0">
                          <a:latin typeface="Times New Roman" panose="02020603050405020304" pitchFamily="18" charset="0"/>
                          <a:cs typeface="Times New Roman" panose="02020603050405020304" pitchFamily="18" charset="0"/>
                        </a:rPr>
                        <a:t>NGAFID</a:t>
                      </a:r>
                      <a:r>
                        <a:rPr lang="en-IN" dirty="0">
                          <a:latin typeface="Times New Roman" panose="02020603050405020304" pitchFamily="18" charset="0"/>
                          <a:cs typeface="Times New Roman" panose="02020603050405020304" pitchFamily="18" charset="0"/>
                        </a:rPr>
                        <a:t> (National General Aviation Flight Information Database</a:t>
                      </a:r>
                    </a:p>
                  </a:txBody>
                  <a:tcPr/>
                </a:tc>
                <a:tc>
                  <a:txBody>
                    <a:bodyPr/>
                    <a:lstStyle/>
                    <a:p>
                      <a:r>
                        <a:rPr lang="en-IN" dirty="0">
                          <a:latin typeface="Times New Roman" panose="02020603050405020304" pitchFamily="18" charset="0"/>
                          <a:cs typeface="Times New Roman" panose="02020603050405020304" pitchFamily="18" charset="0"/>
                        </a:rPr>
                        <a:t>Real flight data and maintenance event logs from general aviation aircraft</a:t>
                      </a:r>
                    </a:p>
                  </a:txBody>
                  <a:tcPr/>
                </a:tc>
                <a:tc>
                  <a:txBody>
                    <a:bodyPr/>
                    <a:lstStyle/>
                    <a:p>
                      <a:r>
                        <a:rPr lang="en-IN" dirty="0">
                          <a:latin typeface="Times New Roman" panose="02020603050405020304" pitchFamily="18" charset="0"/>
                          <a:cs typeface="Times New Roman" panose="02020603050405020304" pitchFamily="18" charset="0"/>
                        </a:rPr>
                        <a:t>NGAFID (University of North Dakota / FAA-supported)</a:t>
                      </a:r>
                    </a:p>
                  </a:txBody>
                  <a:tcPr/>
                </a:tc>
                <a:tc>
                  <a:txBody>
                    <a:bodyPr/>
                    <a:lstStyle/>
                    <a:p>
                      <a:r>
                        <a:rPr lang="en-IN" dirty="0">
                          <a:latin typeface="Times New Roman" panose="02020603050405020304" pitchFamily="18" charset="0"/>
                          <a:cs typeface="Times New Roman" panose="02020603050405020304" pitchFamily="18" charset="0"/>
                        </a:rPr>
                        <a:t>Building maintenance history context and correlating flight patterns with failure events</a:t>
                      </a:r>
                    </a:p>
                  </a:txBody>
                  <a:tcPr/>
                </a:tc>
                <a:extLst>
                  <a:ext uri="{0D108BD9-81ED-4DB2-BD59-A6C34878D82A}">
                    <a16:rowId xmlns:a16="http://schemas.microsoft.com/office/drawing/2014/main" val="2273734026"/>
                  </a:ext>
                </a:extLst>
              </a:tr>
              <a:tr h="880282">
                <a:tc>
                  <a:txBody>
                    <a:bodyPr/>
                    <a:lstStyle/>
                    <a:p>
                      <a:r>
                        <a:rPr lang="en-IN" b="1" dirty="0">
                          <a:latin typeface="Times New Roman" panose="02020603050405020304" pitchFamily="18" charset="0"/>
                          <a:cs typeface="Times New Roman" panose="02020603050405020304" pitchFamily="18" charset="0"/>
                        </a:rPr>
                        <a:t>FAA SDR</a:t>
                      </a:r>
                      <a:r>
                        <a:rPr lang="en-IN" dirty="0">
                          <a:latin typeface="Times New Roman" panose="02020603050405020304" pitchFamily="18" charset="0"/>
                          <a:cs typeface="Times New Roman" panose="02020603050405020304" pitchFamily="18" charset="0"/>
                        </a:rPr>
                        <a:t> (Service Difficulty Reports)</a:t>
                      </a:r>
                    </a:p>
                  </a:txBody>
                  <a:tcPr/>
                </a:tc>
                <a:tc>
                  <a:txBody>
                    <a:bodyPr/>
                    <a:lstStyle/>
                    <a:p>
                      <a:r>
                        <a:rPr lang="en-IN" dirty="0">
                          <a:latin typeface="Times New Roman" panose="02020603050405020304" pitchFamily="18" charset="0"/>
                          <a:cs typeface="Times New Roman" panose="02020603050405020304" pitchFamily="18" charset="0"/>
                        </a:rPr>
                        <a:t>Real-world aircraft failure and malfunction reports submitted by operators/mechanics</a:t>
                      </a:r>
                    </a:p>
                  </a:txBody>
                  <a:tcPr/>
                </a:tc>
                <a:tc>
                  <a:txBody>
                    <a:bodyPr/>
                    <a:lstStyle/>
                    <a:p>
                      <a:r>
                        <a:rPr lang="en-IN" dirty="0">
                          <a:latin typeface="Times New Roman" panose="02020603050405020304" pitchFamily="18" charset="0"/>
                          <a:cs typeface="Times New Roman" panose="02020603050405020304" pitchFamily="18" charset="0"/>
                        </a:rPr>
                        <a:t>Federal Aviation Administration (FAA)</a:t>
                      </a:r>
                    </a:p>
                  </a:txBody>
                  <a:tcPr/>
                </a:tc>
                <a:tc>
                  <a:txBody>
                    <a:bodyPr/>
                    <a:lstStyle/>
                    <a:p>
                      <a:r>
                        <a:rPr lang="en-IN" dirty="0">
                          <a:latin typeface="Times New Roman" panose="02020603050405020304" pitchFamily="18" charset="0"/>
                          <a:cs typeface="Times New Roman" panose="02020603050405020304" pitchFamily="18" charset="0"/>
                        </a:rPr>
                        <a:t>Root cause investigation and validating real failure patterns against predictions</a:t>
                      </a:r>
                    </a:p>
                  </a:txBody>
                  <a:tcPr/>
                </a:tc>
                <a:extLst>
                  <a:ext uri="{0D108BD9-81ED-4DB2-BD59-A6C34878D82A}">
                    <a16:rowId xmlns:a16="http://schemas.microsoft.com/office/drawing/2014/main" val="2711003634"/>
                  </a:ext>
                </a:extLst>
              </a:tr>
              <a:tr h="1476603">
                <a:tc>
                  <a:txBody>
                    <a:bodyPr/>
                    <a:lstStyle/>
                    <a:p>
                      <a:r>
                        <a:rPr lang="en-IN" dirty="0">
                          <a:latin typeface="Times New Roman" panose="02020603050405020304" pitchFamily="18" charset="0"/>
                          <a:cs typeface="Times New Roman" panose="02020603050405020304" pitchFamily="18" charset="0"/>
                        </a:rPr>
                        <a:t>Aircraft Maintenance Manuals (PDFs)</a:t>
                      </a:r>
                    </a:p>
                  </a:txBody>
                  <a:tcPr/>
                </a:tc>
                <a:tc>
                  <a:txBody>
                    <a:bodyPr/>
                    <a:lstStyle/>
                    <a:p>
                      <a:r>
                        <a:rPr lang="en-IN" dirty="0">
                          <a:latin typeface="Times New Roman" panose="02020603050405020304" pitchFamily="18" charset="0"/>
                          <a:cs typeface="Times New Roman" panose="02020603050405020304" pitchFamily="18" charset="0"/>
                        </a:rPr>
                        <a:t>Technical maintenance procedures, component specifications, and troubleshooting guides</a:t>
                      </a:r>
                    </a:p>
                  </a:txBody>
                  <a:tcPr/>
                </a:tc>
                <a:tc>
                  <a:txBody>
                    <a:bodyPr/>
                    <a:lstStyle/>
                    <a:p>
                      <a:r>
                        <a:rPr lang="en-IN" dirty="0">
                          <a:latin typeface="Times New Roman" panose="02020603050405020304" pitchFamily="18" charset="0"/>
                          <a:cs typeface="Times New Roman" panose="02020603050405020304" pitchFamily="18" charset="0"/>
                        </a:rPr>
                        <a:t>e.g., </a:t>
                      </a:r>
                      <a:r>
                        <a:rPr lang="en-IN" dirty="0" err="1">
                          <a:latin typeface="Times New Roman" panose="02020603050405020304" pitchFamily="18" charset="0"/>
                          <a:cs typeface="Times New Roman" panose="02020603050405020304" pitchFamily="18" charset="0"/>
                        </a:rPr>
                        <a:t>Aerospool</a:t>
                      </a:r>
                      <a:r>
                        <a:rPr lang="en-IN" dirty="0">
                          <a:latin typeface="Times New Roman" panose="02020603050405020304" pitchFamily="18" charset="0"/>
                          <a:cs typeface="Times New Roman" panose="02020603050405020304" pitchFamily="18" charset="0"/>
                        </a:rPr>
                        <a:t> WT9 Dynamic AMM (AS-AMM-01-000, aerospool.sk)</a:t>
                      </a:r>
                    </a:p>
                  </a:txBody>
                  <a:tcPr/>
                </a:tc>
                <a:tc>
                  <a:txBody>
                    <a:bodyPr/>
                    <a:lstStyle/>
                    <a:p>
                      <a:r>
                        <a:rPr lang="en-IN" dirty="0">
                          <a:latin typeface="Times New Roman" panose="02020603050405020304" pitchFamily="18" charset="0"/>
                          <a:cs typeface="Times New Roman" panose="02020603050405020304" pitchFamily="18" charset="0"/>
                        </a:rPr>
                        <a:t>RAG pipeline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 FAISS) — retrieves relevant manual sections/procedures to ground the LLM's investigation report in official documentation</a:t>
                      </a:r>
                    </a:p>
                  </a:txBody>
                  <a:tcPr/>
                </a:tc>
                <a:extLst>
                  <a:ext uri="{0D108BD9-81ED-4DB2-BD59-A6C34878D82A}">
                    <a16:rowId xmlns:a16="http://schemas.microsoft.com/office/drawing/2014/main" val="3095313825"/>
                  </a:ext>
                </a:extLst>
              </a:tr>
            </a:tbl>
          </a:graphicData>
        </a:graphic>
      </p:graphicFrame>
    </p:spTree>
    <p:extLst>
      <p:ext uri="{BB962C8B-B14F-4D97-AF65-F5344CB8AC3E}">
        <p14:creationId xmlns:p14="http://schemas.microsoft.com/office/powerpoint/2010/main" val="231916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98B0AF1F-1C88-5415-AC7F-25560B5C26D3}"/>
            </a:ext>
          </a:extLst>
        </p:cNvPr>
        <p:cNvGrpSpPr/>
        <p:nvPr/>
      </p:nvGrpSpPr>
      <p:grpSpPr>
        <a:xfrm>
          <a:off x="0" y="0"/>
          <a:ext cx="0" cy="0"/>
          <a:chOff x="0" y="0"/>
          <a:chExt cx="0" cy="0"/>
        </a:xfrm>
      </p:grpSpPr>
      <p:sp>
        <p:nvSpPr>
          <p:cNvPr id="196" name="Google Shape;196;p12">
            <a:extLst>
              <a:ext uri="{FF2B5EF4-FFF2-40B4-BE49-F238E27FC236}">
                <a16:creationId xmlns:a16="http://schemas.microsoft.com/office/drawing/2014/main" id="{FEC7737E-B127-4D7D-3679-167FA5FD7C62}"/>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197" name="Google Shape;197;p12">
            <a:extLst>
              <a:ext uri="{FF2B5EF4-FFF2-40B4-BE49-F238E27FC236}">
                <a16:creationId xmlns:a16="http://schemas.microsoft.com/office/drawing/2014/main" id="{D5C97499-B50E-CA2E-1BF9-3003CD7E64E5}"/>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
        <p:nvSpPr>
          <p:cNvPr id="2" name="Footer Placeholder 1">
            <a:extLst>
              <a:ext uri="{FF2B5EF4-FFF2-40B4-BE49-F238E27FC236}">
                <a16:creationId xmlns:a16="http://schemas.microsoft.com/office/drawing/2014/main" id="{765AE5DA-D552-DB75-98D0-0754F042C207}"/>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4" name="Picture 3">
            <a:extLst>
              <a:ext uri="{FF2B5EF4-FFF2-40B4-BE49-F238E27FC236}">
                <a16:creationId xmlns:a16="http://schemas.microsoft.com/office/drawing/2014/main" id="{70546981-35EC-9335-DC41-7CAA0D8A3DE8}"/>
              </a:ext>
            </a:extLst>
          </p:cNvPr>
          <p:cNvPicPr>
            <a:picLocks noChangeAspect="1"/>
          </p:cNvPicPr>
          <p:nvPr/>
        </p:nvPicPr>
        <p:blipFill>
          <a:blip r:embed="rId3"/>
          <a:srcRect l="26559" t="24925" r="18172" b="7979"/>
          <a:stretch>
            <a:fillRect/>
          </a:stretch>
        </p:blipFill>
        <p:spPr>
          <a:xfrm>
            <a:off x="-34413" y="0"/>
            <a:ext cx="9212826" cy="6990278"/>
          </a:xfrm>
          <a:prstGeom prst="rect">
            <a:avLst/>
          </a:prstGeom>
        </p:spPr>
      </p:pic>
    </p:spTree>
    <p:extLst>
      <p:ext uri="{BB962C8B-B14F-4D97-AF65-F5344CB8AC3E}">
        <p14:creationId xmlns:p14="http://schemas.microsoft.com/office/powerpoint/2010/main" val="3209791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Modules</a:t>
            </a:r>
            <a:endParaRPr b="1" dirty="0">
              <a:latin typeface="Times New Roman" panose="02020603050405020304" pitchFamily="18" charset="0"/>
              <a:cs typeface="Times New Roman" panose="02020603050405020304" pitchFamily="18" charset="0"/>
            </a:endParaRPr>
          </a:p>
        </p:txBody>
      </p:sp>
      <p:sp>
        <p:nvSpPr>
          <p:cNvPr id="194" name="Google Shape;194;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1 </a:t>
            </a:r>
            <a:r>
              <a:rPr lang="en-IN" sz="2400" dirty="0">
                <a:latin typeface="Times New Roman" panose="02020603050405020304" pitchFamily="18" charset="0"/>
                <a:cs typeface="Times New Roman" panose="02020603050405020304" pitchFamily="18" charset="0"/>
              </a:rPr>
              <a:t>— DATA ACQUISITION &amp; INTEGRATION</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2</a:t>
            </a:r>
            <a:r>
              <a:rPr lang="en-IN" sz="2400" dirty="0">
                <a:latin typeface="Times New Roman" panose="02020603050405020304" pitchFamily="18" charset="0"/>
                <a:cs typeface="Times New Roman" panose="02020603050405020304" pitchFamily="18" charset="0"/>
              </a:rPr>
              <a:t> — AIRCRAFT HEALTH &amp; FAILURE PREDICTION</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3</a:t>
            </a:r>
            <a:r>
              <a:rPr lang="en-IN" sz="2400" dirty="0">
                <a:latin typeface="Times New Roman" panose="02020603050405020304" pitchFamily="18" charset="0"/>
                <a:cs typeface="Times New Roman" panose="02020603050405020304" pitchFamily="18" charset="0"/>
              </a:rPr>
              <a:t> — EVIDENCE-DRIVEN INVESTIGATION</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4</a:t>
            </a:r>
            <a:r>
              <a:rPr lang="en-IN" sz="2400" dirty="0">
                <a:latin typeface="Times New Roman" panose="02020603050405020304" pitchFamily="18" charset="0"/>
                <a:cs typeface="Times New Roman" panose="02020603050405020304" pitchFamily="18" charset="0"/>
              </a:rPr>
              <a:t> — EVIDENCE FUSION &amp; EXPLAINABILITY</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5</a:t>
            </a:r>
            <a:r>
              <a:rPr lang="en-IN" sz="2400" dirty="0">
                <a:latin typeface="Times New Roman" panose="02020603050405020304" pitchFamily="18" charset="0"/>
                <a:cs typeface="Times New Roman" panose="02020603050405020304" pitchFamily="18" charset="0"/>
              </a:rPr>
              <a:t> — KNOWLEDGE-GUIDED RECOMMENDATION &amp; REPORTING</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6</a:t>
            </a:r>
            <a:r>
              <a:rPr lang="en-IN" sz="2400" dirty="0">
                <a:latin typeface="Times New Roman" panose="02020603050405020304" pitchFamily="18" charset="0"/>
                <a:cs typeface="Times New Roman" panose="02020603050405020304" pitchFamily="18" charset="0"/>
              </a:rPr>
              <a:t> — ENGINEER INTERACTION &amp; VISUALIZATION</a:t>
            </a:r>
          </a:p>
          <a:p>
            <a:pPr marL="114300" lvl="0" indent="0">
              <a:buNone/>
            </a:pPr>
            <a:endParaRPr sz="2400" dirty="0">
              <a:latin typeface="Times New Roman" panose="02020603050405020304" pitchFamily="18" charset="0"/>
              <a:cs typeface="Times New Roman" panose="02020603050405020304" pitchFamily="18" charset="0"/>
            </a:endParaRPr>
          </a:p>
        </p:txBody>
      </p:sp>
      <p:sp>
        <p:nvSpPr>
          <p:cNvPr id="196" name="Google Shape;19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197" name="Google Shape;197;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a:spLocks noGrp="1"/>
          </p:cNvSpPr>
          <p:nvPr>
            <p:ph type="title"/>
          </p:nvPr>
        </p:nvSpPr>
        <p:spPr>
          <a:xfrm>
            <a:off x="388374" y="24765"/>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p:cNvSpPr txBox="1">
            <a:spLocks noGrp="1"/>
          </p:cNvSpPr>
          <p:nvPr>
            <p:ph type="body" idx="1"/>
          </p:nvPr>
        </p:nvSpPr>
        <p:spPr>
          <a:xfrm>
            <a:off x="526026" y="1167765"/>
            <a:ext cx="8229600" cy="5056054"/>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1800" b="1" dirty="0">
                <a:latin typeface="Times New Roman" panose="02020603050405020304" pitchFamily="18" charset="0"/>
                <a:cs typeface="Times New Roman" panose="02020603050405020304" pitchFamily="18" charset="0"/>
              </a:rPr>
              <a:t>MODULE 1 — DATA ACQUISITION &amp; INTEGRATION</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Collect and unify aircraft information from multiple sources.</a:t>
            </a:r>
          </a:p>
          <a:p>
            <a:pPr lvl="0"/>
            <a:r>
              <a:rPr lang="en-IN" sz="1800" dirty="0">
                <a:latin typeface="Times New Roman" panose="02020603050405020304" pitchFamily="18" charset="0"/>
                <a:cs typeface="Times New Roman" panose="02020603050405020304" pitchFamily="18" charset="0"/>
              </a:rPr>
              <a:t>Aircraft sensor and operational data </a:t>
            </a:r>
          </a:p>
          <a:p>
            <a:pPr lvl="0"/>
            <a:r>
              <a:rPr lang="en-IN" sz="1800" dirty="0">
                <a:latin typeface="Times New Roman" panose="02020603050405020304" pitchFamily="18" charset="0"/>
                <a:cs typeface="Times New Roman" panose="02020603050405020304" pitchFamily="18" charset="0"/>
              </a:rPr>
              <a:t>Maintenance and failure records </a:t>
            </a:r>
          </a:p>
          <a:p>
            <a:pPr lvl="0"/>
            <a:r>
              <a:rPr lang="en-IN" sz="1800" dirty="0">
                <a:latin typeface="Times New Roman" panose="02020603050405020304" pitchFamily="18" charset="0"/>
                <a:cs typeface="Times New Roman" panose="02020603050405020304" pitchFamily="18" charset="0"/>
              </a:rPr>
              <a:t>Historical flight information </a:t>
            </a:r>
          </a:p>
          <a:p>
            <a:pPr lvl="0"/>
            <a:r>
              <a:rPr lang="en-IN" sz="1800" dirty="0">
                <a:latin typeface="Times New Roman" panose="02020603050405020304" pitchFamily="18" charset="0"/>
                <a:cs typeface="Times New Roman" panose="02020603050405020304" pitchFamily="18" charset="0"/>
              </a:rPr>
              <a:t>Technical and maintenance documents </a:t>
            </a:r>
          </a:p>
          <a:p>
            <a:pPr marL="114300" lvl="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A unified aircraft data repository for analysis.</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MODULE 2 — AIRCRAFT HEALTH &amp; FAILURE PREDICTION</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Detect degradation and predict potential component failures.</a:t>
            </a:r>
          </a:p>
          <a:p>
            <a:pPr lvl="0"/>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time-series sensor patterns </a:t>
            </a:r>
          </a:p>
          <a:p>
            <a:pPr lvl="0"/>
            <a:r>
              <a:rPr lang="en-IN" sz="1800" dirty="0">
                <a:latin typeface="Times New Roman" panose="02020603050405020304" pitchFamily="18" charset="0"/>
                <a:cs typeface="Times New Roman" panose="02020603050405020304" pitchFamily="18" charset="0"/>
              </a:rPr>
              <a:t>Detect abnormal aircraft behaviour </a:t>
            </a:r>
          </a:p>
          <a:p>
            <a:pPr lvl="0"/>
            <a:r>
              <a:rPr lang="en-IN" sz="1800" dirty="0">
                <a:latin typeface="Times New Roman" panose="02020603050405020304" pitchFamily="18" charset="0"/>
                <a:cs typeface="Times New Roman" panose="02020603050405020304" pitchFamily="18" charset="0"/>
              </a:rPr>
              <a:t>Estimate component failure probability </a:t>
            </a:r>
          </a:p>
          <a:p>
            <a:pPr lvl="0"/>
            <a:r>
              <a:rPr lang="en-IN" sz="1800" dirty="0">
                <a:latin typeface="Times New Roman" panose="02020603050405020304" pitchFamily="18" charset="0"/>
                <a:cs typeface="Times New Roman" panose="02020603050405020304" pitchFamily="18" charset="0"/>
              </a:rPr>
              <a:t>Predict Remaining Useful Life (RUL) </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Predicted failure, risk level and estimated time to failure.</a:t>
            </a: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206" name="Google Shape;20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A1860253-5E18-2B56-DCF6-0AC1DDB0D51A}"/>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2E010CC9-EE33-B376-5014-B82F6E876C93}"/>
              </a:ext>
            </a:extLst>
          </p:cNvPr>
          <p:cNvSpPr txBox="1">
            <a:spLocks noGrp="1"/>
          </p:cNvSpPr>
          <p:nvPr>
            <p:ph type="title"/>
          </p:nvPr>
        </p:nvSpPr>
        <p:spPr>
          <a:xfrm>
            <a:off x="388374" y="24765"/>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0082D201-0FEE-6D33-1B1F-33FB9BFEE07F}"/>
              </a:ext>
            </a:extLst>
          </p:cNvPr>
          <p:cNvSpPr txBox="1">
            <a:spLocks noGrp="1"/>
          </p:cNvSpPr>
          <p:nvPr>
            <p:ph type="body" idx="1"/>
          </p:nvPr>
        </p:nvSpPr>
        <p:spPr>
          <a:xfrm>
            <a:off x="526026" y="1167764"/>
            <a:ext cx="8229600" cy="5188585"/>
          </a:xfrm>
          <a:prstGeom prst="rect">
            <a:avLst/>
          </a:prstGeom>
          <a:noFill/>
          <a:ln>
            <a:noFill/>
          </a:ln>
        </p:spPr>
        <p:txBody>
          <a:bodyPr spcFirstLastPara="1" wrap="square" lIns="91425" tIns="45700" rIns="91425" bIns="45700" anchor="t" anchorCtr="0">
            <a:normAutofit fontScale="97500" lnSpcReduction="10000"/>
          </a:bodyPr>
          <a:lstStyle/>
          <a:p>
            <a:pPr marL="114300" indent="0">
              <a:buNone/>
            </a:pPr>
            <a:r>
              <a:rPr lang="en-IN" sz="1800" b="1" dirty="0">
                <a:latin typeface="Times New Roman" panose="02020603050405020304" pitchFamily="18" charset="0"/>
                <a:cs typeface="Times New Roman" panose="02020603050405020304" pitchFamily="18" charset="0"/>
              </a:rPr>
              <a:t>MODULE 3 — EVIDENCE-DRIVEN INVESTIGATION</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Identify the likely root cause behind a predicted failure.</a:t>
            </a:r>
          </a:p>
          <a:p>
            <a:pPr lvl="0"/>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sensor and operational patterns</a:t>
            </a:r>
          </a:p>
          <a:p>
            <a:pPr lvl="0"/>
            <a:r>
              <a:rPr lang="en-IN" sz="1800" dirty="0">
                <a:latin typeface="Times New Roman" panose="02020603050405020304" pitchFamily="18" charset="0"/>
                <a:cs typeface="Times New Roman" panose="02020603050405020304" pitchFamily="18" charset="0"/>
              </a:rPr>
              <a:t>Examine maintenance history</a:t>
            </a:r>
          </a:p>
          <a:p>
            <a:pPr lvl="0"/>
            <a:r>
              <a:rPr lang="en-IN" sz="1800" dirty="0">
                <a:latin typeface="Times New Roman" panose="02020603050405020304" pitchFamily="18" charset="0"/>
                <a:cs typeface="Times New Roman" panose="02020603050405020304" pitchFamily="18" charset="0"/>
              </a:rPr>
              <a:t>Connect related components and events</a:t>
            </a:r>
          </a:p>
          <a:p>
            <a:pPr lvl="0"/>
            <a:r>
              <a:rPr lang="en-IN" sz="1800" dirty="0">
                <a:latin typeface="Times New Roman" panose="02020603050405020304" pitchFamily="18" charset="0"/>
                <a:cs typeface="Times New Roman" panose="02020603050405020304" pitchFamily="18" charset="0"/>
              </a:rPr>
              <a:t>Trace causal relationships</a:t>
            </a:r>
          </a:p>
          <a:p>
            <a:pPr lvl="0"/>
            <a:r>
              <a:rPr lang="en-IN" sz="1800" dirty="0">
                <a:latin typeface="Times New Roman" panose="02020603050405020304" pitchFamily="18" charset="0"/>
                <a:cs typeface="Times New Roman" panose="02020603050405020304" pitchFamily="18" charset="0"/>
              </a:rPr>
              <a:t>Compare with historical failure cases</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Likely root cause with supporting evidence.</a:t>
            </a:r>
          </a:p>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MODULE 4 — EVIDENCE FUSION &amp; EXPLAINABILITY</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Combine evidence from different sources and make the prediction understandable.</a:t>
            </a:r>
          </a:p>
          <a:p>
            <a:pPr lvl="0"/>
            <a:r>
              <a:rPr lang="en-IN" sz="1800" dirty="0">
                <a:latin typeface="Times New Roman" panose="02020603050405020304" pitchFamily="18" charset="0"/>
                <a:cs typeface="Times New Roman" panose="02020603050405020304" pitchFamily="18" charset="0"/>
              </a:rPr>
              <a:t>Fuse multi-source evidence</a:t>
            </a:r>
          </a:p>
          <a:p>
            <a:pPr lvl="0"/>
            <a:r>
              <a:rPr lang="en-IN" sz="1800" dirty="0">
                <a:latin typeface="Times New Roman" panose="02020603050405020304" pitchFamily="18" charset="0"/>
                <a:cs typeface="Times New Roman" panose="02020603050405020304" pitchFamily="18" charset="0"/>
              </a:rPr>
              <a:t>Rank important contributing factors</a:t>
            </a:r>
          </a:p>
          <a:p>
            <a:pPr lvl="0"/>
            <a:r>
              <a:rPr lang="en-IN" sz="1800" dirty="0">
                <a:latin typeface="Times New Roman" panose="02020603050405020304" pitchFamily="18" charset="0"/>
                <a:cs typeface="Times New Roman" panose="02020603050405020304" pitchFamily="18" charset="0"/>
              </a:rPr>
              <a:t>Explain model predictions using SHAP</a:t>
            </a:r>
          </a:p>
          <a:p>
            <a:pPr lvl="0"/>
            <a:r>
              <a:rPr lang="en-IN" sz="1800" dirty="0">
                <a:latin typeface="Times New Roman" panose="02020603050405020304" pitchFamily="18" charset="0"/>
                <a:cs typeface="Times New Roman" panose="02020603050405020304" pitchFamily="18" charset="0"/>
              </a:rPr>
              <a:t>Assign confidence to the investigation result</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Evidence-backed root cause with confidence and feature contributions.</a:t>
            </a: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D005EE35-92CF-4246-C63E-72160025643C}"/>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206" name="Google Shape;206;p13">
            <a:extLst>
              <a:ext uri="{FF2B5EF4-FFF2-40B4-BE49-F238E27FC236}">
                <a16:creationId xmlns:a16="http://schemas.microsoft.com/office/drawing/2014/main" id="{CEED4140-08F3-D369-C418-75EBE54F5965}"/>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2" name="Footer Placeholder 1">
            <a:extLst>
              <a:ext uri="{FF2B5EF4-FFF2-40B4-BE49-F238E27FC236}">
                <a16:creationId xmlns:a16="http://schemas.microsoft.com/office/drawing/2014/main" id="{68745F74-5CAF-EA50-17F0-BD5A397811C7}"/>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199252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8252B06E-A136-04E2-B88E-C2B004329522}"/>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66691F22-8DDF-4699-CF86-FA2C41CC1213}"/>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3C87BD1B-0E93-4234-D5F6-65FA982F7C18}"/>
              </a:ext>
            </a:extLst>
          </p:cNvPr>
          <p:cNvSpPr txBox="1">
            <a:spLocks noGrp="1"/>
          </p:cNvSpPr>
          <p:nvPr>
            <p:ph type="body" idx="1"/>
          </p:nvPr>
        </p:nvSpPr>
        <p:spPr>
          <a:xfrm>
            <a:off x="526026" y="1012723"/>
            <a:ext cx="8229600" cy="5456903"/>
          </a:xfrm>
          <a:prstGeom prst="rect">
            <a:avLst/>
          </a:prstGeom>
          <a:noFill/>
          <a:ln>
            <a:noFill/>
          </a:ln>
        </p:spPr>
        <p:txBody>
          <a:bodyPr spcFirstLastPara="1" wrap="square" lIns="91425" tIns="45700" rIns="91425" bIns="45700" anchor="t" anchorCtr="0">
            <a:normAutofit fontScale="90000"/>
          </a:bodyPr>
          <a:lstStyle/>
          <a:p>
            <a:pPr marL="114300" indent="0">
              <a:buNone/>
            </a:pPr>
            <a:r>
              <a:rPr lang="en-IN" sz="1800" b="1" dirty="0">
                <a:latin typeface="Times New Roman" panose="02020603050405020304" pitchFamily="18" charset="0"/>
                <a:cs typeface="Times New Roman" panose="02020603050405020304" pitchFamily="18" charset="0"/>
              </a:rPr>
              <a:t>MODULE 5 — KNOWLEDGE-GUIDED RECOMMENDATION &amp; REPORTING</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Convert investigation results into actionable maintenance guidance.</a:t>
            </a:r>
          </a:p>
          <a:p>
            <a:pPr lvl="0"/>
            <a:r>
              <a:rPr lang="en-IN" sz="1800" dirty="0">
                <a:latin typeface="Times New Roman" panose="02020603050405020304" pitchFamily="18" charset="0"/>
                <a:cs typeface="Times New Roman" panose="02020603050405020304" pitchFamily="18" charset="0"/>
              </a:rPr>
              <a:t>Retrieve relevant maintenance information using RAG</a:t>
            </a:r>
          </a:p>
          <a:p>
            <a:pPr lvl="0"/>
            <a:r>
              <a:rPr lang="en-IN" sz="1800" dirty="0">
                <a:latin typeface="Times New Roman" panose="02020603050405020304" pitchFamily="18" charset="0"/>
                <a:cs typeface="Times New Roman" panose="02020603050405020304" pitchFamily="18" charset="0"/>
              </a:rPr>
              <a:t>Generate evidence-based explanations using LLM</a:t>
            </a:r>
          </a:p>
          <a:p>
            <a:pPr lvl="0"/>
            <a:r>
              <a:rPr lang="en-IN" sz="1800" dirty="0">
                <a:latin typeface="Times New Roman" panose="02020603050405020304" pitchFamily="18" charset="0"/>
                <a:cs typeface="Times New Roman" panose="02020603050405020304" pitchFamily="18" charset="0"/>
              </a:rPr>
              <a:t>Suggest appropriate maintenance actions</a:t>
            </a:r>
          </a:p>
          <a:p>
            <a:pPr lvl="0"/>
            <a:r>
              <a:rPr lang="en-IN" sz="1800" dirty="0">
                <a:latin typeface="Times New Roman" panose="02020603050405020304" pitchFamily="18" charset="0"/>
                <a:cs typeface="Times New Roman" panose="02020603050405020304" pitchFamily="18" charset="0"/>
              </a:rPr>
              <a:t>Generate an investigation report</a:t>
            </a:r>
          </a:p>
          <a:p>
            <a:pPr lvl="0"/>
            <a:r>
              <a:rPr lang="en-IN" sz="1800" dirty="0">
                <a:latin typeface="Times New Roman" panose="02020603050405020304" pitchFamily="18" charset="0"/>
                <a:cs typeface="Times New Roman" panose="02020603050405020304" pitchFamily="18" charset="0"/>
              </a:rPr>
              <a:t>Provide supporting references from technical documents</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Explainable maintenance recommendation and investigation report.</a:t>
            </a:r>
          </a:p>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MODULE 6 — ENGINEER INTERACTION &amp; VISUALIZATION</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Provide engineers with a clear interface to monitor aircraft health and investigate potential failures.</a:t>
            </a:r>
          </a:p>
          <a:p>
            <a:pPr lvl="0"/>
            <a:r>
              <a:rPr lang="en-IN" sz="1800" dirty="0">
                <a:latin typeface="Times New Roman" panose="02020603050405020304" pitchFamily="18" charset="0"/>
                <a:cs typeface="Times New Roman" panose="02020603050405020304" pitchFamily="18" charset="0"/>
              </a:rPr>
              <a:t>View aircraft and component health status</a:t>
            </a:r>
          </a:p>
          <a:p>
            <a:pPr lvl="0"/>
            <a:r>
              <a:rPr lang="en-IN" sz="1800" dirty="0">
                <a:latin typeface="Times New Roman" panose="02020603050405020304" pitchFamily="18" charset="0"/>
                <a:cs typeface="Times New Roman" panose="02020603050405020304" pitchFamily="18" charset="0"/>
              </a:rPr>
              <a:t>Display failure predictions and RUL</a:t>
            </a:r>
          </a:p>
          <a:p>
            <a:pPr lvl="0"/>
            <a:r>
              <a:rPr lang="en-IN" sz="1800" dirty="0">
                <a:latin typeface="Times New Roman" panose="02020603050405020304" pitchFamily="18" charset="0"/>
                <a:cs typeface="Times New Roman" panose="02020603050405020304" pitchFamily="18" charset="0"/>
              </a:rPr>
              <a:t>Visualize root causes and supporting evidence</a:t>
            </a:r>
          </a:p>
          <a:p>
            <a:pPr lvl="0"/>
            <a:r>
              <a:rPr lang="en-IN" sz="1800" dirty="0">
                <a:latin typeface="Times New Roman" panose="02020603050405020304" pitchFamily="18" charset="0"/>
                <a:cs typeface="Times New Roman" panose="02020603050405020304" pitchFamily="18" charset="0"/>
              </a:rPr>
              <a:t>View maintenance recommendations</a:t>
            </a:r>
          </a:p>
          <a:p>
            <a:pPr lvl="0"/>
            <a:r>
              <a:rPr lang="en-IN" sz="1800" dirty="0">
                <a:latin typeface="Times New Roman" panose="02020603050405020304" pitchFamily="18" charset="0"/>
                <a:cs typeface="Times New Roman" panose="02020603050405020304" pitchFamily="18" charset="0"/>
              </a:rPr>
              <a:t>Access generated investigation reports</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An interactive dashboard for aircraft investigation and maintenance decision-making.</a:t>
            </a: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D2878D36-4CBA-FE00-0AC9-31507DF3741B}"/>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206" name="Google Shape;206;p13">
            <a:extLst>
              <a:ext uri="{FF2B5EF4-FFF2-40B4-BE49-F238E27FC236}">
                <a16:creationId xmlns:a16="http://schemas.microsoft.com/office/drawing/2014/main" id="{30354401-60D1-12AE-952B-A30A85337C56}"/>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
        <p:nvSpPr>
          <p:cNvPr id="2" name="Footer Placeholder 1">
            <a:extLst>
              <a:ext uri="{FF2B5EF4-FFF2-40B4-BE49-F238E27FC236}">
                <a16:creationId xmlns:a16="http://schemas.microsoft.com/office/drawing/2014/main" id="{70C8EBA3-0444-613F-983F-CDD90DB4408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1408016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5ADB18C-478F-615C-F572-5033830648D0}"/>
            </a:ext>
          </a:extLst>
        </p:cNvPr>
        <p:cNvGrpSpPr/>
        <p:nvPr/>
      </p:nvGrpSpPr>
      <p:grpSpPr>
        <a:xfrm>
          <a:off x="0" y="0"/>
          <a:ext cx="0" cy="0"/>
          <a:chOff x="0" y="0"/>
          <a:chExt cx="0" cy="0"/>
        </a:xfrm>
      </p:grpSpPr>
      <p:sp>
        <p:nvSpPr>
          <p:cNvPr id="94" name="Google Shape;94;p1">
            <a:extLst>
              <a:ext uri="{FF2B5EF4-FFF2-40B4-BE49-F238E27FC236}">
                <a16:creationId xmlns:a16="http://schemas.microsoft.com/office/drawing/2014/main" id="{059C9F17-E7EF-F659-E6B1-FECF4AF86518}"/>
              </a:ext>
            </a:extLst>
          </p:cNvPr>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a:extLst>
              <a:ext uri="{FF2B5EF4-FFF2-40B4-BE49-F238E27FC236}">
                <a16:creationId xmlns:a16="http://schemas.microsoft.com/office/drawing/2014/main" id="{00A32E3A-923B-864D-5CC4-8B5ADA051F44}"/>
              </a:ext>
            </a:extLst>
          </p:cNvPr>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SECOND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AERIS</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a:extLst>
              <a:ext uri="{FF2B5EF4-FFF2-40B4-BE49-F238E27FC236}">
                <a16:creationId xmlns:a16="http://schemas.microsoft.com/office/drawing/2014/main" id="{5802CA31-C151-ACC9-81A4-79B4C9FC374D}"/>
              </a:ext>
            </a:extLst>
          </p:cNvPr>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13</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a:extLst>
              <a:ext uri="{FF2B5EF4-FFF2-40B4-BE49-F238E27FC236}">
                <a16:creationId xmlns:a16="http://schemas.microsoft.com/office/drawing/2014/main" id="{8F5C38D8-EEF8-C9A8-447C-4571F3AD66C1}"/>
              </a:ext>
            </a:extLst>
          </p:cNvPr>
          <p:cNvGraphicFramePr/>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91039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B3DF-44FB-366F-CDA3-26B1DDDEA1AF}"/>
              </a:ext>
            </a:extLst>
          </p:cNvPr>
          <p:cNvSpPr>
            <a:spLocks noGrp="1"/>
          </p:cNvSpPr>
          <p:nvPr>
            <p:ph type="title"/>
          </p:nvPr>
        </p:nvSpPr>
        <p:spPr>
          <a:xfrm>
            <a:off x="457200" y="274638"/>
            <a:ext cx="8229600" cy="616051"/>
          </a:xfrm>
        </p:spPr>
        <p:txBody>
          <a:bodyPr>
            <a:normAutofit fontScale="90000"/>
          </a:bodyPr>
          <a:lstStyle/>
          <a:p>
            <a:r>
              <a:rPr lang="en-IN" dirty="0"/>
              <a:t>OVERALL ARCHITECTURE</a:t>
            </a:r>
          </a:p>
        </p:txBody>
      </p:sp>
      <p:sp>
        <p:nvSpPr>
          <p:cNvPr id="3" name="Text Placeholder 2">
            <a:extLst>
              <a:ext uri="{FF2B5EF4-FFF2-40B4-BE49-F238E27FC236}">
                <a16:creationId xmlns:a16="http://schemas.microsoft.com/office/drawing/2014/main" id="{FA2AE532-DBB0-3E26-3858-7D6053E1F6E9}"/>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B8A14920-42E6-6601-1C64-9208B1B0B7EE}"/>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E3D01CFA-D339-87F2-6782-A9B0FDB979FA}"/>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6821336B-8BC8-EADE-8C03-1A514DAFD2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pic>
        <p:nvPicPr>
          <p:cNvPr id="8" name="Picture 7">
            <a:extLst>
              <a:ext uri="{FF2B5EF4-FFF2-40B4-BE49-F238E27FC236}">
                <a16:creationId xmlns:a16="http://schemas.microsoft.com/office/drawing/2014/main" id="{8D485BD7-D14E-2936-5AB8-FBE91D506107}"/>
              </a:ext>
            </a:extLst>
          </p:cNvPr>
          <p:cNvPicPr>
            <a:picLocks noChangeAspect="1"/>
          </p:cNvPicPr>
          <p:nvPr/>
        </p:nvPicPr>
        <p:blipFill>
          <a:blip r:embed="rId2"/>
          <a:stretch>
            <a:fillRect/>
          </a:stretch>
        </p:blipFill>
        <p:spPr>
          <a:xfrm>
            <a:off x="196645" y="1120876"/>
            <a:ext cx="8780208" cy="5235474"/>
          </a:xfrm>
          <a:prstGeom prst="rect">
            <a:avLst/>
          </a:prstGeom>
        </p:spPr>
      </p:pic>
    </p:spTree>
    <p:extLst>
      <p:ext uri="{BB962C8B-B14F-4D97-AF65-F5344CB8AC3E}">
        <p14:creationId xmlns:p14="http://schemas.microsoft.com/office/powerpoint/2010/main" val="50789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BDACC-DB9C-D1EC-B6C7-0FFB95E4E5BE}"/>
              </a:ext>
            </a:extLst>
          </p:cNvPr>
          <p:cNvSpPr>
            <a:spLocks noGrp="1"/>
          </p:cNvSpPr>
          <p:nvPr>
            <p:ph type="title"/>
          </p:nvPr>
        </p:nvSpPr>
        <p:spPr>
          <a:xfrm>
            <a:off x="457200" y="274638"/>
            <a:ext cx="7762568" cy="757749"/>
          </a:xfrm>
        </p:spPr>
        <p:txBody>
          <a:bodyPr>
            <a:normAutofit fontScale="90000"/>
          </a:bodyPr>
          <a:lstStyle/>
          <a:p>
            <a:r>
              <a:rPr lang="en-IN" dirty="0"/>
              <a:t>PROJECT PHASES </a:t>
            </a:r>
          </a:p>
        </p:txBody>
      </p:sp>
      <p:sp>
        <p:nvSpPr>
          <p:cNvPr id="4" name="Date Placeholder 3">
            <a:extLst>
              <a:ext uri="{FF2B5EF4-FFF2-40B4-BE49-F238E27FC236}">
                <a16:creationId xmlns:a16="http://schemas.microsoft.com/office/drawing/2014/main" id="{C4AB8FC3-7460-4532-7502-B4BDA97DF3E7}"/>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1995FC6B-C6E0-1059-AAF4-FE9A06DFB6A1}"/>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3BCA9C59-0CEC-43D0-5B3A-DE9DA1CAA9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pic>
        <p:nvPicPr>
          <p:cNvPr id="8" name="Picture 7">
            <a:extLst>
              <a:ext uri="{FF2B5EF4-FFF2-40B4-BE49-F238E27FC236}">
                <a16:creationId xmlns:a16="http://schemas.microsoft.com/office/drawing/2014/main" id="{AD7B2742-DBAE-17D1-634A-00B0EF27F1C6}"/>
              </a:ext>
            </a:extLst>
          </p:cNvPr>
          <p:cNvPicPr>
            <a:picLocks noChangeAspect="1"/>
          </p:cNvPicPr>
          <p:nvPr/>
        </p:nvPicPr>
        <p:blipFill>
          <a:blip r:embed="rId2"/>
          <a:stretch>
            <a:fillRect/>
          </a:stretch>
        </p:blipFill>
        <p:spPr>
          <a:xfrm>
            <a:off x="353960" y="1130710"/>
            <a:ext cx="8622891" cy="5590765"/>
          </a:xfrm>
          <a:prstGeom prst="rect">
            <a:avLst/>
          </a:prstGeom>
        </p:spPr>
      </p:pic>
    </p:spTree>
    <p:extLst>
      <p:ext uri="{BB962C8B-B14F-4D97-AF65-F5344CB8AC3E}">
        <p14:creationId xmlns:p14="http://schemas.microsoft.com/office/powerpoint/2010/main" val="4216821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65BD1-D8FF-2332-F4CE-E7C60236E916}"/>
              </a:ext>
            </a:extLst>
          </p:cNvPr>
          <p:cNvSpPr>
            <a:spLocks noGrp="1"/>
          </p:cNvSpPr>
          <p:nvPr>
            <p:ph type="title"/>
          </p:nvPr>
        </p:nvSpPr>
        <p:spPr>
          <a:xfrm>
            <a:off x="457200" y="274638"/>
            <a:ext cx="8229600" cy="883602"/>
          </a:xfrm>
        </p:spPr>
        <p:txBody>
          <a:bodyPr/>
          <a:lstStyle/>
          <a:p>
            <a:r>
              <a:rPr lang="en-IN" dirty="0">
                <a:latin typeface="Times New Roman" panose="02020603050405020304" pitchFamily="18" charset="0"/>
                <a:cs typeface="Times New Roman" panose="02020603050405020304" pitchFamily="18" charset="0"/>
              </a:rPr>
              <a:t>CMAPSS – DATASET</a:t>
            </a:r>
          </a:p>
        </p:txBody>
      </p:sp>
      <p:sp>
        <p:nvSpPr>
          <p:cNvPr id="3" name="Text Placeholder 2">
            <a:extLst>
              <a:ext uri="{FF2B5EF4-FFF2-40B4-BE49-F238E27FC236}">
                <a16:creationId xmlns:a16="http://schemas.microsoft.com/office/drawing/2014/main" id="{C825A9CC-28C5-3C94-0E19-062D6B0A3155}"/>
              </a:ext>
            </a:extLst>
          </p:cNvPr>
          <p:cNvSpPr>
            <a:spLocks noGrp="1"/>
          </p:cNvSpPr>
          <p:nvPr>
            <p:ph type="body" idx="1"/>
          </p:nvPr>
        </p:nvSpPr>
        <p:spPr>
          <a:xfrm>
            <a:off x="457200" y="1158240"/>
            <a:ext cx="8229600" cy="4967923"/>
          </a:xfrm>
        </p:spPr>
        <p:txBody>
          <a:bodyPr>
            <a:normAutofit/>
          </a:bodyPr>
          <a:lstStyle/>
          <a:p>
            <a:pPr marL="114300" lvl="0" indent="0" algn="just">
              <a:buNone/>
            </a:pPr>
            <a:r>
              <a:rPr lang="en-IN" sz="1800" b="1" dirty="0">
                <a:latin typeface="Times New Roman" panose="02020603050405020304" pitchFamily="18" charset="0"/>
                <a:cs typeface="Times New Roman" panose="02020603050405020304" pitchFamily="18" charset="0"/>
              </a:rPr>
              <a:t>DATASET OVERVIEW: </a:t>
            </a:r>
          </a:p>
          <a:p>
            <a:pPr lvl="0" algn="just"/>
            <a:r>
              <a:rPr lang="en-IN" sz="1900" dirty="0">
                <a:latin typeface="Times New Roman" panose="02020603050405020304" pitchFamily="18" charset="0"/>
                <a:cs typeface="Times New Roman" panose="02020603050405020304" pitchFamily="18" charset="0"/>
              </a:rPr>
              <a:t>Dataset: NASA C-MAPSS (FD001 subset)</a:t>
            </a:r>
          </a:p>
          <a:p>
            <a:pPr lvl="0" algn="just"/>
            <a:r>
              <a:rPr lang="en-IN" sz="1900" dirty="0">
                <a:latin typeface="Times New Roman" panose="02020603050405020304" pitchFamily="18" charset="0"/>
                <a:cs typeface="Times New Roman" panose="02020603050405020304" pitchFamily="18" charset="0"/>
              </a:rPr>
              <a:t>Simulated turbofan jet engine degradation data</a:t>
            </a:r>
          </a:p>
          <a:p>
            <a:pPr lvl="0" algn="just"/>
            <a:r>
              <a:rPr lang="en-IN" sz="1900" dirty="0">
                <a:latin typeface="Times New Roman" panose="02020603050405020304" pitchFamily="18" charset="0"/>
                <a:cs typeface="Times New Roman" panose="02020603050405020304" pitchFamily="18" charset="0"/>
              </a:rPr>
              <a:t>Multiple engines, each run until failure across several operational cycles</a:t>
            </a:r>
          </a:p>
          <a:p>
            <a:pPr lvl="0" algn="just"/>
            <a:r>
              <a:rPr lang="en-IN" sz="1900" dirty="0">
                <a:latin typeface="Times New Roman" panose="02020603050405020304" pitchFamily="18" charset="0"/>
                <a:cs typeface="Times New Roman" panose="02020603050405020304" pitchFamily="18" charset="0"/>
              </a:rPr>
              <a:t>Multivariate time-series sensor readings recorded per cycle</a:t>
            </a:r>
          </a:p>
          <a:p>
            <a:pPr lvl="0" algn="just"/>
            <a:r>
              <a:rPr lang="en-IN" sz="1900" dirty="0">
                <a:latin typeface="Times New Roman" panose="02020603050405020304" pitchFamily="18" charset="0"/>
                <a:cs typeface="Times New Roman" panose="02020603050405020304" pitchFamily="18" charset="0"/>
              </a:rPr>
              <a:t>Goal: Predict Remaining Useful Life (RUL) of each engine</a:t>
            </a:r>
          </a:p>
          <a:p>
            <a:pPr lvl="0" algn="just"/>
            <a:r>
              <a:rPr lang="en-IN" sz="1900" dirty="0">
                <a:latin typeface="Times New Roman" panose="02020603050405020304" pitchFamily="18" charset="0"/>
                <a:cs typeface="Times New Roman" panose="02020603050405020304" pitchFamily="18" charset="0"/>
              </a:rPr>
              <a:t>Forms the numeric/sensor-based prediction component of AERIS</a:t>
            </a:r>
          </a:p>
          <a:p>
            <a:pPr marL="114300" indent="0" algn="just">
              <a:buNone/>
            </a:pPr>
            <a:endParaRPr lang="en-IN" dirty="0">
              <a:latin typeface="Times New Roman" panose="02020603050405020304" pitchFamily="18" charset="0"/>
              <a:cs typeface="Times New Roman" panose="02020603050405020304" pitchFamily="18" charset="0"/>
            </a:endParaRPr>
          </a:p>
          <a:p>
            <a:pPr marL="114300" indent="0" algn="just">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2A8C28A-064A-26B7-D1EB-84D309E21118}"/>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B632AE8A-86FD-1AD6-E0CD-F7795C7106D8}"/>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DC3CF78E-7F3A-443A-CF39-215F4E838B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8" name="Rectangle 7">
            <a:extLst>
              <a:ext uri="{FF2B5EF4-FFF2-40B4-BE49-F238E27FC236}">
                <a16:creationId xmlns:a16="http://schemas.microsoft.com/office/drawing/2014/main" id="{EEC49476-A876-099E-AEDF-998646C50C6B}"/>
              </a:ext>
            </a:extLst>
          </p:cNvPr>
          <p:cNvSpPr/>
          <p:nvPr/>
        </p:nvSpPr>
        <p:spPr>
          <a:xfrm>
            <a:off x="659152" y="3755136"/>
            <a:ext cx="3729967" cy="2783776"/>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sz="1800" b="1" dirty="0">
                <a:solidFill>
                  <a:schemeClr val="tx1"/>
                </a:solidFill>
                <a:latin typeface="Times New Roman" panose="02020603050405020304" pitchFamily="18" charset="0"/>
                <a:cs typeface="Times New Roman" panose="02020603050405020304" pitchFamily="18" charset="0"/>
              </a:rPr>
              <a:t>Completed Tasks</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 Dataset Collection (NASA C-MAPSS FD001)</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Exploratory Data Analysis (EDA)</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 Data Cleaning &amp; Preprocessing </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Baseline – LSTM </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Feature Engineering</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 Time-Series Transformer Model</a:t>
            </a:r>
          </a:p>
        </p:txBody>
      </p:sp>
      <p:sp>
        <p:nvSpPr>
          <p:cNvPr id="10" name="Rectangle 9">
            <a:extLst>
              <a:ext uri="{FF2B5EF4-FFF2-40B4-BE49-F238E27FC236}">
                <a16:creationId xmlns:a16="http://schemas.microsoft.com/office/drawing/2014/main" id="{F4EC3AB7-D00C-9AFE-1B95-A15AB0803B68}"/>
              </a:ext>
            </a:extLst>
          </p:cNvPr>
          <p:cNvSpPr/>
          <p:nvPr/>
        </p:nvSpPr>
        <p:spPr>
          <a:xfrm>
            <a:off x="4758813" y="3755136"/>
            <a:ext cx="3588774" cy="2783776"/>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sz="1800" b="1" dirty="0">
                <a:solidFill>
                  <a:schemeClr val="tx1"/>
                </a:solidFill>
                <a:latin typeface="Times New Roman" panose="02020603050405020304" pitchFamily="18" charset="0"/>
                <a:cs typeface="Times New Roman" panose="02020603050405020304" pitchFamily="18" charset="0"/>
              </a:rPr>
              <a:t>Current Output</a:t>
            </a:r>
          </a:p>
          <a:p>
            <a:pPr marL="285750" lvl="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Predicted Remaining Useful Life (RUL) </a:t>
            </a:r>
          </a:p>
          <a:p>
            <a:pPr marL="285750" lvl="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Prediction Error (MAE / RMSE) </a:t>
            </a:r>
          </a:p>
          <a:p>
            <a:pPr marL="285750" lvl="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Model Confidence </a:t>
            </a:r>
          </a:p>
          <a:p>
            <a:pPr marL="285750" lvl="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Engine Health Prediction</a:t>
            </a:r>
          </a:p>
        </p:txBody>
      </p:sp>
    </p:spTree>
    <p:extLst>
      <p:ext uri="{BB962C8B-B14F-4D97-AF65-F5344CB8AC3E}">
        <p14:creationId xmlns:p14="http://schemas.microsoft.com/office/powerpoint/2010/main" val="944255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2BE61-FE80-7B6E-4740-0684A542288D}"/>
              </a:ext>
            </a:extLst>
          </p:cNvPr>
          <p:cNvSpPr>
            <a:spLocks noGrp="1"/>
          </p:cNvSpPr>
          <p:nvPr>
            <p:ph type="title"/>
          </p:nvPr>
        </p:nvSpPr>
        <p:spPr>
          <a:xfrm>
            <a:off x="457200" y="274638"/>
            <a:ext cx="8229600" cy="718420"/>
          </a:xfrm>
        </p:spPr>
        <p:txBody>
          <a:bodyPr>
            <a:normAutofit fontScale="90000"/>
          </a:bodyPr>
          <a:lstStyle/>
          <a:p>
            <a:r>
              <a:rPr lang="en-IN" dirty="0">
                <a:latin typeface="Times New Roman" panose="02020603050405020304" pitchFamily="18" charset="0"/>
                <a:cs typeface="Times New Roman" panose="02020603050405020304" pitchFamily="18" charset="0"/>
              </a:rPr>
              <a:t>CMAPSS Work Completed</a:t>
            </a:r>
          </a:p>
        </p:txBody>
      </p:sp>
      <p:sp>
        <p:nvSpPr>
          <p:cNvPr id="3" name="Text Placeholder 2">
            <a:extLst>
              <a:ext uri="{FF2B5EF4-FFF2-40B4-BE49-F238E27FC236}">
                <a16:creationId xmlns:a16="http://schemas.microsoft.com/office/drawing/2014/main" id="{65E0CB56-02F6-756F-610E-286064E4B116}"/>
              </a:ext>
            </a:extLst>
          </p:cNvPr>
          <p:cNvSpPr>
            <a:spLocks noGrp="1"/>
          </p:cNvSpPr>
          <p:nvPr>
            <p:ph type="body" idx="1"/>
          </p:nvPr>
        </p:nvSpPr>
        <p:spPr/>
        <p:txBody>
          <a:bodyPr>
            <a:normAutofit lnSpcReduction="10000"/>
          </a:bodyPr>
          <a:lstStyle/>
          <a:p>
            <a:pPr lvl="0" algn="just"/>
            <a:r>
              <a:rPr lang="en-IN" sz="2200" dirty="0">
                <a:latin typeface="Times New Roman" panose="02020603050405020304" pitchFamily="18" charset="0"/>
                <a:cs typeface="Times New Roman" panose="02020603050405020304" pitchFamily="18" charset="0"/>
              </a:rPr>
              <a:t>Dataset: NASA C-MAPSS (FD001) – turbofan engine sensor data</a:t>
            </a:r>
          </a:p>
          <a:p>
            <a:pPr lvl="0" algn="just"/>
            <a:r>
              <a:rPr lang="en-IN" sz="2200" dirty="0">
                <a:latin typeface="Times New Roman" panose="02020603050405020304" pitchFamily="18" charset="0"/>
                <a:cs typeface="Times New Roman" panose="02020603050405020304" pitchFamily="18" charset="0"/>
              </a:rPr>
              <a:t>Preprocessing: </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Cleaned dataset: 20,631 rows, 17 real features (2 operational settings + 15 sensors)</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RUL (Remaining Useful Life) computed and capped at 125 cycles (standard practice)</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Engine-wise train/test split (80/20) — prevents data leakage between cycles of the same engine</a:t>
            </a:r>
          </a:p>
          <a:p>
            <a:pPr lvl="1" algn="just">
              <a:buFont typeface="Wingdings" panose="05000000000000000000" pitchFamily="2" charset="2"/>
              <a:buChar char="Ø"/>
            </a:pPr>
            <a:r>
              <a:rPr lang="en-IN" sz="2200" dirty="0" err="1">
                <a:latin typeface="Times New Roman" panose="02020603050405020304" pitchFamily="18" charset="0"/>
                <a:cs typeface="Times New Roman" panose="02020603050405020304" pitchFamily="18" charset="0"/>
              </a:rPr>
              <a:t>MinMax</a:t>
            </a:r>
            <a:r>
              <a:rPr lang="en-IN" sz="2200" dirty="0">
                <a:latin typeface="Times New Roman" panose="02020603050405020304" pitchFamily="18" charset="0"/>
                <a:cs typeface="Times New Roman" panose="02020603050405020304" pitchFamily="18" charset="0"/>
              </a:rPr>
              <a:t> scaling fit only on training engine, then applied to test set.</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Sliding window sequences (window size = 30) with padding + attention masks.</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Output saved as structured .</a:t>
            </a:r>
            <a:r>
              <a:rPr lang="en-IN" sz="2200" dirty="0" err="1">
                <a:latin typeface="Times New Roman" panose="02020603050405020304" pitchFamily="18" charset="0"/>
                <a:cs typeface="Times New Roman" panose="02020603050405020304" pitchFamily="18" charset="0"/>
              </a:rPr>
              <a:t>npz</a:t>
            </a:r>
            <a:r>
              <a:rPr lang="en-IN" sz="2200" dirty="0">
                <a:latin typeface="Times New Roman" panose="02020603050405020304" pitchFamily="18" charset="0"/>
                <a:cs typeface="Times New Roman" panose="02020603050405020304" pitchFamily="18" charset="0"/>
              </a:rPr>
              <a:t> file for model training</a:t>
            </a:r>
          </a:p>
          <a:p>
            <a:pPr lvl="1" algn="just">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a:p>
            <a:pPr marL="571500" lvl="1" indent="0" algn="just">
              <a:buNone/>
            </a:pPr>
            <a:endParaRPr lang="en-IN" sz="22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A5C1DCE-0763-1A9B-C171-F27B971C87BA}"/>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E15C0375-74EC-A753-A82D-6EA7DB8B04CA}"/>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BBF4B639-293C-02CC-29E3-5413E55FC0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extLst>
      <p:ext uri="{BB962C8B-B14F-4D97-AF65-F5344CB8AC3E}">
        <p14:creationId xmlns:p14="http://schemas.microsoft.com/office/powerpoint/2010/main" val="16412776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D132-3F64-0E47-6EF1-82ED12560FBA}"/>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CMAPSS – Baseline &amp; LSTM Results</a:t>
            </a:r>
          </a:p>
        </p:txBody>
      </p:sp>
      <p:sp>
        <p:nvSpPr>
          <p:cNvPr id="3" name="Text Placeholder 2">
            <a:extLst>
              <a:ext uri="{FF2B5EF4-FFF2-40B4-BE49-F238E27FC236}">
                <a16:creationId xmlns:a16="http://schemas.microsoft.com/office/drawing/2014/main" id="{D4891719-8DE7-9DBF-3292-ADC47288DAF8}"/>
              </a:ext>
            </a:extLst>
          </p:cNvPr>
          <p:cNvSpPr>
            <a:spLocks noGrp="1"/>
          </p:cNvSpPr>
          <p:nvPr>
            <p:ph type="body" idx="1"/>
          </p:nvPr>
        </p:nvSpPr>
        <p:spPr/>
        <p:txBody>
          <a:bodyPr>
            <a:normAutofit/>
          </a:bodyPr>
          <a:lstStyle/>
          <a:p>
            <a:pPr lvl="0" algn="just"/>
            <a:r>
              <a:rPr lang="en-IN" dirty="0">
                <a:latin typeface="Times New Roman" panose="02020603050405020304" pitchFamily="18" charset="0"/>
                <a:cs typeface="Times New Roman" panose="02020603050405020304" pitchFamily="18" charset="0"/>
              </a:rPr>
              <a:t>Linear Regression used as baseline model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MAE: 13.025 | RMSE: 15.761</a:t>
            </a:r>
          </a:p>
          <a:p>
            <a:pPr lvl="0" algn="just"/>
            <a:r>
              <a:rPr lang="en-IN" dirty="0">
                <a:latin typeface="Times New Roman" panose="02020603050405020304" pitchFamily="18" charset="0"/>
                <a:cs typeface="Times New Roman" panose="02020603050405020304" pitchFamily="18" charset="0"/>
              </a:rPr>
              <a:t>LSTM model (2-layer, hidden size = 64)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Target-scaled outputs, gradient clipping applied</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MAE: 8.818 | RMSE: 13.081</a:t>
            </a:r>
          </a:p>
          <a:p>
            <a:pPr lvl="0" algn="just"/>
            <a:r>
              <a:rPr lang="en-IN" dirty="0">
                <a:latin typeface="Times New Roman" panose="02020603050405020304" pitchFamily="18" charset="0"/>
                <a:cs typeface="Times New Roman" panose="02020603050405020304" pitchFamily="18" charset="0"/>
              </a:rPr>
              <a:t>LSTM shows clear improvement over baseline    	</a:t>
            </a:r>
            <a:r>
              <a:rPr lang="en-IN" sz="2800" dirty="0">
                <a:latin typeface="Times New Roman" panose="02020603050405020304" pitchFamily="18" charset="0"/>
                <a:cs typeface="Times New Roman" panose="02020603050405020304" pitchFamily="18" charset="0"/>
              </a:rPr>
              <a:t>Confirms sequence models capture degradation patterns better than static regression</a:t>
            </a: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9385260-8E8C-209F-2FB7-06AE2D1ED02C}"/>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FCCF12BC-4BA7-6A20-DC48-0C6F0650025E}"/>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4627B237-DE5B-CDE3-911E-225BD1B494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27134009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0B0C2-6923-2132-8991-07F3F9309A7A}"/>
              </a:ext>
            </a:extLst>
          </p:cNvPr>
          <p:cNvSpPr>
            <a:spLocks noGrp="1"/>
          </p:cNvSpPr>
          <p:nvPr>
            <p:ph type="title"/>
          </p:nvPr>
        </p:nvSpPr>
        <p:spPr>
          <a:xfrm>
            <a:off x="270388" y="313633"/>
            <a:ext cx="8077200" cy="836407"/>
          </a:xfrm>
        </p:spPr>
        <p:txBody>
          <a:bodyPr>
            <a:normAutofit fontScale="90000"/>
          </a:bodyPr>
          <a:lstStyle/>
          <a:p>
            <a:r>
              <a:rPr lang="en-IN" dirty="0">
                <a:latin typeface="Times New Roman" panose="02020603050405020304" pitchFamily="18" charset="0"/>
                <a:cs typeface="Times New Roman" panose="02020603050405020304" pitchFamily="18" charset="0"/>
              </a:rPr>
              <a:t>Transformer Model for RUL Prediction</a:t>
            </a:r>
          </a:p>
        </p:txBody>
      </p:sp>
      <p:sp>
        <p:nvSpPr>
          <p:cNvPr id="3" name="Text Placeholder 2">
            <a:extLst>
              <a:ext uri="{FF2B5EF4-FFF2-40B4-BE49-F238E27FC236}">
                <a16:creationId xmlns:a16="http://schemas.microsoft.com/office/drawing/2014/main" id="{B56AE086-C113-A6FC-19AA-45B3015AC7C8}"/>
              </a:ext>
            </a:extLst>
          </p:cNvPr>
          <p:cNvSpPr>
            <a:spLocks noGrp="1"/>
          </p:cNvSpPr>
          <p:nvPr>
            <p:ph type="body" idx="1"/>
          </p:nvPr>
        </p:nvSpPr>
        <p:spPr/>
        <p:txBody>
          <a:bodyPr/>
          <a:lstStyle/>
          <a:p>
            <a:pPr marL="114300" indent="0">
              <a:buNone/>
            </a:pPr>
            <a:r>
              <a:rPr lang="en-IN" sz="2000" b="1" dirty="0">
                <a:latin typeface="Times New Roman" panose="02020603050405020304" pitchFamily="18" charset="0"/>
                <a:cs typeface="Times New Roman" panose="02020603050405020304" pitchFamily="18" charset="0"/>
              </a:rPr>
              <a:t>Purpose of Transformer Model</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Predict the </a:t>
            </a:r>
            <a:r>
              <a:rPr lang="en-IN" sz="2000" b="1" dirty="0">
                <a:latin typeface="Times New Roman" panose="02020603050405020304" pitchFamily="18" charset="0"/>
                <a:cs typeface="Times New Roman" panose="02020603050405020304" pitchFamily="18" charset="0"/>
              </a:rPr>
              <a:t>Remaining Useful Life (RUL)</a:t>
            </a:r>
            <a:r>
              <a:rPr lang="en-IN" sz="2000" dirty="0">
                <a:latin typeface="Times New Roman" panose="02020603050405020304" pitchFamily="18" charset="0"/>
                <a:cs typeface="Times New Roman" panose="02020603050405020304" pitchFamily="18" charset="0"/>
              </a:rPr>
              <a:t> of aircraft engines from multivariate sensor time-series data. </a:t>
            </a:r>
          </a:p>
          <a:p>
            <a:pPr lvl="0"/>
            <a:r>
              <a:rPr lang="en-IN" sz="2000" dirty="0">
                <a:latin typeface="Times New Roman" panose="02020603050405020304" pitchFamily="18" charset="0"/>
                <a:cs typeface="Times New Roman" panose="02020603050405020304" pitchFamily="18" charset="0"/>
              </a:rPr>
              <a:t>Learn degradation patterns and estimate engine health before failure.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47E4829-C776-2D6E-459E-5FAF7F132911}"/>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A7F22F78-1723-A811-8D2C-6F7FDF73728C}"/>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FC5B6419-8223-AEFA-45FA-3D735A9E96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9" name="Rectangle: Rounded Corners 8">
            <a:extLst>
              <a:ext uri="{FF2B5EF4-FFF2-40B4-BE49-F238E27FC236}">
                <a16:creationId xmlns:a16="http://schemas.microsoft.com/office/drawing/2014/main" id="{C0D81C2B-2987-7788-F780-B4AED7A60006}"/>
              </a:ext>
            </a:extLst>
          </p:cNvPr>
          <p:cNvSpPr/>
          <p:nvPr/>
        </p:nvSpPr>
        <p:spPr>
          <a:xfrm>
            <a:off x="658762" y="3264310"/>
            <a:ext cx="3726426" cy="2989006"/>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500" b="1" dirty="0">
                <a:solidFill>
                  <a:schemeClr val="tx1"/>
                </a:solidFill>
                <a:latin typeface="Times New Roman" panose="02020603050405020304" pitchFamily="18" charset="0"/>
                <a:cs typeface="Times New Roman" panose="02020603050405020304" pitchFamily="18" charset="0"/>
              </a:rPr>
              <a:t>How it Works</a:t>
            </a:r>
            <a:endParaRPr lang="en-IN" sz="1500" dirty="0">
              <a:solidFill>
                <a:schemeClr val="tx1"/>
              </a:solidFill>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Takes </a:t>
            </a:r>
            <a:r>
              <a:rPr lang="en-IN" sz="1500" b="1" dirty="0">
                <a:solidFill>
                  <a:schemeClr val="tx1"/>
                </a:solidFill>
                <a:latin typeface="Times New Roman" panose="02020603050405020304" pitchFamily="18" charset="0"/>
                <a:cs typeface="Times New Roman" panose="02020603050405020304" pitchFamily="18" charset="0"/>
              </a:rPr>
              <a:t>30-cycle sensor windows</a:t>
            </a:r>
            <a:r>
              <a:rPr lang="en-IN" sz="1500" dirty="0">
                <a:solidFill>
                  <a:schemeClr val="tx1"/>
                </a:solidFill>
                <a:latin typeface="Times New Roman" panose="02020603050405020304" pitchFamily="18" charset="0"/>
                <a:cs typeface="Times New Roman" panose="02020603050405020304" pitchFamily="18" charset="0"/>
              </a:rPr>
              <a:t> as input.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Uses </a:t>
            </a:r>
            <a:r>
              <a:rPr lang="en-IN" sz="1500" b="1" dirty="0">
                <a:solidFill>
                  <a:schemeClr val="tx1"/>
                </a:solidFill>
                <a:latin typeface="Times New Roman" panose="02020603050405020304" pitchFamily="18" charset="0"/>
                <a:cs typeface="Times New Roman" panose="02020603050405020304" pitchFamily="18" charset="0"/>
              </a:rPr>
              <a:t>Multi-Head Self-Attention</a:t>
            </a:r>
            <a:r>
              <a:rPr lang="en-IN" sz="1500" dirty="0">
                <a:solidFill>
                  <a:schemeClr val="tx1"/>
                </a:solidFill>
                <a:latin typeface="Times New Roman" panose="02020603050405020304" pitchFamily="18" charset="0"/>
                <a:cs typeface="Times New Roman" panose="02020603050405020304" pitchFamily="18" charset="0"/>
              </a:rPr>
              <a:t> to identify important sensor relationships. </a:t>
            </a:r>
          </a:p>
          <a:p>
            <a:pPr marL="285750" lvl="0" indent="-285750">
              <a:buFont typeface="Arial" panose="020B0604020202020204" pitchFamily="34" charset="0"/>
              <a:buChar char="•"/>
            </a:pPr>
            <a:r>
              <a:rPr lang="en-IN" sz="1500" b="1" dirty="0">
                <a:solidFill>
                  <a:schemeClr val="tx1"/>
                </a:solidFill>
                <a:latin typeface="Times New Roman" panose="02020603050405020304" pitchFamily="18" charset="0"/>
                <a:cs typeface="Times New Roman" panose="02020603050405020304" pitchFamily="18" charset="0"/>
              </a:rPr>
              <a:t>Positional Encoding</a:t>
            </a:r>
            <a:r>
              <a:rPr lang="en-IN" sz="1500" dirty="0">
                <a:solidFill>
                  <a:schemeClr val="tx1"/>
                </a:solidFill>
                <a:latin typeface="Times New Roman" panose="02020603050405020304" pitchFamily="18" charset="0"/>
                <a:cs typeface="Times New Roman" panose="02020603050405020304" pitchFamily="18" charset="0"/>
              </a:rPr>
              <a:t> preserves the sequence order of engine cycles.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Feed Forward Networks generate the final RUL prediction.</a:t>
            </a:r>
          </a:p>
        </p:txBody>
      </p:sp>
      <p:sp>
        <p:nvSpPr>
          <p:cNvPr id="15" name="Rectangle: Rounded Corners 14">
            <a:extLst>
              <a:ext uri="{FF2B5EF4-FFF2-40B4-BE49-F238E27FC236}">
                <a16:creationId xmlns:a16="http://schemas.microsoft.com/office/drawing/2014/main" id="{4925524B-2ACF-ED58-564B-B0AA1AF7A66A}"/>
              </a:ext>
            </a:extLst>
          </p:cNvPr>
          <p:cNvSpPr/>
          <p:nvPr/>
        </p:nvSpPr>
        <p:spPr>
          <a:xfrm>
            <a:off x="4758812" y="3264310"/>
            <a:ext cx="3726426" cy="296488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500" b="1" dirty="0">
                <a:solidFill>
                  <a:schemeClr val="tx1"/>
                </a:solidFill>
                <a:latin typeface="Times New Roman" panose="02020603050405020304" pitchFamily="18" charset="0"/>
                <a:cs typeface="Times New Roman" panose="02020603050405020304" pitchFamily="18" charset="0"/>
              </a:rPr>
              <a:t>Role in AERIS</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Generates the </a:t>
            </a:r>
            <a:r>
              <a:rPr lang="en-IN" sz="1500" b="1" dirty="0">
                <a:solidFill>
                  <a:schemeClr val="tx1"/>
                </a:solidFill>
                <a:latin typeface="Times New Roman" panose="02020603050405020304" pitchFamily="18" charset="0"/>
                <a:cs typeface="Times New Roman" panose="02020603050405020304" pitchFamily="18" charset="0"/>
              </a:rPr>
              <a:t>health status and RUL prediction</a:t>
            </a:r>
            <a:r>
              <a:rPr lang="en-IN" sz="1500" dirty="0">
                <a:solidFill>
                  <a:schemeClr val="tx1"/>
                </a:solidFill>
                <a:latin typeface="Times New Roman" panose="02020603050405020304" pitchFamily="18" charset="0"/>
                <a:cs typeface="Times New Roman" panose="02020603050405020304" pitchFamily="18" charset="0"/>
              </a:rPr>
              <a:t> for each engine.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Produces the primary </a:t>
            </a:r>
            <a:r>
              <a:rPr lang="en-IN" sz="1500" b="1" dirty="0">
                <a:solidFill>
                  <a:schemeClr val="tx1"/>
                </a:solidFill>
                <a:latin typeface="Times New Roman" panose="02020603050405020304" pitchFamily="18" charset="0"/>
                <a:cs typeface="Times New Roman" panose="02020603050405020304" pitchFamily="18" charset="0"/>
              </a:rPr>
              <a:t>predictive evidence</a:t>
            </a:r>
            <a:r>
              <a:rPr lang="en-IN" sz="1500" dirty="0">
                <a:solidFill>
                  <a:schemeClr val="tx1"/>
                </a:solidFill>
                <a:latin typeface="Times New Roman" panose="02020603050405020304" pitchFamily="18" charset="0"/>
                <a:cs typeface="Times New Roman" panose="02020603050405020304" pitchFamily="18" charset="0"/>
              </a:rPr>
              <a:t> used by the AERIS framework.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Sends prediction results to the </a:t>
            </a:r>
            <a:r>
              <a:rPr lang="en-IN" sz="1500" b="1" dirty="0">
                <a:solidFill>
                  <a:schemeClr val="tx1"/>
                </a:solidFill>
                <a:latin typeface="Times New Roman" panose="02020603050405020304" pitchFamily="18" charset="0"/>
                <a:cs typeface="Times New Roman" panose="02020603050405020304" pitchFamily="18" charset="0"/>
              </a:rPr>
              <a:t>Evidence Fusion (Dempster–Shafer)</a:t>
            </a:r>
            <a:r>
              <a:rPr lang="en-IN" sz="1500" dirty="0">
                <a:solidFill>
                  <a:schemeClr val="tx1"/>
                </a:solidFill>
                <a:latin typeface="Times New Roman" panose="02020603050405020304" pitchFamily="18" charset="0"/>
                <a:cs typeface="Times New Roman" panose="02020603050405020304" pitchFamily="18" charset="0"/>
              </a:rPr>
              <a:t> module, where they are combined with maintenance records, accident reports, and knowledge graph reasoning.</a:t>
            </a:r>
          </a:p>
        </p:txBody>
      </p:sp>
    </p:spTree>
    <p:extLst>
      <p:ext uri="{BB962C8B-B14F-4D97-AF65-F5344CB8AC3E}">
        <p14:creationId xmlns:p14="http://schemas.microsoft.com/office/powerpoint/2010/main" val="1995778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D17F6-E0B4-BDC2-D673-5399B81833DF}"/>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CMAPSS – Transformer Model Development</a:t>
            </a:r>
          </a:p>
        </p:txBody>
      </p:sp>
      <p:sp>
        <p:nvSpPr>
          <p:cNvPr id="3" name="Text Placeholder 2">
            <a:extLst>
              <a:ext uri="{FF2B5EF4-FFF2-40B4-BE49-F238E27FC236}">
                <a16:creationId xmlns:a16="http://schemas.microsoft.com/office/drawing/2014/main" id="{BA975F64-DEF3-F37D-CA53-D6CF8BE401CD}"/>
              </a:ext>
            </a:extLst>
          </p:cNvPr>
          <p:cNvSpPr>
            <a:spLocks noGrp="1"/>
          </p:cNvSpPr>
          <p:nvPr>
            <p:ph type="body" idx="1"/>
          </p:nvPr>
        </p:nvSpPr>
        <p:spPr/>
        <p:txBody>
          <a:bodyPr>
            <a:normAutofit fontScale="77500" lnSpcReduction="20000"/>
          </a:bodyPr>
          <a:lstStyle/>
          <a:p>
            <a:pPr lvl="0" algn="just"/>
            <a:r>
              <a:rPr lang="en-IN" dirty="0">
                <a:latin typeface="Times New Roman" panose="02020603050405020304" pitchFamily="18" charset="0"/>
                <a:cs typeface="Times New Roman" panose="02020603050405020304" pitchFamily="18" charset="0"/>
              </a:rPr>
              <a:t>First attempt: naive Transformer (D_MODEL=64, dropout=0.1)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Result: overfit, underperformed LSTM</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MAE: 9.066 | RMSE: 13.924</a:t>
            </a:r>
          </a:p>
          <a:p>
            <a:pPr lvl="0" algn="just"/>
            <a:r>
              <a:rPr lang="en-IN" dirty="0">
                <a:latin typeface="Times New Roman" panose="02020603050405020304" pitchFamily="18" charset="0"/>
                <a:cs typeface="Times New Roman" panose="02020603050405020304" pitchFamily="18" charset="0"/>
              </a:rPr>
              <a:t>Root cause: model too large/complex for dataset size, no proper validation control</a:t>
            </a:r>
          </a:p>
          <a:p>
            <a:pPr lvl="0" algn="just"/>
            <a:r>
              <a:rPr lang="en-IN" dirty="0">
                <a:latin typeface="Times New Roman" panose="02020603050405020304" pitchFamily="18" charset="0"/>
                <a:cs typeface="Times New Roman" panose="02020603050405020304" pitchFamily="18" charset="0"/>
              </a:rPr>
              <a:t>Fix applied: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Reduced model size (D_MODEL=32, N_HEADS=4, N_LAYERS=2)</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Increased dropout (0.3) + weight decay (1e-4)</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Added engine-window-level train/validation split</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Early stopping (patience = 8) + </a:t>
            </a:r>
            <a:r>
              <a:rPr lang="en-IN" dirty="0" err="1">
                <a:latin typeface="Times New Roman" panose="02020603050405020304" pitchFamily="18" charset="0"/>
                <a:cs typeface="Times New Roman" panose="02020603050405020304" pitchFamily="18" charset="0"/>
              </a:rPr>
              <a:t>ReduceLROnPlateau</a:t>
            </a:r>
            <a:r>
              <a:rPr lang="en-IN" dirty="0">
                <a:latin typeface="Times New Roman" panose="02020603050405020304" pitchFamily="18" charset="0"/>
                <a:cs typeface="Times New Roman" panose="02020603050405020304" pitchFamily="18" charset="0"/>
              </a:rPr>
              <a:t> scheduler</a:t>
            </a: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BE8673F-989D-C400-C6DE-E62B8741E809}"/>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FAE18A14-14CD-0A40-28CB-8E5978CA4065}"/>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926BD34B-801D-A573-B988-8796D59D70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26142308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151E-BE88-F16E-AF43-0198218B2CCD}"/>
              </a:ext>
            </a:extLst>
          </p:cNvPr>
          <p:cNvSpPr>
            <a:spLocks noGrp="1"/>
          </p:cNvSpPr>
          <p:nvPr>
            <p:ph type="title"/>
          </p:nvPr>
        </p:nvSpPr>
        <p:spPr>
          <a:xfrm>
            <a:off x="457200" y="274638"/>
            <a:ext cx="8229600" cy="856072"/>
          </a:xfrm>
        </p:spPr>
        <p:txBody>
          <a:bodyPr>
            <a:normAutofit fontScale="90000"/>
          </a:bodyPr>
          <a:lstStyle/>
          <a:p>
            <a:r>
              <a:rPr lang="en-IN" dirty="0">
                <a:latin typeface="Times New Roman" panose="02020603050405020304" pitchFamily="18" charset="0"/>
                <a:cs typeface="Times New Roman" panose="02020603050405020304" pitchFamily="18" charset="0"/>
              </a:rPr>
              <a:t>CMAPSS – Final Transformer Results</a:t>
            </a:r>
          </a:p>
        </p:txBody>
      </p:sp>
      <p:sp>
        <p:nvSpPr>
          <p:cNvPr id="3" name="Text Placeholder 2">
            <a:extLst>
              <a:ext uri="{FF2B5EF4-FFF2-40B4-BE49-F238E27FC236}">
                <a16:creationId xmlns:a16="http://schemas.microsoft.com/office/drawing/2014/main" id="{588FA572-B687-BD28-5FC8-BAF2343730B8}"/>
              </a:ext>
            </a:extLst>
          </p:cNvPr>
          <p:cNvSpPr>
            <a:spLocks noGrp="1"/>
          </p:cNvSpPr>
          <p:nvPr>
            <p:ph type="body" idx="1"/>
          </p:nvPr>
        </p:nvSpPr>
        <p:spPr/>
        <p:txBody>
          <a:bodyPr>
            <a:normAutofit fontScale="77500" lnSpcReduction="20000"/>
          </a:bodyPr>
          <a:lstStyle/>
          <a:p>
            <a:pPr lvl="0"/>
            <a:r>
              <a:rPr lang="en-IN" dirty="0">
                <a:latin typeface="Times New Roman" panose="02020603050405020304" pitchFamily="18" charset="0"/>
                <a:cs typeface="Times New Roman" panose="02020603050405020304" pitchFamily="18" charset="0"/>
              </a:rPr>
              <a:t>Final regularized Transformer outperforms both baseline and LSTM </a:t>
            </a:r>
          </a:p>
          <a:p>
            <a:pPr lvl="1"/>
            <a:r>
              <a:rPr lang="en-IN" b="1" dirty="0">
                <a:latin typeface="Times New Roman" panose="02020603050405020304" pitchFamily="18" charset="0"/>
                <a:cs typeface="Times New Roman" panose="02020603050405020304" pitchFamily="18" charset="0"/>
              </a:rPr>
              <a:t>MAE: 8.644 | RMSE: 12.222</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Best-performing model selected for CMAPSS RUL prediction</a:t>
            </a:r>
          </a:p>
          <a:p>
            <a:pPr lvl="0"/>
            <a:r>
              <a:rPr lang="en-IN" dirty="0">
                <a:latin typeface="Times New Roman" panose="02020603050405020304" pitchFamily="18" charset="0"/>
                <a:cs typeface="Times New Roman" panose="02020603050405020304" pitchFamily="18" charset="0"/>
              </a:rPr>
              <a:t>Model saved as cmapss_transformer_rul_v2.pt</a:t>
            </a:r>
          </a:p>
          <a:p>
            <a:pPr lvl="0"/>
            <a:r>
              <a:rPr lang="en-IN" dirty="0">
                <a:latin typeface="Times New Roman" panose="02020603050405020304" pitchFamily="18" charset="0"/>
                <a:cs typeface="Times New Roman" panose="02020603050405020304" pitchFamily="18" charset="0"/>
              </a:rPr>
              <a:t>Ready for next steps: SHAP explainability + evidence object packaging for Dempster-Shafer fusion</a:t>
            </a:r>
          </a:p>
          <a:p>
            <a:endParaRPr lang="en-IN"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9A10BD43-42FF-24DD-8880-AD80014EF285}"/>
              </a:ext>
            </a:extLst>
          </p:cNvPr>
          <p:cNvSpPr>
            <a:spLocks noGrp="1"/>
          </p:cNvSpPr>
          <p:nvPr>
            <p:ph type="body" idx="2"/>
          </p:nvPr>
        </p:nvSpPr>
        <p:spPr/>
        <p:txBody>
          <a:bodyPr/>
          <a:lstStyle/>
          <a:p>
            <a:endParaRPr lang="en-IN" dirty="0"/>
          </a:p>
        </p:txBody>
      </p:sp>
      <p:sp>
        <p:nvSpPr>
          <p:cNvPr id="5" name="Date Placeholder 4">
            <a:extLst>
              <a:ext uri="{FF2B5EF4-FFF2-40B4-BE49-F238E27FC236}">
                <a16:creationId xmlns:a16="http://schemas.microsoft.com/office/drawing/2014/main" id="{4140D3F7-0EFC-97FE-D13C-838632DDC83F}"/>
              </a:ext>
            </a:extLst>
          </p:cNvPr>
          <p:cNvSpPr>
            <a:spLocks noGrp="1"/>
          </p:cNvSpPr>
          <p:nvPr>
            <p:ph type="dt" idx="10"/>
          </p:nvPr>
        </p:nvSpPr>
        <p:spPr/>
        <p:txBody>
          <a:bodyPr/>
          <a:lstStyle/>
          <a:p>
            <a:r>
              <a:rPr lang="en-US"/>
              <a:t>20/07/2026</a:t>
            </a:r>
          </a:p>
        </p:txBody>
      </p:sp>
      <p:sp>
        <p:nvSpPr>
          <p:cNvPr id="6" name="Footer Placeholder 5">
            <a:extLst>
              <a:ext uri="{FF2B5EF4-FFF2-40B4-BE49-F238E27FC236}">
                <a16:creationId xmlns:a16="http://schemas.microsoft.com/office/drawing/2014/main" id="{9E8B302F-1EBA-A91D-7FB9-0746BC6D875C}"/>
              </a:ext>
            </a:extLst>
          </p:cNvPr>
          <p:cNvSpPr>
            <a:spLocks noGrp="1"/>
          </p:cNvSpPr>
          <p:nvPr>
            <p:ph type="ftr" idx="11"/>
          </p:nvPr>
        </p:nvSpPr>
        <p:spPr/>
        <p:txBody>
          <a:bodyPr/>
          <a:lstStyle/>
          <a:p>
            <a:r>
              <a:rPr lang="en-US"/>
              <a:t>DEPT OF AI&amp;DS, SAEC</a:t>
            </a:r>
          </a:p>
        </p:txBody>
      </p:sp>
      <p:sp>
        <p:nvSpPr>
          <p:cNvPr id="7" name="Slide Number Placeholder 6">
            <a:extLst>
              <a:ext uri="{FF2B5EF4-FFF2-40B4-BE49-F238E27FC236}">
                <a16:creationId xmlns:a16="http://schemas.microsoft.com/office/drawing/2014/main" id="{91B0BE1C-7FF4-0C15-9C43-4B655370E7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pic>
        <p:nvPicPr>
          <p:cNvPr id="9" name="Picture 8">
            <a:extLst>
              <a:ext uri="{FF2B5EF4-FFF2-40B4-BE49-F238E27FC236}">
                <a16:creationId xmlns:a16="http://schemas.microsoft.com/office/drawing/2014/main" id="{0CEF5652-C1DB-17DF-7896-985ACCCC990D}"/>
              </a:ext>
            </a:extLst>
          </p:cNvPr>
          <p:cNvPicPr>
            <a:picLocks noChangeAspect="1"/>
          </p:cNvPicPr>
          <p:nvPr/>
        </p:nvPicPr>
        <p:blipFill>
          <a:blip r:embed="rId2"/>
          <a:stretch>
            <a:fillRect/>
          </a:stretch>
        </p:blipFill>
        <p:spPr>
          <a:xfrm>
            <a:off x="4572000" y="1600200"/>
            <a:ext cx="4139380" cy="4525963"/>
          </a:xfrm>
          <a:prstGeom prst="rect">
            <a:avLst/>
          </a:prstGeom>
        </p:spPr>
      </p:pic>
    </p:spTree>
    <p:extLst>
      <p:ext uri="{BB962C8B-B14F-4D97-AF65-F5344CB8AC3E}">
        <p14:creationId xmlns:p14="http://schemas.microsoft.com/office/powerpoint/2010/main" val="3410225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8B9E-5C7A-589E-88C3-1334A91DFAE0}"/>
              </a:ext>
            </a:extLst>
          </p:cNvPr>
          <p:cNvSpPr>
            <a:spLocks noGrp="1"/>
          </p:cNvSpPr>
          <p:nvPr>
            <p:ph type="title"/>
          </p:nvPr>
        </p:nvSpPr>
        <p:spPr>
          <a:xfrm>
            <a:off x="457200" y="274638"/>
            <a:ext cx="8229600" cy="767581"/>
          </a:xfrm>
        </p:spPr>
        <p:txBody>
          <a:bodyPr/>
          <a:lstStyle/>
          <a:p>
            <a:r>
              <a:rPr lang="en-IN" dirty="0">
                <a:latin typeface="Times New Roman" panose="02020603050405020304" pitchFamily="18" charset="0"/>
                <a:cs typeface="Times New Roman" panose="02020603050405020304" pitchFamily="18" charset="0"/>
              </a:rPr>
              <a:t> Output Continuation….</a:t>
            </a:r>
          </a:p>
        </p:txBody>
      </p:sp>
      <p:sp>
        <p:nvSpPr>
          <p:cNvPr id="4" name="Date Placeholder 3">
            <a:extLst>
              <a:ext uri="{FF2B5EF4-FFF2-40B4-BE49-F238E27FC236}">
                <a16:creationId xmlns:a16="http://schemas.microsoft.com/office/drawing/2014/main" id="{0A0F56C2-68D2-B8AA-1846-BE4FC16BA0EA}"/>
              </a:ext>
            </a:extLst>
          </p:cNvPr>
          <p:cNvSpPr>
            <a:spLocks noGrp="1"/>
          </p:cNvSpPr>
          <p:nvPr>
            <p:ph type="dt" idx="10"/>
          </p:nvPr>
        </p:nvSpPr>
        <p:spPr/>
        <p:txBody>
          <a:bodyPr/>
          <a:lstStyle/>
          <a:p>
            <a:r>
              <a:rPr lang="en-US" dirty="0"/>
              <a:t>07/09/2026</a:t>
            </a:r>
          </a:p>
        </p:txBody>
      </p:sp>
      <p:sp>
        <p:nvSpPr>
          <p:cNvPr id="5" name="Footer Placeholder 4">
            <a:extLst>
              <a:ext uri="{FF2B5EF4-FFF2-40B4-BE49-F238E27FC236}">
                <a16:creationId xmlns:a16="http://schemas.microsoft.com/office/drawing/2014/main" id="{9EFD57D5-8413-297F-538C-6486FA9D2D28}"/>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6A72531E-B3E1-2EB1-D3A7-C341A74D31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pic>
        <p:nvPicPr>
          <p:cNvPr id="8" name="Picture 7">
            <a:extLst>
              <a:ext uri="{FF2B5EF4-FFF2-40B4-BE49-F238E27FC236}">
                <a16:creationId xmlns:a16="http://schemas.microsoft.com/office/drawing/2014/main" id="{A8ADC9F7-8CE6-558F-6AA0-B1B8B91CCD6F}"/>
              </a:ext>
            </a:extLst>
          </p:cNvPr>
          <p:cNvPicPr>
            <a:picLocks noChangeAspect="1"/>
          </p:cNvPicPr>
          <p:nvPr/>
        </p:nvPicPr>
        <p:blipFill>
          <a:blip r:embed="rId2"/>
          <a:stretch>
            <a:fillRect/>
          </a:stretch>
        </p:blipFill>
        <p:spPr>
          <a:xfrm>
            <a:off x="457200" y="1294889"/>
            <a:ext cx="8323006" cy="4884685"/>
          </a:xfrm>
          <a:prstGeom prst="rect">
            <a:avLst/>
          </a:prstGeom>
        </p:spPr>
      </p:pic>
    </p:spTree>
    <p:extLst>
      <p:ext uri="{BB962C8B-B14F-4D97-AF65-F5344CB8AC3E}">
        <p14:creationId xmlns:p14="http://schemas.microsoft.com/office/powerpoint/2010/main" val="1578299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29AB2-6243-1E7B-796D-EC24D879FF58}"/>
              </a:ext>
            </a:extLst>
          </p:cNvPr>
          <p:cNvSpPr>
            <a:spLocks noGrp="1"/>
          </p:cNvSpPr>
          <p:nvPr>
            <p:ph type="title"/>
          </p:nvPr>
        </p:nvSpPr>
        <p:spPr>
          <a:xfrm>
            <a:off x="378542" y="224120"/>
            <a:ext cx="7978877" cy="788603"/>
          </a:xfrm>
        </p:spPr>
        <p:txBody>
          <a:bodyPr>
            <a:normAutofit fontScale="90000"/>
          </a:bodyPr>
          <a:lstStyle/>
          <a:p>
            <a:r>
              <a:rPr lang="en-IN" dirty="0">
                <a:latin typeface="Times New Roman" panose="02020603050405020304" pitchFamily="18" charset="0"/>
                <a:cs typeface="Times New Roman" panose="02020603050405020304" pitchFamily="18" charset="0"/>
              </a:rPr>
              <a:t>UPCOMING IMPLEMENTATION </a:t>
            </a:r>
          </a:p>
        </p:txBody>
      </p:sp>
      <p:sp>
        <p:nvSpPr>
          <p:cNvPr id="4" name="Date Placeholder 3">
            <a:extLst>
              <a:ext uri="{FF2B5EF4-FFF2-40B4-BE49-F238E27FC236}">
                <a16:creationId xmlns:a16="http://schemas.microsoft.com/office/drawing/2014/main" id="{58BEA151-5A9B-9EA8-E0CC-7D55873C39D3}"/>
              </a:ext>
            </a:extLst>
          </p:cNvPr>
          <p:cNvSpPr>
            <a:spLocks noGrp="1"/>
          </p:cNvSpPr>
          <p:nvPr>
            <p:ph type="dt" idx="10"/>
          </p:nvPr>
        </p:nvSpPr>
        <p:spPr/>
        <p:txBody>
          <a:bodyPr/>
          <a:lstStyle/>
          <a:p>
            <a:r>
              <a:rPr lang="en-US" dirty="0"/>
              <a:t>07/09/2026</a:t>
            </a:r>
          </a:p>
        </p:txBody>
      </p:sp>
      <p:sp>
        <p:nvSpPr>
          <p:cNvPr id="5" name="Footer Placeholder 4">
            <a:extLst>
              <a:ext uri="{FF2B5EF4-FFF2-40B4-BE49-F238E27FC236}">
                <a16:creationId xmlns:a16="http://schemas.microsoft.com/office/drawing/2014/main" id="{C7DA3E62-41AD-37B7-5AD1-34CCBE5647F2}"/>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52867780-9C68-D49E-4547-E1FFD86C96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
        <p:nvSpPr>
          <p:cNvPr id="7" name="Rectangle 6">
            <a:extLst>
              <a:ext uri="{FF2B5EF4-FFF2-40B4-BE49-F238E27FC236}">
                <a16:creationId xmlns:a16="http://schemas.microsoft.com/office/drawing/2014/main" id="{6A8F8D7B-1DFD-B695-E8A9-659813F089F5}"/>
              </a:ext>
            </a:extLst>
          </p:cNvPr>
          <p:cNvSpPr/>
          <p:nvPr/>
        </p:nvSpPr>
        <p:spPr>
          <a:xfrm>
            <a:off x="762000" y="1208792"/>
            <a:ext cx="3500284" cy="1880853"/>
          </a:xfrm>
          <a:prstGeom prst="rect">
            <a:avLst/>
          </a:prstGeom>
          <a:solidFill>
            <a:schemeClr val="accent3">
              <a:lumMod val="60000"/>
              <a:lumOff val="4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b="1" dirty="0">
                <a:solidFill>
                  <a:schemeClr val="tx1"/>
                </a:solidFill>
                <a:latin typeface="Times New Roman" panose="02020603050405020304" pitchFamily="18" charset="0"/>
                <a:cs typeface="Times New Roman" panose="02020603050405020304" pitchFamily="18" charset="0"/>
              </a:rPr>
              <a:t>1.</a:t>
            </a:r>
            <a:r>
              <a:rPr lang="en-IN" sz="1700" b="1" dirty="0">
                <a:solidFill>
                  <a:schemeClr val="tx1"/>
                </a:solidFill>
                <a:latin typeface="Times New Roman" panose="02020603050405020304" pitchFamily="18" charset="0"/>
                <a:cs typeface="Times New Roman" panose="02020603050405020304" pitchFamily="18" charset="0"/>
              </a:rPr>
              <a:t>SHAP Explainability</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Identify important engine sensors influencing prediction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Explain model decisions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Generate feature importance scores</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51D5C011-E516-1ABA-82EF-06BBEC8F9B7E}"/>
              </a:ext>
            </a:extLst>
          </p:cNvPr>
          <p:cNvSpPr>
            <a:spLocks noGrp="1"/>
          </p:cNvSpPr>
          <p:nvPr>
            <p:ph type="body" idx="1"/>
          </p:nvPr>
        </p:nvSpPr>
        <p:spPr>
          <a:xfrm>
            <a:off x="2728451" y="3429000"/>
            <a:ext cx="3500284" cy="1880852"/>
          </a:xfrm>
          <a:prstGeom prst="rect">
            <a:avLst/>
          </a:prstGeom>
          <a:solidFill>
            <a:schemeClr val="accent3">
              <a:lumMod val="60000"/>
              <a:lumOff val="4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47500" lnSpcReduction="20000"/>
          </a:bodyPr>
          <a:lstStyle/>
          <a:p>
            <a:pPr marL="114300" indent="0">
              <a:buNone/>
            </a:pPr>
            <a:r>
              <a:rPr lang="en-IN" sz="3800" b="1" dirty="0">
                <a:latin typeface="Times New Roman" panose="02020603050405020304" pitchFamily="18" charset="0"/>
                <a:cs typeface="Times New Roman" panose="02020603050405020304" pitchFamily="18" charset="0"/>
              </a:rPr>
              <a:t>3. Dempster-Shafer Theory</a:t>
            </a:r>
          </a:p>
          <a:p>
            <a:pPr lvl="0"/>
            <a:r>
              <a:rPr lang="en-IN" sz="2900" dirty="0">
                <a:latin typeface="Times New Roman" panose="02020603050405020304" pitchFamily="18" charset="0"/>
                <a:cs typeface="Times New Roman" panose="02020603050405020304" pitchFamily="18" charset="0"/>
              </a:rPr>
              <a:t>Combine evidence from multiple datasets </a:t>
            </a:r>
          </a:p>
          <a:p>
            <a:pPr lvl="0"/>
            <a:r>
              <a:rPr lang="en-IN" sz="2900" dirty="0">
                <a:latin typeface="Times New Roman" panose="02020603050405020304" pitchFamily="18" charset="0"/>
                <a:cs typeface="Times New Roman" panose="02020603050405020304" pitchFamily="18" charset="0"/>
              </a:rPr>
              <a:t>Resolve uncertainty </a:t>
            </a:r>
          </a:p>
          <a:p>
            <a:pPr lvl="0"/>
            <a:r>
              <a:rPr lang="en-IN" sz="2900" dirty="0">
                <a:latin typeface="Times New Roman" panose="02020603050405020304" pitchFamily="18" charset="0"/>
                <a:cs typeface="Times New Roman" panose="02020603050405020304" pitchFamily="18" charset="0"/>
              </a:rPr>
              <a:t>Produce a unified confidence score </a:t>
            </a:r>
          </a:p>
          <a:p>
            <a:pPr lvl="0"/>
            <a:r>
              <a:rPr lang="en-IN" sz="2900" dirty="0">
                <a:latin typeface="Times New Roman" panose="02020603050405020304" pitchFamily="18" charset="0"/>
                <a:cs typeface="Times New Roman" panose="02020603050405020304" pitchFamily="18" charset="0"/>
              </a:rPr>
              <a:t>Improve reliability of maintenance decisions</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13" name="Text Placeholder 11">
            <a:extLst>
              <a:ext uri="{FF2B5EF4-FFF2-40B4-BE49-F238E27FC236}">
                <a16:creationId xmlns:a16="http://schemas.microsoft.com/office/drawing/2014/main" id="{ACE7EDFD-AE69-28F8-A654-7DF20C8B1143}"/>
              </a:ext>
            </a:extLst>
          </p:cNvPr>
          <p:cNvSpPr txBox="1">
            <a:spLocks/>
          </p:cNvSpPr>
          <p:nvPr/>
        </p:nvSpPr>
        <p:spPr>
          <a:xfrm>
            <a:off x="4955459" y="1174593"/>
            <a:ext cx="3500284" cy="1949249"/>
          </a:xfrm>
          <a:prstGeom prst="rect">
            <a:avLst/>
          </a:prstGeom>
          <a:solidFill>
            <a:schemeClr val="accent3">
              <a:lumMod val="60000"/>
              <a:lumOff val="40000"/>
            </a:schemeClr>
          </a:solidFill>
          <a:ln w="25400" cap="flat" cmpd="sng" algn="ctr">
            <a:solidFill>
              <a:schemeClr val="bg2">
                <a:lumMod val="20000"/>
                <a:lumOff val="8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45700" rIns="91425" bIns="45700" rtlCol="0" anchor="ctr" anchorCtr="0">
            <a:normAutofit fontScale="40000" lnSpcReduction="20000"/>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14300" indent="0">
              <a:buNone/>
            </a:pPr>
            <a:r>
              <a:rPr lang="en-IN" sz="4500" b="1" dirty="0">
                <a:latin typeface="Times New Roman" panose="02020603050405020304" pitchFamily="18" charset="0"/>
                <a:cs typeface="Times New Roman" panose="02020603050405020304" pitchFamily="18" charset="0"/>
              </a:rPr>
              <a:t>2. Evidence Object Generation</a:t>
            </a:r>
          </a:p>
          <a:p>
            <a:pPr marL="114300" indent="0">
              <a:buNone/>
            </a:pPr>
            <a:r>
              <a:rPr lang="en-IN" sz="3500" dirty="0">
                <a:latin typeface="Times New Roman" panose="02020603050405020304" pitchFamily="18" charset="0"/>
                <a:cs typeface="Times New Roman" panose="02020603050405020304" pitchFamily="18" charset="0"/>
              </a:rPr>
              <a:t>Convert model outputs into structured evidence containing:</a:t>
            </a:r>
          </a:p>
          <a:p>
            <a:pPr lvl="0"/>
            <a:r>
              <a:rPr lang="en-IN" sz="3500" dirty="0">
                <a:latin typeface="Times New Roman" panose="02020603050405020304" pitchFamily="18" charset="0"/>
                <a:cs typeface="Times New Roman" panose="02020603050405020304" pitchFamily="18" charset="0"/>
              </a:rPr>
              <a:t>Predicted RUL </a:t>
            </a:r>
          </a:p>
          <a:p>
            <a:pPr lvl="0"/>
            <a:r>
              <a:rPr lang="en-IN" sz="3500" dirty="0">
                <a:latin typeface="Times New Roman" panose="02020603050405020304" pitchFamily="18" charset="0"/>
                <a:cs typeface="Times New Roman" panose="02020603050405020304" pitchFamily="18" charset="0"/>
              </a:rPr>
              <a:t>Confidence Score </a:t>
            </a:r>
          </a:p>
          <a:p>
            <a:pPr lvl="0"/>
            <a:r>
              <a:rPr lang="en-IN" sz="3500" dirty="0">
                <a:latin typeface="Times New Roman" panose="02020603050405020304" pitchFamily="18" charset="0"/>
                <a:cs typeface="Times New Roman" panose="02020603050405020304" pitchFamily="18" charset="0"/>
              </a:rPr>
              <a:t>Important Sensors </a:t>
            </a:r>
          </a:p>
          <a:p>
            <a:pPr lvl="0"/>
            <a:r>
              <a:rPr lang="en-IN" sz="3500" dirty="0">
                <a:latin typeface="Times New Roman" panose="02020603050405020304" pitchFamily="18" charset="0"/>
                <a:cs typeface="Times New Roman" panose="02020603050405020304" pitchFamily="18" charset="0"/>
              </a:rPr>
              <a:t>Timestamp </a:t>
            </a:r>
          </a:p>
          <a:p>
            <a:pPr marL="114300" indent="0" algn="ctr">
              <a:buNone/>
            </a:pPr>
            <a:endParaRPr lang="en-IN" dirty="0">
              <a:solidFill>
                <a:schemeClr val="tx1"/>
              </a:solidFill>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557E65D8-8BFB-22DE-8AAB-AA6C41CF9C4E}"/>
              </a:ext>
            </a:extLst>
          </p:cNvPr>
          <p:cNvSpPr/>
          <p:nvPr/>
        </p:nvSpPr>
        <p:spPr>
          <a:xfrm>
            <a:off x="1646904" y="5533550"/>
            <a:ext cx="6046838" cy="788603"/>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Phase 1 Expected Output</a:t>
            </a:r>
          </a:p>
          <a:p>
            <a:pPr algn="ctr"/>
            <a:r>
              <a:rPr lang="en-IN" sz="1800" b="1" dirty="0">
                <a:solidFill>
                  <a:schemeClr val="tx1"/>
                </a:solidFill>
                <a:latin typeface="Times New Roman" panose="02020603050405020304" pitchFamily="18" charset="0"/>
                <a:cs typeface="Times New Roman" panose="02020603050405020304" pitchFamily="18" charset="0"/>
              </a:rPr>
              <a:t>Evidence-Based Engine Health Assessment</a:t>
            </a:r>
            <a:endParaRPr lang="en-IN" sz="1800"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22103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0D3A-3E3D-F69A-47F4-5945E4849F9B}"/>
              </a:ext>
            </a:extLst>
          </p:cNvPr>
          <p:cNvSpPr>
            <a:spLocks noGrp="1"/>
          </p:cNvSpPr>
          <p:nvPr>
            <p:ph type="title"/>
          </p:nvPr>
        </p:nvSpPr>
        <p:spPr>
          <a:xfrm>
            <a:off x="457200" y="274638"/>
            <a:ext cx="8229600" cy="806910"/>
          </a:xfrm>
        </p:spPr>
        <p:txBody>
          <a:bodyPr/>
          <a:lstStyle/>
          <a:p>
            <a:r>
              <a:rPr lang="en-IN" dirty="0">
                <a:latin typeface="Times New Roman" panose="02020603050405020304" pitchFamily="18" charset="0"/>
                <a:cs typeface="Times New Roman" panose="02020603050405020304" pitchFamily="18" charset="0"/>
              </a:rPr>
              <a:t>NTSB Dataset</a:t>
            </a:r>
          </a:p>
        </p:txBody>
      </p:sp>
      <p:sp>
        <p:nvSpPr>
          <p:cNvPr id="3" name="Text Placeholder 2">
            <a:extLst>
              <a:ext uri="{FF2B5EF4-FFF2-40B4-BE49-F238E27FC236}">
                <a16:creationId xmlns:a16="http://schemas.microsoft.com/office/drawing/2014/main" id="{C89E0637-9B0E-C7C8-8F07-B1FE7E23FE3B}"/>
              </a:ext>
            </a:extLst>
          </p:cNvPr>
          <p:cNvSpPr>
            <a:spLocks noGrp="1"/>
          </p:cNvSpPr>
          <p:nvPr>
            <p:ph type="body" idx="1"/>
          </p:nvPr>
        </p:nvSpPr>
        <p:spPr>
          <a:xfrm>
            <a:off x="457200" y="1105258"/>
            <a:ext cx="8229600" cy="5020906"/>
          </a:xfrm>
        </p:spPr>
        <p:txBody>
          <a:bodyPr>
            <a:normAutofit fontScale="47500" lnSpcReduction="20000"/>
          </a:bodyPr>
          <a:lstStyle/>
          <a:p>
            <a:pPr marL="114300" indent="0">
              <a:buNone/>
            </a:pPr>
            <a:r>
              <a:rPr lang="en-IN" sz="3800" b="1" dirty="0">
                <a:latin typeface="Times New Roman" panose="02020603050405020304" pitchFamily="18" charset="0"/>
                <a:cs typeface="Times New Roman" panose="02020603050405020304" pitchFamily="18" charset="0"/>
              </a:rPr>
              <a:t>DATASET OVERVIEW </a:t>
            </a:r>
          </a:p>
          <a:p>
            <a:pPr lvl="0"/>
            <a:r>
              <a:rPr lang="en-IN" dirty="0">
                <a:latin typeface="Times New Roman" panose="02020603050405020304" pitchFamily="18" charset="0"/>
                <a:cs typeface="Times New Roman" panose="02020603050405020304" pitchFamily="18" charset="0"/>
              </a:rPr>
              <a:t>Dataset: NTSB Aviation Accident &amp; Incident Final Reports (2016–2023)</a:t>
            </a:r>
          </a:p>
          <a:p>
            <a:pPr lvl="0"/>
            <a:r>
              <a:rPr lang="en-IN" dirty="0">
                <a:latin typeface="Times New Roman" panose="02020603050405020304" pitchFamily="18" charset="0"/>
                <a:cs typeface="Times New Roman" panose="02020603050405020304" pitchFamily="18" charset="0"/>
              </a:rPr>
              <a:t>Source: </a:t>
            </a:r>
            <a:r>
              <a:rPr lang="en-IN" dirty="0" err="1">
                <a:latin typeface="Times New Roman" panose="02020603050405020304" pitchFamily="18" charset="0"/>
                <a:cs typeface="Times New Roman" panose="02020603050405020304" pitchFamily="18" charset="0"/>
              </a:rPr>
              <a:t>Zenodo</a:t>
            </a:r>
            <a:r>
              <a:rPr lang="en-IN" dirty="0">
                <a:latin typeface="Times New Roman" panose="02020603050405020304" pitchFamily="18" charset="0"/>
                <a:cs typeface="Times New Roman" panose="02020603050405020304" pitchFamily="18" charset="0"/>
              </a:rPr>
              <a:t> repository</a:t>
            </a:r>
          </a:p>
          <a:p>
            <a:pPr lvl="0"/>
            <a:r>
              <a:rPr lang="en-IN" dirty="0">
                <a:latin typeface="Times New Roman" panose="02020603050405020304" pitchFamily="18" charset="0"/>
                <a:cs typeface="Times New Roman" panose="02020603050405020304" pitchFamily="18" charset="0"/>
              </a:rPr>
              <a:t>Replaces originally planned FAA SDR dataset</a:t>
            </a:r>
          </a:p>
          <a:p>
            <a:pPr lvl="0"/>
            <a:r>
              <a:rPr lang="en-IN" dirty="0">
                <a:latin typeface="Times New Roman" panose="02020603050405020304" pitchFamily="18" charset="0"/>
                <a:cs typeface="Times New Roman" panose="02020603050405020304" pitchFamily="18" charset="0"/>
              </a:rPr>
              <a:t>Key fields available: </a:t>
            </a:r>
          </a:p>
          <a:p>
            <a:pPr lvl="1"/>
            <a:r>
              <a:rPr lang="en-IN" dirty="0" err="1">
                <a:latin typeface="Times New Roman" panose="02020603050405020304" pitchFamily="18" charset="0"/>
                <a:cs typeface="Times New Roman" panose="02020603050405020304" pitchFamily="18" charset="0"/>
              </a:rPr>
              <a:t>ProbableCause</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Findings</a:t>
            </a:r>
          </a:p>
          <a:p>
            <a:pPr lvl="1"/>
            <a:r>
              <a:rPr lang="en-IN" dirty="0">
                <a:latin typeface="Times New Roman" panose="02020603050405020304" pitchFamily="18" charset="0"/>
                <a:cs typeface="Times New Roman" panose="02020603050405020304" pitchFamily="18" charset="0"/>
              </a:rPr>
              <a:t>Full report text (</a:t>
            </a:r>
            <a:r>
              <a:rPr lang="en-IN" dirty="0" err="1">
                <a:latin typeface="Times New Roman" panose="02020603050405020304" pitchFamily="18" charset="0"/>
                <a:cs typeface="Times New Roman" panose="02020603050405020304" pitchFamily="18" charset="0"/>
              </a:rPr>
              <a:t>rep_text</a:t>
            </a:r>
            <a:r>
              <a:rPr lang="en-IN" dirty="0">
                <a:latin typeface="Times New Roman" panose="02020603050405020304" pitchFamily="18" charset="0"/>
                <a:cs typeface="Times New Roman" panose="02020603050405020304" pitchFamily="18" charset="0"/>
              </a:rPr>
              <a:t>)</a:t>
            </a:r>
          </a:p>
          <a:p>
            <a:pPr lvl="1"/>
            <a:r>
              <a:rPr lang="en-IN" dirty="0">
                <a:latin typeface="Times New Roman" panose="02020603050405020304" pitchFamily="18" charset="0"/>
                <a:cs typeface="Times New Roman" panose="02020603050405020304" pitchFamily="18" charset="0"/>
              </a:rPr>
              <a:t>Aircraft details</a:t>
            </a:r>
          </a:p>
          <a:p>
            <a:pPr lvl="1"/>
            <a:r>
              <a:rPr lang="en-IN" dirty="0">
                <a:latin typeface="Times New Roman" panose="02020603050405020304" pitchFamily="18" charset="0"/>
                <a:cs typeface="Times New Roman" panose="02020603050405020304" pitchFamily="18" charset="0"/>
              </a:rPr>
              <a:t>Weather context at time of incident</a:t>
            </a:r>
          </a:p>
          <a:p>
            <a:pPr lvl="0"/>
            <a:r>
              <a:rPr lang="en-IN" dirty="0">
                <a:latin typeface="Times New Roman" panose="02020603050405020304" pitchFamily="18" charset="0"/>
                <a:cs typeface="Times New Roman" panose="02020603050405020304" pitchFamily="18" charset="0"/>
              </a:rPr>
              <a:t>Adds root-cause narrative data needed for AERIS's explainability goals</a:t>
            </a:r>
          </a:p>
          <a:p>
            <a:pPr marL="114300" indent="0">
              <a:buNone/>
            </a:pPr>
            <a:endParaRPr lang="en-IN" sz="3800" b="1" dirty="0">
              <a:latin typeface="Times New Roman" panose="02020603050405020304" pitchFamily="18" charset="0"/>
              <a:cs typeface="Times New Roman" panose="02020603050405020304" pitchFamily="18" charset="0"/>
            </a:endParaRPr>
          </a:p>
          <a:p>
            <a:pPr marL="114300" indent="0">
              <a:buNone/>
            </a:pPr>
            <a:r>
              <a:rPr lang="en-IN" sz="3800" b="1" dirty="0">
                <a:latin typeface="Times New Roman" panose="02020603050405020304" pitchFamily="18" charset="0"/>
                <a:cs typeface="Times New Roman" panose="02020603050405020304" pitchFamily="18" charset="0"/>
              </a:rPr>
              <a:t>Why NTSB Was Chosen</a:t>
            </a:r>
          </a:p>
          <a:p>
            <a:r>
              <a:rPr lang="en-IN" b="1" dirty="0">
                <a:latin typeface="Times New Roman" panose="02020603050405020304" pitchFamily="18" charset="0"/>
                <a:cs typeface="Times New Roman" panose="02020603050405020304" pitchFamily="18" charset="0"/>
              </a:rPr>
              <a:t>Title:</a:t>
            </a:r>
            <a:r>
              <a:rPr lang="en-IN" dirty="0">
                <a:latin typeface="Times New Roman" panose="02020603050405020304" pitchFamily="18" charset="0"/>
                <a:cs typeface="Times New Roman" panose="02020603050405020304" pitchFamily="18" charset="0"/>
              </a:rPr>
              <a:t> NTSB – Dataset Selection Rationale</a:t>
            </a:r>
          </a:p>
          <a:p>
            <a:r>
              <a:rPr lang="en-IN" b="1" dirty="0">
                <a:latin typeface="Times New Roman" panose="02020603050405020304" pitchFamily="18" charset="0"/>
                <a:cs typeface="Times New Roman" panose="02020603050405020304" pitchFamily="18" charset="0"/>
              </a:rPr>
              <a:t>Bullets:</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FAA SDR dropped: too many missing values in critical fields, no root-cause narrative text</a:t>
            </a:r>
          </a:p>
          <a:p>
            <a:pPr lvl="0"/>
            <a:r>
              <a:rPr lang="en-IN" dirty="0">
                <a:latin typeface="Times New Roman" panose="02020603050405020304" pitchFamily="18" charset="0"/>
                <a:cs typeface="Times New Roman" panose="02020603050405020304" pitchFamily="18" charset="0"/>
              </a:rPr>
              <a:t>Kaggle "Civil Aviation Accidents" (ASN) dataset considered and rejected: </a:t>
            </a:r>
          </a:p>
          <a:p>
            <a:pPr lvl="1"/>
            <a:r>
              <a:rPr lang="en-IN" dirty="0">
                <a:latin typeface="Times New Roman" panose="02020603050405020304" pitchFamily="18" charset="0"/>
                <a:cs typeface="Times New Roman" panose="02020603050405020304" pitchFamily="18" charset="0"/>
              </a:rPr>
              <a:t>Only 9 shallow columns (date, type, registration, operator, fatalities, location, country, category, year)</a:t>
            </a:r>
          </a:p>
          <a:p>
            <a:pPr lvl="1"/>
            <a:r>
              <a:rPr lang="en-IN" dirty="0">
                <a:latin typeface="Times New Roman" panose="02020603050405020304" pitchFamily="18" charset="0"/>
                <a:cs typeface="Times New Roman" panose="02020603050405020304" pitchFamily="18" charset="0"/>
              </a:rPr>
              <a:t>Sufficient only for basic statistics, not root-cause </a:t>
            </a:r>
            <a:r>
              <a:rPr lang="en-IN" dirty="0" err="1">
                <a:latin typeface="Times New Roman" panose="02020603050405020304" pitchFamily="18" charset="0"/>
                <a:cs typeface="Times New Roman" panose="02020603050405020304" pitchFamily="18" charset="0"/>
              </a:rPr>
              <a:t>modeling</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NTSB selected for its rich narrative text (</a:t>
            </a:r>
            <a:r>
              <a:rPr lang="en-IN" dirty="0" err="1">
                <a:latin typeface="Times New Roman" panose="02020603050405020304" pitchFamily="18" charset="0"/>
                <a:cs typeface="Times New Roman" panose="02020603050405020304" pitchFamily="18" charset="0"/>
              </a:rPr>
              <a:t>ProbableCause</a:t>
            </a:r>
            <a:r>
              <a:rPr lang="en-IN" dirty="0">
                <a:latin typeface="Times New Roman" panose="02020603050405020304" pitchFamily="18" charset="0"/>
                <a:cs typeface="Times New Roman" panose="02020603050405020304" pitchFamily="18" charset="0"/>
              </a:rPr>
              <a:t>, Findings, </a:t>
            </a:r>
            <a:r>
              <a:rPr lang="en-IN" dirty="0" err="1">
                <a:latin typeface="Times New Roman" panose="02020603050405020304" pitchFamily="18" charset="0"/>
                <a:cs typeface="Times New Roman" panose="02020603050405020304" pitchFamily="18" charset="0"/>
              </a:rPr>
              <a:t>rep_text</a:t>
            </a:r>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Directly supports later Causal AI and RAG modules in AERIS</a:t>
            </a: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DACB20B-E981-70AF-9D9A-344AA68A4068}"/>
              </a:ext>
            </a:extLst>
          </p:cNvPr>
          <p:cNvSpPr>
            <a:spLocks noGrp="1"/>
          </p:cNvSpPr>
          <p:nvPr>
            <p:ph type="dt" idx="10"/>
          </p:nvPr>
        </p:nvSpPr>
        <p:spPr/>
        <p:txBody>
          <a:bodyPr/>
          <a:lstStyle/>
          <a:p>
            <a:r>
              <a:rPr lang="en-US" dirty="0"/>
              <a:t>/09/2026</a:t>
            </a:r>
          </a:p>
        </p:txBody>
      </p:sp>
      <p:sp>
        <p:nvSpPr>
          <p:cNvPr id="5" name="Footer Placeholder 4">
            <a:extLst>
              <a:ext uri="{FF2B5EF4-FFF2-40B4-BE49-F238E27FC236}">
                <a16:creationId xmlns:a16="http://schemas.microsoft.com/office/drawing/2014/main" id="{C6411F51-711C-374C-EA59-EFB2FE0182E9}"/>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BE039435-001B-05D3-DB71-20D3F69766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extLst>
      <p:ext uri="{BB962C8B-B14F-4D97-AF65-F5344CB8AC3E}">
        <p14:creationId xmlns:p14="http://schemas.microsoft.com/office/powerpoint/2010/main" val="29516074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D6E9-9FB0-CED9-C6B7-462FA166667B}"/>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NTSB – Data Processing &amp; Metadata Generation</a:t>
            </a:r>
          </a:p>
        </p:txBody>
      </p:sp>
      <p:sp>
        <p:nvSpPr>
          <p:cNvPr id="3" name="Text Placeholder 2">
            <a:extLst>
              <a:ext uri="{FF2B5EF4-FFF2-40B4-BE49-F238E27FC236}">
                <a16:creationId xmlns:a16="http://schemas.microsoft.com/office/drawing/2014/main" id="{170C1AB5-B7F9-0E6E-61AD-1279B792C6E3}"/>
              </a:ext>
            </a:extLst>
          </p:cNvPr>
          <p:cNvSpPr>
            <a:spLocks noGrp="1"/>
          </p:cNvSpPr>
          <p:nvPr>
            <p:ph type="body" idx="1"/>
          </p:nvPr>
        </p:nvSpPr>
        <p:spPr/>
        <p:txBody>
          <a:bodyPr>
            <a:normAutofit fontScale="70000" lnSpcReduction="20000"/>
          </a:bodyPr>
          <a:lstStyle/>
          <a:p>
            <a:pPr lvl="0"/>
            <a:r>
              <a:rPr lang="en-IN" dirty="0">
                <a:latin typeface="Times New Roman" panose="02020603050405020304" pitchFamily="18" charset="0"/>
                <a:cs typeface="Times New Roman" panose="02020603050405020304" pitchFamily="18" charset="0"/>
              </a:rPr>
              <a:t>Resolved CSV parsing issues; data now loads cleanly for processing</a:t>
            </a:r>
          </a:p>
          <a:p>
            <a:pPr lvl="0"/>
            <a:r>
              <a:rPr lang="en-IN" dirty="0">
                <a:latin typeface="Times New Roman" panose="02020603050405020304" pitchFamily="18" charset="0"/>
                <a:cs typeface="Times New Roman" panose="02020603050405020304" pitchFamily="18" charset="0"/>
              </a:rPr>
              <a:t>Cleaned and </a:t>
            </a:r>
            <a:r>
              <a:rPr lang="en-IN" dirty="0" err="1">
                <a:latin typeface="Times New Roman" panose="02020603050405020304" pitchFamily="18" charset="0"/>
                <a:cs typeface="Times New Roman" panose="02020603050405020304" pitchFamily="18" charset="0"/>
              </a:rPr>
              <a:t>preprocessed</a:t>
            </a:r>
            <a:r>
              <a:rPr lang="en-IN" dirty="0">
                <a:latin typeface="Times New Roman" panose="02020603050405020304" pitchFamily="18" charset="0"/>
                <a:cs typeface="Times New Roman" panose="02020603050405020304" pitchFamily="18" charset="0"/>
              </a:rPr>
              <a:t> accident reports: </a:t>
            </a:r>
          </a:p>
          <a:p>
            <a:pPr lvl="1"/>
            <a:r>
              <a:rPr lang="en-IN" dirty="0">
                <a:latin typeface="Times New Roman" panose="02020603050405020304" pitchFamily="18" charset="0"/>
                <a:cs typeface="Times New Roman" panose="02020603050405020304" pitchFamily="18" charset="0"/>
              </a:rPr>
              <a:t>Handled missing values</a:t>
            </a:r>
          </a:p>
          <a:p>
            <a:pPr lvl="1"/>
            <a:r>
              <a:rPr lang="en-IN" dirty="0">
                <a:latin typeface="Times New Roman" panose="02020603050405020304" pitchFamily="18" charset="0"/>
                <a:cs typeface="Times New Roman" panose="02020603050405020304" pitchFamily="18" charset="0"/>
              </a:rPr>
              <a:t>Removed unnecessary/redundant fields</a:t>
            </a:r>
          </a:p>
          <a:p>
            <a:pPr lvl="0"/>
            <a:r>
              <a:rPr lang="en-IN" dirty="0">
                <a:latin typeface="Times New Roman" panose="02020603050405020304" pitchFamily="18" charset="0"/>
                <a:cs typeface="Times New Roman" panose="02020603050405020304" pitchFamily="18" charset="0"/>
              </a:rPr>
              <a:t>Extracted structured metadata from reports: </a:t>
            </a:r>
          </a:p>
          <a:p>
            <a:pPr lvl="1"/>
            <a:r>
              <a:rPr lang="en-IN" dirty="0">
                <a:latin typeface="Times New Roman" panose="02020603050405020304" pitchFamily="18" charset="0"/>
                <a:cs typeface="Times New Roman" panose="02020603050405020304" pitchFamily="18" charset="0"/>
              </a:rPr>
              <a:t>Aircraft details</a:t>
            </a:r>
          </a:p>
          <a:p>
            <a:pPr lvl="1"/>
            <a:r>
              <a:rPr lang="en-IN" dirty="0">
                <a:latin typeface="Times New Roman" panose="02020603050405020304" pitchFamily="18" charset="0"/>
                <a:cs typeface="Times New Roman" panose="02020603050405020304" pitchFamily="18" charset="0"/>
              </a:rPr>
              <a:t>Weather conditions</a:t>
            </a:r>
          </a:p>
          <a:p>
            <a:pPr lvl="1"/>
            <a:r>
              <a:rPr lang="en-IN" dirty="0">
                <a:latin typeface="Times New Roman" panose="02020603050405020304" pitchFamily="18" charset="0"/>
                <a:cs typeface="Times New Roman" panose="02020603050405020304" pitchFamily="18" charset="0"/>
              </a:rPr>
              <a:t>Flight phase</a:t>
            </a:r>
          </a:p>
          <a:p>
            <a:pPr lvl="1"/>
            <a:r>
              <a:rPr lang="en-IN" dirty="0">
                <a:latin typeface="Times New Roman" panose="02020603050405020304" pitchFamily="18" charset="0"/>
                <a:cs typeface="Times New Roman" panose="02020603050405020304" pitchFamily="18" charset="0"/>
              </a:rPr>
              <a:t>Location</a:t>
            </a:r>
          </a:p>
          <a:p>
            <a:pPr lvl="1"/>
            <a:r>
              <a:rPr lang="en-IN" dirty="0">
                <a:latin typeface="Times New Roman" panose="02020603050405020304" pitchFamily="18" charset="0"/>
                <a:cs typeface="Times New Roman" panose="02020603050405020304" pitchFamily="18" charset="0"/>
              </a:rPr>
              <a:t>Injuries</a:t>
            </a:r>
          </a:p>
          <a:p>
            <a:pPr lvl="1"/>
            <a:r>
              <a:rPr lang="en-IN" dirty="0">
                <a:latin typeface="Times New Roman" panose="02020603050405020304" pitchFamily="18" charset="0"/>
                <a:cs typeface="Times New Roman" panose="02020603050405020304" pitchFamily="18" charset="0"/>
              </a:rPr>
              <a:t>Probable cause</a:t>
            </a:r>
          </a:p>
          <a:p>
            <a:pPr lvl="0"/>
            <a:r>
              <a:rPr lang="en-IN" dirty="0">
                <a:latin typeface="Times New Roman" panose="02020603050405020304" pitchFamily="18" charset="0"/>
                <a:cs typeface="Times New Roman" panose="02020603050405020304" pitchFamily="18" charset="0"/>
              </a:rPr>
              <a:t>Generated metadata files to support downstream embedding &amp; retrieval (RAG pipeline)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7580C90-F995-5705-C6D5-A6781AAED260}"/>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37389236-B41D-3BFB-8AFF-A8872128F02F}"/>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4BFC1CB6-9B36-EE02-743F-3EF06A5ABB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extLst>
      <p:ext uri="{BB962C8B-B14F-4D97-AF65-F5344CB8AC3E}">
        <p14:creationId xmlns:p14="http://schemas.microsoft.com/office/powerpoint/2010/main" val="3820268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6241-46E9-C848-A3E0-542E68FB0738}"/>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NTSB – Next Steps</a:t>
            </a:r>
          </a:p>
        </p:txBody>
      </p:sp>
      <p:sp>
        <p:nvSpPr>
          <p:cNvPr id="4" name="Date Placeholder 3">
            <a:extLst>
              <a:ext uri="{FF2B5EF4-FFF2-40B4-BE49-F238E27FC236}">
                <a16:creationId xmlns:a16="http://schemas.microsoft.com/office/drawing/2014/main" id="{4DE6D02D-CFFA-BBDA-A2F6-7988CEE356D2}"/>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77F14C77-E478-6C4B-B430-D4CC7FE13D0D}"/>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856C75EB-F6FA-8929-97EF-3089A1E94D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
        <p:nvSpPr>
          <p:cNvPr id="8" name="Flowchart: Alternate Process 7">
            <a:extLst>
              <a:ext uri="{FF2B5EF4-FFF2-40B4-BE49-F238E27FC236}">
                <a16:creationId xmlns:a16="http://schemas.microsoft.com/office/drawing/2014/main" id="{CE16B9A0-66EE-8369-9E16-373F841AB821}"/>
              </a:ext>
            </a:extLst>
          </p:cNvPr>
          <p:cNvSpPr/>
          <p:nvPr/>
        </p:nvSpPr>
        <p:spPr>
          <a:xfrm>
            <a:off x="573958" y="3335390"/>
            <a:ext cx="3817374" cy="2814484"/>
          </a:xfrm>
          <a:prstGeom prst="flowChartAlternateProcess">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IN" b="1" dirty="0">
                <a:solidFill>
                  <a:schemeClr val="tx1"/>
                </a:solidFill>
                <a:latin typeface="Times New Roman" panose="02020603050405020304" pitchFamily="18" charset="0"/>
                <a:cs typeface="Times New Roman" panose="02020603050405020304" pitchFamily="18" charset="0"/>
              </a:rPr>
              <a:t>WHAT WE DID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Cleaned and </a:t>
            </a:r>
            <a:r>
              <a:rPr lang="en-IN" sz="1500" dirty="0" err="1">
                <a:solidFill>
                  <a:schemeClr val="tx1"/>
                </a:solidFill>
                <a:latin typeface="Times New Roman" panose="02020603050405020304" pitchFamily="18" charset="0"/>
                <a:cs typeface="Times New Roman" panose="02020603050405020304" pitchFamily="18" charset="0"/>
              </a:rPr>
              <a:t>preprocessed</a:t>
            </a:r>
            <a:r>
              <a:rPr lang="en-IN" sz="1500" dirty="0">
                <a:solidFill>
                  <a:schemeClr val="tx1"/>
                </a:solidFill>
                <a:latin typeface="Times New Roman" panose="02020603050405020304" pitchFamily="18" charset="0"/>
                <a:cs typeface="Times New Roman" panose="02020603050405020304" pitchFamily="18" charset="0"/>
              </a:rPr>
              <a:t> accident reports by handling missing values and removing unnecessary fields.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Extracted structured metadata (aircraft, weather, flight phase, location, injuries, probable cause).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Generated metadata files for downstream embedding and retrieval.</a:t>
            </a:r>
          </a:p>
        </p:txBody>
      </p:sp>
      <p:sp>
        <p:nvSpPr>
          <p:cNvPr id="10" name="Flowchart: Alternate Process 9">
            <a:extLst>
              <a:ext uri="{FF2B5EF4-FFF2-40B4-BE49-F238E27FC236}">
                <a16:creationId xmlns:a16="http://schemas.microsoft.com/office/drawing/2014/main" id="{A3AD2EFB-3AED-619A-27F9-D2FEFD3165B5}"/>
              </a:ext>
            </a:extLst>
          </p:cNvPr>
          <p:cNvSpPr/>
          <p:nvPr/>
        </p:nvSpPr>
        <p:spPr>
          <a:xfrm>
            <a:off x="4752668" y="3311680"/>
            <a:ext cx="3817374" cy="2814484"/>
          </a:xfrm>
          <a:prstGeom prst="flowChartAlternateProcess">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500" b="1" dirty="0">
                <a:solidFill>
                  <a:schemeClr val="tx1"/>
                </a:solidFill>
                <a:latin typeface="Times New Roman" panose="02020603050405020304" pitchFamily="18" charset="0"/>
                <a:cs typeface="Times New Roman" panose="02020603050405020304" pitchFamily="18" charset="0"/>
              </a:rPr>
              <a:t>ROLE IN AERIS</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Provides </a:t>
            </a:r>
            <a:r>
              <a:rPr lang="en-IN" sz="1500" b="1" dirty="0">
                <a:solidFill>
                  <a:schemeClr val="tx1"/>
                </a:solidFill>
                <a:latin typeface="Times New Roman" panose="02020603050405020304" pitchFamily="18" charset="0"/>
                <a:cs typeface="Times New Roman" panose="02020603050405020304" pitchFamily="18" charset="0"/>
              </a:rPr>
              <a:t>maintenance knowledge and failure context</a:t>
            </a:r>
            <a:r>
              <a:rPr lang="en-IN" sz="1500" dirty="0">
                <a:solidFill>
                  <a:schemeClr val="tx1"/>
                </a:solidFill>
                <a:latin typeface="Times New Roman" panose="02020603050405020304" pitchFamily="18" charset="0"/>
                <a:cs typeface="Times New Roman" panose="02020603050405020304" pitchFamily="18" charset="0"/>
              </a:rPr>
              <a:t> unavailable in sensor data.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Supports </a:t>
            </a:r>
            <a:r>
              <a:rPr lang="en-IN" sz="1500" b="1" dirty="0">
                <a:solidFill>
                  <a:schemeClr val="tx1"/>
                </a:solidFill>
                <a:latin typeface="Times New Roman" panose="02020603050405020304" pitchFamily="18" charset="0"/>
                <a:cs typeface="Times New Roman" panose="02020603050405020304" pitchFamily="18" charset="0"/>
              </a:rPr>
              <a:t>Knowledge Graph</a:t>
            </a:r>
            <a:r>
              <a:rPr lang="en-IN" sz="1500" dirty="0">
                <a:solidFill>
                  <a:schemeClr val="tx1"/>
                </a:solidFill>
                <a:latin typeface="Times New Roman" panose="02020603050405020304" pitchFamily="18" charset="0"/>
                <a:cs typeface="Times New Roman" panose="02020603050405020304" pitchFamily="18" charset="0"/>
              </a:rPr>
              <a:t>, </a:t>
            </a:r>
            <a:r>
              <a:rPr lang="en-IN" sz="1500" b="1" dirty="0">
                <a:solidFill>
                  <a:schemeClr val="tx1"/>
                </a:solidFill>
                <a:latin typeface="Times New Roman" panose="02020603050405020304" pitchFamily="18" charset="0"/>
                <a:cs typeface="Times New Roman" panose="02020603050405020304" pitchFamily="18" charset="0"/>
              </a:rPr>
              <a:t>RAG</a:t>
            </a:r>
            <a:r>
              <a:rPr lang="en-IN" sz="1500" dirty="0">
                <a:solidFill>
                  <a:schemeClr val="tx1"/>
                </a:solidFill>
                <a:latin typeface="Times New Roman" panose="02020603050405020304" pitchFamily="18" charset="0"/>
                <a:cs typeface="Times New Roman" panose="02020603050405020304" pitchFamily="18" charset="0"/>
              </a:rPr>
              <a:t>, and </a:t>
            </a:r>
            <a:r>
              <a:rPr lang="en-IN" sz="1500" b="1" dirty="0">
                <a:solidFill>
                  <a:schemeClr val="tx1"/>
                </a:solidFill>
                <a:latin typeface="Times New Roman" panose="02020603050405020304" pitchFamily="18" charset="0"/>
                <a:cs typeface="Times New Roman" panose="02020603050405020304" pitchFamily="18" charset="0"/>
              </a:rPr>
              <a:t>LLM-based reasoning</a:t>
            </a:r>
            <a:r>
              <a:rPr lang="en-IN" sz="1500" dirty="0">
                <a:solidFill>
                  <a:schemeClr val="tx1"/>
                </a:solidFill>
                <a:latin typeface="Times New Roman" panose="02020603050405020304" pitchFamily="18" charset="0"/>
                <a:cs typeface="Times New Roman" panose="02020603050405020304" pitchFamily="18" charset="0"/>
              </a:rPr>
              <a:t> for explainable fault investigation.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Contributes evidence to the </a:t>
            </a:r>
            <a:r>
              <a:rPr lang="en-IN" sz="1500" b="1" dirty="0">
                <a:solidFill>
                  <a:schemeClr val="tx1"/>
                </a:solidFill>
                <a:latin typeface="Times New Roman" panose="02020603050405020304" pitchFamily="18" charset="0"/>
                <a:cs typeface="Times New Roman" panose="02020603050405020304" pitchFamily="18" charset="0"/>
              </a:rPr>
              <a:t>Dempster–Shafer Fusion</a:t>
            </a:r>
            <a:r>
              <a:rPr lang="en-IN" sz="1500" dirty="0">
                <a:solidFill>
                  <a:schemeClr val="tx1"/>
                </a:solidFill>
                <a:latin typeface="Times New Roman" panose="02020603050405020304" pitchFamily="18" charset="0"/>
                <a:cs typeface="Times New Roman" panose="02020603050405020304" pitchFamily="18" charset="0"/>
              </a:rPr>
              <a:t> module for final decision making.</a:t>
            </a:r>
          </a:p>
        </p:txBody>
      </p:sp>
      <p:sp>
        <p:nvSpPr>
          <p:cNvPr id="12" name="TextBox 11">
            <a:extLst>
              <a:ext uri="{FF2B5EF4-FFF2-40B4-BE49-F238E27FC236}">
                <a16:creationId xmlns:a16="http://schemas.microsoft.com/office/drawing/2014/main" id="{F6CEAC96-081D-5630-78A4-9E53F257696C}"/>
              </a:ext>
            </a:extLst>
          </p:cNvPr>
          <p:cNvSpPr txBox="1"/>
          <p:nvPr/>
        </p:nvSpPr>
        <p:spPr>
          <a:xfrm>
            <a:off x="855406" y="1417638"/>
            <a:ext cx="7831394" cy="1477328"/>
          </a:xfrm>
          <a:prstGeom prst="rect">
            <a:avLst/>
          </a:prstGeom>
          <a:noFill/>
        </p:spPr>
        <p:txBody>
          <a:bodyPr wrap="square" rtlCol="0">
            <a:spAutoFit/>
          </a:bodyPr>
          <a:lstStyle/>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Generate text embeddings from cleaned report text (</a:t>
            </a:r>
            <a:r>
              <a:rPr lang="en-IN" sz="1800" dirty="0" err="1">
                <a:latin typeface="Times New Roman" panose="02020603050405020304" pitchFamily="18" charset="0"/>
                <a:cs typeface="Times New Roman" panose="02020603050405020304" pitchFamily="18" charset="0"/>
              </a:rPr>
              <a:t>rep_text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ProbableCause</a:t>
            </a:r>
            <a:r>
              <a:rPr lang="en-IN" sz="1800" dirty="0">
                <a:latin typeface="Times New Roman" panose="02020603050405020304" pitchFamily="18" charset="0"/>
                <a:cs typeface="Times New Roman" panose="02020603050405020304" pitchFamily="18" charset="0"/>
              </a:rPr>
              <a:t>, Findings)</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Build retrieval pipeline (FAISS) using extracted metadata for filtering/context</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Design NLP-based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approach (classification/retrieval) for root-cause signals</a:t>
            </a:r>
          </a:p>
        </p:txBody>
      </p:sp>
    </p:spTree>
    <p:extLst>
      <p:ext uri="{BB962C8B-B14F-4D97-AF65-F5344CB8AC3E}">
        <p14:creationId xmlns:p14="http://schemas.microsoft.com/office/powerpoint/2010/main" val="2742297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D6F0-6FAF-D2B9-1D2A-2B4898B4A52E}"/>
              </a:ext>
            </a:extLst>
          </p:cNvPr>
          <p:cNvSpPr>
            <a:spLocks noGrp="1"/>
          </p:cNvSpPr>
          <p:nvPr>
            <p:ph type="title"/>
          </p:nvPr>
        </p:nvSpPr>
        <p:spPr>
          <a:xfrm>
            <a:off x="457200" y="274638"/>
            <a:ext cx="8229600" cy="915065"/>
          </a:xfrm>
        </p:spPr>
        <p:txBody>
          <a:bodyPr>
            <a:normAutofit fontScale="90000"/>
          </a:bodyPr>
          <a:lstStyle/>
          <a:p>
            <a:r>
              <a:rPr lang="en-IN" dirty="0">
                <a:latin typeface="Times New Roman" panose="02020603050405020304" pitchFamily="18" charset="0"/>
                <a:cs typeface="Times New Roman" panose="02020603050405020304" pitchFamily="18" charset="0"/>
              </a:rPr>
              <a:t>UPCOMING IMPLEMENTATION </a:t>
            </a:r>
          </a:p>
        </p:txBody>
      </p:sp>
      <p:sp>
        <p:nvSpPr>
          <p:cNvPr id="4" name="Date Placeholder 3">
            <a:extLst>
              <a:ext uri="{FF2B5EF4-FFF2-40B4-BE49-F238E27FC236}">
                <a16:creationId xmlns:a16="http://schemas.microsoft.com/office/drawing/2014/main" id="{5AA589BE-56EA-C8A8-B5E6-0379BC2938D8}"/>
              </a:ext>
            </a:extLst>
          </p:cNvPr>
          <p:cNvSpPr>
            <a:spLocks noGrp="1"/>
          </p:cNvSpPr>
          <p:nvPr>
            <p:ph type="dt" idx="10"/>
          </p:nvPr>
        </p:nvSpPr>
        <p:spPr/>
        <p:txBody>
          <a:bodyPr/>
          <a:lstStyle/>
          <a:p>
            <a:r>
              <a:rPr lang="en-US" dirty="0"/>
              <a:t>07/09/2026</a:t>
            </a:r>
          </a:p>
        </p:txBody>
      </p:sp>
      <p:sp>
        <p:nvSpPr>
          <p:cNvPr id="5" name="Footer Placeholder 4">
            <a:extLst>
              <a:ext uri="{FF2B5EF4-FFF2-40B4-BE49-F238E27FC236}">
                <a16:creationId xmlns:a16="http://schemas.microsoft.com/office/drawing/2014/main" id="{49503B5F-DDCA-F02C-C018-342DB9EE7443}"/>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D966AE3F-90E7-D621-B74E-6FF3638BFC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
        <p:nvSpPr>
          <p:cNvPr id="9" name="Rectangle: Rounded Corners 8">
            <a:extLst>
              <a:ext uri="{FF2B5EF4-FFF2-40B4-BE49-F238E27FC236}">
                <a16:creationId xmlns:a16="http://schemas.microsoft.com/office/drawing/2014/main" id="{FBD348BE-6BFC-CA09-2463-0E55531F60C3}"/>
              </a:ext>
            </a:extLst>
          </p:cNvPr>
          <p:cNvSpPr/>
          <p:nvPr/>
        </p:nvSpPr>
        <p:spPr>
          <a:xfrm>
            <a:off x="457200" y="1553699"/>
            <a:ext cx="3814916" cy="2271252"/>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b="1" dirty="0">
                <a:solidFill>
                  <a:schemeClr val="tx1"/>
                </a:solidFill>
                <a:latin typeface="Times New Roman" panose="02020603050405020304" pitchFamily="18" charset="0"/>
                <a:cs typeface="Times New Roman" panose="02020603050405020304" pitchFamily="18" charset="0"/>
              </a:rPr>
              <a:t>1. Evidence Object Generation</a:t>
            </a:r>
          </a:p>
          <a:p>
            <a:r>
              <a:rPr lang="en-IN" dirty="0">
                <a:solidFill>
                  <a:schemeClr val="tx1"/>
                </a:solidFill>
                <a:latin typeface="Times New Roman" panose="02020603050405020304" pitchFamily="18" charset="0"/>
                <a:cs typeface="Times New Roman" panose="02020603050405020304" pitchFamily="18" charset="0"/>
              </a:rPr>
              <a:t>Convert processed NTSB information into standardized evidence objects containing:</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Aircraft information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Failure category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Weather conditions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Flight phase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Investigation confidence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Text embeddings</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9D03978C-17DB-12CC-F82A-FEE5B1E5141C}"/>
              </a:ext>
            </a:extLst>
          </p:cNvPr>
          <p:cNvSpPr/>
          <p:nvPr/>
        </p:nvSpPr>
        <p:spPr>
          <a:xfrm>
            <a:off x="2290915" y="4355689"/>
            <a:ext cx="5201265" cy="1469923"/>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700" b="1" dirty="0">
                <a:solidFill>
                  <a:schemeClr val="tx1"/>
                </a:solidFill>
                <a:latin typeface="Times New Roman" panose="02020603050405020304" pitchFamily="18" charset="0"/>
                <a:cs typeface="Times New Roman" panose="02020603050405020304" pitchFamily="18" charset="0"/>
              </a:rPr>
              <a:t>    Expected Output</a:t>
            </a:r>
          </a:p>
          <a:p>
            <a:pPr algn="ctr"/>
            <a:r>
              <a:rPr lang="en-IN" dirty="0">
                <a:solidFill>
                  <a:schemeClr val="tx1"/>
                </a:solidFill>
                <a:latin typeface="Times New Roman" panose="02020603050405020304" pitchFamily="18" charset="0"/>
                <a:cs typeface="Times New Roman" panose="02020603050405020304" pitchFamily="18" charset="0"/>
              </a:rPr>
              <a:t>Structured investigation evidence </a:t>
            </a:r>
          </a:p>
          <a:p>
            <a:pPr lvl="0" algn="ctr"/>
            <a:r>
              <a:rPr lang="en-IN" dirty="0">
                <a:solidFill>
                  <a:schemeClr val="tx1"/>
                </a:solidFill>
                <a:latin typeface="Times New Roman" panose="02020603050405020304" pitchFamily="18" charset="0"/>
                <a:cs typeface="Times New Roman" panose="02020603050405020304" pitchFamily="18" charset="0"/>
              </a:rPr>
              <a:t>      Unified confidence through evidence fusion </a:t>
            </a:r>
          </a:p>
          <a:p>
            <a:pPr lvl="0" algn="ctr"/>
            <a:r>
              <a:rPr lang="en-IN" dirty="0">
                <a:solidFill>
                  <a:schemeClr val="tx1"/>
                </a:solidFill>
                <a:latin typeface="Times New Roman" panose="02020603050405020304" pitchFamily="18" charset="0"/>
                <a:cs typeface="Times New Roman" panose="02020603050405020304" pitchFamily="18" charset="0"/>
              </a:rPr>
              <a:t>           Historical context for intelligent failure analysis </a:t>
            </a:r>
          </a:p>
          <a:p>
            <a:pPr lvl="2" algn="ctr"/>
            <a:r>
              <a:rPr lang="en-IN" dirty="0">
                <a:solidFill>
                  <a:schemeClr val="tx1"/>
                </a:solidFill>
                <a:latin typeface="Times New Roman" panose="02020603050405020304" pitchFamily="18" charset="0"/>
                <a:cs typeface="Times New Roman" panose="02020603050405020304" pitchFamily="18" charset="0"/>
              </a:rPr>
              <a:t>      Foundation for Phase 2 reasoning modules </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6B10B809-BAB6-DEDC-CB04-99EBD60673D8}"/>
              </a:ext>
            </a:extLst>
          </p:cNvPr>
          <p:cNvSpPr/>
          <p:nvPr/>
        </p:nvSpPr>
        <p:spPr>
          <a:xfrm>
            <a:off x="4778478" y="1553699"/>
            <a:ext cx="3814916" cy="2271252"/>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b="1" dirty="0">
                <a:solidFill>
                  <a:schemeClr val="tx1"/>
                </a:solidFill>
                <a:latin typeface="Times New Roman" panose="02020603050405020304" pitchFamily="18" charset="0"/>
                <a:cs typeface="Times New Roman" panose="02020603050405020304" pitchFamily="18" charset="0"/>
              </a:rPr>
              <a:t>2. Dempster–Shafer Evidence Fusion</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Combine NTSB evidence with C-MAPSS and NGAFID outputs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Handle uncertainty between multiple evidence sources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Generate a unified confidence score for aircraft health assessment</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7319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21C0C278-C356-CA58-BFB7-41DBFB1A24F1}"/>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7A17B36D-0537-5812-020F-DC038FEE5655}"/>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52620C57-1597-50C8-C866-228D622F685B}"/>
              </a:ext>
            </a:extLst>
          </p:cNvPr>
          <p:cNvSpPr txBox="1">
            <a:spLocks noGrp="1"/>
          </p:cNvSpPr>
          <p:nvPr>
            <p:ph type="body" idx="1"/>
          </p:nvPr>
        </p:nvSpPr>
        <p:spPr>
          <a:xfrm>
            <a:off x="526026" y="1012723"/>
            <a:ext cx="8229600" cy="5456903"/>
          </a:xfrm>
          <a:prstGeom prst="rect">
            <a:avLst/>
          </a:prstGeom>
          <a:noFill/>
          <a:ln>
            <a:noFill/>
          </a:ln>
        </p:spPr>
        <p:txBody>
          <a:bodyPr spcFirstLastPara="1" wrap="square" lIns="91425" tIns="45700" rIns="91425" bIns="45700" anchor="t" anchorCtr="0">
            <a:normAutofit fontScale="90000" lnSpcReduction="20000"/>
          </a:bodyPr>
          <a:lstStyle/>
          <a:p>
            <a:pPr marL="114300" indent="0">
              <a:buNone/>
            </a:pPr>
            <a:r>
              <a:rPr lang="en-IN" sz="2000" b="1" dirty="0">
                <a:latin typeface="Times New Roman" panose="02020603050405020304" pitchFamily="18" charset="0"/>
                <a:cs typeface="Times New Roman" panose="02020603050405020304" pitchFamily="18" charset="0"/>
              </a:rPr>
              <a:t>Transformer-Based Aircraft Fault Detection</a:t>
            </a:r>
            <a:endParaRPr lang="en-IN" sz="20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NGAFID flight sensor time-series </a:t>
            </a:r>
          </a:p>
          <a:p>
            <a:pPr lvl="0"/>
            <a:r>
              <a:rPr lang="en-IN" sz="1800" dirty="0">
                <a:latin typeface="Times New Roman" panose="02020603050405020304" pitchFamily="18" charset="0"/>
                <a:cs typeface="Times New Roman" panose="02020603050405020304" pitchFamily="18" charset="0"/>
              </a:rPr>
              <a:t>Binary classification: </a:t>
            </a:r>
            <a:r>
              <a:rPr lang="en-IN" sz="1800" b="1" dirty="0">
                <a:latin typeface="Times New Roman" panose="02020603050405020304" pitchFamily="18" charset="0"/>
                <a:cs typeface="Times New Roman" panose="02020603050405020304" pitchFamily="18" charset="0"/>
              </a:rPr>
              <a:t>Normal vs Fault</a:t>
            </a:r>
            <a:r>
              <a:rPr lang="en-IN" sz="1800" dirty="0">
                <a:latin typeface="Times New Roman" panose="02020603050405020304" pitchFamily="18" charset="0"/>
                <a:cs typeface="Times New Roman" panose="02020603050405020304" pitchFamily="18" charset="0"/>
              </a:rPr>
              <a:t> </a:t>
            </a:r>
          </a:p>
          <a:p>
            <a:pPr lvl="0"/>
            <a:r>
              <a:rPr lang="en-IN" sz="1800" dirty="0">
                <a:latin typeface="Times New Roman" panose="02020603050405020304" pitchFamily="18" charset="0"/>
                <a:cs typeface="Times New Roman" panose="02020603050405020304" pitchFamily="18" charset="0"/>
              </a:rPr>
              <a:t>Current stage: </a:t>
            </a:r>
            <a:r>
              <a:rPr lang="en-IN" sz="1800" b="1" dirty="0">
                <a:latin typeface="Times New Roman" panose="02020603050405020304" pitchFamily="18" charset="0"/>
                <a:cs typeface="Times New Roman" panose="02020603050405020304" pitchFamily="18" charset="0"/>
              </a:rPr>
              <a:t>Baseline model completed</a:t>
            </a:r>
          </a:p>
          <a:p>
            <a:pPr lvl="0"/>
            <a:endParaRPr lang="en-IN" sz="1800" dirty="0">
              <a:latin typeface="Times New Roman" panose="02020603050405020304" pitchFamily="18" charset="0"/>
              <a:cs typeface="Times New Roman" panose="02020603050405020304" pitchFamily="18" charset="0"/>
            </a:endParaRPr>
          </a:p>
          <a:p>
            <a:pPr marL="114300" indent="0">
              <a:buNone/>
            </a:pPr>
            <a:r>
              <a:rPr lang="en-IN" sz="2000" b="1" dirty="0">
                <a:latin typeface="Times New Roman" panose="02020603050405020304" pitchFamily="18" charset="0"/>
                <a:cs typeface="Times New Roman" panose="02020603050405020304" pitchFamily="18" charset="0"/>
              </a:rPr>
              <a:t>Dataset &amp; Input</a:t>
            </a:r>
          </a:p>
          <a:p>
            <a:pPr lvl="0"/>
            <a:r>
              <a:rPr lang="en-IN" sz="1800" b="1" dirty="0">
                <a:latin typeface="Times New Roman" panose="02020603050405020304" pitchFamily="18" charset="0"/>
                <a:cs typeface="Times New Roman" panose="02020603050405020304" pitchFamily="18" charset="0"/>
              </a:rPr>
              <a:t>40 / 401</a:t>
            </a:r>
            <a:r>
              <a:rPr lang="en-IN" sz="1800" dirty="0">
                <a:latin typeface="Times New Roman" panose="02020603050405020304" pitchFamily="18" charset="0"/>
                <a:cs typeface="Times New Roman" panose="02020603050405020304" pitchFamily="18" charset="0"/>
              </a:rPr>
              <a:t> parquet files loaded </a:t>
            </a:r>
          </a:p>
          <a:p>
            <a:pPr lvl="0"/>
            <a:r>
              <a:rPr lang="en-IN" sz="1800" b="1" dirty="0">
                <a:latin typeface="Times New Roman" panose="02020603050405020304" pitchFamily="18" charset="0"/>
                <a:cs typeface="Times New Roman" panose="02020603050405020304" pitchFamily="18" charset="0"/>
              </a:rPr>
              <a:t>9.6M</a:t>
            </a:r>
            <a:r>
              <a:rPr lang="en-IN" sz="1800" dirty="0">
                <a:latin typeface="Times New Roman" panose="02020603050405020304" pitchFamily="18" charset="0"/>
                <a:cs typeface="Times New Roman" panose="02020603050405020304" pitchFamily="18" charset="0"/>
              </a:rPr>
              <a:t> sensor rows </a:t>
            </a:r>
          </a:p>
          <a:p>
            <a:pPr lvl="0"/>
            <a:r>
              <a:rPr lang="en-IN" sz="1800" b="1" dirty="0">
                <a:latin typeface="Times New Roman" panose="02020603050405020304" pitchFamily="18" charset="0"/>
                <a:cs typeface="Times New Roman" panose="02020603050405020304" pitchFamily="18" charset="0"/>
              </a:rPr>
              <a:t>2,070</a:t>
            </a:r>
            <a:r>
              <a:rPr lang="en-IN" sz="1800" dirty="0">
                <a:latin typeface="Times New Roman" panose="02020603050405020304" pitchFamily="18" charset="0"/>
                <a:cs typeface="Times New Roman" panose="02020603050405020304" pitchFamily="18" charset="0"/>
              </a:rPr>
              <a:t> usable flights </a:t>
            </a:r>
          </a:p>
          <a:p>
            <a:pPr lvl="0"/>
            <a:r>
              <a:rPr lang="en-IN" sz="1800" dirty="0">
                <a:latin typeface="Times New Roman" panose="02020603050405020304" pitchFamily="18" charset="0"/>
                <a:cs typeface="Times New Roman" panose="02020603050405020304" pitchFamily="18" charset="0"/>
              </a:rPr>
              <a:t>Per-second flight sensor readings </a:t>
            </a:r>
          </a:p>
          <a:p>
            <a:pPr lvl="0"/>
            <a:r>
              <a:rPr lang="en-IN" sz="1800" dirty="0">
                <a:latin typeface="Times New Roman" panose="02020603050405020304" pitchFamily="18" charset="0"/>
                <a:cs typeface="Times New Roman" panose="02020603050405020304" pitchFamily="18" charset="0"/>
              </a:rPr>
              <a:t>Target: flight occurring </a:t>
            </a:r>
            <a:r>
              <a:rPr lang="en-IN" sz="1800" b="1" dirty="0">
                <a:latin typeface="Times New Roman" panose="02020603050405020304" pitchFamily="18" charset="0"/>
                <a:cs typeface="Times New Roman" panose="02020603050405020304" pitchFamily="18" charset="0"/>
              </a:rPr>
              <a:t>1–2 days before an unplanned maintenance event</a:t>
            </a:r>
            <a:r>
              <a:rPr lang="en-IN" sz="1800" dirty="0">
                <a:latin typeface="Times New Roman" panose="02020603050405020304" pitchFamily="18" charset="0"/>
                <a:cs typeface="Times New Roman" panose="02020603050405020304" pitchFamily="18" charset="0"/>
              </a:rPr>
              <a:t> </a:t>
            </a:r>
          </a:p>
          <a:p>
            <a:pPr lvl="0"/>
            <a:r>
              <a:rPr lang="en-IN" sz="1800" dirty="0">
                <a:latin typeface="Times New Roman" panose="02020603050405020304" pitchFamily="18" charset="0"/>
                <a:cs typeface="Times New Roman" panose="02020603050405020304" pitchFamily="18" charset="0"/>
              </a:rPr>
              <a:t>Same-day maintenance flights excluded to prevent </a:t>
            </a:r>
            <a:r>
              <a:rPr lang="en-IN" sz="1800" b="1" dirty="0">
                <a:latin typeface="Times New Roman" panose="02020603050405020304" pitchFamily="18" charset="0"/>
                <a:cs typeface="Times New Roman" panose="02020603050405020304" pitchFamily="18" charset="0"/>
              </a:rPr>
              <a:t>post-event leakage</a:t>
            </a:r>
          </a:p>
          <a:p>
            <a:pPr lvl="0"/>
            <a:endParaRPr lang="en-IN" sz="1800" b="1" dirty="0">
              <a:latin typeface="Times New Roman" panose="02020603050405020304" pitchFamily="18" charset="0"/>
              <a:cs typeface="Times New Roman" panose="02020603050405020304" pitchFamily="18" charset="0"/>
            </a:endParaRPr>
          </a:p>
          <a:p>
            <a:pPr marL="114300" lvl="0" indent="0">
              <a:buNone/>
            </a:pPr>
            <a:r>
              <a:rPr lang="en-IN" sz="2000" b="1" dirty="0">
                <a:latin typeface="Times New Roman" panose="02020603050405020304" pitchFamily="18" charset="0"/>
                <a:cs typeface="Times New Roman" panose="02020603050405020304" pitchFamily="18" charset="0"/>
              </a:rPr>
              <a:t>Flight-Level</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Split</a:t>
            </a:r>
          </a:p>
          <a:p>
            <a:pPr lvl="0"/>
            <a:r>
              <a:rPr lang="en-IN" sz="1800" b="1" dirty="0">
                <a:latin typeface="Times New Roman" panose="02020603050405020304" pitchFamily="18" charset="0"/>
                <a:cs typeface="Times New Roman" panose="02020603050405020304" pitchFamily="18" charset="0"/>
              </a:rPr>
              <a:t>1,449</a:t>
            </a:r>
            <a:r>
              <a:rPr lang="en-IN" sz="1800" dirty="0">
                <a:latin typeface="Times New Roman" panose="02020603050405020304" pitchFamily="18" charset="0"/>
                <a:cs typeface="Times New Roman" panose="02020603050405020304" pitchFamily="18" charset="0"/>
              </a:rPr>
              <a:t> independent training flights </a:t>
            </a:r>
          </a:p>
          <a:p>
            <a:pPr lvl="0"/>
            <a:r>
              <a:rPr lang="en-IN" sz="1800" b="1" dirty="0">
                <a:latin typeface="Times New Roman" panose="02020603050405020304" pitchFamily="18" charset="0"/>
                <a:cs typeface="Times New Roman" panose="02020603050405020304" pitchFamily="18" charset="0"/>
              </a:rPr>
              <a:t>310</a:t>
            </a:r>
            <a:r>
              <a:rPr lang="en-IN" sz="1800" dirty="0">
                <a:latin typeface="Times New Roman" panose="02020603050405020304" pitchFamily="18" charset="0"/>
                <a:cs typeface="Times New Roman" panose="02020603050405020304" pitchFamily="18" charset="0"/>
              </a:rPr>
              <a:t> validation flights </a:t>
            </a:r>
          </a:p>
          <a:p>
            <a:pPr lvl="0"/>
            <a:r>
              <a:rPr lang="en-IN" sz="1800" b="1" dirty="0">
                <a:latin typeface="Times New Roman" panose="02020603050405020304" pitchFamily="18" charset="0"/>
                <a:cs typeface="Times New Roman" panose="02020603050405020304" pitchFamily="18" charset="0"/>
              </a:rPr>
              <a:t>311</a:t>
            </a:r>
            <a:r>
              <a:rPr lang="en-IN" sz="1800" dirty="0">
                <a:latin typeface="Times New Roman" panose="02020603050405020304" pitchFamily="18" charset="0"/>
                <a:cs typeface="Times New Roman" panose="02020603050405020304" pitchFamily="18" charset="0"/>
              </a:rPr>
              <a:t> independent test flights </a:t>
            </a:r>
          </a:p>
          <a:p>
            <a:pPr lvl="0"/>
            <a:r>
              <a:rPr lang="en-IN" sz="1800" b="1" dirty="0">
                <a:latin typeface="Times New Roman" panose="02020603050405020304" pitchFamily="18" charset="0"/>
                <a:cs typeface="Times New Roman" panose="02020603050405020304" pitchFamily="18" charset="0"/>
              </a:rPr>
              <a:t>46 features per timestep</a:t>
            </a:r>
            <a:r>
              <a:rPr lang="en-IN" sz="1800" dirty="0">
                <a:latin typeface="Times New Roman" panose="02020603050405020304" pitchFamily="18" charset="0"/>
                <a:cs typeface="Times New Roman" panose="02020603050405020304" pitchFamily="18" charset="0"/>
              </a:rPr>
              <a:t> </a:t>
            </a:r>
          </a:p>
          <a:p>
            <a:pPr lvl="0"/>
            <a:r>
              <a:rPr lang="en-IN" sz="1800" b="1" dirty="0">
                <a:latin typeface="Times New Roman" panose="02020603050405020304" pitchFamily="18" charset="0"/>
                <a:cs typeface="Times New Roman" panose="02020603050405020304" pitchFamily="18" charset="0"/>
              </a:rPr>
              <a:t>300 timesteps per input window</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Input = 300 × 46</a:t>
            </a: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A6127745-C877-82CF-0647-24BA073D8CC4}"/>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9826BF0E-04EF-21D0-5557-56277999BB6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
        <p:nvSpPr>
          <p:cNvPr id="2" name="Footer Placeholder 1">
            <a:extLst>
              <a:ext uri="{FF2B5EF4-FFF2-40B4-BE49-F238E27FC236}">
                <a16:creationId xmlns:a16="http://schemas.microsoft.com/office/drawing/2014/main" id="{816D2C8C-84BB-643B-739F-996D921D116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818101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7EA10B72-4CC5-AAC8-FDC2-A88EE1299CC3}"/>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A37BC7E3-0824-AE3A-F55A-8209470FBAE4}"/>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D02C68AC-8AD6-65FB-46ED-91E5231D5669}"/>
              </a:ext>
            </a:extLst>
          </p:cNvPr>
          <p:cNvSpPr txBox="1">
            <a:spLocks noGrp="1"/>
          </p:cNvSpPr>
          <p:nvPr>
            <p:ph type="body" idx="1"/>
          </p:nvPr>
        </p:nvSpPr>
        <p:spPr>
          <a:xfrm>
            <a:off x="526026" y="829056"/>
            <a:ext cx="8229600" cy="5892419"/>
          </a:xfrm>
          <a:prstGeom prst="rect">
            <a:avLst/>
          </a:prstGeom>
          <a:noFill/>
          <a:ln>
            <a:noFill/>
          </a:ln>
        </p:spPr>
        <p:txBody>
          <a:bodyPr spcFirstLastPara="1" wrap="square" lIns="91425" tIns="45700" rIns="91425" bIns="45700" anchor="t" anchorCtr="0">
            <a:normAutofit fontScale="90000" lnSpcReduction="20000"/>
          </a:bodyPr>
          <a:lstStyle/>
          <a:p>
            <a:pPr marL="114300" indent="0">
              <a:buNone/>
            </a:pPr>
            <a:r>
              <a:rPr lang="en-IN" sz="1800" b="1" dirty="0">
                <a:latin typeface="Times New Roman" panose="02020603050405020304" pitchFamily="18" charset="0"/>
                <a:cs typeface="Times New Roman" panose="02020603050405020304" pitchFamily="18" charset="0"/>
              </a:rPr>
              <a:t>What we did </a:t>
            </a:r>
          </a:p>
          <a:p>
            <a:pPr marL="114300" indent="0">
              <a:buNone/>
            </a:pPr>
            <a:br>
              <a:rPr lang="en-IN" sz="1800" b="1"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Raw NGAFID Flight Data</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Validation &amp; Preprocessing</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46 Features </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300-Timestep Windows</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Transformer</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Normal / Fault Prediction</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Probability + Confidence</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Current Status</a:t>
            </a:r>
            <a:endParaRPr lang="en-IN" sz="18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MVP baseline successfully trained and evaluated </a:t>
            </a:r>
          </a:p>
          <a:p>
            <a:pPr lvl="0"/>
            <a:r>
              <a:rPr lang="en-IN" sz="1600" dirty="0">
                <a:latin typeface="Times New Roman" panose="02020603050405020304" pitchFamily="18" charset="0"/>
                <a:cs typeface="Times New Roman" panose="02020603050405020304" pitchFamily="18" charset="0"/>
              </a:rPr>
              <a:t>Binary classification: </a:t>
            </a:r>
            <a:r>
              <a:rPr lang="en-IN" sz="1600" b="1" dirty="0">
                <a:latin typeface="Times New Roman" panose="02020603050405020304" pitchFamily="18" charset="0"/>
                <a:cs typeface="Times New Roman" panose="02020603050405020304" pitchFamily="18" charset="0"/>
              </a:rPr>
              <a:t>Fault Window vs. Normal</a:t>
            </a:r>
            <a:r>
              <a:rPr lang="en-IN" sz="1600" dirty="0">
                <a:latin typeface="Times New Roman" panose="02020603050405020304" pitchFamily="18" charset="0"/>
                <a:cs typeface="Times New Roman" panose="02020603050405020304" pitchFamily="18" charset="0"/>
              </a:rPr>
              <a:t> </a:t>
            </a:r>
          </a:p>
          <a:p>
            <a:pPr marL="114300" lvl="0" indent="0">
              <a:buNone/>
            </a:pP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Future Integration</a:t>
            </a:r>
            <a:endParaRPr lang="en-IN" sz="18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SHAP Explainability </a:t>
            </a:r>
          </a:p>
          <a:p>
            <a:pPr lvl="0"/>
            <a:r>
              <a:rPr lang="en-IN" sz="1600" dirty="0">
                <a:latin typeface="Times New Roman" panose="02020603050405020304" pitchFamily="18" charset="0"/>
                <a:cs typeface="Times New Roman" panose="02020603050405020304" pitchFamily="18" charset="0"/>
              </a:rPr>
              <a:t>Evidence Object </a:t>
            </a:r>
          </a:p>
          <a:p>
            <a:pPr lvl="0"/>
            <a:r>
              <a:rPr lang="en-IN" sz="1600" dirty="0">
                <a:latin typeface="Times New Roman" panose="02020603050405020304" pitchFamily="18" charset="0"/>
                <a:cs typeface="Times New Roman" panose="02020603050405020304" pitchFamily="18" charset="0"/>
              </a:rPr>
              <a:t>Dempster-Shafer Fusion </a:t>
            </a:r>
          </a:p>
        </p:txBody>
      </p:sp>
      <p:sp>
        <p:nvSpPr>
          <p:cNvPr id="205" name="Google Shape;205;p13">
            <a:extLst>
              <a:ext uri="{FF2B5EF4-FFF2-40B4-BE49-F238E27FC236}">
                <a16:creationId xmlns:a16="http://schemas.microsoft.com/office/drawing/2014/main" id="{7BDC6423-8EC4-109F-4650-8C22679E8DB5}"/>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C95F7660-DFE4-1793-8FE0-2BD0E4C1EA0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2" name="Footer Placeholder 1">
            <a:extLst>
              <a:ext uri="{FF2B5EF4-FFF2-40B4-BE49-F238E27FC236}">
                <a16:creationId xmlns:a16="http://schemas.microsoft.com/office/drawing/2014/main" id="{26E45D1D-2DEB-83E6-B0FD-31E24982BCCF}"/>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280566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36202DBC-CF1E-5FEF-5B69-9AD152D18DCF}"/>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7B9624E7-050D-2456-74A1-2EEE6E2A432D}"/>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4F9E7002-DAA4-C6E0-4CC7-F4BB9C4CF32E}"/>
              </a:ext>
            </a:extLst>
          </p:cNvPr>
          <p:cNvSpPr txBox="1">
            <a:spLocks noGrp="1"/>
          </p:cNvSpPr>
          <p:nvPr>
            <p:ph type="body" idx="1"/>
          </p:nvPr>
        </p:nvSpPr>
        <p:spPr>
          <a:xfrm>
            <a:off x="526026" y="1012723"/>
            <a:ext cx="8229600" cy="5456903"/>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Preprocessing and Training Pipeline</a:t>
            </a:r>
          </a:p>
          <a:p>
            <a:pPr marL="114300" indent="0">
              <a:buNone/>
            </a:pPr>
            <a:endParaRPr lang="en-IN" sz="21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1. Raw NGAFID</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Per-second flight sensor and maintenance data </a:t>
            </a:r>
          </a:p>
          <a:p>
            <a:pPr marL="114300" indent="0">
              <a:buNone/>
            </a:pPr>
            <a:r>
              <a:rPr lang="en-IN" sz="1600" b="1" dirty="0">
                <a:latin typeface="Times New Roman" panose="02020603050405020304" pitchFamily="18" charset="0"/>
                <a:cs typeface="Times New Roman" panose="02020603050405020304" pitchFamily="18" charset="0"/>
              </a:rPr>
              <a:t>2. Missing-Value Handling</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16 sensors with random gaps → </a:t>
            </a:r>
            <a:r>
              <a:rPr lang="en-IN" sz="1600" b="1" dirty="0">
                <a:latin typeface="Times New Roman" panose="02020603050405020304" pitchFamily="18" charset="0"/>
                <a:cs typeface="Times New Roman" panose="02020603050405020304" pitchFamily="18" charset="0"/>
              </a:rPr>
              <a:t>interpolated</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7 sensors with structured missingness → </a:t>
            </a:r>
            <a:r>
              <a:rPr lang="en-IN" sz="1600" b="1" dirty="0">
                <a:latin typeface="Times New Roman" panose="02020603050405020304" pitchFamily="18" charset="0"/>
                <a:cs typeface="Times New Roman" panose="02020603050405020304" pitchFamily="18" charset="0"/>
              </a:rPr>
              <a:t>preserved as </a:t>
            </a:r>
            <a:r>
              <a:rPr lang="en-IN" sz="1600" b="1" dirty="0" err="1">
                <a:latin typeface="Times New Roman" panose="02020603050405020304" pitchFamily="18" charset="0"/>
                <a:cs typeface="Times New Roman" panose="02020603050405020304" pitchFamily="18" charset="0"/>
              </a:rPr>
              <a:t>NaN</a:t>
            </a:r>
            <a:r>
              <a:rPr lang="en-IN" sz="1600" dirty="0">
                <a:latin typeface="Times New Roman" panose="02020603050405020304" pitchFamily="18" charset="0"/>
                <a:cs typeface="Times New Roman" panose="02020603050405020304" pitchFamily="18" charset="0"/>
              </a:rPr>
              <a:t> </a:t>
            </a:r>
          </a:p>
          <a:p>
            <a:pPr marL="114300" indent="0">
              <a:buNone/>
            </a:pPr>
            <a:r>
              <a:rPr lang="en-IN" sz="1600" b="1" dirty="0">
                <a:latin typeface="Times New Roman" panose="02020603050405020304" pitchFamily="18" charset="0"/>
                <a:cs typeface="Times New Roman" panose="02020603050405020304" pitchFamily="18" charset="0"/>
              </a:rPr>
              <a:t>3. Missingness Flags</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Each sensor receives a </a:t>
            </a:r>
            <a:r>
              <a:rPr lang="en-IN" sz="1600" b="1" dirty="0">
                <a:latin typeface="Times New Roman" panose="02020603050405020304" pitchFamily="18" charset="0"/>
                <a:cs typeface="Times New Roman" panose="02020603050405020304" pitchFamily="18" charset="0"/>
              </a:rPr>
              <a:t>0/1 missingness indicator</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Allows the model to distinguish missing from observed values </a:t>
            </a:r>
          </a:p>
          <a:p>
            <a:pPr marL="114300" indent="0">
              <a:buNone/>
            </a:pPr>
            <a:r>
              <a:rPr lang="en-IN" sz="1600" b="1" dirty="0">
                <a:latin typeface="Times New Roman" panose="02020603050405020304" pitchFamily="18" charset="0"/>
                <a:cs typeface="Times New Roman" panose="02020603050405020304" pitchFamily="18" charset="0"/>
              </a:rPr>
              <a:t>4. Windowing</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Flight data converted into temporal sequences </a:t>
            </a:r>
          </a:p>
          <a:p>
            <a:pPr lvl="0"/>
            <a:r>
              <a:rPr lang="en-IN" sz="1600" dirty="0">
                <a:latin typeface="Times New Roman" panose="02020603050405020304" pitchFamily="18" charset="0"/>
                <a:cs typeface="Times New Roman" panose="02020603050405020304" pitchFamily="18" charset="0"/>
              </a:rPr>
              <a:t>Maximum sequence length: </a:t>
            </a:r>
            <a:r>
              <a:rPr lang="en-IN" sz="1600" b="1" dirty="0">
                <a:latin typeface="Times New Roman" panose="02020603050405020304" pitchFamily="18" charset="0"/>
                <a:cs typeface="Times New Roman" panose="02020603050405020304" pitchFamily="18" charset="0"/>
              </a:rPr>
              <a:t>300 timesteps</a:t>
            </a:r>
            <a:r>
              <a:rPr lang="en-IN" sz="1600" dirty="0">
                <a:latin typeface="Times New Roman" panose="02020603050405020304" pitchFamily="18" charset="0"/>
                <a:cs typeface="Times New Roman" panose="02020603050405020304" pitchFamily="18" charset="0"/>
              </a:rPr>
              <a:t> </a:t>
            </a:r>
          </a:p>
          <a:p>
            <a:pPr marL="114300" lvl="0" indent="0" algn="just">
              <a:buSzPct val="1000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32EFB627-CEC7-3F37-AE4F-BFD2CD16E8E6}"/>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7401BDB0-A145-38F2-6CE6-E703F146C0C8}"/>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
        <p:nvSpPr>
          <p:cNvPr id="2" name="Footer Placeholder 1">
            <a:extLst>
              <a:ext uri="{FF2B5EF4-FFF2-40B4-BE49-F238E27FC236}">
                <a16:creationId xmlns:a16="http://schemas.microsoft.com/office/drawing/2014/main" id="{27DA0F74-0FE7-7DF1-DC5A-CD17951BC150}"/>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648365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A701E6FD-3857-323F-15A4-809A15B7F389}"/>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2F37A317-AC21-DCEA-7882-689FB8852FF1}"/>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B64A3175-33E0-E892-ECA9-4069C20F02B8}"/>
              </a:ext>
            </a:extLst>
          </p:cNvPr>
          <p:cNvSpPr txBox="1">
            <a:spLocks noGrp="1"/>
          </p:cNvSpPr>
          <p:nvPr>
            <p:ph type="body" idx="1"/>
          </p:nvPr>
        </p:nvSpPr>
        <p:spPr>
          <a:xfrm>
            <a:off x="526026" y="1012723"/>
            <a:ext cx="8229600" cy="5456903"/>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Preprocessing and </a:t>
            </a:r>
            <a:r>
              <a:rPr lang="en-IN" sz="2100" b="1" dirty="0" err="1">
                <a:latin typeface="Times New Roman" panose="02020603050405020304" pitchFamily="18" charset="0"/>
                <a:cs typeface="Times New Roman" panose="02020603050405020304" pitchFamily="18" charset="0"/>
              </a:rPr>
              <a:t>Tarining</a:t>
            </a:r>
            <a:r>
              <a:rPr lang="en-IN" sz="2100" b="1" dirty="0">
                <a:latin typeface="Times New Roman" panose="02020603050405020304" pitchFamily="18" charset="0"/>
                <a:cs typeface="Times New Roman" panose="02020603050405020304" pitchFamily="18" charset="0"/>
              </a:rPr>
              <a:t> Pipeline</a:t>
            </a:r>
          </a:p>
          <a:p>
            <a:pPr marL="114300" indent="0">
              <a:buNone/>
            </a:pPr>
            <a:endParaRPr lang="en-IN" sz="21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5. Padding</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Shorter sequences padded to the required length </a:t>
            </a:r>
          </a:p>
          <a:p>
            <a:pPr lvl="0"/>
            <a:r>
              <a:rPr lang="en-IN" sz="1600" dirty="0">
                <a:latin typeface="Times New Roman" panose="02020603050405020304" pitchFamily="18" charset="0"/>
                <a:cs typeface="Times New Roman" panose="02020603050405020304" pitchFamily="18" charset="0"/>
              </a:rPr>
              <a:t>No valid flight sequence discarded due to shorter length </a:t>
            </a:r>
          </a:p>
          <a:p>
            <a:pPr marL="114300" indent="0">
              <a:buNone/>
            </a:pPr>
            <a:r>
              <a:rPr lang="en-IN" sz="1600" b="1" dirty="0">
                <a:latin typeface="Times New Roman" panose="02020603050405020304" pitchFamily="18" charset="0"/>
                <a:cs typeface="Times New Roman" panose="02020603050405020304" pitchFamily="18" charset="0"/>
              </a:rPr>
              <a:t>6. Flight-Level Train / Validation / Test Split</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Windowed data split according to their </a:t>
            </a:r>
            <a:r>
              <a:rPr lang="en-IN" sz="1600" b="1" dirty="0">
                <a:latin typeface="Times New Roman" panose="02020603050405020304" pitchFamily="18" charset="0"/>
                <a:cs typeface="Times New Roman" panose="02020603050405020304" pitchFamily="18" charset="0"/>
              </a:rPr>
              <a:t>original flight</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No flight appears in more than one split </a:t>
            </a:r>
          </a:p>
          <a:p>
            <a:pPr marL="114300" indent="0">
              <a:buNone/>
            </a:pPr>
            <a:r>
              <a:rPr lang="en-IN" sz="1600" b="1" dirty="0">
                <a:latin typeface="Times New Roman" panose="02020603050405020304" pitchFamily="18" charset="0"/>
                <a:cs typeface="Times New Roman" panose="02020603050405020304" pitchFamily="18" charset="0"/>
              </a:rPr>
              <a:t>7. Padding Mask</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Identifies padded timesteps </a:t>
            </a:r>
          </a:p>
          <a:p>
            <a:pPr lvl="0"/>
            <a:r>
              <a:rPr lang="en-IN" sz="1600" dirty="0">
                <a:latin typeface="Times New Roman" panose="02020603050405020304" pitchFamily="18" charset="0"/>
                <a:cs typeface="Times New Roman" panose="02020603050405020304" pitchFamily="18" charset="0"/>
              </a:rPr>
              <a:t>Prevents padded values from affecting </a:t>
            </a:r>
            <a:r>
              <a:rPr lang="en-IN" sz="1600" b="1" dirty="0">
                <a:latin typeface="Times New Roman" panose="02020603050405020304" pitchFamily="18" charset="0"/>
                <a:cs typeface="Times New Roman" panose="02020603050405020304" pitchFamily="18" charset="0"/>
              </a:rPr>
              <a:t>Transformer attention and pooling</a:t>
            </a:r>
            <a:r>
              <a:rPr lang="en-IN" sz="1600" dirty="0">
                <a:latin typeface="Times New Roman" panose="02020603050405020304" pitchFamily="18" charset="0"/>
                <a:cs typeface="Times New Roman" panose="02020603050405020304" pitchFamily="18" charset="0"/>
              </a:rPr>
              <a:t> </a:t>
            </a:r>
          </a:p>
          <a:p>
            <a:pPr marL="114300" indent="0">
              <a:buNone/>
            </a:pPr>
            <a:r>
              <a:rPr lang="en-IN" sz="1600" b="1" dirty="0">
                <a:latin typeface="Times New Roman" panose="02020603050405020304" pitchFamily="18" charset="0"/>
                <a:cs typeface="Times New Roman" panose="02020603050405020304" pitchFamily="18" charset="0"/>
              </a:rPr>
              <a:t>8. Transformer</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Padded, masked sequences passed to the </a:t>
            </a:r>
            <a:r>
              <a:rPr lang="en-IN" sz="1600" b="1" dirty="0">
                <a:latin typeface="Times New Roman" panose="02020603050405020304" pitchFamily="18" charset="0"/>
                <a:cs typeface="Times New Roman" panose="02020603050405020304" pitchFamily="18" charset="0"/>
              </a:rPr>
              <a:t>Time-Series Transformer</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Produces </a:t>
            </a:r>
            <a:r>
              <a:rPr lang="en-IN" sz="1600" b="1" dirty="0">
                <a:latin typeface="Times New Roman" panose="02020603050405020304" pitchFamily="18" charset="0"/>
                <a:cs typeface="Times New Roman" panose="02020603050405020304" pitchFamily="18" charset="0"/>
              </a:rPr>
              <a:t>fault-window prediction + confidence</a:t>
            </a:r>
            <a:endParaRPr lang="en-IN" sz="1600" dirty="0">
              <a:latin typeface="Times New Roman" panose="02020603050405020304" pitchFamily="18" charset="0"/>
              <a:cs typeface="Times New Roman" panose="02020603050405020304" pitchFamily="18" charset="0"/>
            </a:endParaRPr>
          </a:p>
          <a:p>
            <a:pPr marL="114300" lvl="0" indent="0" algn="just">
              <a:buSzPct val="1000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5148C403-5DA3-6837-D100-60AE3201FF8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8CDA0BD3-0D9D-11D2-7A66-1A1E39788C1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2" name="Footer Placeholder 1">
            <a:extLst>
              <a:ext uri="{FF2B5EF4-FFF2-40B4-BE49-F238E27FC236}">
                <a16:creationId xmlns:a16="http://schemas.microsoft.com/office/drawing/2014/main" id="{D7134A10-1FEC-2F84-4BA3-AB4ECAE34AC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4856220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AE2D6C0F-C260-61A3-59CB-50A5D4D90F1F}"/>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325DB31B-C36F-1718-6C8E-F789BA4D2CB6}"/>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D9731F87-BD6E-BFA2-9901-693E7244CB9B}"/>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000" b="1" dirty="0">
                <a:latin typeface="Times New Roman" panose="02020603050405020304" pitchFamily="18" charset="0"/>
                <a:cs typeface="Times New Roman" panose="02020603050405020304" pitchFamily="18" charset="0"/>
              </a:rPr>
              <a:t>Baseline Performance</a:t>
            </a:r>
          </a:p>
          <a:p>
            <a:pPr marL="114300" indent="0">
              <a:buNone/>
            </a:pPr>
            <a:endParaRPr lang="en-IN" sz="2000" b="1" dirty="0">
              <a:latin typeface="Times New Roman" panose="02020603050405020304" pitchFamily="18" charset="0"/>
              <a:cs typeface="Times New Roman" panose="02020603050405020304" pitchFamily="18" charset="0"/>
            </a:endParaRPr>
          </a:p>
          <a:p>
            <a:pPr marL="114300" indent="0">
              <a:buNone/>
            </a:pPr>
            <a:endParaRPr lang="en-IN" sz="2000"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D52CA035-0AB5-2E7B-F3FD-0C94631A80F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565D4240-494F-364C-39DF-C96C82DF98D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
        <p:nvSpPr>
          <p:cNvPr id="2" name="Footer Placeholder 1">
            <a:extLst>
              <a:ext uri="{FF2B5EF4-FFF2-40B4-BE49-F238E27FC236}">
                <a16:creationId xmlns:a16="http://schemas.microsoft.com/office/drawing/2014/main" id="{330C0D2E-3E9F-918B-59FA-54C8F517829A}"/>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graphicFrame>
        <p:nvGraphicFramePr>
          <p:cNvPr id="10" name="Table 9">
            <a:extLst>
              <a:ext uri="{FF2B5EF4-FFF2-40B4-BE49-F238E27FC236}">
                <a16:creationId xmlns:a16="http://schemas.microsoft.com/office/drawing/2014/main" id="{22337866-BBF6-4DC7-54E2-34F2C345A77A}"/>
              </a:ext>
            </a:extLst>
          </p:cNvPr>
          <p:cNvGraphicFramePr>
            <a:graphicFrameLocks noGrp="1"/>
          </p:cNvGraphicFramePr>
          <p:nvPr/>
        </p:nvGraphicFramePr>
        <p:xfrm>
          <a:off x="526026" y="1905000"/>
          <a:ext cx="8229600" cy="1676400"/>
        </p:xfrm>
        <a:graphic>
          <a:graphicData uri="http://schemas.openxmlformats.org/drawingml/2006/table">
            <a:tbl>
              <a:tblPr>
                <a:tableStyleId>{47879F58-94FC-4AB5-AACA-6E85711E4052}</a:tableStyleId>
              </a:tblPr>
              <a:tblGrid>
                <a:gridCol w="2743200">
                  <a:extLst>
                    <a:ext uri="{9D8B030D-6E8A-4147-A177-3AD203B41FA5}">
                      <a16:colId xmlns:a16="http://schemas.microsoft.com/office/drawing/2014/main" val="2527080452"/>
                    </a:ext>
                  </a:extLst>
                </a:gridCol>
                <a:gridCol w="2743200">
                  <a:extLst>
                    <a:ext uri="{9D8B030D-6E8A-4147-A177-3AD203B41FA5}">
                      <a16:colId xmlns:a16="http://schemas.microsoft.com/office/drawing/2014/main" val="3698640759"/>
                    </a:ext>
                  </a:extLst>
                </a:gridCol>
                <a:gridCol w="2743200">
                  <a:extLst>
                    <a:ext uri="{9D8B030D-6E8A-4147-A177-3AD203B41FA5}">
                      <a16:colId xmlns:a16="http://schemas.microsoft.com/office/drawing/2014/main" val="2185103748"/>
                    </a:ext>
                  </a:extLst>
                </a:gridCol>
              </a:tblGrid>
              <a:tr h="0">
                <a:tc>
                  <a:txBody>
                    <a:bodyPr/>
                    <a:lstStyle/>
                    <a:p>
                      <a:pPr>
                        <a:buNone/>
                      </a:pPr>
                      <a:r>
                        <a:rPr lang="en-IN" sz="1600">
                          <a:latin typeface="Times New Roman" panose="02020603050405020304" pitchFamily="18" charset="0"/>
                          <a:cs typeface="Times New Roman" panose="02020603050405020304" pitchFamily="18" charset="0"/>
                        </a:rPr>
                        <a:t>Metric</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Validation</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Test</a:t>
                      </a:r>
                    </a:p>
                  </a:txBody>
                  <a:tcPr anchor="ctr"/>
                </a:tc>
                <a:extLst>
                  <a:ext uri="{0D108BD9-81ED-4DB2-BD59-A6C34878D82A}">
                    <a16:rowId xmlns:a16="http://schemas.microsoft.com/office/drawing/2014/main" val="401440798"/>
                  </a:ext>
                </a:extLst>
              </a:tr>
              <a:tr h="0">
                <a:tc>
                  <a:txBody>
                    <a:bodyPr/>
                    <a:lstStyle/>
                    <a:p>
                      <a:pPr>
                        <a:buNone/>
                      </a:pPr>
                      <a:r>
                        <a:rPr lang="en-IN" sz="1600" dirty="0">
                          <a:latin typeface="Times New Roman" panose="02020603050405020304" pitchFamily="18" charset="0"/>
                          <a:cs typeface="Times New Roman" panose="02020603050405020304" pitchFamily="18" charset="0"/>
                        </a:rPr>
                        <a:t>Precision</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0.384</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0.358</a:t>
                      </a:r>
                    </a:p>
                  </a:txBody>
                  <a:tcPr anchor="ctr"/>
                </a:tc>
                <a:extLst>
                  <a:ext uri="{0D108BD9-81ED-4DB2-BD59-A6C34878D82A}">
                    <a16:rowId xmlns:a16="http://schemas.microsoft.com/office/drawing/2014/main" val="4095539305"/>
                  </a:ext>
                </a:extLst>
              </a:tr>
              <a:tr h="0">
                <a:tc>
                  <a:txBody>
                    <a:bodyPr/>
                    <a:lstStyle/>
                    <a:p>
                      <a:pPr>
                        <a:buNone/>
                      </a:pPr>
                      <a:r>
                        <a:rPr lang="en-IN" sz="1600">
                          <a:latin typeface="Times New Roman" panose="02020603050405020304" pitchFamily="18" charset="0"/>
                          <a:cs typeface="Times New Roman" panose="02020603050405020304" pitchFamily="18" charset="0"/>
                        </a:rPr>
                        <a:t>Recall</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0.722</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0.695</a:t>
                      </a:r>
                    </a:p>
                  </a:txBody>
                  <a:tcPr anchor="ctr"/>
                </a:tc>
                <a:extLst>
                  <a:ext uri="{0D108BD9-81ED-4DB2-BD59-A6C34878D82A}">
                    <a16:rowId xmlns:a16="http://schemas.microsoft.com/office/drawing/2014/main" val="3550350105"/>
                  </a:ext>
                </a:extLst>
              </a:tr>
              <a:tr h="0">
                <a:tc>
                  <a:txBody>
                    <a:bodyPr/>
                    <a:lstStyle/>
                    <a:p>
                      <a:pPr>
                        <a:buNone/>
                      </a:pPr>
                      <a:r>
                        <a:rPr lang="en-IN" sz="1600">
                          <a:latin typeface="Times New Roman" panose="02020603050405020304" pitchFamily="18" charset="0"/>
                          <a:cs typeface="Times New Roman" panose="02020603050405020304" pitchFamily="18" charset="0"/>
                        </a:rPr>
                        <a:t>F1</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0.501</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0.473</a:t>
                      </a:r>
                    </a:p>
                  </a:txBody>
                  <a:tcPr anchor="ctr"/>
                </a:tc>
                <a:extLst>
                  <a:ext uri="{0D108BD9-81ED-4DB2-BD59-A6C34878D82A}">
                    <a16:rowId xmlns:a16="http://schemas.microsoft.com/office/drawing/2014/main" val="1728208892"/>
                  </a:ext>
                </a:extLst>
              </a:tr>
              <a:tr h="0">
                <a:tc>
                  <a:txBody>
                    <a:bodyPr/>
                    <a:lstStyle/>
                    <a:p>
                      <a:pPr>
                        <a:buNone/>
                      </a:pPr>
                      <a:r>
                        <a:rPr lang="en-IN" sz="1600">
                          <a:latin typeface="Times New Roman" panose="02020603050405020304" pitchFamily="18" charset="0"/>
                          <a:cs typeface="Times New Roman" panose="02020603050405020304" pitchFamily="18" charset="0"/>
                        </a:rPr>
                        <a:t>ROC-AUC</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0.624</a:t>
                      </a:r>
                    </a:p>
                  </a:txBody>
                  <a:tcPr anchor="ctr"/>
                </a:tc>
                <a:tc>
                  <a:txBody>
                    <a:bodyPr/>
                    <a:lstStyle/>
                    <a:p>
                      <a:pPr algn="r">
                        <a:buNone/>
                      </a:pPr>
                      <a:r>
                        <a:rPr lang="en-IN" sz="1600" dirty="0">
                          <a:latin typeface="Times New Roman" panose="02020603050405020304" pitchFamily="18" charset="0"/>
                          <a:cs typeface="Times New Roman" panose="02020603050405020304" pitchFamily="18" charset="0"/>
                        </a:rPr>
                        <a:t>0.604</a:t>
                      </a:r>
                    </a:p>
                  </a:txBody>
                  <a:tcPr anchor="ctr"/>
                </a:tc>
                <a:extLst>
                  <a:ext uri="{0D108BD9-81ED-4DB2-BD59-A6C34878D82A}">
                    <a16:rowId xmlns:a16="http://schemas.microsoft.com/office/drawing/2014/main" val="625268420"/>
                  </a:ext>
                </a:extLst>
              </a:tr>
            </a:tbl>
          </a:graphicData>
        </a:graphic>
      </p:graphicFrame>
      <p:sp>
        <p:nvSpPr>
          <p:cNvPr id="12" name="TextBox 11">
            <a:extLst>
              <a:ext uri="{FF2B5EF4-FFF2-40B4-BE49-F238E27FC236}">
                <a16:creationId xmlns:a16="http://schemas.microsoft.com/office/drawing/2014/main" id="{AC2C27DA-94BF-5B05-1F23-E7F4F940820C}"/>
              </a:ext>
            </a:extLst>
          </p:cNvPr>
          <p:cNvSpPr txBox="1"/>
          <p:nvPr/>
        </p:nvSpPr>
        <p:spPr>
          <a:xfrm>
            <a:off x="526026" y="3884922"/>
            <a:ext cx="6459990" cy="830997"/>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Recall = 69.5%</a:t>
            </a:r>
            <a:r>
              <a:rPr lang="en-IN" sz="1600" dirty="0">
                <a:latin typeface="Times New Roman" panose="02020603050405020304" pitchFamily="18" charset="0"/>
                <a:cs typeface="Times New Roman" panose="02020603050405020304" pitchFamily="18" charset="0"/>
              </a:rPr>
              <a:t> → detects a substantial portion of fault windows.</a:t>
            </a:r>
          </a:p>
          <a:p>
            <a:pPr>
              <a:buNone/>
            </a:pPr>
            <a:r>
              <a:rPr lang="en-IN" sz="1600" b="1" dirty="0">
                <a:latin typeface="Times New Roman" panose="02020603050405020304" pitchFamily="18" charset="0"/>
                <a:cs typeface="Times New Roman" panose="02020603050405020304" pitchFamily="18" charset="0"/>
              </a:rPr>
              <a:t>Precision = 35.8%</a:t>
            </a:r>
            <a:r>
              <a:rPr lang="en-IN" sz="1600" dirty="0">
                <a:latin typeface="Times New Roman" panose="02020603050405020304" pitchFamily="18" charset="0"/>
                <a:cs typeface="Times New Roman" panose="02020603050405020304" pitchFamily="18" charset="0"/>
              </a:rPr>
              <a:t> → produces many false alarms.</a:t>
            </a:r>
          </a:p>
          <a:p>
            <a:pPr>
              <a:buNone/>
            </a:pPr>
            <a:r>
              <a:rPr lang="en-IN" sz="1600" b="1" dirty="0">
                <a:latin typeface="Times New Roman" panose="02020603050405020304" pitchFamily="18" charset="0"/>
                <a:cs typeface="Times New Roman" panose="02020603050405020304" pitchFamily="18" charset="0"/>
              </a:rPr>
              <a:t>ROC-AUC = 0.604</a:t>
            </a:r>
            <a:r>
              <a:rPr lang="en-IN" sz="1600" dirty="0">
                <a:latin typeface="Times New Roman" panose="02020603050405020304" pitchFamily="18" charset="0"/>
                <a:cs typeface="Times New Roman" panose="02020603050405020304" pitchFamily="18" charset="0"/>
              </a:rPr>
              <a:t> → current discriminative ability is modest.</a:t>
            </a:r>
          </a:p>
        </p:txBody>
      </p:sp>
    </p:spTree>
    <p:extLst>
      <p:ext uri="{BB962C8B-B14F-4D97-AF65-F5344CB8AC3E}">
        <p14:creationId xmlns:p14="http://schemas.microsoft.com/office/powerpoint/2010/main" val="25856100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89477481-7B31-1688-B237-A81CD5DC8C2B}"/>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D9969A98-3F6A-949D-54BD-82500A924CB6}"/>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4A92883A-F1B3-32D4-BC66-7959376D7C32}"/>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Single Input Demonstration</a:t>
            </a:r>
          </a:p>
          <a:p>
            <a:pPr marL="114300" indent="0">
              <a:buNone/>
            </a:pPr>
            <a:endParaRPr lang="en-IN" sz="2100" b="1"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Unseen test window</a:t>
            </a:r>
            <a:endParaRPr lang="en-IN" sz="18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Input Shape: 1 × 300 × 46</a:t>
            </a:r>
          </a:p>
          <a:p>
            <a:r>
              <a:rPr lang="en-IN" sz="1600" dirty="0">
                <a:latin typeface="Times New Roman" panose="02020603050405020304" pitchFamily="18" charset="0"/>
                <a:cs typeface="Times New Roman" panose="02020603050405020304" pitchFamily="18" charset="0"/>
              </a:rPr>
              <a:t>Actual: Fault</a:t>
            </a:r>
          </a:p>
          <a:p>
            <a:pPr marL="114300" indent="0">
              <a:buNone/>
            </a:pPr>
            <a:endParaRPr lang="en-IN" sz="16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Model output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P(Normal) = 47.60%</a:t>
            </a:r>
          </a:p>
          <a:p>
            <a:r>
              <a:rPr lang="en-IN" sz="1600" dirty="0">
                <a:latin typeface="Times New Roman" panose="02020603050405020304" pitchFamily="18" charset="0"/>
                <a:cs typeface="Times New Roman" panose="02020603050405020304" pitchFamily="18" charset="0"/>
              </a:rPr>
              <a:t>P(Fault)  = 52.40%</a:t>
            </a:r>
          </a:p>
          <a:p>
            <a:r>
              <a:rPr lang="en-IN" sz="1600" dirty="0">
                <a:latin typeface="Times New Roman" panose="02020603050405020304" pitchFamily="18" charset="0"/>
                <a:cs typeface="Times New Roman" panose="02020603050405020304" pitchFamily="18" charset="0"/>
              </a:rPr>
              <a:t>Prediction = Fault</a:t>
            </a:r>
          </a:p>
          <a:p>
            <a:r>
              <a:rPr lang="en-IN" sz="1600" dirty="0">
                <a:latin typeface="Times New Roman" panose="02020603050405020304" pitchFamily="18" charset="0"/>
                <a:cs typeface="Times New Roman" panose="02020603050405020304" pitchFamily="18" charset="0"/>
              </a:rPr>
              <a:t>Confidence = 52.40%</a:t>
            </a:r>
          </a:p>
          <a:p>
            <a:pPr marL="114300" indent="0">
              <a:buNone/>
            </a:pPr>
            <a:r>
              <a:rPr lang="en-IN" sz="1600" b="1" dirty="0">
                <a:latin typeface="Times New Roman" panose="02020603050405020304" pitchFamily="18" charset="0"/>
                <a:cs typeface="Times New Roman" panose="02020603050405020304" pitchFamily="18" charset="0"/>
              </a:rPr>
              <a:t>Correct prediction</a:t>
            </a:r>
          </a:p>
          <a:p>
            <a:pPr marL="114300" indent="0">
              <a:buNone/>
            </a:pPr>
            <a:endParaRPr lang="en-IN" sz="1600" b="1" dirty="0">
              <a:latin typeface="Times New Roman" panose="02020603050405020304" pitchFamily="18" charset="0"/>
              <a:cs typeface="Times New Roman" panose="02020603050405020304" pitchFamily="18" charset="0"/>
            </a:endParaRPr>
          </a:p>
          <a:p>
            <a:pPr marL="114300" indent="0">
              <a:buNone/>
            </a:pPr>
            <a:r>
              <a:rPr lang="en-IN" sz="1600" dirty="0">
                <a:latin typeface="Times New Roman" panose="02020603050405020304" pitchFamily="18" charset="0"/>
                <a:cs typeface="Times New Roman" panose="02020603050405020304" pitchFamily="18" charset="0"/>
              </a:rPr>
              <a:t>This demonstrates that the trained model can perform inference and return class probabilities. The relatively low confidence also shows why further improvement is needed.</a:t>
            </a:r>
          </a:p>
        </p:txBody>
      </p:sp>
      <p:sp>
        <p:nvSpPr>
          <p:cNvPr id="205" name="Google Shape;205;p13">
            <a:extLst>
              <a:ext uri="{FF2B5EF4-FFF2-40B4-BE49-F238E27FC236}">
                <a16:creationId xmlns:a16="http://schemas.microsoft.com/office/drawing/2014/main" id="{EA72527E-0C6F-3DD3-75BB-3BD657F95E43}"/>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216B8295-B75C-A640-5344-26E4951F9E0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
        <p:nvSpPr>
          <p:cNvPr id="2" name="Footer Placeholder 1">
            <a:extLst>
              <a:ext uri="{FF2B5EF4-FFF2-40B4-BE49-F238E27FC236}">
                <a16:creationId xmlns:a16="http://schemas.microsoft.com/office/drawing/2014/main" id="{9961DDC2-BBEE-B2D3-2908-075C602202E6}"/>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13" name="Picture 12">
            <a:extLst>
              <a:ext uri="{FF2B5EF4-FFF2-40B4-BE49-F238E27FC236}">
                <a16:creationId xmlns:a16="http://schemas.microsoft.com/office/drawing/2014/main" id="{4EBBECA9-F66C-613B-E78E-A646CBC7ED62}"/>
              </a:ext>
            </a:extLst>
          </p:cNvPr>
          <p:cNvPicPr>
            <a:picLocks noChangeAspect="1"/>
          </p:cNvPicPr>
          <p:nvPr/>
        </p:nvPicPr>
        <p:blipFill>
          <a:blip r:embed="rId3"/>
          <a:stretch>
            <a:fillRect/>
          </a:stretch>
        </p:blipFill>
        <p:spPr>
          <a:xfrm>
            <a:off x="3902379" y="1365504"/>
            <a:ext cx="4715595" cy="3587496"/>
          </a:xfrm>
          <a:prstGeom prst="rect">
            <a:avLst/>
          </a:prstGeom>
        </p:spPr>
      </p:pic>
    </p:spTree>
    <p:extLst>
      <p:ext uri="{BB962C8B-B14F-4D97-AF65-F5344CB8AC3E}">
        <p14:creationId xmlns:p14="http://schemas.microsoft.com/office/powerpoint/2010/main" val="36055094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FD3A0E77-7E9C-A7BB-DFFF-F43DBBE41AFA}"/>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F7A4B79F-D300-DB3F-F639-DE05281D012E}"/>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C1A9F3C5-A0F5-29D8-ECC9-F220538EFE9E}"/>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Remaining Work</a:t>
            </a:r>
          </a:p>
          <a:p>
            <a:pPr marL="114300" indent="0">
              <a:buNone/>
            </a:pPr>
            <a:endParaRPr lang="en-IN" sz="1600" b="1"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Complete NGAFID Transformer Baseline </a:t>
            </a:r>
          </a:p>
          <a:p>
            <a:pPr lvl="0"/>
            <a:r>
              <a:rPr lang="en-IN" sz="1600" dirty="0">
                <a:latin typeface="Times New Roman" panose="02020603050405020304" pitchFamily="18" charset="0"/>
                <a:cs typeface="Times New Roman" panose="02020603050405020304" pitchFamily="18" charset="0"/>
              </a:rPr>
              <a:t>Evaluate model on independent test set </a:t>
            </a:r>
          </a:p>
          <a:p>
            <a:pPr lvl="0"/>
            <a:r>
              <a:rPr lang="en-IN" sz="1600" dirty="0">
                <a:latin typeface="Times New Roman" panose="02020603050405020304" pitchFamily="18" charset="0"/>
                <a:cs typeface="Times New Roman" panose="02020603050405020304" pitchFamily="18" charset="0"/>
              </a:rPr>
              <a:t>Single-window inference &amp; prediction confidence  </a:t>
            </a:r>
          </a:p>
          <a:p>
            <a:r>
              <a:rPr lang="en-IN" sz="1600" b="1" dirty="0">
                <a:latin typeface="Times New Roman" panose="02020603050405020304" pitchFamily="18" charset="0"/>
                <a:cs typeface="Times New Roman" panose="02020603050405020304" pitchFamily="18" charset="0"/>
              </a:rPr>
              <a:t>SHAP-based model explainability</a:t>
            </a: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        – Identify important sensor features</a:t>
            </a:r>
          </a:p>
          <a:p>
            <a:pPr marL="114300" indent="0">
              <a:buNone/>
            </a:pPr>
            <a:r>
              <a:rPr lang="en-IN" sz="1600" dirty="0">
                <a:latin typeface="Times New Roman" panose="02020603050405020304" pitchFamily="18" charset="0"/>
                <a:cs typeface="Times New Roman" panose="02020603050405020304" pitchFamily="18" charset="0"/>
              </a:rPr>
              <a:t>        – Explain individual predictions</a:t>
            </a:r>
          </a:p>
          <a:p>
            <a:r>
              <a:rPr lang="en-IN" sz="1600" b="1" dirty="0">
                <a:latin typeface="Times New Roman" panose="02020603050405020304" pitchFamily="18" charset="0"/>
                <a:cs typeface="Times New Roman" panose="02020603050405020304" pitchFamily="18" charset="0"/>
              </a:rPr>
              <a:t>Evidence extraction</a:t>
            </a: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       – Extract predictive evidence from the Transformer</a:t>
            </a:r>
          </a:p>
          <a:p>
            <a:r>
              <a:rPr lang="en-IN" sz="1600" b="1" dirty="0">
                <a:latin typeface="Times New Roman" panose="02020603050405020304" pitchFamily="18" charset="0"/>
                <a:cs typeface="Times New Roman" panose="02020603050405020304" pitchFamily="18" charset="0"/>
              </a:rPr>
              <a:t>Dempster–Shafer evidence fusion</a:t>
            </a: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       – Combine model evidence</a:t>
            </a:r>
          </a:p>
          <a:p>
            <a:pPr marL="114300" indent="0">
              <a:buNone/>
            </a:pPr>
            <a:r>
              <a:rPr lang="en-IN" sz="1600" dirty="0">
                <a:latin typeface="Times New Roman" panose="02020603050405020304" pitchFamily="18" charset="0"/>
                <a:cs typeface="Times New Roman" panose="02020603050405020304" pitchFamily="18" charset="0"/>
              </a:rPr>
              <a:t>       – Generate final fault/normal decision</a:t>
            </a:r>
          </a:p>
          <a:p>
            <a:pPr marL="114300" indent="0">
              <a:buNone/>
            </a:pPr>
            <a:endParaRPr lang="en-IN" sz="1600"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61100469-FFFB-A7E5-F5CA-DFA93AAD9D6E}"/>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20F51FF3-0EBA-A7FE-6375-1C6277B5D25A}"/>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2" name="Footer Placeholder 1">
            <a:extLst>
              <a:ext uri="{FF2B5EF4-FFF2-40B4-BE49-F238E27FC236}">
                <a16:creationId xmlns:a16="http://schemas.microsoft.com/office/drawing/2014/main" id="{C65AD729-237C-E085-7576-E697B09D599E}"/>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16224454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B531B7F5-8DA0-255C-2E36-F3F17B9ECB75}"/>
            </a:ext>
          </a:extLst>
        </p:cNvPr>
        <p:cNvGrpSpPr/>
        <p:nvPr/>
      </p:nvGrpSpPr>
      <p:grpSpPr>
        <a:xfrm>
          <a:off x="0" y="0"/>
          <a:ext cx="0" cy="0"/>
          <a:chOff x="0" y="0"/>
          <a:chExt cx="0" cy="0"/>
        </a:xfrm>
      </p:grpSpPr>
      <p:sp>
        <p:nvSpPr>
          <p:cNvPr id="94" name="Google Shape;94;p1">
            <a:extLst>
              <a:ext uri="{FF2B5EF4-FFF2-40B4-BE49-F238E27FC236}">
                <a16:creationId xmlns:a16="http://schemas.microsoft.com/office/drawing/2014/main" id="{0224FDD6-CEE1-C9D5-73DB-E266065DD541}"/>
              </a:ext>
            </a:extLst>
          </p:cNvPr>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a:extLst>
              <a:ext uri="{FF2B5EF4-FFF2-40B4-BE49-F238E27FC236}">
                <a16:creationId xmlns:a16="http://schemas.microsoft.com/office/drawing/2014/main" id="{CE3A2790-ACDC-0F62-FB3B-5C4E742BE976}"/>
              </a:ext>
            </a:extLst>
          </p:cNvPr>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THIRD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AERIS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a:extLst>
              <a:ext uri="{FF2B5EF4-FFF2-40B4-BE49-F238E27FC236}">
                <a16:creationId xmlns:a16="http://schemas.microsoft.com/office/drawing/2014/main" id="{43C2DFD8-2B2A-BFD8-EFFC-B87FAC1B825D}"/>
              </a:ext>
            </a:extLst>
          </p:cNvPr>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13</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a:extLst>
              <a:ext uri="{FF2B5EF4-FFF2-40B4-BE49-F238E27FC236}">
                <a16:creationId xmlns:a16="http://schemas.microsoft.com/office/drawing/2014/main" id="{4E1758E8-689C-9265-4ECF-A806A1C3D35B}"/>
              </a:ext>
            </a:extLst>
          </p:cNvPr>
          <p:cNvGraphicFramePr/>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94513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638114-E9CD-BC0B-5153-6197502AE32F}"/>
              </a:ext>
            </a:extLst>
          </p:cNvPr>
          <p:cNvSpPr>
            <a:spLocks noGrp="1"/>
          </p:cNvSpPr>
          <p:nvPr>
            <p:ph type="dt" idx="10"/>
          </p:nvPr>
        </p:nvSpPr>
        <p:spPr/>
        <p:txBody>
          <a:bodyPr/>
          <a:lstStyle/>
          <a:p>
            <a:r>
              <a:rPr lang="en-US" dirty="0"/>
              <a:t>28/09/2026</a:t>
            </a:r>
          </a:p>
        </p:txBody>
      </p:sp>
      <p:sp>
        <p:nvSpPr>
          <p:cNvPr id="5" name="Footer Placeholder 4">
            <a:extLst>
              <a:ext uri="{FF2B5EF4-FFF2-40B4-BE49-F238E27FC236}">
                <a16:creationId xmlns:a16="http://schemas.microsoft.com/office/drawing/2014/main" id="{B9A74CF9-B0E0-1D7B-0544-399C15D0892B}"/>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9018A2E4-FAB1-E855-4021-38683A3BFE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pic>
        <p:nvPicPr>
          <p:cNvPr id="8" name="Picture 7">
            <a:extLst>
              <a:ext uri="{FF2B5EF4-FFF2-40B4-BE49-F238E27FC236}">
                <a16:creationId xmlns:a16="http://schemas.microsoft.com/office/drawing/2014/main" id="{889BD81B-DCAA-936A-CE57-4684D29482BE}"/>
              </a:ext>
            </a:extLst>
          </p:cNvPr>
          <p:cNvPicPr>
            <a:picLocks noChangeAspect="1"/>
          </p:cNvPicPr>
          <p:nvPr/>
        </p:nvPicPr>
        <p:blipFill>
          <a:blip r:embed="rId2"/>
          <a:stretch>
            <a:fillRect/>
          </a:stretch>
        </p:blipFill>
        <p:spPr>
          <a:xfrm>
            <a:off x="2317575" y="136525"/>
            <a:ext cx="4508849" cy="6219825"/>
          </a:xfrm>
          <a:prstGeom prst="rect">
            <a:avLst/>
          </a:prstGeom>
        </p:spPr>
      </p:pic>
    </p:spTree>
    <p:extLst>
      <p:ext uri="{BB962C8B-B14F-4D97-AF65-F5344CB8AC3E}">
        <p14:creationId xmlns:p14="http://schemas.microsoft.com/office/powerpoint/2010/main" val="24912944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3E05B769-35CE-13E5-8039-10B72A33B030}"/>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553171C2-0320-CAB5-8066-D6884676CAEE}"/>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CMAPSS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23844789-529C-C28E-7E3A-27F2387CAE51}"/>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2410ABBE-C202-0942-77DA-7F7E29DBED94}"/>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
        <p:nvSpPr>
          <p:cNvPr id="2" name="Footer Placeholder 1">
            <a:extLst>
              <a:ext uri="{FF2B5EF4-FFF2-40B4-BE49-F238E27FC236}">
                <a16:creationId xmlns:a16="http://schemas.microsoft.com/office/drawing/2014/main" id="{00B01710-B5CD-D820-C928-0D66B86A4A0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62E81B5B-21AE-985C-E3F8-C09E0E72EBA7}"/>
              </a:ext>
            </a:extLst>
          </p:cNvPr>
          <p:cNvSpPr txBox="1"/>
          <p:nvPr/>
        </p:nvSpPr>
        <p:spPr>
          <a:xfrm>
            <a:off x="766916" y="1032388"/>
            <a:ext cx="7084141" cy="5016758"/>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SHAP Explainability</a:t>
            </a:r>
          </a:p>
          <a:p>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Transformer Output</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Predicted RUL: 70.43</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cycles </a:t>
            </a:r>
          </a:p>
          <a:p>
            <a:pPr lvl="0"/>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Problem:</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RUL prediction alone does not explain which sensor patterns influenced the result.</a:t>
            </a:r>
          </a:p>
          <a:p>
            <a:r>
              <a:rPr lang="en-IN" sz="1600" b="1" dirty="0">
                <a:latin typeface="Times New Roman" panose="02020603050405020304" pitchFamily="18" charset="0"/>
                <a:cs typeface="Times New Roman" panose="02020603050405020304" pitchFamily="18" charset="0"/>
              </a:rPr>
              <a:t>SHAP:</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Applied SHAP to the Transformer prediction </a:t>
            </a:r>
          </a:p>
          <a:p>
            <a:pPr lvl="0"/>
            <a:r>
              <a:rPr lang="en-IN" sz="1600" dirty="0">
                <a:latin typeface="Times New Roman" panose="02020603050405020304" pitchFamily="18" charset="0"/>
                <a:cs typeface="Times New Roman" panose="02020603050405020304" pitchFamily="18" charset="0"/>
              </a:rPr>
              <a:t>Calculates each feature's contribution </a:t>
            </a:r>
          </a:p>
          <a:p>
            <a:pPr lvl="0"/>
            <a:r>
              <a:rPr lang="en-IN" sz="1600" dirty="0">
                <a:latin typeface="Times New Roman" panose="02020603050405020304" pitchFamily="18" charset="0"/>
                <a:cs typeface="Times New Roman" panose="02020603050405020304" pitchFamily="18" charset="0"/>
              </a:rPr>
              <a:t>Identifies the most influential sensor features </a:t>
            </a:r>
          </a:p>
          <a:p>
            <a:pPr lvl="0"/>
            <a:endParaRPr lang="en-IN" sz="1600" dirty="0">
              <a:latin typeface="Times New Roman" panose="02020603050405020304" pitchFamily="18" charset="0"/>
              <a:cs typeface="Times New Roman" panose="02020603050405020304" pitchFamily="18" charset="0"/>
            </a:endParaRPr>
          </a:p>
          <a:p>
            <a:r>
              <a:rPr lang="en-IN" sz="1600" b="1" dirty="0"/>
              <a:t>Major contributing features:</a:t>
            </a:r>
            <a:endParaRPr lang="en-IN" sz="1600" dirty="0"/>
          </a:p>
          <a:p>
            <a:pPr lvl="0"/>
            <a:r>
              <a:rPr lang="en-IN" dirty="0"/>
              <a:t>Ps30</a:t>
            </a:r>
            <a:r>
              <a:rPr lang="en-IN" sz="1600" dirty="0"/>
              <a:t> — Compressor outlet pressure </a:t>
            </a:r>
          </a:p>
          <a:p>
            <a:pPr lvl="0"/>
            <a:r>
              <a:rPr lang="en-IN" dirty="0" err="1"/>
              <a:t>NRf</a:t>
            </a:r>
            <a:r>
              <a:rPr lang="en-IN" sz="1600" dirty="0"/>
              <a:t> — Fan speed </a:t>
            </a:r>
          </a:p>
          <a:p>
            <a:pPr lvl="0"/>
            <a:r>
              <a:rPr lang="en-IN" dirty="0"/>
              <a:t>phi</a:t>
            </a:r>
            <a:r>
              <a:rPr lang="en-IN" sz="1600" dirty="0"/>
              <a:t> — Fuel-air ratio </a:t>
            </a:r>
          </a:p>
          <a:p>
            <a:pPr lvl="0"/>
            <a:r>
              <a:rPr lang="en-IN" dirty="0"/>
              <a:t>T50</a:t>
            </a:r>
            <a:r>
              <a:rPr lang="en-IN" sz="1600" dirty="0"/>
              <a:t> — Turbine temperature </a:t>
            </a:r>
          </a:p>
          <a:p>
            <a:pPr lvl="0"/>
            <a:r>
              <a:rPr lang="en-IN" dirty="0"/>
              <a:t>P30</a:t>
            </a:r>
            <a:r>
              <a:rPr lang="en-IN" sz="1600" dirty="0"/>
              <a:t> — Compressor pressure</a:t>
            </a:r>
          </a:p>
          <a:p>
            <a:r>
              <a:rPr lang="en-IN" sz="1600" b="1" dirty="0">
                <a:latin typeface="Times New Roman" panose="02020603050405020304" pitchFamily="18" charset="0"/>
                <a:cs typeface="Times New Roman" panose="02020603050405020304" pitchFamily="18" charset="0"/>
              </a:rPr>
              <a:t>Flow:</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Transformer → RUL Prediction → SHAP → Feature Contributions</a:t>
            </a:r>
          </a:p>
        </p:txBody>
      </p:sp>
    </p:spTree>
    <p:extLst>
      <p:ext uri="{BB962C8B-B14F-4D97-AF65-F5344CB8AC3E}">
        <p14:creationId xmlns:p14="http://schemas.microsoft.com/office/powerpoint/2010/main" val="38791238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C4572D9D-AB4A-D3B9-2B60-87462506FB7C}"/>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A3F974BE-0F0E-874C-0447-0884436907E6}"/>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CMAPSS Branch</a:t>
            </a:r>
            <a:endParaRPr b="1" dirty="0">
              <a:latin typeface="Times New Roman" panose="02020603050405020304" pitchFamily="18" charset="0"/>
              <a:cs typeface="Times New Roman" panose="02020603050405020304" pitchFamily="18" charset="0"/>
            </a:endParaRPr>
          </a:p>
        </p:txBody>
      </p:sp>
      <p:sp>
        <p:nvSpPr>
          <p:cNvPr id="206" name="Google Shape;206;p13">
            <a:extLst>
              <a:ext uri="{FF2B5EF4-FFF2-40B4-BE49-F238E27FC236}">
                <a16:creationId xmlns:a16="http://schemas.microsoft.com/office/drawing/2014/main" id="{5F90C5C8-1DE0-BF84-AE1B-A2E4BDE0FA02}"/>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
        <p:nvSpPr>
          <p:cNvPr id="11" name="TextBox 10">
            <a:extLst>
              <a:ext uri="{FF2B5EF4-FFF2-40B4-BE49-F238E27FC236}">
                <a16:creationId xmlns:a16="http://schemas.microsoft.com/office/drawing/2014/main" id="{EA067732-A719-B961-044F-A32EFE354B87}"/>
              </a:ext>
            </a:extLst>
          </p:cNvPr>
          <p:cNvSpPr txBox="1"/>
          <p:nvPr/>
        </p:nvSpPr>
        <p:spPr>
          <a:xfrm>
            <a:off x="526026" y="816604"/>
            <a:ext cx="7703574" cy="1815882"/>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From SHAP Features to Engineering Evidence</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SHAP produces mathematical feature contributions.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AERIS further interprets these features in an engineering context.</a:t>
            </a:r>
          </a:p>
          <a:p>
            <a:r>
              <a:rPr lang="en-IN" sz="1600" b="1" dirty="0">
                <a:latin typeface="Times New Roman" panose="02020603050405020304" pitchFamily="18" charset="0"/>
                <a:cs typeface="Times New Roman" panose="02020603050405020304" pitchFamily="18" charset="0"/>
              </a:rPr>
              <a:t>Three-Level Interpretation</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0E926619-4260-85BD-C20C-BA14354F82FF}"/>
              </a:ext>
            </a:extLst>
          </p:cNvPr>
          <p:cNvGraphicFramePr>
            <a:graphicFrameLocks noGrp="1"/>
          </p:cNvGraphicFramePr>
          <p:nvPr>
            <p:extLst>
              <p:ext uri="{D42A27DB-BD31-4B8C-83A1-F6EECF244321}">
                <p14:modId xmlns:p14="http://schemas.microsoft.com/office/powerpoint/2010/main" val="171677829"/>
              </p:ext>
            </p:extLst>
          </p:nvPr>
        </p:nvGraphicFramePr>
        <p:xfrm>
          <a:off x="526026" y="2209800"/>
          <a:ext cx="8229600" cy="1219200"/>
        </p:xfrm>
        <a:graphic>
          <a:graphicData uri="http://schemas.openxmlformats.org/drawingml/2006/table">
            <a:tbl>
              <a:tblPr>
                <a:tableStyleId>{47879F58-94FC-4AB5-AACA-6E85711E4052}</a:tableStyleId>
              </a:tblPr>
              <a:tblGrid>
                <a:gridCol w="4114800">
                  <a:extLst>
                    <a:ext uri="{9D8B030D-6E8A-4147-A177-3AD203B41FA5}">
                      <a16:colId xmlns:a16="http://schemas.microsoft.com/office/drawing/2014/main" val="641050741"/>
                    </a:ext>
                  </a:extLst>
                </a:gridCol>
                <a:gridCol w="4114800">
                  <a:extLst>
                    <a:ext uri="{9D8B030D-6E8A-4147-A177-3AD203B41FA5}">
                      <a16:colId xmlns:a16="http://schemas.microsoft.com/office/drawing/2014/main" val="2669406991"/>
                    </a:ext>
                  </a:extLst>
                </a:gridCol>
              </a:tblGrid>
              <a:tr h="0">
                <a:tc>
                  <a:txBody>
                    <a:bodyPr/>
                    <a:lstStyle/>
                    <a:p>
                      <a:pPr>
                        <a:buNone/>
                      </a:pPr>
                      <a:r>
                        <a:rPr lang="en-IN" dirty="0"/>
                        <a:t>Level</a:t>
                      </a:r>
                    </a:p>
                  </a:txBody>
                  <a:tcPr anchor="ctr"/>
                </a:tc>
                <a:tc>
                  <a:txBody>
                    <a:bodyPr/>
                    <a:lstStyle/>
                    <a:p>
                      <a:pPr>
                        <a:buNone/>
                      </a:pPr>
                      <a:r>
                        <a:rPr lang="en-IN"/>
                        <a:t>Output</a:t>
                      </a:r>
                    </a:p>
                  </a:txBody>
                  <a:tcPr anchor="ctr"/>
                </a:tc>
                <a:extLst>
                  <a:ext uri="{0D108BD9-81ED-4DB2-BD59-A6C34878D82A}">
                    <a16:rowId xmlns:a16="http://schemas.microsoft.com/office/drawing/2014/main" val="899204083"/>
                  </a:ext>
                </a:extLst>
              </a:tr>
              <a:tr h="0">
                <a:tc>
                  <a:txBody>
                    <a:bodyPr/>
                    <a:lstStyle/>
                    <a:p>
                      <a:pPr>
                        <a:buNone/>
                      </a:pPr>
                      <a:r>
                        <a:rPr lang="en-IN"/>
                        <a:t>Model Level</a:t>
                      </a:r>
                    </a:p>
                  </a:txBody>
                  <a:tcPr anchor="ctr"/>
                </a:tc>
                <a:tc>
                  <a:txBody>
                    <a:bodyPr/>
                    <a:lstStyle/>
                    <a:p>
                      <a:pPr>
                        <a:buNone/>
                      </a:pPr>
                      <a:r>
                        <a:rPr lang="en-IN"/>
                        <a:t>SHAP contribution of each sensor</a:t>
                      </a:r>
                    </a:p>
                  </a:txBody>
                  <a:tcPr anchor="ctr"/>
                </a:tc>
                <a:extLst>
                  <a:ext uri="{0D108BD9-81ED-4DB2-BD59-A6C34878D82A}">
                    <a16:rowId xmlns:a16="http://schemas.microsoft.com/office/drawing/2014/main" val="2823688259"/>
                  </a:ext>
                </a:extLst>
              </a:tr>
              <a:tr h="0">
                <a:tc>
                  <a:txBody>
                    <a:bodyPr/>
                    <a:lstStyle/>
                    <a:p>
                      <a:pPr>
                        <a:buNone/>
                      </a:pPr>
                      <a:r>
                        <a:rPr lang="en-IN"/>
                        <a:t>Feature Level</a:t>
                      </a:r>
                    </a:p>
                  </a:txBody>
                  <a:tcPr anchor="ctr"/>
                </a:tc>
                <a:tc>
                  <a:txBody>
                    <a:bodyPr/>
                    <a:lstStyle/>
                    <a:p>
                      <a:pPr>
                        <a:buNone/>
                      </a:pPr>
                      <a:r>
                        <a:rPr lang="en-IN"/>
                        <a:t>Pressure, temperature and rotational behaviour</a:t>
                      </a:r>
                    </a:p>
                  </a:txBody>
                  <a:tcPr anchor="ctr"/>
                </a:tc>
                <a:extLst>
                  <a:ext uri="{0D108BD9-81ED-4DB2-BD59-A6C34878D82A}">
                    <a16:rowId xmlns:a16="http://schemas.microsoft.com/office/drawing/2014/main" val="408368198"/>
                  </a:ext>
                </a:extLst>
              </a:tr>
              <a:tr h="0">
                <a:tc>
                  <a:txBody>
                    <a:bodyPr/>
                    <a:lstStyle/>
                    <a:p>
                      <a:pPr>
                        <a:buNone/>
                      </a:pPr>
                      <a:r>
                        <a:rPr lang="en-IN" dirty="0"/>
                        <a:t>Engineering Level</a:t>
                      </a:r>
                    </a:p>
                  </a:txBody>
                  <a:tcPr anchor="ctr"/>
                </a:tc>
                <a:tc>
                  <a:txBody>
                    <a:bodyPr/>
                    <a:lstStyle/>
                    <a:p>
                      <a:pPr>
                        <a:buNone/>
                      </a:pPr>
                      <a:r>
                        <a:rPr lang="en-IN" dirty="0"/>
                        <a:t>Probable affected subsystem</a:t>
                      </a:r>
                    </a:p>
                  </a:txBody>
                  <a:tcPr anchor="ctr"/>
                </a:tc>
                <a:extLst>
                  <a:ext uri="{0D108BD9-81ED-4DB2-BD59-A6C34878D82A}">
                    <a16:rowId xmlns:a16="http://schemas.microsoft.com/office/drawing/2014/main" val="1768897550"/>
                  </a:ext>
                </a:extLst>
              </a:tr>
            </a:tbl>
          </a:graphicData>
        </a:graphic>
      </p:graphicFrame>
      <p:sp>
        <p:nvSpPr>
          <p:cNvPr id="5" name="TextBox 4">
            <a:extLst>
              <a:ext uri="{FF2B5EF4-FFF2-40B4-BE49-F238E27FC236}">
                <a16:creationId xmlns:a16="http://schemas.microsoft.com/office/drawing/2014/main" id="{0463CD83-EEB4-639E-805A-86A2ED8F90B5}"/>
              </a:ext>
            </a:extLst>
          </p:cNvPr>
          <p:cNvSpPr txBox="1"/>
          <p:nvPr/>
        </p:nvSpPr>
        <p:spPr>
          <a:xfrm>
            <a:off x="526026" y="3559702"/>
            <a:ext cx="3692406" cy="3323987"/>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Reasoning Process</a:t>
            </a:r>
          </a:p>
          <a:p>
            <a:pPr>
              <a:buNone/>
            </a:pPr>
            <a:r>
              <a:rPr lang="en-IN" dirty="0">
                <a:latin typeface="Times New Roman" panose="02020603050405020304" pitchFamily="18" charset="0"/>
                <a:cs typeface="Times New Roman" panose="02020603050405020304" pitchFamily="18" charset="0"/>
              </a:rPr>
              <a:t>SHAP Ranking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Dominant Sensor Features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Engineering Significance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Subsystem Association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Probable Degradation Source</a:t>
            </a:r>
          </a:p>
          <a:p>
            <a:pPr>
              <a:buNone/>
            </a:pPr>
            <a:r>
              <a:rPr lang="en-IN" dirty="0">
                <a:latin typeface="Times New Roman" panose="02020603050405020304" pitchFamily="18" charset="0"/>
                <a:cs typeface="Times New Roman" panose="02020603050405020304" pitchFamily="18" charset="0"/>
              </a:rPr>
              <a:t>Example</a:t>
            </a:r>
          </a:p>
          <a:p>
            <a:pPr>
              <a:buNone/>
            </a:pPr>
            <a:r>
              <a:rPr lang="en-IN" dirty="0">
                <a:latin typeface="Times New Roman" panose="02020603050405020304" pitchFamily="18" charset="0"/>
                <a:cs typeface="Times New Roman" panose="02020603050405020304" pitchFamily="18" charset="0"/>
              </a:rPr>
              <a:t>Dominant features such as:</a:t>
            </a:r>
          </a:p>
          <a:p>
            <a:pPr>
              <a:buNone/>
            </a:pPr>
            <a:r>
              <a:rPr lang="en-IN" dirty="0">
                <a:latin typeface="Times New Roman" panose="02020603050405020304" pitchFamily="18" charset="0"/>
                <a:cs typeface="Times New Roman" panose="02020603050405020304" pitchFamily="18" charset="0"/>
              </a:rPr>
              <a:t>Ps30 + P30 + T50 + </a:t>
            </a:r>
            <a:r>
              <a:rPr lang="en-IN" dirty="0" err="1">
                <a:latin typeface="Times New Roman" panose="02020603050405020304" pitchFamily="18" charset="0"/>
                <a:cs typeface="Times New Roman" panose="02020603050405020304" pitchFamily="18" charset="0"/>
              </a:rPr>
              <a:t>NRf</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indicate important changes in compressor / engine-flow behaviour.</a:t>
            </a:r>
          </a:p>
        </p:txBody>
      </p:sp>
      <p:sp>
        <p:nvSpPr>
          <p:cNvPr id="7" name="TextBox 6">
            <a:extLst>
              <a:ext uri="{FF2B5EF4-FFF2-40B4-BE49-F238E27FC236}">
                <a16:creationId xmlns:a16="http://schemas.microsoft.com/office/drawing/2014/main" id="{76F849B5-0B0F-7F9E-2FCF-4ED0B3F244A4}"/>
              </a:ext>
            </a:extLst>
          </p:cNvPr>
          <p:cNvSpPr txBox="1"/>
          <p:nvPr/>
        </p:nvSpPr>
        <p:spPr>
          <a:xfrm>
            <a:off x="4096512" y="3559702"/>
            <a:ext cx="4659114" cy="224676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Probable Subsystem</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High-Pressure Compressor</a:t>
            </a:r>
          </a:p>
          <a:p>
            <a:pPr>
              <a:buNone/>
            </a:pPr>
            <a:r>
              <a:rPr lang="en-IN" b="1" dirty="0">
                <a:latin typeface="Times New Roman" panose="02020603050405020304" pitchFamily="18" charset="0"/>
                <a:cs typeface="Times New Roman" panose="02020603050405020304" pitchFamily="18" charset="0"/>
              </a:rPr>
              <a:t>Why this matters</a:t>
            </a:r>
          </a:p>
          <a:p>
            <a:pPr>
              <a:buNone/>
            </a:pPr>
            <a:r>
              <a:rPr lang="en-IN" dirty="0">
                <a:latin typeface="Times New Roman" panose="02020603050405020304" pitchFamily="18" charset="0"/>
                <a:cs typeface="Times New Roman" panose="02020603050405020304" pitchFamily="18" charset="0"/>
              </a:rPr>
              <a:t>The system moves beyond:</a:t>
            </a:r>
          </a:p>
          <a:p>
            <a:pPr>
              <a:buNone/>
            </a:pPr>
            <a:r>
              <a:rPr lang="en-IN" dirty="0">
                <a:latin typeface="Times New Roman" panose="02020603050405020304" pitchFamily="18" charset="0"/>
                <a:cs typeface="Times New Roman" panose="02020603050405020304" pitchFamily="18" charset="0"/>
              </a:rPr>
              <a:t>“RUL = 70.43 cycles”</a:t>
            </a:r>
          </a:p>
          <a:p>
            <a:pPr>
              <a:buNone/>
            </a:pPr>
            <a:r>
              <a:rPr lang="en-IN" dirty="0">
                <a:latin typeface="Times New Roman" panose="02020603050405020304" pitchFamily="18" charset="0"/>
                <a:cs typeface="Times New Roman" panose="02020603050405020304" pitchFamily="18" charset="0"/>
              </a:rPr>
              <a:t>to:</a:t>
            </a:r>
          </a:p>
          <a:p>
            <a:pPr>
              <a:buNone/>
            </a:pP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The predicted degradation is primarily associated with sensor behaviour related to the High-Pressure Compressor</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46843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48CFE6E6-254F-F2AF-D297-E12DEDA58043}"/>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6DB5340A-9CA4-EC49-3AA1-8A3FF91D4918}"/>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CMAPSS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E31E16BA-3377-C4DD-C928-231A8B6B19F2}"/>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6E6F6953-DA34-4331-E41B-6345A873EA7D}"/>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2" name="Footer Placeholder 1">
            <a:extLst>
              <a:ext uri="{FF2B5EF4-FFF2-40B4-BE49-F238E27FC236}">
                <a16:creationId xmlns:a16="http://schemas.microsoft.com/office/drawing/2014/main" id="{E448F8CB-E542-F4EA-1845-18893E5385D8}"/>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42A70085-F460-4D32-0A34-B6BB9A323666}"/>
              </a:ext>
            </a:extLst>
          </p:cNvPr>
          <p:cNvSpPr txBox="1"/>
          <p:nvPr/>
        </p:nvSpPr>
        <p:spPr>
          <a:xfrm>
            <a:off x="766916" y="1032388"/>
            <a:ext cx="7084141" cy="5447645"/>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How SHAP Becomes Evidence in AERIS</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CMAPSS → AERIS Evidence Pipeline</a:t>
            </a:r>
          </a:p>
          <a:p>
            <a:pPr>
              <a:buNone/>
            </a:pPr>
            <a:endParaRPr lang="en-IN" sz="1600" b="1"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CMAPSS Telemetry</a:t>
            </a:r>
          </a:p>
          <a:p>
            <a:pPr>
              <a:buNone/>
            </a:pPr>
            <a:r>
              <a:rPr lang="en-IN" dirty="0">
                <a:latin typeface="Times New Roman" panose="02020603050405020304" pitchFamily="18" charset="0"/>
                <a:cs typeface="Times New Roman" panose="02020603050405020304" pitchFamily="18" charset="0"/>
              </a:rPr>
              <a:t>        ↓</a:t>
            </a:r>
          </a:p>
          <a:p>
            <a:pPr>
              <a:buNone/>
            </a:pPr>
            <a:r>
              <a:rPr lang="en-IN" dirty="0">
                <a:latin typeface="Times New Roman" panose="02020603050405020304" pitchFamily="18" charset="0"/>
                <a:cs typeface="Times New Roman" panose="02020603050405020304" pitchFamily="18" charset="0"/>
              </a:rPr>
              <a:t>Time-Series Transformer</a:t>
            </a:r>
          </a:p>
          <a:p>
            <a:pPr>
              <a:buNone/>
            </a:pPr>
            <a:r>
              <a:rPr lang="en-IN" dirty="0">
                <a:latin typeface="Times New Roman" panose="02020603050405020304" pitchFamily="18" charset="0"/>
                <a:cs typeface="Times New Roman" panose="02020603050405020304" pitchFamily="18" charset="0"/>
              </a:rPr>
              <a:t>        ↓</a:t>
            </a:r>
          </a:p>
          <a:p>
            <a:pPr>
              <a:buNone/>
            </a:pPr>
            <a:r>
              <a:rPr lang="en-IN" dirty="0">
                <a:latin typeface="Times New Roman" panose="02020603050405020304" pitchFamily="18" charset="0"/>
                <a:cs typeface="Times New Roman" panose="02020603050405020304" pitchFamily="18" charset="0"/>
              </a:rPr>
              <a:t>Predicted RUL</a:t>
            </a:r>
          </a:p>
          <a:p>
            <a:pPr>
              <a:buNone/>
            </a:pPr>
            <a:r>
              <a:rPr lang="en-IN" dirty="0">
                <a:latin typeface="Times New Roman" panose="02020603050405020304" pitchFamily="18" charset="0"/>
                <a:cs typeface="Times New Roman" panose="02020603050405020304" pitchFamily="18" charset="0"/>
              </a:rPr>
              <a:t>(Example: 70.43 cycles)</a:t>
            </a:r>
          </a:p>
          <a:p>
            <a:pPr>
              <a:buNone/>
            </a:pPr>
            <a:r>
              <a:rPr lang="en-IN" dirty="0">
                <a:latin typeface="Times New Roman" panose="02020603050405020304" pitchFamily="18" charset="0"/>
                <a:cs typeface="Times New Roman" panose="02020603050405020304" pitchFamily="18" charset="0"/>
              </a:rPr>
              <a:t>        ↓</a:t>
            </a:r>
          </a:p>
          <a:p>
            <a:pPr>
              <a:buNone/>
            </a:pPr>
            <a:r>
              <a:rPr lang="en-IN" dirty="0">
                <a:latin typeface="Times New Roman" panose="02020603050405020304" pitchFamily="18" charset="0"/>
                <a:cs typeface="Times New Roman" panose="02020603050405020304" pitchFamily="18" charset="0"/>
              </a:rPr>
              <a:t>SHAP Analysis</a:t>
            </a:r>
          </a:p>
          <a:p>
            <a:pPr>
              <a:buNone/>
            </a:pPr>
            <a:r>
              <a:rPr lang="en-IN" dirty="0">
                <a:latin typeface="Times New Roman" panose="02020603050405020304" pitchFamily="18" charset="0"/>
                <a:cs typeface="Times New Roman" panose="02020603050405020304" pitchFamily="18" charset="0"/>
              </a:rPr>
              <a:t>        ↓</a:t>
            </a:r>
          </a:p>
          <a:p>
            <a:pPr>
              <a:buNone/>
            </a:pPr>
            <a:r>
              <a:rPr lang="en-IN" dirty="0">
                <a:latin typeface="Times New Roman" panose="02020603050405020304" pitchFamily="18" charset="0"/>
                <a:cs typeface="Times New Roman" panose="02020603050405020304" pitchFamily="18" charset="0"/>
              </a:rPr>
              <a:t>Top Contributing Sensors</a:t>
            </a:r>
          </a:p>
          <a:p>
            <a:pPr>
              <a:buNone/>
            </a:pPr>
            <a:r>
              <a:rPr lang="en-IN" dirty="0">
                <a:latin typeface="Times New Roman" panose="02020603050405020304" pitchFamily="18" charset="0"/>
                <a:cs typeface="Times New Roman" panose="02020603050405020304" pitchFamily="18" charset="0"/>
              </a:rPr>
              <a:t>        ↓</a:t>
            </a:r>
          </a:p>
          <a:p>
            <a:pPr>
              <a:buNone/>
            </a:pPr>
            <a:r>
              <a:rPr lang="en-IN" dirty="0">
                <a:latin typeface="Times New Roman" panose="02020603050405020304" pitchFamily="18" charset="0"/>
                <a:cs typeface="Times New Roman" panose="02020603050405020304" pitchFamily="18" charset="0"/>
              </a:rPr>
              <a:t>Engineering Interpretation</a:t>
            </a:r>
          </a:p>
          <a:p>
            <a:pPr>
              <a:buNone/>
            </a:pPr>
            <a:r>
              <a:rPr lang="en-IN" dirty="0">
                <a:latin typeface="Times New Roman" panose="02020603050405020304" pitchFamily="18" charset="0"/>
                <a:cs typeface="Times New Roman" panose="02020603050405020304" pitchFamily="18" charset="0"/>
              </a:rPr>
              <a:t>        ↓</a:t>
            </a:r>
          </a:p>
          <a:p>
            <a:pPr>
              <a:buNone/>
            </a:pPr>
            <a:r>
              <a:rPr lang="en-IN" dirty="0">
                <a:latin typeface="Times New Roman" panose="02020603050405020304" pitchFamily="18" charset="0"/>
                <a:cs typeface="Times New Roman" panose="02020603050405020304" pitchFamily="18" charset="0"/>
              </a:rPr>
              <a:t>Probable Subsystem</a:t>
            </a:r>
          </a:p>
          <a:p>
            <a:pPr>
              <a:buNone/>
            </a:pPr>
            <a:r>
              <a:rPr lang="en-IN" dirty="0">
                <a:latin typeface="Times New Roman" panose="02020603050405020304" pitchFamily="18" charset="0"/>
                <a:cs typeface="Times New Roman" panose="02020603050405020304" pitchFamily="18" charset="0"/>
              </a:rPr>
              <a:t>(High-Pressure Compressor)</a:t>
            </a:r>
          </a:p>
          <a:p>
            <a:pPr>
              <a:buNone/>
            </a:pPr>
            <a:r>
              <a:rPr lang="en-IN" dirty="0">
                <a:latin typeface="Times New Roman" panose="02020603050405020304" pitchFamily="18" charset="0"/>
                <a:cs typeface="Times New Roman" panose="02020603050405020304" pitchFamily="18" charset="0"/>
              </a:rPr>
              <a:t>        ↓</a:t>
            </a:r>
          </a:p>
          <a:p>
            <a:pPr>
              <a:buNone/>
            </a:pPr>
            <a:r>
              <a:rPr lang="en-IN" dirty="0">
                <a:latin typeface="Times New Roman" panose="02020603050405020304" pitchFamily="18" charset="0"/>
                <a:cs typeface="Times New Roman" panose="02020603050405020304" pitchFamily="18" charset="0"/>
              </a:rPr>
              <a:t>Semantic Query</a:t>
            </a:r>
          </a:p>
          <a:p>
            <a:pPr>
              <a:buNone/>
            </a:pPr>
            <a:r>
              <a:rPr lang="en-IN" dirty="0">
                <a:latin typeface="Times New Roman" panose="02020603050405020304" pitchFamily="18" charset="0"/>
                <a:cs typeface="Times New Roman" panose="02020603050405020304" pitchFamily="18" charset="0"/>
              </a:rPr>
              <a:t>"Compressor Pressure Degradation Failure"</a:t>
            </a:r>
          </a:p>
          <a:p>
            <a:pPr>
              <a:buNone/>
            </a:pPr>
            <a:r>
              <a:rPr lang="en-IN" dirty="0">
                <a:latin typeface="Times New Roman" panose="02020603050405020304" pitchFamily="18" charset="0"/>
                <a:cs typeface="Times New Roman" panose="02020603050405020304" pitchFamily="18" charset="0"/>
              </a:rPr>
              <a:t>        ↓</a:t>
            </a:r>
          </a:p>
          <a:p>
            <a:pPr>
              <a:buNone/>
            </a:pPr>
            <a:r>
              <a:rPr lang="en-IN" dirty="0">
                <a:latin typeface="Times New Roman" panose="02020603050405020304" pitchFamily="18" charset="0"/>
                <a:cs typeface="Times New Roman" panose="02020603050405020304" pitchFamily="18" charset="0"/>
              </a:rPr>
              <a:t>NTSB Semantic Retrieval</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22354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E4182FD5-DA11-F9C9-BCA7-D07DDAA83D5A}"/>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9D129EB6-7C3E-E57D-9581-9E88557456E7}"/>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CMAPSS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15BD42D6-4CF4-E262-F953-2A3C2210FEAA}"/>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167962FC-DDF6-0C54-A3C8-438549A5E2D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sp>
        <p:nvSpPr>
          <p:cNvPr id="2" name="Footer Placeholder 1">
            <a:extLst>
              <a:ext uri="{FF2B5EF4-FFF2-40B4-BE49-F238E27FC236}">
                <a16:creationId xmlns:a16="http://schemas.microsoft.com/office/drawing/2014/main" id="{DFB7D43F-1CF2-EB42-51CA-B4C1587FD1CE}"/>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FDCAD409-C853-D9A3-C2D1-A74764CF9D65}"/>
              </a:ext>
            </a:extLst>
          </p:cNvPr>
          <p:cNvSpPr txBox="1"/>
          <p:nvPr/>
        </p:nvSpPr>
        <p:spPr>
          <a:xfrm>
            <a:off x="766916" y="1032388"/>
            <a:ext cx="7084141" cy="4893647"/>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What SHAP Contributes to AERIS</a:t>
            </a:r>
          </a:p>
          <a:p>
            <a:endParaRPr lang="en-IN" sz="2000" b="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 Explainability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Identifies </a:t>
            </a:r>
            <a:r>
              <a:rPr lang="en-IN" sz="1600" b="1" dirty="0">
                <a:latin typeface="Times New Roman" panose="02020603050405020304" pitchFamily="18" charset="0"/>
                <a:cs typeface="Times New Roman" panose="02020603050405020304" pitchFamily="18" charset="0"/>
              </a:rPr>
              <a:t>why</a:t>
            </a:r>
            <a:r>
              <a:rPr lang="en-IN" sz="1600" dirty="0">
                <a:latin typeface="Times New Roman" panose="02020603050405020304" pitchFamily="18" charset="0"/>
                <a:cs typeface="Times New Roman" panose="02020603050405020304" pitchFamily="18" charset="0"/>
              </a:rPr>
              <a:t> the CMAPSS model produced its RUL prediction.</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Engineering Evidence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Links influential sensor behaviour to a </a:t>
            </a:r>
            <a:r>
              <a:rPr lang="en-IN" sz="1600" b="1" dirty="0">
                <a:latin typeface="Times New Roman" panose="02020603050405020304" pitchFamily="18" charset="0"/>
                <a:cs typeface="Times New Roman" panose="02020603050405020304" pitchFamily="18" charset="0"/>
              </a:rPr>
              <a:t>probable subsystem</a:t>
            </a:r>
            <a:r>
              <a:rPr lang="en-IN" sz="16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Investigation Trigger</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Converts the identified degradation pattern into a </a:t>
            </a:r>
            <a:r>
              <a:rPr lang="en-IN" sz="1600" b="1" dirty="0">
                <a:latin typeface="Times New Roman" panose="02020603050405020304" pitchFamily="18" charset="0"/>
                <a:cs typeface="Times New Roman" panose="02020603050405020304" pitchFamily="18" charset="0"/>
              </a:rPr>
              <a:t>semantic investigation query</a:t>
            </a:r>
            <a:r>
              <a:rPr lang="en-IN" sz="16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Multi-Source Reasoning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resulting evidence can be combined with:</a:t>
            </a:r>
          </a:p>
          <a:p>
            <a:pPr lvl="0"/>
            <a:r>
              <a:rPr lang="en-IN" sz="1600" dirty="0">
                <a:latin typeface="Times New Roman" panose="02020603050405020304" pitchFamily="18" charset="0"/>
                <a:cs typeface="Times New Roman" panose="02020603050405020304" pitchFamily="18" charset="0"/>
              </a:rPr>
              <a:t>	NGAFID → Operational evidence </a:t>
            </a:r>
          </a:p>
          <a:p>
            <a:pPr lvl="0"/>
            <a:r>
              <a:rPr lang="en-IN" sz="1600" dirty="0">
                <a:latin typeface="Times New Roman" panose="02020603050405020304" pitchFamily="18" charset="0"/>
                <a:cs typeface="Times New Roman" panose="02020603050405020304" pitchFamily="18" charset="0"/>
              </a:rPr>
              <a:t>	NTSB → Historical evidence </a:t>
            </a:r>
          </a:p>
          <a:p>
            <a:pPr lvl="0"/>
            <a:r>
              <a:rPr lang="en-IN" sz="1600" dirty="0">
                <a:latin typeface="Times New Roman" panose="02020603050405020304" pitchFamily="18" charset="0"/>
                <a:cs typeface="Times New Roman" panose="02020603050405020304" pitchFamily="18" charset="0"/>
              </a:rPr>
              <a:t>	CMAPSS → Predictive + engineering evidence </a:t>
            </a:r>
          </a:p>
          <a:p>
            <a:pPr lvl="0"/>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Core AERIS Contribution</a:t>
            </a:r>
          </a:p>
          <a:p>
            <a:r>
              <a:rPr lang="en-IN" sz="1600" dirty="0">
                <a:latin typeface="Times New Roman" panose="02020603050405020304" pitchFamily="18" charset="0"/>
                <a:cs typeface="Times New Roman" panose="02020603050405020304" pitchFamily="18" charset="0"/>
              </a:rPr>
              <a:t>SHAP acts as the bridge between a numerical ML prediction and the engineering evidence required for multi-source aircraft investigation.</a:t>
            </a:r>
          </a:p>
          <a:p>
            <a:pPr>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71581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29862CA5-68CC-21AC-380B-7B7102556475}"/>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B106DFFD-A44B-A697-C633-36F1283186F5}"/>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BABA4ACB-75CF-E7DD-223A-F2E2CB64116F}"/>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Why the Raw Transformer Failed</a:t>
            </a:r>
          </a:p>
          <a:p>
            <a:pPr marL="114300" indent="0">
              <a:buNone/>
            </a:pPr>
            <a:r>
              <a:rPr lang="en-IN" sz="1600" dirty="0">
                <a:latin typeface="Times New Roman" panose="02020603050405020304" pitchFamily="18" charset="0"/>
                <a:cs typeface="Times New Roman" panose="02020603050405020304" pitchFamily="18" charset="0"/>
              </a:rPr>
              <a:t>Limitations of Deep Sequence </a:t>
            </a:r>
            <a:r>
              <a:rPr lang="en-IN" sz="1600" dirty="0" err="1">
                <a:latin typeface="Times New Roman" panose="02020603050405020304" pitchFamily="18" charset="0"/>
                <a:cs typeface="Times New Roman" panose="02020603050405020304" pitchFamily="18" charset="0"/>
              </a:rPr>
              <a:t>Modeling</a:t>
            </a:r>
            <a:r>
              <a:rPr lang="en-IN" sz="1600" dirty="0">
                <a:latin typeface="Times New Roman" panose="02020603050405020304" pitchFamily="18" charset="0"/>
                <a:cs typeface="Times New Roman" panose="02020603050405020304" pitchFamily="18" charset="0"/>
              </a:rPr>
              <a:t> on Real-World Flight Telemetry</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Initial Experiment</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Raw NGAFID telemetry → </a:t>
            </a:r>
            <a:r>
              <a:rPr lang="en-IN" sz="1600" b="1" dirty="0">
                <a:latin typeface="Times New Roman" panose="02020603050405020304" pitchFamily="18" charset="0"/>
                <a:cs typeface="Times New Roman" panose="02020603050405020304" pitchFamily="18" charset="0"/>
              </a:rPr>
              <a:t>300 × 46 Transformer input</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Test </a:t>
            </a:r>
            <a:r>
              <a:rPr lang="en-IN" sz="1600" b="1" dirty="0">
                <a:latin typeface="Times New Roman" panose="02020603050405020304" pitchFamily="18" charset="0"/>
                <a:cs typeface="Times New Roman" panose="02020603050405020304" pitchFamily="18" charset="0"/>
              </a:rPr>
              <a:t>ROC-AUC: 0.604</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Test </a:t>
            </a:r>
            <a:r>
              <a:rPr lang="en-IN" sz="1600" b="1" dirty="0">
                <a:latin typeface="Times New Roman" panose="02020603050405020304" pitchFamily="18" charset="0"/>
                <a:cs typeface="Times New Roman" panose="02020603050405020304" pitchFamily="18" charset="0"/>
              </a:rPr>
              <a:t>F1-Score: 0.473</a:t>
            </a:r>
            <a:r>
              <a:rPr lang="en-IN" sz="1600" dirty="0">
                <a:latin typeface="Times New Roman" panose="02020603050405020304" pitchFamily="18" charset="0"/>
                <a:cs typeface="Times New Roman" panose="02020603050405020304" pitchFamily="18" charset="0"/>
              </a:rPr>
              <a:t> </a:t>
            </a:r>
          </a:p>
          <a:p>
            <a:pPr marL="114300" indent="0">
              <a:buNone/>
            </a:pPr>
            <a:r>
              <a:rPr lang="en-IN" sz="1600" b="1" dirty="0">
                <a:latin typeface="Times New Roman" panose="02020603050405020304" pitchFamily="18" charset="0"/>
                <a:cs typeface="Times New Roman" panose="02020603050405020304" pitchFamily="18" charset="0"/>
              </a:rPr>
              <a:t>Key Challenges</a:t>
            </a:r>
            <a:endParaRPr lang="en-IN" sz="1600" dirty="0">
              <a:latin typeface="Times New Roman" panose="02020603050405020304" pitchFamily="18" charset="0"/>
              <a:cs typeface="Times New Roman" panose="02020603050405020304" pitchFamily="18" charset="0"/>
            </a:endParaRPr>
          </a:p>
          <a:p>
            <a:pPr lvl="0"/>
            <a:r>
              <a:rPr lang="en-IN" sz="1600" b="1" dirty="0">
                <a:latin typeface="Times New Roman" panose="02020603050405020304" pitchFamily="18" charset="0"/>
                <a:cs typeface="Times New Roman" panose="02020603050405020304" pitchFamily="18" charset="0"/>
              </a:rPr>
              <a:t>Flight-duration heterogeneity:</a:t>
            </a:r>
            <a:r>
              <a:rPr lang="en-IN" sz="1600" dirty="0">
                <a:latin typeface="Times New Roman" panose="02020603050405020304" pitchFamily="18" charset="0"/>
                <a:cs typeface="Times New Roman" panose="02020603050405020304" pitchFamily="18" charset="0"/>
              </a:rPr>
              <a:t> Fixed padding/truncation distorted temporal patterns. </a:t>
            </a:r>
          </a:p>
          <a:p>
            <a:pPr lvl="0"/>
            <a:r>
              <a:rPr lang="en-IN" sz="1600" b="1" dirty="0">
                <a:latin typeface="Times New Roman" panose="02020603050405020304" pitchFamily="18" charset="0"/>
                <a:cs typeface="Times New Roman" panose="02020603050405020304" pitchFamily="18" charset="0"/>
              </a:rPr>
              <a:t>Non-stationary flight regimes:</a:t>
            </a:r>
            <a:r>
              <a:rPr lang="en-IN" sz="1600" dirty="0">
                <a:latin typeface="Times New Roman" panose="02020603050405020304" pitchFamily="18" charset="0"/>
                <a:cs typeface="Times New Roman" panose="02020603050405020304" pitchFamily="18" charset="0"/>
              </a:rPr>
              <a:t> Climb, cruise, descent, pilot inputs and turbulence created strong non-fault variation. </a:t>
            </a:r>
          </a:p>
          <a:p>
            <a:pPr lvl="0"/>
            <a:r>
              <a:rPr lang="en-IN" sz="1600" b="1" dirty="0">
                <a:latin typeface="Times New Roman" panose="02020603050405020304" pitchFamily="18" charset="0"/>
                <a:cs typeface="Times New Roman" panose="02020603050405020304" pitchFamily="18" charset="0"/>
              </a:rPr>
              <a:t>Limited physical guidance:</a:t>
            </a:r>
            <a:r>
              <a:rPr lang="en-IN" sz="1600" dirty="0">
                <a:latin typeface="Times New Roman" panose="02020603050405020304" pitchFamily="18" charset="0"/>
                <a:cs typeface="Times New Roman" panose="02020603050405020304" pitchFamily="18" charset="0"/>
              </a:rPr>
              <a:t> The model had to learn relationships such as EGT/CHT imbalance and oil behaviour directly from raw data. </a:t>
            </a:r>
          </a:p>
          <a:p>
            <a:pPr lvl="0"/>
            <a:r>
              <a:rPr lang="en-IN" sz="1600" b="1" dirty="0">
                <a:latin typeface="Times New Roman" panose="02020603050405020304" pitchFamily="18" charset="0"/>
                <a:cs typeface="Times New Roman" panose="02020603050405020304" pitchFamily="18" charset="0"/>
              </a:rPr>
              <a:t>Limited interpretability:</a:t>
            </a:r>
            <a:r>
              <a:rPr lang="en-IN" sz="1600" dirty="0">
                <a:latin typeface="Times New Roman" panose="02020603050405020304" pitchFamily="18" charset="0"/>
                <a:cs typeface="Times New Roman" panose="02020603050405020304" pitchFamily="18" charset="0"/>
              </a:rPr>
              <a:t> Attention-based predictions did not directly provide maintenance-oriented evidence. </a:t>
            </a:r>
          </a:p>
          <a:p>
            <a:pPr marL="114300" indent="0">
              <a:buNone/>
            </a:pPr>
            <a:r>
              <a:rPr lang="en-IN" sz="1600" b="1" dirty="0">
                <a:latin typeface="Times New Roman" panose="02020603050405020304" pitchFamily="18" charset="0"/>
                <a:cs typeface="Times New Roman" panose="02020603050405020304" pitchFamily="18" charset="0"/>
              </a:rPr>
              <a:t>Key takeaway:</a:t>
            </a:r>
            <a:r>
              <a:rPr lang="en-IN" sz="1600" dirty="0">
                <a:latin typeface="Times New Roman" panose="02020603050405020304" pitchFamily="18" charset="0"/>
                <a:cs typeface="Times New Roman" panose="02020603050405020304" pitchFamily="18" charset="0"/>
              </a:rPr>
              <a:t> Raw sequence </a:t>
            </a:r>
            <a:r>
              <a:rPr lang="en-IN" sz="1600" dirty="0" err="1">
                <a:latin typeface="Times New Roman" panose="02020603050405020304" pitchFamily="18" charset="0"/>
                <a:cs typeface="Times New Roman" panose="02020603050405020304" pitchFamily="18" charset="0"/>
              </a:rPr>
              <a:t>modeling</a:t>
            </a:r>
            <a:r>
              <a:rPr lang="en-IN" sz="1600" dirty="0">
                <a:latin typeface="Times New Roman" panose="02020603050405020304" pitchFamily="18" charset="0"/>
                <a:cs typeface="Times New Roman" panose="02020603050405020304" pitchFamily="18" charset="0"/>
              </a:rPr>
              <a:t> was insufficient for reliable diagnosis on noisy, heterogeneous general-aviation telemetry.</a:t>
            </a:r>
          </a:p>
        </p:txBody>
      </p:sp>
      <p:sp>
        <p:nvSpPr>
          <p:cNvPr id="205" name="Google Shape;205;p13">
            <a:extLst>
              <a:ext uri="{FF2B5EF4-FFF2-40B4-BE49-F238E27FC236}">
                <a16:creationId xmlns:a16="http://schemas.microsoft.com/office/drawing/2014/main" id="{C64F3C9D-F942-E07A-1F56-ACA6986EB64A}"/>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EAAE1601-50B5-75C1-F9BB-788DB2011F2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 name="Footer Placeholder 1">
            <a:extLst>
              <a:ext uri="{FF2B5EF4-FFF2-40B4-BE49-F238E27FC236}">
                <a16:creationId xmlns:a16="http://schemas.microsoft.com/office/drawing/2014/main" id="{53B1F9A5-1D28-A538-797A-CC4AF8AF62D2}"/>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14420412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40E0D3DE-16F5-48EB-73A2-737FD4A493D7}"/>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206B89CE-A5DA-3AC3-BF5E-88F0C349C8EC}"/>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A1DB800A-6487-83D6-0620-09EE87249C9E}"/>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Our Approach: Physics-Informed Hierarchical Diagnosis</a:t>
            </a:r>
          </a:p>
          <a:p>
            <a:pPr marL="114300" indent="0">
              <a:buNone/>
            </a:pPr>
            <a:endParaRPr lang="en-IN" sz="21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NGAFID Pipeline</a:t>
            </a:r>
          </a:p>
          <a:p>
            <a:pPr marL="114300" indent="0">
              <a:buNone/>
            </a:pPr>
            <a:r>
              <a:rPr lang="en-IN" sz="1600" dirty="0">
                <a:latin typeface="Times New Roman" panose="02020603050405020304" pitchFamily="18" charset="0"/>
                <a:cs typeface="Times New Roman" panose="02020603050405020304" pitchFamily="18" charset="0"/>
              </a:rPr>
              <a:t>Raw Telemetry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5 Flight-Phase Segmentation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Physics-Based Feature Engineering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437 Structured Features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Two-Stage </a:t>
            </a:r>
            <a:r>
              <a:rPr lang="en-IN" sz="1600" dirty="0" err="1">
                <a:latin typeface="Times New Roman" panose="02020603050405020304" pitchFamily="18" charset="0"/>
                <a:cs typeface="Times New Roman" panose="02020603050405020304" pitchFamily="18" charset="0"/>
              </a:rPr>
              <a:t>LightGBM</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Fault Probability → Subsystem Ranking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TreeSHAP</a:t>
            </a:r>
            <a:r>
              <a:rPr lang="en-IN" sz="1600" dirty="0">
                <a:latin typeface="Times New Roman" panose="02020603050405020304" pitchFamily="18" charset="0"/>
                <a:cs typeface="Times New Roman" panose="02020603050405020304" pitchFamily="18" charset="0"/>
              </a:rPr>
              <a:t> Evidence</a:t>
            </a:r>
          </a:p>
          <a:p>
            <a:endParaRPr lang="en-IN" sz="1600"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0C4232BE-0D31-8300-DB8F-A32964A01F92}"/>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C496300A-A1AF-2554-96BE-1D3311FE76A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 name="Footer Placeholder 1">
            <a:extLst>
              <a:ext uri="{FF2B5EF4-FFF2-40B4-BE49-F238E27FC236}">
                <a16:creationId xmlns:a16="http://schemas.microsoft.com/office/drawing/2014/main" id="{8B5FF5D7-D5AA-0563-932C-A726F1EAA528}"/>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4" name="TextBox 3">
            <a:extLst>
              <a:ext uri="{FF2B5EF4-FFF2-40B4-BE49-F238E27FC236}">
                <a16:creationId xmlns:a16="http://schemas.microsoft.com/office/drawing/2014/main" id="{176DBD51-B54C-7545-AA34-07507448FB66}"/>
              </a:ext>
            </a:extLst>
          </p:cNvPr>
          <p:cNvSpPr txBox="1"/>
          <p:nvPr/>
        </p:nvSpPr>
        <p:spPr>
          <a:xfrm>
            <a:off x="4606415" y="1956619"/>
            <a:ext cx="4080385" cy="3539430"/>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Stage 1 — Anomaly Screening</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Binary classification </a:t>
            </a:r>
          </a:p>
          <a:p>
            <a:pPr lvl="0"/>
            <a:r>
              <a:rPr lang="en-IN" sz="1600" dirty="0">
                <a:latin typeface="Times New Roman" panose="02020603050405020304" pitchFamily="18" charset="0"/>
                <a:cs typeface="Times New Roman" panose="02020603050405020304" pitchFamily="18" charset="0"/>
              </a:rPr>
              <a:t>Detects pre-maintenance degradation </a:t>
            </a:r>
          </a:p>
          <a:p>
            <a:pPr lvl="0"/>
            <a:r>
              <a:rPr lang="en-IN" sz="1600" dirty="0">
                <a:latin typeface="Times New Roman" panose="02020603050405020304" pitchFamily="18" charset="0"/>
                <a:cs typeface="Times New Roman" panose="02020603050405020304" pitchFamily="18" charset="0"/>
              </a:rPr>
              <a:t>Operating threshold: </a:t>
            </a:r>
            <a:r>
              <a:rPr lang="en-IN" sz="1600" b="1" dirty="0">
                <a:latin typeface="Times New Roman" panose="02020603050405020304" pitchFamily="18" charset="0"/>
                <a:cs typeface="Times New Roman" panose="02020603050405020304" pitchFamily="18" charset="0"/>
              </a:rPr>
              <a:t>τ = 0.62</a:t>
            </a:r>
            <a:r>
              <a:rPr lang="en-IN" sz="1600" dirty="0">
                <a:latin typeface="Times New Roman" panose="02020603050405020304" pitchFamily="18" charset="0"/>
                <a:cs typeface="Times New Roman" panose="02020603050405020304" pitchFamily="18" charset="0"/>
              </a:rPr>
              <a:t> </a:t>
            </a:r>
          </a:p>
          <a:p>
            <a:pPr lvl="0"/>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Stage 2 — Subsystem Isolation</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Activated when Stage 1 flags an anomaly </a:t>
            </a:r>
          </a:p>
          <a:p>
            <a:pPr lvl="0"/>
            <a:r>
              <a:rPr lang="en-IN" sz="1600" dirty="0">
                <a:latin typeface="Times New Roman" panose="02020603050405020304" pitchFamily="18" charset="0"/>
                <a:cs typeface="Times New Roman" panose="02020603050405020304" pitchFamily="18" charset="0"/>
              </a:rPr>
              <a:t>Ranks </a:t>
            </a:r>
            <a:r>
              <a:rPr lang="en-IN" sz="1600" b="1" dirty="0">
                <a:latin typeface="Times New Roman" panose="02020603050405020304" pitchFamily="18" charset="0"/>
                <a:cs typeface="Times New Roman" panose="02020603050405020304" pitchFamily="18" charset="0"/>
              </a:rPr>
              <a:t>7 physical subsystems</a:t>
            </a:r>
            <a:r>
              <a:rPr lang="en-IN" sz="1600" dirty="0">
                <a:latin typeface="Times New Roman" panose="02020603050405020304" pitchFamily="18" charset="0"/>
                <a:cs typeface="Times New Roman" panose="02020603050405020304" pitchFamily="18" charset="0"/>
              </a:rPr>
              <a:t> </a:t>
            </a:r>
          </a:p>
          <a:p>
            <a:pPr lvl="0"/>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Why </a:t>
            </a:r>
            <a:r>
              <a:rPr lang="en-IN" sz="1600" b="1" dirty="0" err="1">
                <a:latin typeface="Times New Roman" panose="02020603050405020304" pitchFamily="18" charset="0"/>
                <a:cs typeface="Times New Roman" panose="02020603050405020304" pitchFamily="18" charset="0"/>
              </a:rPr>
              <a:t>LightGBM</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Efficient on structured/tabular data </a:t>
            </a:r>
          </a:p>
          <a:p>
            <a:pPr lvl="0"/>
            <a:r>
              <a:rPr lang="en-IN" sz="1600" dirty="0">
                <a:latin typeface="Times New Roman" panose="02020603050405020304" pitchFamily="18" charset="0"/>
                <a:cs typeface="Times New Roman" panose="02020603050405020304" pitchFamily="18" charset="0"/>
              </a:rPr>
              <a:t>Robust to noisy telemetry </a:t>
            </a:r>
          </a:p>
          <a:p>
            <a:pPr lvl="0"/>
            <a:r>
              <a:rPr lang="en-IN" sz="1600" dirty="0">
                <a:latin typeface="Times New Roman" panose="02020603050405020304" pitchFamily="18" charset="0"/>
                <a:cs typeface="Times New Roman" panose="02020603050405020304" pitchFamily="18" charset="0"/>
              </a:rPr>
              <a:t>Fast inference </a:t>
            </a:r>
          </a:p>
          <a:p>
            <a:pPr lvl="0"/>
            <a:r>
              <a:rPr lang="en-IN" sz="1600" dirty="0">
                <a:latin typeface="Times New Roman" panose="02020603050405020304" pitchFamily="18" charset="0"/>
                <a:cs typeface="Times New Roman" panose="02020603050405020304" pitchFamily="18" charset="0"/>
              </a:rPr>
              <a:t>Compatible with feature-level explanations</a:t>
            </a:r>
          </a:p>
        </p:txBody>
      </p:sp>
    </p:spTree>
    <p:extLst>
      <p:ext uri="{BB962C8B-B14F-4D97-AF65-F5344CB8AC3E}">
        <p14:creationId xmlns:p14="http://schemas.microsoft.com/office/powerpoint/2010/main" val="35953787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AD3B3B06-C16E-33E6-172D-9213D579206C}"/>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F4E59B4F-8DF3-845C-00EA-56E4D1606AB2}"/>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A4039222-B21B-7735-4D94-32A8F3E9A525}"/>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Data &amp; Physics-Informed Feature Engineering</a:t>
            </a:r>
          </a:p>
          <a:p>
            <a:pPr marL="114300" indent="0">
              <a:buNone/>
            </a:pPr>
            <a:r>
              <a:rPr lang="en-IN" sz="1600" b="1" dirty="0">
                <a:latin typeface="Times New Roman" panose="02020603050405020304" pitchFamily="18" charset="0"/>
                <a:cs typeface="Times New Roman" panose="02020603050405020304" pitchFamily="18" charset="0"/>
              </a:rPr>
              <a:t>Dataset</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28,935 real-world flights </a:t>
            </a:r>
          </a:p>
          <a:p>
            <a:pPr lvl="0"/>
            <a:r>
              <a:rPr lang="en-IN" sz="1600" dirty="0">
                <a:latin typeface="Times New Roman" panose="02020603050405020304" pitchFamily="18" charset="0"/>
                <a:cs typeface="Times New Roman" panose="02020603050405020304" pitchFamily="18" charset="0"/>
              </a:rPr>
              <a:t>Approximately 1 Hz telemetry </a:t>
            </a:r>
          </a:p>
          <a:p>
            <a:pPr lvl="0"/>
            <a:r>
              <a:rPr lang="en-IN" sz="1600" dirty="0">
                <a:latin typeface="Times New Roman" panose="02020603050405020304" pitchFamily="18" charset="0"/>
                <a:cs typeface="Times New Roman" panose="02020603050405020304" pitchFamily="18" charset="0"/>
              </a:rPr>
              <a:t>23 primary sensor channels </a:t>
            </a:r>
          </a:p>
          <a:p>
            <a:pPr lvl="0"/>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Leakage-Safe </a:t>
            </a:r>
            <a:r>
              <a:rPr lang="en-IN" sz="1600" b="1" dirty="0" err="1">
                <a:latin typeface="Times New Roman" panose="02020603050405020304" pitchFamily="18" charset="0"/>
                <a:cs typeface="Times New Roman" panose="02020603050405020304" pitchFamily="18" charset="0"/>
              </a:rPr>
              <a:t>Labeling</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Positive: Flights 24–48 h before unscheduled maintenance </a:t>
            </a:r>
          </a:p>
          <a:p>
            <a:pPr lvl="0"/>
            <a:r>
              <a:rPr lang="en-IN" sz="1600" dirty="0">
                <a:latin typeface="Times New Roman" panose="02020603050405020304" pitchFamily="18" charset="0"/>
                <a:cs typeface="Times New Roman" panose="02020603050405020304" pitchFamily="18" charset="0"/>
              </a:rPr>
              <a:t>Maintenance day: Excluded </a:t>
            </a:r>
          </a:p>
          <a:p>
            <a:pPr lvl="0"/>
            <a:r>
              <a:rPr lang="en-IN" sz="1600" dirty="0">
                <a:latin typeface="Times New Roman" panose="02020603050405020304" pitchFamily="18" charset="0"/>
                <a:cs typeface="Times New Roman" panose="02020603050405020304" pitchFamily="18" charset="0"/>
              </a:rPr>
              <a:t>Negative: Flights with no maintenance write-up within surrounding ±30 days </a:t>
            </a:r>
          </a:p>
          <a:p>
            <a:pPr marL="114300" lvl="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5 Operational Phases</a:t>
            </a:r>
            <a:endParaRPr lang="en-IN" sz="1600" dirty="0">
              <a:latin typeface="Times New Roman" panose="02020603050405020304" pitchFamily="18" charset="0"/>
              <a:cs typeface="Times New Roman" panose="02020603050405020304" pitchFamily="18" charset="0"/>
            </a:endParaRPr>
          </a:p>
          <a:p>
            <a:pPr lvl="0"/>
            <a:r>
              <a:rPr lang="en-IN" sz="1600" dirty="0" err="1">
                <a:latin typeface="Times New Roman" panose="02020603050405020304" pitchFamily="18" charset="0"/>
                <a:cs typeface="Times New Roman" panose="02020603050405020304" pitchFamily="18" charset="0"/>
              </a:rPr>
              <a:t>Takeoff</a:t>
            </a:r>
            <a:r>
              <a:rPr lang="en-IN" sz="1600" dirty="0">
                <a:latin typeface="Times New Roman" panose="02020603050405020304" pitchFamily="18" charset="0"/>
                <a:cs typeface="Times New Roman" panose="02020603050405020304" pitchFamily="18" charset="0"/>
              </a:rPr>
              <a:t> / Initial Climb </a:t>
            </a:r>
          </a:p>
          <a:p>
            <a:pPr lvl="0"/>
            <a:r>
              <a:rPr lang="en-IN" sz="1600" dirty="0">
                <a:latin typeface="Times New Roman" panose="02020603050405020304" pitchFamily="18" charset="0"/>
                <a:cs typeface="Times New Roman" panose="02020603050405020304" pitchFamily="18" charset="0"/>
              </a:rPr>
              <a:t>En-Route Climb </a:t>
            </a:r>
          </a:p>
          <a:p>
            <a:pPr lvl="0"/>
            <a:r>
              <a:rPr lang="en-IN" sz="1600" dirty="0">
                <a:latin typeface="Times New Roman" panose="02020603050405020304" pitchFamily="18" charset="0"/>
                <a:cs typeface="Times New Roman" panose="02020603050405020304" pitchFamily="18" charset="0"/>
              </a:rPr>
              <a:t>Cruise </a:t>
            </a:r>
          </a:p>
          <a:p>
            <a:pPr lvl="0"/>
            <a:r>
              <a:rPr lang="en-IN" sz="1600" dirty="0">
                <a:latin typeface="Times New Roman" panose="02020603050405020304" pitchFamily="18" charset="0"/>
                <a:cs typeface="Times New Roman" panose="02020603050405020304" pitchFamily="18" charset="0"/>
              </a:rPr>
              <a:t>Descent </a:t>
            </a:r>
          </a:p>
          <a:p>
            <a:pPr lvl="0"/>
            <a:r>
              <a:rPr lang="en-IN" sz="1600" dirty="0">
                <a:latin typeface="Times New Roman" panose="02020603050405020304" pitchFamily="18" charset="0"/>
                <a:cs typeface="Times New Roman" panose="02020603050405020304" pitchFamily="18" charset="0"/>
              </a:rPr>
              <a:t>Final Approach </a:t>
            </a:r>
          </a:p>
          <a:p>
            <a:pPr marL="114300" indent="0">
              <a:buNone/>
            </a:pPr>
            <a:endParaRPr lang="en-IN" sz="1600"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E90B914F-5381-71E2-4D97-381E0DE6F6FB}"/>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1E768AFD-79EF-EEAC-C474-3C88690ABBBD}"/>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 name="Footer Placeholder 1">
            <a:extLst>
              <a:ext uri="{FF2B5EF4-FFF2-40B4-BE49-F238E27FC236}">
                <a16:creationId xmlns:a16="http://schemas.microsoft.com/office/drawing/2014/main" id="{847BF9F1-6DDE-71F7-1CA5-78CD6EF927B8}"/>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5" name="TextBox 4">
            <a:extLst>
              <a:ext uri="{FF2B5EF4-FFF2-40B4-BE49-F238E27FC236}">
                <a16:creationId xmlns:a16="http://schemas.microsoft.com/office/drawing/2014/main" id="{C38DC201-2ADE-074E-DC47-563FF359A0D5}"/>
              </a:ext>
            </a:extLst>
          </p:cNvPr>
          <p:cNvSpPr txBox="1"/>
          <p:nvPr/>
        </p:nvSpPr>
        <p:spPr>
          <a:xfrm>
            <a:off x="3942735" y="4490679"/>
            <a:ext cx="4294239" cy="1815882"/>
          </a:xfrm>
          <a:prstGeom prst="rect">
            <a:avLst/>
          </a:prstGeom>
          <a:noFill/>
        </p:spPr>
        <p:txBody>
          <a:bodyPr wrap="square" rtlCol="0">
            <a:spAutoFit/>
          </a:bodyPr>
          <a:lstStyle/>
          <a:p>
            <a:pPr marL="114300" indent="0">
              <a:buNone/>
            </a:pPr>
            <a:r>
              <a:rPr lang="en-IN" b="1" dirty="0"/>
              <a:t>Feature Engineering</a:t>
            </a:r>
            <a:endParaRPr lang="en-IN" dirty="0"/>
          </a:p>
          <a:p>
            <a:pPr marL="285750" lvl="0" indent="-285750">
              <a:buFont typeface="Arial" panose="020B0604020202020204" pitchFamily="34" charset="0"/>
              <a:buChar char="•"/>
            </a:pPr>
            <a:r>
              <a:rPr lang="en-IN" dirty="0"/>
              <a:t>Statistical measures </a:t>
            </a:r>
          </a:p>
          <a:p>
            <a:pPr marL="285750" lvl="0" indent="-285750">
              <a:buFont typeface="Arial" panose="020B0604020202020204" pitchFamily="34" charset="0"/>
              <a:buChar char="•"/>
            </a:pPr>
            <a:r>
              <a:rPr lang="en-IN" dirty="0"/>
              <a:t>Temporal trend/slopes </a:t>
            </a:r>
          </a:p>
          <a:p>
            <a:pPr marL="285750" lvl="0" indent="-285750">
              <a:buFont typeface="Arial" panose="020B0604020202020204" pitchFamily="34" charset="0"/>
              <a:buChar char="•"/>
            </a:pPr>
            <a:r>
              <a:rPr lang="en-IN" dirty="0"/>
              <a:t>Sensor variability </a:t>
            </a:r>
          </a:p>
          <a:p>
            <a:pPr marL="285750" lvl="0" indent="-285750">
              <a:buFont typeface="Arial" panose="020B0604020202020204" pitchFamily="34" charset="0"/>
              <a:buChar char="•"/>
            </a:pPr>
            <a:r>
              <a:rPr lang="en-IN" dirty="0"/>
              <a:t>EGT/CHT differentials </a:t>
            </a:r>
          </a:p>
          <a:p>
            <a:pPr marL="285750" lvl="0" indent="-285750">
              <a:buFont typeface="Arial" panose="020B0604020202020204" pitchFamily="34" charset="0"/>
              <a:buChar char="•"/>
            </a:pPr>
            <a:r>
              <a:rPr lang="en-IN" dirty="0"/>
              <a:t>Oil pressure–temperature relationships </a:t>
            </a:r>
          </a:p>
          <a:p>
            <a:pPr marL="114300" indent="0">
              <a:buNone/>
            </a:pPr>
            <a:r>
              <a:rPr lang="en-IN" dirty="0"/>
              <a:t>23 sensors × phase-based metrics → 437 engineered features</a:t>
            </a:r>
          </a:p>
        </p:txBody>
      </p:sp>
    </p:spTree>
    <p:extLst>
      <p:ext uri="{BB962C8B-B14F-4D97-AF65-F5344CB8AC3E}">
        <p14:creationId xmlns:p14="http://schemas.microsoft.com/office/powerpoint/2010/main" val="2305097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3644A578-F8E0-6ADB-B906-196411222D22}"/>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83D679C7-7D27-84E9-A3A6-6BA13C2BC69D}"/>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C232AC54-9C99-A87C-7FB8-31A680BA6579}"/>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RESULTS</a:t>
            </a:r>
            <a:endParaRPr lang="en-IN" sz="1600" b="1" dirty="0">
              <a:latin typeface="Times New Roman" panose="02020603050405020304" pitchFamily="18" charset="0"/>
              <a:cs typeface="Times New Roman" panose="02020603050405020304" pitchFamily="18" charset="0"/>
            </a:endParaRPr>
          </a:p>
          <a:p>
            <a:pPr marL="114300" indent="0">
              <a:buNone/>
            </a:pPr>
            <a:r>
              <a:rPr lang="en-IN" sz="1600" dirty="0"/>
              <a:t>Stage 1 — Fault Screening</a:t>
            </a:r>
            <a:endParaRPr lang="en-IN" sz="1600"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514CB16D-8834-C06F-B8DE-1E57F2C3A773}"/>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06C04104-8ED4-4851-7F5A-C91904351BA5}"/>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 name="Footer Placeholder 1">
            <a:extLst>
              <a:ext uri="{FF2B5EF4-FFF2-40B4-BE49-F238E27FC236}">
                <a16:creationId xmlns:a16="http://schemas.microsoft.com/office/drawing/2014/main" id="{1C4E9181-1F68-43D0-8C79-6AF2BE58D70E}"/>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graphicFrame>
        <p:nvGraphicFramePr>
          <p:cNvPr id="3" name="Table 2">
            <a:extLst>
              <a:ext uri="{FF2B5EF4-FFF2-40B4-BE49-F238E27FC236}">
                <a16:creationId xmlns:a16="http://schemas.microsoft.com/office/drawing/2014/main" id="{71B2D7BC-969C-2788-608A-B087A392AEB4}"/>
              </a:ext>
            </a:extLst>
          </p:cNvPr>
          <p:cNvGraphicFramePr>
            <a:graphicFrameLocks noGrp="1"/>
          </p:cNvGraphicFramePr>
          <p:nvPr>
            <p:extLst>
              <p:ext uri="{D42A27DB-BD31-4B8C-83A1-F6EECF244321}">
                <p14:modId xmlns:p14="http://schemas.microsoft.com/office/powerpoint/2010/main" val="1977407359"/>
              </p:ext>
            </p:extLst>
          </p:nvPr>
        </p:nvGraphicFramePr>
        <p:xfrm>
          <a:off x="457200" y="1927923"/>
          <a:ext cx="8229600" cy="1828800"/>
        </p:xfrm>
        <a:graphic>
          <a:graphicData uri="http://schemas.openxmlformats.org/drawingml/2006/table">
            <a:tbl>
              <a:tblPr>
                <a:tableStyleId>{47879F58-94FC-4AB5-AACA-6E85711E4052}</a:tableStyleId>
              </a:tblPr>
              <a:tblGrid>
                <a:gridCol w="4114800">
                  <a:extLst>
                    <a:ext uri="{9D8B030D-6E8A-4147-A177-3AD203B41FA5}">
                      <a16:colId xmlns:a16="http://schemas.microsoft.com/office/drawing/2014/main" val="43045476"/>
                    </a:ext>
                  </a:extLst>
                </a:gridCol>
                <a:gridCol w="4114800">
                  <a:extLst>
                    <a:ext uri="{9D8B030D-6E8A-4147-A177-3AD203B41FA5}">
                      <a16:colId xmlns:a16="http://schemas.microsoft.com/office/drawing/2014/main" val="1430068810"/>
                    </a:ext>
                  </a:extLst>
                </a:gridCol>
              </a:tblGrid>
              <a:tr h="0">
                <a:tc>
                  <a:txBody>
                    <a:bodyPr/>
                    <a:lstStyle/>
                    <a:p>
                      <a:pPr>
                        <a:buNone/>
                      </a:pPr>
                      <a:r>
                        <a:rPr lang="en-IN" dirty="0"/>
                        <a:t>Metric</a:t>
                      </a:r>
                    </a:p>
                  </a:txBody>
                  <a:tcPr anchor="ctr"/>
                </a:tc>
                <a:tc>
                  <a:txBody>
                    <a:bodyPr/>
                    <a:lstStyle/>
                    <a:p>
                      <a:pPr algn="r">
                        <a:buNone/>
                      </a:pPr>
                      <a:r>
                        <a:rPr lang="en-IN"/>
                        <a:t>Result</a:t>
                      </a:r>
                    </a:p>
                  </a:txBody>
                  <a:tcPr anchor="ctr"/>
                </a:tc>
                <a:extLst>
                  <a:ext uri="{0D108BD9-81ED-4DB2-BD59-A6C34878D82A}">
                    <a16:rowId xmlns:a16="http://schemas.microsoft.com/office/drawing/2014/main" val="3097075225"/>
                  </a:ext>
                </a:extLst>
              </a:tr>
              <a:tr h="0">
                <a:tc>
                  <a:txBody>
                    <a:bodyPr/>
                    <a:lstStyle/>
                    <a:p>
                      <a:pPr>
                        <a:buNone/>
                      </a:pPr>
                      <a:r>
                        <a:rPr lang="en-IN"/>
                        <a:t>ROC-AUC</a:t>
                      </a:r>
                    </a:p>
                  </a:txBody>
                  <a:tcPr anchor="ctr"/>
                </a:tc>
                <a:tc>
                  <a:txBody>
                    <a:bodyPr/>
                    <a:lstStyle/>
                    <a:p>
                      <a:pPr algn="r">
                        <a:buNone/>
                      </a:pPr>
                      <a:r>
                        <a:rPr lang="en-IN"/>
                        <a:t>0.7019</a:t>
                      </a:r>
                    </a:p>
                  </a:txBody>
                  <a:tcPr anchor="ctr"/>
                </a:tc>
                <a:extLst>
                  <a:ext uri="{0D108BD9-81ED-4DB2-BD59-A6C34878D82A}">
                    <a16:rowId xmlns:a16="http://schemas.microsoft.com/office/drawing/2014/main" val="2672271125"/>
                  </a:ext>
                </a:extLst>
              </a:tr>
              <a:tr h="0">
                <a:tc>
                  <a:txBody>
                    <a:bodyPr/>
                    <a:lstStyle/>
                    <a:p>
                      <a:pPr>
                        <a:buNone/>
                      </a:pPr>
                      <a:r>
                        <a:rPr lang="en-IN"/>
                        <a:t>Active-Failure Recall</a:t>
                      </a:r>
                    </a:p>
                  </a:txBody>
                  <a:tcPr anchor="ctr"/>
                </a:tc>
                <a:tc>
                  <a:txBody>
                    <a:bodyPr/>
                    <a:lstStyle/>
                    <a:p>
                      <a:pPr algn="r">
                        <a:buNone/>
                      </a:pPr>
                      <a:r>
                        <a:rPr lang="en-IN"/>
                        <a:t>77.72%</a:t>
                      </a:r>
                    </a:p>
                  </a:txBody>
                  <a:tcPr anchor="ctr"/>
                </a:tc>
                <a:extLst>
                  <a:ext uri="{0D108BD9-81ED-4DB2-BD59-A6C34878D82A}">
                    <a16:rowId xmlns:a16="http://schemas.microsoft.com/office/drawing/2014/main" val="3127132683"/>
                  </a:ext>
                </a:extLst>
              </a:tr>
              <a:tr h="0">
                <a:tc>
                  <a:txBody>
                    <a:bodyPr/>
                    <a:lstStyle/>
                    <a:p>
                      <a:pPr>
                        <a:buNone/>
                      </a:pPr>
                      <a:r>
                        <a:rPr lang="en-IN"/>
                        <a:t>Events Flagged</a:t>
                      </a:r>
                    </a:p>
                  </a:txBody>
                  <a:tcPr anchor="ctr"/>
                </a:tc>
                <a:tc>
                  <a:txBody>
                    <a:bodyPr/>
                    <a:lstStyle/>
                    <a:p>
                      <a:pPr algn="r">
                        <a:buNone/>
                      </a:pPr>
                      <a:r>
                        <a:rPr lang="en-IN"/>
                        <a:t>844 / 1,086</a:t>
                      </a:r>
                    </a:p>
                  </a:txBody>
                  <a:tcPr anchor="ctr"/>
                </a:tc>
                <a:extLst>
                  <a:ext uri="{0D108BD9-81ED-4DB2-BD59-A6C34878D82A}">
                    <a16:rowId xmlns:a16="http://schemas.microsoft.com/office/drawing/2014/main" val="389822966"/>
                  </a:ext>
                </a:extLst>
              </a:tr>
              <a:tr h="0">
                <a:tc>
                  <a:txBody>
                    <a:bodyPr/>
                    <a:lstStyle/>
                    <a:p>
                      <a:pPr>
                        <a:buNone/>
                      </a:pPr>
                      <a:r>
                        <a:rPr lang="en-IN"/>
                        <a:t>Healthy-Flight Specificity</a:t>
                      </a:r>
                    </a:p>
                  </a:txBody>
                  <a:tcPr anchor="ctr"/>
                </a:tc>
                <a:tc>
                  <a:txBody>
                    <a:bodyPr/>
                    <a:lstStyle/>
                    <a:p>
                      <a:pPr algn="r">
                        <a:buNone/>
                      </a:pPr>
                      <a:r>
                        <a:rPr lang="en-IN"/>
                        <a:t>98.09%</a:t>
                      </a:r>
                    </a:p>
                  </a:txBody>
                  <a:tcPr anchor="ctr"/>
                </a:tc>
                <a:extLst>
                  <a:ext uri="{0D108BD9-81ED-4DB2-BD59-A6C34878D82A}">
                    <a16:rowId xmlns:a16="http://schemas.microsoft.com/office/drawing/2014/main" val="4001269558"/>
                  </a:ext>
                </a:extLst>
              </a:tr>
              <a:tr h="0">
                <a:tc>
                  <a:txBody>
                    <a:bodyPr/>
                    <a:lstStyle/>
                    <a:p>
                      <a:pPr>
                        <a:buNone/>
                      </a:pPr>
                      <a:r>
                        <a:rPr lang="en-IN" dirty="0"/>
                        <a:t>Accuracy</a:t>
                      </a:r>
                    </a:p>
                  </a:txBody>
                  <a:tcPr anchor="ctr"/>
                </a:tc>
                <a:tc>
                  <a:txBody>
                    <a:bodyPr/>
                    <a:lstStyle/>
                    <a:p>
                      <a:pPr algn="r">
                        <a:buNone/>
                      </a:pPr>
                      <a:r>
                        <a:rPr lang="en-IN" dirty="0"/>
                        <a:t>75.30%</a:t>
                      </a:r>
                    </a:p>
                  </a:txBody>
                  <a:tcPr anchor="ctr"/>
                </a:tc>
                <a:extLst>
                  <a:ext uri="{0D108BD9-81ED-4DB2-BD59-A6C34878D82A}">
                    <a16:rowId xmlns:a16="http://schemas.microsoft.com/office/drawing/2014/main" val="3719644602"/>
                  </a:ext>
                </a:extLst>
              </a:tr>
            </a:tbl>
          </a:graphicData>
        </a:graphic>
      </p:graphicFrame>
      <p:sp>
        <p:nvSpPr>
          <p:cNvPr id="6" name="TextBox 5">
            <a:extLst>
              <a:ext uri="{FF2B5EF4-FFF2-40B4-BE49-F238E27FC236}">
                <a16:creationId xmlns:a16="http://schemas.microsoft.com/office/drawing/2014/main" id="{4933075C-89A9-2EAA-3E77-55373E17F453}"/>
              </a:ext>
            </a:extLst>
          </p:cNvPr>
          <p:cNvSpPr txBox="1"/>
          <p:nvPr/>
        </p:nvSpPr>
        <p:spPr>
          <a:xfrm>
            <a:off x="742335" y="3862701"/>
            <a:ext cx="4572000" cy="307777"/>
          </a:xfrm>
          <a:prstGeom prst="rect">
            <a:avLst/>
          </a:prstGeom>
          <a:noFill/>
        </p:spPr>
        <p:txBody>
          <a:bodyPr wrap="square">
            <a:spAutoFit/>
          </a:bodyPr>
          <a:lstStyle/>
          <a:p>
            <a:r>
              <a:rPr lang="en-IN" dirty="0"/>
              <a:t>Stage 2 — Subsystem Isolation</a:t>
            </a:r>
          </a:p>
        </p:txBody>
      </p:sp>
      <p:graphicFrame>
        <p:nvGraphicFramePr>
          <p:cNvPr id="7" name="Table 6">
            <a:extLst>
              <a:ext uri="{FF2B5EF4-FFF2-40B4-BE49-F238E27FC236}">
                <a16:creationId xmlns:a16="http://schemas.microsoft.com/office/drawing/2014/main" id="{0F4BA8B2-9895-964C-CAA7-A5E0CD4F0326}"/>
              </a:ext>
            </a:extLst>
          </p:cNvPr>
          <p:cNvGraphicFramePr>
            <a:graphicFrameLocks noGrp="1"/>
          </p:cNvGraphicFramePr>
          <p:nvPr>
            <p:extLst>
              <p:ext uri="{D42A27DB-BD31-4B8C-83A1-F6EECF244321}">
                <p14:modId xmlns:p14="http://schemas.microsoft.com/office/powerpoint/2010/main" val="1694272130"/>
              </p:ext>
            </p:extLst>
          </p:nvPr>
        </p:nvGraphicFramePr>
        <p:xfrm>
          <a:off x="457200" y="4236615"/>
          <a:ext cx="8229600" cy="1524000"/>
        </p:xfrm>
        <a:graphic>
          <a:graphicData uri="http://schemas.openxmlformats.org/drawingml/2006/table">
            <a:tbl>
              <a:tblPr>
                <a:tableStyleId>{47879F58-94FC-4AB5-AACA-6E85711E4052}</a:tableStyleId>
              </a:tblPr>
              <a:tblGrid>
                <a:gridCol w="4114800">
                  <a:extLst>
                    <a:ext uri="{9D8B030D-6E8A-4147-A177-3AD203B41FA5}">
                      <a16:colId xmlns:a16="http://schemas.microsoft.com/office/drawing/2014/main" val="1610638899"/>
                    </a:ext>
                  </a:extLst>
                </a:gridCol>
                <a:gridCol w="4114800">
                  <a:extLst>
                    <a:ext uri="{9D8B030D-6E8A-4147-A177-3AD203B41FA5}">
                      <a16:colId xmlns:a16="http://schemas.microsoft.com/office/drawing/2014/main" val="3933136916"/>
                    </a:ext>
                  </a:extLst>
                </a:gridCol>
              </a:tblGrid>
              <a:tr h="0">
                <a:tc>
                  <a:txBody>
                    <a:bodyPr/>
                    <a:lstStyle/>
                    <a:p>
                      <a:pPr>
                        <a:buNone/>
                      </a:pPr>
                      <a:r>
                        <a:rPr lang="en-IN"/>
                        <a:t>Metric</a:t>
                      </a:r>
                    </a:p>
                  </a:txBody>
                  <a:tcPr anchor="ctr"/>
                </a:tc>
                <a:tc>
                  <a:txBody>
                    <a:bodyPr/>
                    <a:lstStyle/>
                    <a:p>
                      <a:pPr algn="r">
                        <a:buNone/>
                      </a:pPr>
                      <a:r>
                        <a:rPr lang="en-IN"/>
                        <a:t>Result</a:t>
                      </a:r>
                    </a:p>
                  </a:txBody>
                  <a:tcPr anchor="ctr"/>
                </a:tc>
                <a:extLst>
                  <a:ext uri="{0D108BD9-81ED-4DB2-BD59-A6C34878D82A}">
                    <a16:rowId xmlns:a16="http://schemas.microsoft.com/office/drawing/2014/main" val="3517334398"/>
                  </a:ext>
                </a:extLst>
              </a:tr>
              <a:tr h="0">
                <a:tc>
                  <a:txBody>
                    <a:bodyPr/>
                    <a:lstStyle/>
                    <a:p>
                      <a:pPr>
                        <a:buNone/>
                      </a:pPr>
                      <a:r>
                        <a:rPr lang="en-IN"/>
                        <a:t>Top-1 Accuracy</a:t>
                      </a:r>
                    </a:p>
                  </a:txBody>
                  <a:tcPr anchor="ctr"/>
                </a:tc>
                <a:tc>
                  <a:txBody>
                    <a:bodyPr/>
                    <a:lstStyle/>
                    <a:p>
                      <a:pPr algn="r">
                        <a:buNone/>
                      </a:pPr>
                      <a:r>
                        <a:rPr lang="en-IN"/>
                        <a:t>44.29%</a:t>
                      </a:r>
                    </a:p>
                  </a:txBody>
                  <a:tcPr anchor="ctr"/>
                </a:tc>
                <a:extLst>
                  <a:ext uri="{0D108BD9-81ED-4DB2-BD59-A6C34878D82A}">
                    <a16:rowId xmlns:a16="http://schemas.microsoft.com/office/drawing/2014/main" val="3062852886"/>
                  </a:ext>
                </a:extLst>
              </a:tr>
              <a:tr h="0">
                <a:tc>
                  <a:txBody>
                    <a:bodyPr/>
                    <a:lstStyle/>
                    <a:p>
                      <a:pPr>
                        <a:buNone/>
                      </a:pPr>
                      <a:r>
                        <a:rPr lang="en-IN"/>
                        <a:t>Top-2 Coverage</a:t>
                      </a:r>
                    </a:p>
                  </a:txBody>
                  <a:tcPr anchor="ctr"/>
                </a:tc>
                <a:tc>
                  <a:txBody>
                    <a:bodyPr/>
                    <a:lstStyle/>
                    <a:p>
                      <a:pPr algn="r">
                        <a:buNone/>
                      </a:pPr>
                      <a:r>
                        <a:rPr lang="en-IN"/>
                        <a:t>66.11%</a:t>
                      </a:r>
                    </a:p>
                  </a:txBody>
                  <a:tcPr anchor="ctr"/>
                </a:tc>
                <a:extLst>
                  <a:ext uri="{0D108BD9-81ED-4DB2-BD59-A6C34878D82A}">
                    <a16:rowId xmlns:a16="http://schemas.microsoft.com/office/drawing/2014/main" val="3590874963"/>
                  </a:ext>
                </a:extLst>
              </a:tr>
              <a:tr h="0">
                <a:tc>
                  <a:txBody>
                    <a:bodyPr/>
                    <a:lstStyle/>
                    <a:p>
                      <a:pPr>
                        <a:buNone/>
                      </a:pPr>
                      <a:r>
                        <a:rPr lang="en-IN"/>
                        <a:t>Top-3 Coverage</a:t>
                      </a:r>
                    </a:p>
                  </a:txBody>
                  <a:tcPr anchor="ctr"/>
                </a:tc>
                <a:tc>
                  <a:txBody>
                    <a:bodyPr/>
                    <a:lstStyle/>
                    <a:p>
                      <a:pPr algn="r">
                        <a:buNone/>
                      </a:pPr>
                      <a:r>
                        <a:rPr lang="en-IN"/>
                        <a:t>82.04%</a:t>
                      </a:r>
                    </a:p>
                  </a:txBody>
                  <a:tcPr anchor="ctr"/>
                </a:tc>
                <a:extLst>
                  <a:ext uri="{0D108BD9-81ED-4DB2-BD59-A6C34878D82A}">
                    <a16:rowId xmlns:a16="http://schemas.microsoft.com/office/drawing/2014/main" val="3377500550"/>
                  </a:ext>
                </a:extLst>
              </a:tr>
              <a:tr h="0">
                <a:tc>
                  <a:txBody>
                    <a:bodyPr/>
                    <a:lstStyle/>
                    <a:p>
                      <a:pPr>
                        <a:buNone/>
                      </a:pPr>
                      <a:r>
                        <a:rPr lang="en-IN"/>
                        <a:t>Zero-Recall Classes</a:t>
                      </a:r>
                    </a:p>
                  </a:txBody>
                  <a:tcPr anchor="ctr"/>
                </a:tc>
                <a:tc>
                  <a:txBody>
                    <a:bodyPr/>
                    <a:lstStyle/>
                    <a:p>
                      <a:pPr algn="r">
                        <a:buNone/>
                      </a:pPr>
                      <a:r>
                        <a:rPr lang="en-IN" dirty="0"/>
                        <a:t>0 / 7</a:t>
                      </a:r>
                    </a:p>
                  </a:txBody>
                  <a:tcPr anchor="ctr"/>
                </a:tc>
                <a:extLst>
                  <a:ext uri="{0D108BD9-81ED-4DB2-BD59-A6C34878D82A}">
                    <a16:rowId xmlns:a16="http://schemas.microsoft.com/office/drawing/2014/main" val="2486442083"/>
                  </a:ext>
                </a:extLst>
              </a:tr>
            </a:tbl>
          </a:graphicData>
        </a:graphic>
      </p:graphicFrame>
    </p:spTree>
    <p:extLst>
      <p:ext uri="{BB962C8B-B14F-4D97-AF65-F5344CB8AC3E}">
        <p14:creationId xmlns:p14="http://schemas.microsoft.com/office/powerpoint/2010/main" val="2217695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4A593B3E-B948-7222-6785-42106E1E8F8D}"/>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3293A4F6-AB58-6839-252E-6F526942D0ED}"/>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9B0A3551-E5C6-6579-1889-29BEB086E5E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8864F2B9-5E70-3F69-E1CB-8958AEFE5F8F}"/>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 name="Footer Placeholder 1">
            <a:extLst>
              <a:ext uri="{FF2B5EF4-FFF2-40B4-BE49-F238E27FC236}">
                <a16:creationId xmlns:a16="http://schemas.microsoft.com/office/drawing/2014/main" id="{25BFBA7E-5CB5-0885-795D-A420E9C4DDEA}"/>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B8B30209-60B9-82AE-9AF9-8B5EF17C46A8}"/>
              </a:ext>
            </a:extLst>
          </p:cNvPr>
          <p:cNvSpPr txBox="1"/>
          <p:nvPr/>
        </p:nvSpPr>
        <p:spPr>
          <a:xfrm>
            <a:off x="766916" y="1032388"/>
            <a:ext cx="7084141" cy="5324535"/>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Real-Flight Validation &amp; NGAFID Contribution</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Flight #31141 Case Study</a:t>
            </a:r>
          </a:p>
          <a:p>
            <a:pPr>
              <a:buNone/>
            </a:pPr>
            <a:r>
              <a:rPr lang="en-IN" sz="1600" b="1" dirty="0">
                <a:latin typeface="Times New Roman" panose="02020603050405020304" pitchFamily="18" charset="0"/>
                <a:cs typeface="Times New Roman" panose="02020603050405020304" pitchFamily="18" charset="0"/>
              </a:rPr>
              <a:t>Stage 1</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Fault probability: 61.4% </a:t>
            </a:r>
          </a:p>
          <a:p>
            <a:pPr>
              <a:buNone/>
            </a:pPr>
            <a:r>
              <a:rPr lang="en-IN" sz="1600" b="1" dirty="0" err="1">
                <a:latin typeface="Times New Roman" panose="02020603050405020304" pitchFamily="18" charset="0"/>
                <a:cs typeface="Times New Roman" panose="02020603050405020304" pitchFamily="18" charset="0"/>
              </a:rPr>
              <a:t>TreeSHAP</a:t>
            </a:r>
            <a:r>
              <a:rPr lang="en-IN" sz="1600" b="1" dirty="0">
                <a:latin typeface="Times New Roman" panose="02020603050405020304" pitchFamily="18" charset="0"/>
                <a:cs typeface="Times New Roman" panose="02020603050405020304" pitchFamily="18" charset="0"/>
              </a:rPr>
              <a:t> Evidence</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E1_OilP_seg5_std → φ = +0.2718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E1_OilP_seg3_mean → φ = +0.1459 </a:t>
            </a:r>
          </a:p>
          <a:p>
            <a:pPr>
              <a:buNone/>
            </a:pPr>
            <a:r>
              <a:rPr lang="en-IN" sz="1600" b="1" dirty="0">
                <a:latin typeface="Times New Roman" panose="02020603050405020304" pitchFamily="18" charset="0"/>
                <a:cs typeface="Times New Roman" panose="02020603050405020304" pitchFamily="18" charset="0"/>
              </a:rPr>
              <a:t>Stage 2</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Top candidate: Rocker / Valvetrain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Confidence: 41.5% </a:t>
            </a:r>
          </a:p>
          <a:p>
            <a:pPr>
              <a:buNone/>
            </a:pPr>
            <a:r>
              <a:rPr lang="en-IN" sz="1600" b="1" dirty="0">
                <a:latin typeface="Times New Roman" panose="02020603050405020304" pitchFamily="18" charset="0"/>
                <a:cs typeface="Times New Roman" panose="02020603050405020304" pitchFamily="18" charset="0"/>
              </a:rPr>
              <a:t>Maintenance Verification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Unscheduled maintenance approximately 28 hours later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Maintenance record: rocker-cover gasket weeping + valvetrain oil leakage </a:t>
            </a:r>
          </a:p>
          <a:p>
            <a:pPr>
              <a:buNone/>
            </a:pPr>
            <a:r>
              <a:rPr lang="en-IN" sz="1600" b="1" dirty="0">
                <a:latin typeface="Times New Roman" panose="02020603050405020304" pitchFamily="18" charset="0"/>
                <a:cs typeface="Times New Roman" panose="02020603050405020304" pitchFamily="18" charset="0"/>
              </a:rPr>
              <a:t>Computational Footprint</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14.2 </a:t>
            </a:r>
            <a:r>
              <a:rPr lang="en-IN" sz="1600" dirty="0" err="1">
                <a:latin typeface="Times New Roman" panose="02020603050405020304" pitchFamily="18" charset="0"/>
                <a:cs typeface="Times New Roman" panose="02020603050405020304" pitchFamily="18" charset="0"/>
              </a:rPr>
              <a:t>ms</a:t>
            </a:r>
            <a:r>
              <a:rPr lang="en-IN" sz="1600" dirty="0">
                <a:latin typeface="Times New Roman" panose="02020603050405020304" pitchFamily="18" charset="0"/>
                <a:cs typeface="Times New Roman" panose="02020603050405020304" pitchFamily="18" charset="0"/>
              </a:rPr>
              <a:t> inference / ~2-hour flight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1.8 MB model size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Single commodity CPU thread </a:t>
            </a:r>
          </a:p>
          <a:p>
            <a:pPr>
              <a:buNone/>
            </a:pPr>
            <a:r>
              <a:rPr lang="en-IN" sz="1600" b="1" dirty="0">
                <a:latin typeface="Times New Roman" panose="02020603050405020304" pitchFamily="18" charset="0"/>
                <a:cs typeface="Times New Roman" panose="02020603050405020304" pitchFamily="18" charset="0"/>
              </a:rPr>
              <a:t>NGAFID Contribution to AERIS</a:t>
            </a:r>
          </a:p>
          <a:p>
            <a:pPr>
              <a:buNone/>
            </a:pPr>
            <a:r>
              <a:rPr lang="en-IN" sz="1600" dirty="0">
                <a:latin typeface="Times New Roman" panose="02020603050405020304" pitchFamily="18" charset="0"/>
                <a:cs typeface="Times New Roman" panose="02020603050405020304" pitchFamily="18" charset="0"/>
              </a:rPr>
              <a:t>Real-flight telemetry → anomaly detection → subsystem candidates → explainable evidence → maintenance investigation</a:t>
            </a:r>
          </a:p>
        </p:txBody>
      </p:sp>
    </p:spTree>
    <p:extLst>
      <p:ext uri="{BB962C8B-B14F-4D97-AF65-F5344CB8AC3E}">
        <p14:creationId xmlns:p14="http://schemas.microsoft.com/office/powerpoint/2010/main" val="9320982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166FAC4C-9210-4E6D-53D5-CE0C4D22CD08}"/>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DA996891-FBCE-8AEB-FC38-71F5D9A1235A}"/>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673F59A5-F9C4-BD45-EFA2-02389559D43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0B85FAB5-87F0-782E-1077-39438FFDD18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2" name="Footer Placeholder 1">
            <a:extLst>
              <a:ext uri="{FF2B5EF4-FFF2-40B4-BE49-F238E27FC236}">
                <a16:creationId xmlns:a16="http://schemas.microsoft.com/office/drawing/2014/main" id="{48D90428-5E12-F8CC-417F-7BD077AEA65E}"/>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23EAA8F7-1722-9F3E-D6D2-4445C6216C85}"/>
              </a:ext>
            </a:extLst>
          </p:cNvPr>
          <p:cNvSpPr txBox="1"/>
          <p:nvPr/>
        </p:nvSpPr>
        <p:spPr>
          <a:xfrm>
            <a:off x="766916" y="1032388"/>
            <a:ext cx="7084141" cy="5632311"/>
          </a:xfrm>
          <a:prstGeom prst="rect">
            <a:avLst/>
          </a:prstGeom>
          <a:noFill/>
        </p:spPr>
        <p:txBody>
          <a:bodyPr wrap="square">
            <a:spAutoFit/>
          </a:bodyPr>
          <a:lstStyle/>
          <a:p>
            <a:r>
              <a:rPr lang="en-IN" sz="2000" b="1" dirty="0" err="1">
                <a:latin typeface="Times New Roman" panose="02020603050405020304" pitchFamily="18" charset="0"/>
                <a:cs typeface="Times New Roman" panose="02020603050405020304" pitchFamily="18" charset="0"/>
              </a:rPr>
              <a:t>TreeSHAP</a:t>
            </a:r>
            <a:r>
              <a:rPr lang="en-IN" sz="2000" b="1" dirty="0">
                <a:latin typeface="Times New Roman" panose="02020603050405020304" pitchFamily="18" charset="0"/>
                <a:cs typeface="Times New Roman" panose="02020603050405020304" pitchFamily="18" charset="0"/>
              </a:rPr>
              <a:t> reveals which engineered telemetry patterns drive the diagnosis.</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437 Engineered Features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Phase-wise statistics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Trends &amp; variability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Sensor relationships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Physics-informed indicators</a:t>
            </a:r>
          </a:p>
          <a:p>
            <a:endParaRPr lang="en-IN" sz="1600" dirty="0">
              <a:latin typeface="Times New Roman" panose="02020603050405020304" pitchFamily="18" charset="0"/>
              <a:cs typeface="Times New Roman" panose="02020603050405020304" pitchFamily="18" charset="0"/>
            </a:endParaRPr>
          </a:p>
          <a:p>
            <a:r>
              <a:rPr lang="en-IN" sz="1600" b="1" dirty="0" err="1">
                <a:latin typeface="Times New Roman" panose="02020603050405020304" pitchFamily="18" charset="0"/>
                <a:cs typeface="Times New Roman" panose="02020603050405020304" pitchFamily="18" charset="0"/>
              </a:rPr>
              <a:t>TreeSHAP</a:t>
            </a:r>
            <a:r>
              <a:rPr lang="en-IN" sz="1600" b="1" dirty="0">
                <a:latin typeface="Times New Roman" panose="02020603050405020304" pitchFamily="18" charset="0"/>
                <a:cs typeface="Times New Roman" panose="02020603050405020304" pitchFamily="18" charset="0"/>
              </a:rPr>
              <a:t> Analysis</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437 Features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Feature Contribution</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Positive / Negative SHAP Values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Most Influential Features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Physical Interpretation</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06F6FEBD-092E-004C-177E-FF15D28A6DFE}"/>
              </a:ext>
            </a:extLst>
          </p:cNvPr>
          <p:cNvGraphicFramePr>
            <a:graphicFrameLocks noGrp="1"/>
          </p:cNvGraphicFramePr>
          <p:nvPr>
            <p:extLst>
              <p:ext uri="{D42A27DB-BD31-4B8C-83A1-F6EECF244321}">
                <p14:modId xmlns:p14="http://schemas.microsoft.com/office/powerpoint/2010/main" val="1898879935"/>
              </p:ext>
            </p:extLst>
          </p:nvPr>
        </p:nvGraphicFramePr>
        <p:xfrm>
          <a:off x="4650655" y="1920702"/>
          <a:ext cx="3805089" cy="1554480"/>
        </p:xfrm>
        <a:graphic>
          <a:graphicData uri="http://schemas.openxmlformats.org/drawingml/2006/table">
            <a:tbl>
              <a:tblPr/>
              <a:tblGrid>
                <a:gridCol w="1268363">
                  <a:extLst>
                    <a:ext uri="{9D8B030D-6E8A-4147-A177-3AD203B41FA5}">
                      <a16:colId xmlns:a16="http://schemas.microsoft.com/office/drawing/2014/main" val="1071087574"/>
                    </a:ext>
                  </a:extLst>
                </a:gridCol>
                <a:gridCol w="1268363">
                  <a:extLst>
                    <a:ext uri="{9D8B030D-6E8A-4147-A177-3AD203B41FA5}">
                      <a16:colId xmlns:a16="http://schemas.microsoft.com/office/drawing/2014/main" val="2414284961"/>
                    </a:ext>
                  </a:extLst>
                </a:gridCol>
                <a:gridCol w="1268363">
                  <a:extLst>
                    <a:ext uri="{9D8B030D-6E8A-4147-A177-3AD203B41FA5}">
                      <a16:colId xmlns:a16="http://schemas.microsoft.com/office/drawing/2014/main" val="430580106"/>
                    </a:ext>
                  </a:extLst>
                </a:gridCol>
              </a:tblGrid>
              <a:tr h="284541">
                <a:tc>
                  <a:txBody>
                    <a:bodyPr/>
                    <a:lstStyle/>
                    <a:p>
                      <a:pPr>
                        <a:buNone/>
                      </a:pPr>
                      <a:r>
                        <a:rPr lang="en-IN" dirty="0"/>
                        <a:t>SHAP Feature</a:t>
                      </a:r>
                    </a:p>
                  </a:txBody>
                  <a:tcPr anchor="ctr">
                    <a:lnL>
                      <a:noFill/>
                    </a:lnL>
                    <a:lnR>
                      <a:noFill/>
                    </a:lnR>
                    <a:lnT>
                      <a:noFill/>
                    </a:lnT>
                    <a:lnB>
                      <a:noFill/>
                    </a:lnB>
                    <a:noFill/>
                  </a:tcPr>
                </a:tc>
                <a:tc>
                  <a:txBody>
                    <a:bodyPr/>
                    <a:lstStyle/>
                    <a:p>
                      <a:pPr>
                        <a:buNone/>
                      </a:pPr>
                      <a:r>
                        <a:rPr lang="en-IN" dirty="0"/>
                        <a:t>Contribution</a:t>
                      </a:r>
                    </a:p>
                  </a:txBody>
                  <a:tcPr anchor="ctr">
                    <a:lnL>
                      <a:noFill/>
                    </a:lnL>
                    <a:lnR>
                      <a:noFill/>
                    </a:lnR>
                    <a:lnT>
                      <a:noFill/>
                    </a:lnT>
                    <a:lnB>
                      <a:noFill/>
                    </a:lnB>
                    <a:noFill/>
                  </a:tcPr>
                </a:tc>
                <a:tc>
                  <a:txBody>
                    <a:bodyPr/>
                    <a:lstStyle/>
                    <a:p>
                      <a:pPr>
                        <a:buNone/>
                      </a:pPr>
                      <a:r>
                        <a:rPr lang="en-IN"/>
                        <a:t>Interpretation</a:t>
                      </a:r>
                    </a:p>
                  </a:txBody>
                  <a:tcPr anchor="ctr">
                    <a:lnL>
                      <a:noFill/>
                    </a:lnL>
                    <a:lnR>
                      <a:noFill/>
                    </a:lnR>
                    <a:lnT>
                      <a:noFill/>
                    </a:lnT>
                    <a:lnB>
                      <a:noFill/>
                    </a:lnB>
                    <a:noFill/>
                  </a:tcPr>
                </a:tc>
                <a:extLst>
                  <a:ext uri="{0D108BD9-81ED-4DB2-BD59-A6C34878D82A}">
                    <a16:rowId xmlns:a16="http://schemas.microsoft.com/office/drawing/2014/main" val="4160440138"/>
                  </a:ext>
                </a:extLst>
              </a:tr>
              <a:tr h="429230">
                <a:tc>
                  <a:txBody>
                    <a:bodyPr/>
                    <a:lstStyle/>
                    <a:p>
                      <a:pPr>
                        <a:buNone/>
                      </a:pPr>
                      <a:r>
                        <a:rPr lang="en-IN" dirty="0">
                          <a:latin typeface="Courier New" panose="02070309020205020404" pitchFamily="49" charset="0"/>
                        </a:rPr>
                        <a:t>E1_OilP_seg5_std</a:t>
                      </a:r>
                      <a:endParaRPr lang="en-IN" dirty="0"/>
                    </a:p>
                  </a:txBody>
                  <a:tcPr anchor="ctr">
                    <a:lnL>
                      <a:noFill/>
                    </a:lnL>
                    <a:lnR>
                      <a:noFill/>
                    </a:lnR>
                    <a:lnT>
                      <a:noFill/>
                    </a:lnT>
                    <a:lnB>
                      <a:noFill/>
                    </a:lnB>
                    <a:noFill/>
                  </a:tcPr>
                </a:tc>
                <a:tc>
                  <a:txBody>
                    <a:bodyPr/>
                    <a:lstStyle/>
                    <a:p>
                      <a:pPr>
                        <a:buNone/>
                      </a:pPr>
                      <a:r>
                        <a:rPr lang="en-IN" b="1" dirty="0"/>
                        <a:t>+0.2718</a:t>
                      </a:r>
                      <a:endParaRPr lang="en-IN" dirty="0"/>
                    </a:p>
                  </a:txBody>
                  <a:tcPr anchor="ctr">
                    <a:lnL>
                      <a:noFill/>
                    </a:lnL>
                    <a:lnR>
                      <a:noFill/>
                    </a:lnR>
                    <a:lnT>
                      <a:noFill/>
                    </a:lnT>
                    <a:lnB>
                      <a:noFill/>
                    </a:lnB>
                    <a:noFill/>
                  </a:tcPr>
                </a:tc>
                <a:tc>
                  <a:txBody>
                    <a:bodyPr/>
                    <a:lstStyle/>
                    <a:p>
                      <a:pPr>
                        <a:buNone/>
                      </a:pPr>
                      <a:r>
                        <a:rPr lang="en-IN"/>
                        <a:t>Oil-pressure variability</a:t>
                      </a:r>
                    </a:p>
                  </a:txBody>
                  <a:tcPr anchor="ctr">
                    <a:lnL>
                      <a:noFill/>
                    </a:lnL>
                    <a:lnR>
                      <a:noFill/>
                    </a:lnR>
                    <a:lnT>
                      <a:noFill/>
                    </a:lnT>
                    <a:lnB>
                      <a:noFill/>
                    </a:lnB>
                    <a:noFill/>
                  </a:tcPr>
                </a:tc>
                <a:extLst>
                  <a:ext uri="{0D108BD9-81ED-4DB2-BD59-A6C34878D82A}">
                    <a16:rowId xmlns:a16="http://schemas.microsoft.com/office/drawing/2014/main" val="85419455"/>
                  </a:ext>
                </a:extLst>
              </a:tr>
              <a:tr h="429230">
                <a:tc>
                  <a:txBody>
                    <a:bodyPr/>
                    <a:lstStyle/>
                    <a:p>
                      <a:pPr>
                        <a:buNone/>
                      </a:pPr>
                      <a:r>
                        <a:rPr lang="en-IN" dirty="0">
                          <a:latin typeface="Courier New" panose="02070309020205020404" pitchFamily="49" charset="0"/>
                        </a:rPr>
                        <a:t>E1_OilP_seg3_mean</a:t>
                      </a:r>
                      <a:endParaRPr lang="en-IN" dirty="0"/>
                    </a:p>
                  </a:txBody>
                  <a:tcPr anchor="ctr">
                    <a:lnL>
                      <a:noFill/>
                    </a:lnL>
                    <a:lnR>
                      <a:noFill/>
                    </a:lnR>
                    <a:lnT>
                      <a:noFill/>
                    </a:lnT>
                    <a:lnB>
                      <a:noFill/>
                    </a:lnB>
                    <a:noFill/>
                  </a:tcPr>
                </a:tc>
                <a:tc>
                  <a:txBody>
                    <a:bodyPr/>
                    <a:lstStyle/>
                    <a:p>
                      <a:pPr>
                        <a:buNone/>
                      </a:pPr>
                      <a:r>
                        <a:rPr lang="en-IN" b="1" dirty="0"/>
                        <a:t>+0.1459</a:t>
                      </a:r>
                      <a:endParaRPr lang="en-IN" dirty="0"/>
                    </a:p>
                  </a:txBody>
                  <a:tcPr anchor="ctr">
                    <a:lnL>
                      <a:noFill/>
                    </a:lnL>
                    <a:lnR>
                      <a:noFill/>
                    </a:lnR>
                    <a:lnT>
                      <a:noFill/>
                    </a:lnT>
                    <a:lnB>
                      <a:noFill/>
                    </a:lnB>
                    <a:noFill/>
                  </a:tcPr>
                </a:tc>
                <a:tc>
                  <a:txBody>
                    <a:bodyPr/>
                    <a:lstStyle/>
                    <a:p>
                      <a:pPr>
                        <a:buNone/>
                      </a:pPr>
                      <a:r>
                        <a:rPr lang="en-IN" dirty="0"/>
                        <a:t>Oil-pressure behaviour</a:t>
                      </a:r>
                    </a:p>
                  </a:txBody>
                  <a:tcPr anchor="ctr">
                    <a:lnL>
                      <a:noFill/>
                    </a:lnL>
                    <a:lnR>
                      <a:noFill/>
                    </a:lnR>
                    <a:lnT>
                      <a:noFill/>
                    </a:lnT>
                    <a:lnB>
                      <a:noFill/>
                    </a:lnB>
                    <a:noFill/>
                  </a:tcPr>
                </a:tc>
                <a:extLst>
                  <a:ext uri="{0D108BD9-81ED-4DB2-BD59-A6C34878D82A}">
                    <a16:rowId xmlns:a16="http://schemas.microsoft.com/office/drawing/2014/main" val="902118910"/>
                  </a:ext>
                </a:extLst>
              </a:tr>
            </a:tbl>
          </a:graphicData>
        </a:graphic>
      </p:graphicFrame>
      <p:sp>
        <p:nvSpPr>
          <p:cNvPr id="6" name="TextBox 5">
            <a:extLst>
              <a:ext uri="{FF2B5EF4-FFF2-40B4-BE49-F238E27FC236}">
                <a16:creationId xmlns:a16="http://schemas.microsoft.com/office/drawing/2014/main" id="{959702D2-FA3E-847A-A33D-39E06FFF6A02}"/>
              </a:ext>
            </a:extLst>
          </p:cNvPr>
          <p:cNvSpPr txBox="1"/>
          <p:nvPr/>
        </p:nvSpPr>
        <p:spPr>
          <a:xfrm>
            <a:off x="5195307" y="1548349"/>
            <a:ext cx="3578942" cy="307777"/>
          </a:xfrm>
          <a:prstGeom prst="rect">
            <a:avLst/>
          </a:prstGeom>
          <a:noFill/>
        </p:spPr>
        <p:txBody>
          <a:bodyPr wrap="square" rtlCol="0">
            <a:spAutoFit/>
          </a:bodyPr>
          <a:lstStyle/>
          <a:p>
            <a:r>
              <a:rPr lang="en-IN" dirty="0"/>
              <a:t>Example — Flight #31141</a:t>
            </a:r>
          </a:p>
        </p:txBody>
      </p:sp>
      <p:sp>
        <p:nvSpPr>
          <p:cNvPr id="8" name="TextBox 7">
            <a:extLst>
              <a:ext uri="{FF2B5EF4-FFF2-40B4-BE49-F238E27FC236}">
                <a16:creationId xmlns:a16="http://schemas.microsoft.com/office/drawing/2014/main" id="{00F48CB0-ECA1-E47C-3EBA-425881156CF6}"/>
              </a:ext>
            </a:extLst>
          </p:cNvPr>
          <p:cNvSpPr txBox="1"/>
          <p:nvPr/>
        </p:nvSpPr>
        <p:spPr>
          <a:xfrm>
            <a:off x="4138340" y="3608002"/>
            <a:ext cx="4635909" cy="2554545"/>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What this provides</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Identifies the specific telemetry patterns behind a fault flag.</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Shows whether each feature supports or opposes the prediction.</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Provides interpretable evidence for subsystem isolation and downstream fusion.</a:t>
            </a:r>
          </a:p>
          <a:p>
            <a:r>
              <a:rPr lang="en-IN" sz="1600" b="1" dirty="0">
                <a:latin typeface="Times New Roman" panose="02020603050405020304" pitchFamily="18" charset="0"/>
                <a:cs typeface="Times New Roman" panose="02020603050405020304" pitchFamily="18" charset="0"/>
              </a:rPr>
              <a:t>AERIS Role</a:t>
            </a: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Raw Telemetry → Engineered Features → </a:t>
            </a:r>
            <a:r>
              <a:rPr lang="en-IN" sz="1600" dirty="0" err="1">
                <a:latin typeface="Times New Roman" panose="02020603050405020304" pitchFamily="18" charset="0"/>
                <a:cs typeface="Times New Roman" panose="02020603050405020304" pitchFamily="18" charset="0"/>
              </a:rPr>
              <a:t>TreeSHAP</a:t>
            </a:r>
            <a:r>
              <a:rPr lang="en-IN" sz="1600" dirty="0">
                <a:latin typeface="Times New Roman" panose="02020603050405020304" pitchFamily="18" charset="0"/>
                <a:cs typeface="Times New Roman" panose="02020603050405020304" pitchFamily="18" charset="0"/>
              </a:rPr>
              <a:t> Evidence → Subsystem Diagnosis</a:t>
            </a:r>
          </a:p>
        </p:txBody>
      </p:sp>
    </p:spTree>
    <p:extLst>
      <p:ext uri="{BB962C8B-B14F-4D97-AF65-F5344CB8AC3E}">
        <p14:creationId xmlns:p14="http://schemas.microsoft.com/office/powerpoint/2010/main" val="11226158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D228B5F0-5B3E-4BFA-1A9D-E5821FBE381B}"/>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FCB39E29-C102-8DDE-B346-FFD930600574}"/>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NTSB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2AE9A28F-BFC3-2AD4-4275-44342226E31F}"/>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41B54796-AA16-CAC2-6D8D-1CEB1BB93E22}"/>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2" name="Footer Placeholder 1">
            <a:extLst>
              <a:ext uri="{FF2B5EF4-FFF2-40B4-BE49-F238E27FC236}">
                <a16:creationId xmlns:a16="http://schemas.microsoft.com/office/drawing/2014/main" id="{0B1A9A28-D80A-9E57-229B-65979A6DD160}"/>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9A04F3B9-2C2A-D50D-CA6C-33DD3549BA15}"/>
              </a:ext>
            </a:extLst>
          </p:cNvPr>
          <p:cNvSpPr txBox="1"/>
          <p:nvPr/>
        </p:nvSpPr>
        <p:spPr>
          <a:xfrm>
            <a:off x="766916" y="1032388"/>
            <a:ext cx="7084141" cy="5509200"/>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NTSB Investigation Data Preparation</a:t>
            </a:r>
          </a:p>
          <a:p>
            <a:r>
              <a:rPr lang="en-IN" sz="1600" b="1" dirty="0">
                <a:latin typeface="Times New Roman" panose="02020603050405020304" pitchFamily="18" charset="0"/>
                <a:cs typeface="Times New Roman" panose="02020603050405020304" pitchFamily="18" charset="0"/>
              </a:rPr>
              <a:t>NTSB — Converting Investigation Reports into Searchable Evidence</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Objective: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Use historical aviation investigations to provide </a:t>
            </a:r>
            <a:r>
              <a:rPr lang="en-IN" sz="1600" b="1" dirty="0">
                <a:latin typeface="Times New Roman" panose="02020603050405020304" pitchFamily="18" charset="0"/>
                <a:cs typeface="Times New Roman" panose="02020603050405020304" pitchFamily="18" charset="0"/>
              </a:rPr>
              <a:t>case-based evidence</a:t>
            </a:r>
            <a:r>
              <a:rPr lang="en-IN" sz="1600" dirty="0">
                <a:latin typeface="Times New Roman" panose="02020603050405020304" pitchFamily="18" charset="0"/>
                <a:cs typeface="Times New Roman" panose="02020603050405020304" pitchFamily="18" charset="0"/>
              </a:rPr>
              <a:t> for the fault identified by the predictive models.</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Processing Pipeline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NTSB Investigation Reports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Metadata &amp; Text Extraction</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Structured Investigation Records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Searchable Evidence Corpus</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Role in AERIS: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Transforms unstructured investigation reports into a structured historical evidence source</a:t>
            </a:r>
          </a:p>
          <a:p>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C9DCE05-E434-BB83-7F99-BBE345F18779}"/>
              </a:ext>
            </a:extLst>
          </p:cNvPr>
          <p:cNvSpPr txBox="1"/>
          <p:nvPr/>
        </p:nvSpPr>
        <p:spPr>
          <a:xfrm>
            <a:off x="4348315" y="2716303"/>
            <a:ext cx="3576485" cy="2554545"/>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Extracted Information</a:t>
            </a:r>
          </a:p>
          <a:p>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Event ID &amp; aircraft information</a:t>
            </a:r>
          </a:p>
          <a:p>
            <a:pPr lvl="0"/>
            <a:r>
              <a:rPr lang="en-IN" sz="1600" dirty="0">
                <a:latin typeface="Times New Roman" panose="02020603050405020304" pitchFamily="18" charset="0"/>
                <a:cs typeface="Times New Roman" panose="02020603050405020304" pitchFamily="18" charset="0"/>
              </a:rPr>
              <a:t>Flight phase &amp; environmental conditions</a:t>
            </a:r>
          </a:p>
          <a:p>
            <a:pPr lvl="0"/>
            <a:r>
              <a:rPr lang="en-IN" sz="1600" dirty="0">
                <a:latin typeface="Times New Roman" panose="02020603050405020304" pitchFamily="18" charset="0"/>
                <a:cs typeface="Times New Roman" panose="02020603050405020304" pitchFamily="18" charset="0"/>
              </a:rPr>
              <a:t>Damage / findings</a:t>
            </a:r>
          </a:p>
          <a:p>
            <a:pPr lvl="0"/>
            <a:r>
              <a:rPr lang="en-IN" sz="1600" dirty="0">
                <a:latin typeface="Times New Roman" panose="02020603050405020304" pitchFamily="18" charset="0"/>
                <a:cs typeface="Times New Roman" panose="02020603050405020304" pitchFamily="18" charset="0"/>
              </a:rPr>
              <a:t>Probable cause</a:t>
            </a:r>
          </a:p>
          <a:p>
            <a:pPr lvl="0"/>
            <a:r>
              <a:rPr lang="en-IN" sz="1600" dirty="0">
                <a:latin typeface="Times New Roman" panose="02020603050405020304" pitchFamily="18" charset="0"/>
                <a:cs typeface="Times New Roman" panose="02020603050405020304" pitchFamily="18" charset="0"/>
              </a:rPr>
              <a:t>Investigation report text</a:t>
            </a:r>
          </a:p>
          <a:p>
            <a:pPr lvl="0"/>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Output: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NTSB_metadata.csv</a:t>
            </a:r>
          </a:p>
        </p:txBody>
      </p:sp>
    </p:spTree>
    <p:extLst>
      <p:ext uri="{BB962C8B-B14F-4D97-AF65-F5344CB8AC3E}">
        <p14:creationId xmlns:p14="http://schemas.microsoft.com/office/powerpoint/2010/main" val="40486539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F5ABDB4C-AF42-CE8A-1DAC-E97EC35AE1D6}"/>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D4228D12-1FFD-48CC-1B0E-E23C924E6B63}"/>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NTSB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C4C0C4EB-0442-C930-3F1F-C10E407013F9}"/>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06EFDF65-88F9-2CBF-B9EE-AF9BE090DBD6}"/>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2" name="Footer Placeholder 1">
            <a:extLst>
              <a:ext uri="{FF2B5EF4-FFF2-40B4-BE49-F238E27FC236}">
                <a16:creationId xmlns:a16="http://schemas.microsoft.com/office/drawing/2014/main" id="{275E22A6-5331-BAA7-689E-368B9978C291}"/>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DF8EC6B5-28BF-800A-2F85-08F772992C95}"/>
              </a:ext>
            </a:extLst>
          </p:cNvPr>
          <p:cNvSpPr txBox="1"/>
          <p:nvPr/>
        </p:nvSpPr>
        <p:spPr>
          <a:xfrm>
            <a:off x="766916" y="1032388"/>
            <a:ext cx="7084141" cy="5632311"/>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NTSB — From Text to Semantic Vectors</a:t>
            </a:r>
          </a:p>
          <a:p>
            <a:endParaRPr lang="en-IN" sz="20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Problem:</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Keyword search may miss investigations that describe a similar failure using different terminology.</a:t>
            </a:r>
          </a:p>
          <a:p>
            <a:r>
              <a:rPr lang="en-IN" sz="1600" b="1" dirty="0">
                <a:latin typeface="Times New Roman" panose="02020603050405020304" pitchFamily="18" charset="0"/>
                <a:cs typeface="Times New Roman" panose="02020603050405020304" pitchFamily="18" charset="0"/>
              </a:rPr>
              <a:t>Approach:</a:t>
            </a: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SentenceTransformer</a:t>
            </a:r>
            <a:r>
              <a:rPr lang="en-IN" sz="1600" b="1" dirty="0">
                <a:latin typeface="Times New Roman" panose="02020603050405020304" pitchFamily="18" charset="0"/>
                <a:cs typeface="Times New Roman" panose="02020603050405020304" pitchFamily="18" charset="0"/>
              </a:rPr>
              <a:t> — all-MiniLM-L6-v2</a:t>
            </a: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Converts each investigation report into a </a:t>
            </a:r>
            <a:r>
              <a:rPr lang="en-IN" sz="1600" b="1" dirty="0">
                <a:latin typeface="Times New Roman" panose="02020603050405020304" pitchFamily="18" charset="0"/>
                <a:cs typeface="Times New Roman" panose="02020603050405020304" pitchFamily="18" charset="0"/>
              </a:rPr>
              <a:t>384-dimensional semantic embedding</a:t>
            </a:r>
            <a:r>
              <a:rPr lang="en-IN" sz="160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Similar meanings are represented by nearby vectors.</a:t>
            </a:r>
          </a:p>
          <a:p>
            <a:r>
              <a:rPr lang="en-IN" sz="1600" dirty="0">
                <a:latin typeface="Times New Roman" panose="02020603050405020304" pitchFamily="18" charset="0"/>
                <a:cs typeface="Times New Roman" panose="02020603050405020304" pitchFamily="18" charset="0"/>
              </a:rPr>
              <a:t>Investigation Report</a:t>
            </a:r>
          </a:p>
          <a:p>
            <a:r>
              <a:rPr lang="en-IN" sz="1600" dirty="0">
                <a:latin typeface="Times New Roman" panose="02020603050405020304" pitchFamily="18" charset="0"/>
                <a:cs typeface="Times New Roman" panose="02020603050405020304" pitchFamily="18" charset="0"/>
              </a:rPr>
              <a:t>        ↓</a:t>
            </a:r>
          </a:p>
          <a:p>
            <a:r>
              <a:rPr lang="en-IN" sz="1600" dirty="0" err="1">
                <a:latin typeface="Times New Roman" panose="02020603050405020304" pitchFamily="18" charset="0"/>
                <a:cs typeface="Times New Roman" panose="02020603050405020304" pitchFamily="18" charset="0"/>
              </a:rPr>
              <a:t>SentenceTransformer</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384-Dimensional Embedding</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NTSB Embedding Matrix</a:t>
            </a:r>
          </a:p>
          <a:p>
            <a:r>
              <a:rPr lang="en-IN" sz="1600" b="1" dirty="0">
                <a:latin typeface="Times New Roman" panose="02020603050405020304" pitchFamily="18" charset="0"/>
                <a:cs typeface="Times New Roman" panose="02020603050405020304" pitchFamily="18" charset="0"/>
              </a:rPr>
              <a:t>Generated Artifact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NTSB_embeddings.npy</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Key Idea:</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system searches for </a:t>
            </a:r>
            <a:r>
              <a:rPr lang="en-IN" sz="1600" b="1" dirty="0">
                <a:latin typeface="Times New Roman" panose="02020603050405020304" pitchFamily="18" charset="0"/>
                <a:cs typeface="Times New Roman" panose="02020603050405020304" pitchFamily="18" charset="0"/>
              </a:rPr>
              <a:t>semantic similarity</a:t>
            </a:r>
            <a:r>
              <a:rPr lang="en-IN" sz="1600" dirty="0">
                <a:latin typeface="Times New Roman" panose="02020603050405020304" pitchFamily="18" charset="0"/>
                <a:cs typeface="Times New Roman" panose="02020603050405020304" pitchFamily="18" charset="0"/>
              </a:rPr>
              <a:t>, rather than exact keyword matches.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1881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76E2FC53-9121-4355-5A27-EFCB58BB8812}"/>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93721544-BE4F-0214-EE21-D56E10E38031}"/>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NTSB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7179069B-49BA-17C8-0183-4640C3DEA19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C39729DF-4C36-BD46-AFB7-D9D925FBB2E3}"/>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2" name="Footer Placeholder 1">
            <a:extLst>
              <a:ext uri="{FF2B5EF4-FFF2-40B4-BE49-F238E27FC236}">
                <a16:creationId xmlns:a16="http://schemas.microsoft.com/office/drawing/2014/main" id="{0ADE393C-82EF-3C7F-9414-41FAE10D35F1}"/>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25031777-E490-3F6C-6F39-98371F75A5E1}"/>
              </a:ext>
            </a:extLst>
          </p:cNvPr>
          <p:cNvSpPr txBox="1"/>
          <p:nvPr/>
        </p:nvSpPr>
        <p:spPr>
          <a:xfrm>
            <a:off x="816079" y="2022083"/>
            <a:ext cx="2895600" cy="3785652"/>
          </a:xfrm>
          <a:prstGeom prst="rect">
            <a:avLst/>
          </a:prstGeom>
          <a:noFill/>
        </p:spPr>
        <p:txBody>
          <a:bodyPr wrap="square">
            <a:spAutoFit/>
          </a:bodyPr>
          <a:lstStyle/>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Retrieval Flow</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CMAPSS Engineering Evidence</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Semantic Query</a:t>
            </a:r>
          </a:p>
          <a:p>
            <a:r>
              <a:rPr lang="en-IN" sz="1600" dirty="0">
                <a:latin typeface="Times New Roman" panose="02020603050405020304" pitchFamily="18" charset="0"/>
                <a:cs typeface="Times New Roman" panose="02020603050405020304" pitchFamily="18" charset="0"/>
              </a:rPr>
              <a:t>"compressor pressure degradation failure"</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Query Embedding</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FAISS Similarity Search</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Top-K NTSB Investigations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Similarity Scores</a:t>
            </a:r>
          </a:p>
        </p:txBody>
      </p:sp>
      <p:sp>
        <p:nvSpPr>
          <p:cNvPr id="3" name="TextBox 2">
            <a:extLst>
              <a:ext uri="{FF2B5EF4-FFF2-40B4-BE49-F238E27FC236}">
                <a16:creationId xmlns:a16="http://schemas.microsoft.com/office/drawing/2014/main" id="{8C4F0BC3-F5DD-51E7-890B-C32EE68BC079}"/>
              </a:ext>
            </a:extLst>
          </p:cNvPr>
          <p:cNvSpPr txBox="1"/>
          <p:nvPr/>
        </p:nvSpPr>
        <p:spPr>
          <a:xfrm>
            <a:off x="3949131" y="2204428"/>
            <a:ext cx="4557658" cy="3508653"/>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Example Retrieval</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Query → Compressor pressure degradation failure</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Top Match:</a:t>
            </a:r>
          </a:p>
          <a:p>
            <a:r>
              <a:rPr lang="en-IN" sz="1600" dirty="0">
                <a:latin typeface="Times New Roman" panose="02020603050405020304" pitchFamily="18" charset="0"/>
                <a:cs typeface="Times New Roman" panose="02020603050405020304" pitchFamily="18" charset="0"/>
              </a:rPr>
              <a:t>ENG19IA013</a:t>
            </a:r>
          </a:p>
          <a:p>
            <a:r>
              <a:rPr lang="en-IN" sz="1600" dirty="0">
                <a:latin typeface="Times New Roman" panose="02020603050405020304" pitchFamily="18" charset="0"/>
                <a:cs typeface="Times New Roman" panose="02020603050405020304" pitchFamily="18" charset="0"/>
              </a:rPr>
              <a:t>Similarity = 0.5698</a:t>
            </a:r>
          </a:p>
          <a:p>
            <a:r>
              <a:rPr lang="en-IN" sz="1600" b="1" dirty="0">
                <a:latin typeface="Times New Roman" panose="02020603050405020304" pitchFamily="18" charset="0"/>
                <a:cs typeface="Times New Roman" panose="02020603050405020304" pitchFamily="18" charset="0"/>
              </a:rPr>
              <a:t>Why FAISS?</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Efficient vector similarity search</a:t>
            </a:r>
          </a:p>
          <a:p>
            <a:pPr lvl="0"/>
            <a:r>
              <a:rPr lang="en-IN" sz="1600" dirty="0">
                <a:latin typeface="Times New Roman" panose="02020603050405020304" pitchFamily="18" charset="0"/>
                <a:cs typeface="Times New Roman" panose="02020603050405020304" pitchFamily="18" charset="0"/>
              </a:rPr>
              <a:t>Scalable to large investigation collections</a:t>
            </a:r>
          </a:p>
          <a:p>
            <a:pPr lvl="0"/>
            <a:r>
              <a:rPr lang="en-IN" sz="1600" dirty="0">
                <a:latin typeface="Times New Roman" panose="02020603050405020304" pitchFamily="18" charset="0"/>
                <a:cs typeface="Times New Roman" panose="02020603050405020304" pitchFamily="18" charset="0"/>
              </a:rPr>
              <a:t>Returns ranked candidate cases</a:t>
            </a:r>
          </a:p>
          <a:p>
            <a:pPr lvl="0"/>
            <a:r>
              <a:rPr lang="en-IN" sz="1600" dirty="0">
                <a:latin typeface="Times New Roman" panose="02020603050405020304" pitchFamily="18" charset="0"/>
                <a:cs typeface="Times New Roman" panose="02020603050405020304" pitchFamily="18" charset="0"/>
              </a:rPr>
              <a:t>Enables case-based reasoning within AERIS</a:t>
            </a:r>
          </a:p>
          <a:p>
            <a:r>
              <a:rPr lang="en-IN" sz="1600" b="1" dirty="0">
                <a:latin typeface="Times New Roman" panose="02020603050405020304" pitchFamily="18" charset="0"/>
                <a:cs typeface="Times New Roman" panose="02020603050405020304" pitchFamily="18" charset="0"/>
              </a:rPr>
              <a:t>Output: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Relevant historical investigations + similarity scores.</a:t>
            </a:r>
          </a:p>
          <a:p>
            <a:endParaRPr lang="en-IN" sz="1600" dirty="0"/>
          </a:p>
        </p:txBody>
      </p:sp>
      <p:sp>
        <p:nvSpPr>
          <p:cNvPr id="4" name="TextBox 3">
            <a:extLst>
              <a:ext uri="{FF2B5EF4-FFF2-40B4-BE49-F238E27FC236}">
                <a16:creationId xmlns:a16="http://schemas.microsoft.com/office/drawing/2014/main" id="{174E55D3-83E4-CBD4-4B5B-A6A69483FDCA}"/>
              </a:ext>
            </a:extLst>
          </p:cNvPr>
          <p:cNvSpPr txBox="1"/>
          <p:nvPr/>
        </p:nvSpPr>
        <p:spPr>
          <a:xfrm>
            <a:off x="816079" y="1188765"/>
            <a:ext cx="5518853" cy="101566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FAISS-Based Historical Case Retrieval</a:t>
            </a:r>
          </a:p>
          <a:p>
            <a:r>
              <a:rPr lang="en-IN" sz="2000" b="1" dirty="0">
                <a:latin typeface="Times New Roman" panose="02020603050405020304" pitchFamily="18" charset="0"/>
                <a:cs typeface="Times New Roman" panose="02020603050405020304" pitchFamily="18" charset="0"/>
              </a:rPr>
              <a:t>NTSB — Semantic Investigation Retrieval</a:t>
            </a:r>
          </a:p>
          <a:p>
            <a:endParaRPr lang="en-IN" sz="2000" dirty="0"/>
          </a:p>
        </p:txBody>
      </p:sp>
    </p:spTree>
    <p:extLst>
      <p:ext uri="{BB962C8B-B14F-4D97-AF65-F5344CB8AC3E}">
        <p14:creationId xmlns:p14="http://schemas.microsoft.com/office/powerpoint/2010/main" val="21843798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0F0C50CE-4F46-984E-4CED-2BF8BEA20E59}"/>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070C7348-E01F-1DF5-83E4-2C54170B8CC6}"/>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NTSB Branch</a:t>
            </a:r>
            <a:endParaRPr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A97B911C-52BE-DB1C-D7DD-5B1B564AEC36}"/>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28/09/2026</a:t>
            </a:r>
            <a:endParaRPr dirty="0"/>
          </a:p>
        </p:txBody>
      </p:sp>
      <p:sp>
        <p:nvSpPr>
          <p:cNvPr id="206" name="Google Shape;206;p13">
            <a:extLst>
              <a:ext uri="{FF2B5EF4-FFF2-40B4-BE49-F238E27FC236}">
                <a16:creationId xmlns:a16="http://schemas.microsoft.com/office/drawing/2014/main" id="{C24DECE4-7849-49B1-B491-05B76FF284D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2" name="Footer Placeholder 1">
            <a:extLst>
              <a:ext uri="{FF2B5EF4-FFF2-40B4-BE49-F238E27FC236}">
                <a16:creationId xmlns:a16="http://schemas.microsoft.com/office/drawing/2014/main" id="{7C3FABD4-0075-E1AA-D62C-A8C97180F338}"/>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
        <p:nvSpPr>
          <p:cNvPr id="11" name="TextBox 10">
            <a:extLst>
              <a:ext uri="{FF2B5EF4-FFF2-40B4-BE49-F238E27FC236}">
                <a16:creationId xmlns:a16="http://schemas.microsoft.com/office/drawing/2014/main" id="{CEFF3082-17A8-A851-E09F-C1C3757D3CEA}"/>
              </a:ext>
            </a:extLst>
          </p:cNvPr>
          <p:cNvSpPr txBox="1"/>
          <p:nvPr/>
        </p:nvSpPr>
        <p:spPr>
          <a:xfrm>
            <a:off x="766916" y="1032388"/>
            <a:ext cx="7084141" cy="5509200"/>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NTSB Evidence for AERIS Fusion</a:t>
            </a:r>
          </a:p>
          <a:p>
            <a:r>
              <a:rPr lang="en-IN" sz="1600" b="1" dirty="0">
                <a:latin typeface="Times New Roman" panose="02020603050405020304" pitchFamily="18" charset="0"/>
                <a:cs typeface="Times New Roman" panose="02020603050405020304" pitchFamily="18" charset="0"/>
              </a:rPr>
              <a:t>NTSB — From Historical Case to Investigation Evidence</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The retrieved investigation is converted into a structured </a:t>
            </a:r>
            <a:r>
              <a:rPr lang="en-IN" sz="1600" b="1" dirty="0">
                <a:latin typeface="Times New Roman" panose="02020603050405020304" pitchFamily="18" charset="0"/>
                <a:cs typeface="Times New Roman" panose="02020603050405020304" pitchFamily="18" charset="0"/>
              </a:rPr>
              <a:t>NTSB Evidence Object</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Retrieved Investigation</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Probable Cause + Findings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Similarity Assessment</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NTSB Evidence Object</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Fusion Evidence</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Key Takeaway: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NTSB provides </a:t>
            </a:r>
            <a:r>
              <a:rPr lang="en-IN" sz="1600" b="1" dirty="0">
                <a:latin typeface="Times New Roman" panose="02020603050405020304" pitchFamily="18" charset="0"/>
                <a:cs typeface="Times New Roman" panose="02020603050405020304" pitchFamily="18" charset="0"/>
              </a:rPr>
              <a:t>historical investigation context</a:t>
            </a:r>
            <a:r>
              <a:rPr lang="en-IN" sz="1600" dirty="0">
                <a:latin typeface="Times New Roman" panose="02020603050405020304" pitchFamily="18" charset="0"/>
                <a:cs typeface="Times New Roman" panose="02020603050405020304" pitchFamily="18" charset="0"/>
              </a:rPr>
              <a:t> that helps connect a predicted degradation pattern with previously documented aviation events.</a:t>
            </a:r>
          </a:p>
          <a:p>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1870A16-B3DC-713A-058C-5B17341BE50B}"/>
              </a:ext>
            </a:extLst>
          </p:cNvPr>
          <p:cNvSpPr txBox="1"/>
          <p:nvPr/>
        </p:nvSpPr>
        <p:spPr>
          <a:xfrm>
            <a:off x="3613354" y="2678706"/>
            <a:ext cx="4006646" cy="230832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Evidence Contains</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Retrieved investigation</a:t>
            </a:r>
          </a:p>
          <a:p>
            <a:pPr lvl="0"/>
            <a:r>
              <a:rPr lang="en-IN" sz="1600" dirty="0">
                <a:latin typeface="Times New Roman" panose="02020603050405020304" pitchFamily="18" charset="0"/>
                <a:cs typeface="Times New Roman" panose="02020603050405020304" pitchFamily="18" charset="0"/>
              </a:rPr>
              <a:t>Similarity score</a:t>
            </a:r>
          </a:p>
          <a:p>
            <a:pPr lvl="0"/>
            <a:r>
              <a:rPr lang="en-IN" sz="1600" dirty="0">
                <a:latin typeface="Times New Roman" panose="02020603050405020304" pitchFamily="18" charset="0"/>
                <a:cs typeface="Times New Roman" panose="02020603050405020304" pitchFamily="18" charset="0"/>
              </a:rPr>
              <a:t>Probable cause</a:t>
            </a:r>
          </a:p>
          <a:p>
            <a:pPr lvl="0"/>
            <a:r>
              <a:rPr lang="en-IN" sz="1600" dirty="0">
                <a:latin typeface="Times New Roman" panose="02020603050405020304" pitchFamily="18" charset="0"/>
                <a:cs typeface="Times New Roman" panose="02020603050405020304" pitchFamily="18" charset="0"/>
              </a:rPr>
              <a:t>Relevant findings</a:t>
            </a:r>
          </a:p>
          <a:p>
            <a:pPr lvl="0"/>
            <a:r>
              <a:rPr lang="en-IN" sz="1600" dirty="0">
                <a:latin typeface="Times New Roman" panose="02020603050405020304" pitchFamily="18" charset="0"/>
                <a:cs typeface="Times New Roman" panose="02020603050405020304" pitchFamily="18" charset="0"/>
              </a:rPr>
              <a:t>Supporting report</a:t>
            </a:r>
          </a:p>
          <a:p>
            <a:pPr lvl="0"/>
            <a:r>
              <a:rPr lang="en-IN" sz="1600" dirty="0">
                <a:latin typeface="Times New Roman" panose="02020603050405020304" pitchFamily="18" charset="0"/>
                <a:cs typeface="Times New Roman" panose="02020603050405020304" pitchFamily="18" charset="0"/>
              </a:rPr>
              <a:t>Hypothesis</a:t>
            </a:r>
          </a:p>
          <a:p>
            <a:pPr lvl="0"/>
            <a:r>
              <a:rPr lang="en-IN" sz="1600" dirty="0">
                <a:latin typeface="Times New Roman" panose="02020603050405020304" pitchFamily="18" charset="0"/>
                <a:cs typeface="Times New Roman" panose="02020603050405020304" pitchFamily="18" charset="0"/>
              </a:rPr>
              <a:t>Belief</a:t>
            </a:r>
          </a:p>
          <a:p>
            <a:pPr lvl="0"/>
            <a:r>
              <a:rPr lang="en-IN" sz="1600" dirty="0">
                <a:latin typeface="Times New Roman" panose="02020603050405020304" pitchFamily="18" charset="0"/>
                <a:cs typeface="Times New Roman" panose="02020603050405020304" pitchFamily="18" charset="0"/>
              </a:rPr>
              <a:t>Uncertainty</a:t>
            </a:r>
          </a:p>
        </p:txBody>
      </p:sp>
      <p:sp>
        <p:nvSpPr>
          <p:cNvPr id="7" name="TextBox 6">
            <a:extLst>
              <a:ext uri="{FF2B5EF4-FFF2-40B4-BE49-F238E27FC236}">
                <a16:creationId xmlns:a16="http://schemas.microsoft.com/office/drawing/2014/main" id="{85EEA1C9-5F61-2C25-0722-13D903044A64}"/>
              </a:ext>
            </a:extLst>
          </p:cNvPr>
          <p:cNvSpPr txBox="1"/>
          <p:nvPr/>
        </p:nvSpPr>
        <p:spPr>
          <a:xfrm>
            <a:off x="5919018" y="2737863"/>
            <a:ext cx="3003755" cy="2800767"/>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Example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Belief       = 0.71</a:t>
            </a:r>
          </a:p>
          <a:p>
            <a:r>
              <a:rPr lang="en-IN" sz="1600" dirty="0">
                <a:latin typeface="Times New Roman" panose="02020603050405020304" pitchFamily="18" charset="0"/>
                <a:cs typeface="Times New Roman" panose="02020603050405020304" pitchFamily="18" charset="0"/>
              </a:rPr>
              <a:t>Uncertainty  = 0.29</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AERIS Contribution</a:t>
            </a:r>
          </a:p>
          <a:p>
            <a:r>
              <a:rPr lang="en-IN" sz="1600" dirty="0">
                <a:latin typeface="Times New Roman" panose="02020603050405020304" pitchFamily="18" charset="0"/>
                <a:cs typeface="Times New Roman" panose="02020603050405020304" pitchFamily="18" charset="0"/>
              </a:rPr>
              <a:t>Predictive Evidence (CMAPSS)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Historical Evidence (NTSB)</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Operational Evidence (NGAFID)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Dempster–Shafer Evidence Fusion</a:t>
            </a:r>
          </a:p>
        </p:txBody>
      </p:sp>
    </p:spTree>
    <p:extLst>
      <p:ext uri="{BB962C8B-B14F-4D97-AF65-F5344CB8AC3E}">
        <p14:creationId xmlns:p14="http://schemas.microsoft.com/office/powerpoint/2010/main" val="20455587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C2D3-E249-C92B-18F9-70F46C30B09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Dempster-Shafer Evidence Fusion</a:t>
            </a:r>
          </a:p>
        </p:txBody>
      </p:sp>
      <p:sp>
        <p:nvSpPr>
          <p:cNvPr id="3" name="Text Placeholder 2">
            <a:extLst>
              <a:ext uri="{FF2B5EF4-FFF2-40B4-BE49-F238E27FC236}">
                <a16:creationId xmlns:a16="http://schemas.microsoft.com/office/drawing/2014/main" id="{0724292E-DE91-98F0-6C9C-AD981C7FD77D}"/>
              </a:ext>
            </a:extLst>
          </p:cNvPr>
          <p:cNvSpPr>
            <a:spLocks noGrp="1"/>
          </p:cNvSpPr>
          <p:nvPr>
            <p:ph type="body" idx="1"/>
          </p:nvPr>
        </p:nvSpPr>
        <p:spPr>
          <a:xfrm>
            <a:off x="457200" y="1600200"/>
            <a:ext cx="8229600" cy="4983162"/>
          </a:xfrm>
        </p:spPr>
        <p:txBody>
          <a:bodyPr>
            <a:normAutofit fontScale="92500" lnSpcReduction="10000"/>
          </a:bodyPr>
          <a:lstStyle/>
          <a:p>
            <a:pPr lvl="0" algn="just"/>
            <a:r>
              <a:rPr lang="en-IN" sz="2500" dirty="0">
                <a:latin typeface="Times New Roman" panose="02020603050405020304" pitchFamily="18" charset="0"/>
                <a:cs typeface="Times New Roman" panose="02020603050405020304" pitchFamily="18" charset="0"/>
              </a:rPr>
              <a:t>Combined CMAPSS + NTSB + NGAFID belief values using full multi-hypothesis Dempster's rule</a:t>
            </a:r>
          </a:p>
          <a:p>
            <a:pPr lvl="0" algn="just"/>
            <a:r>
              <a:rPr lang="en-IN" sz="2500" dirty="0">
                <a:latin typeface="Times New Roman" panose="02020603050405020304" pitchFamily="18" charset="0"/>
                <a:cs typeface="Times New Roman" panose="02020603050405020304" pitchFamily="18" charset="0"/>
              </a:rPr>
              <a:t>Result table:</a:t>
            </a:r>
          </a:p>
          <a:p>
            <a:pPr lvl="0" algn="just"/>
            <a:endParaRPr lang="en-IN" sz="2500" dirty="0">
              <a:latin typeface="Times New Roman" panose="02020603050405020304" pitchFamily="18" charset="0"/>
              <a:cs typeface="Times New Roman" panose="02020603050405020304" pitchFamily="18" charset="0"/>
            </a:endParaRPr>
          </a:p>
          <a:p>
            <a:pPr lvl="0" algn="just"/>
            <a:endParaRPr lang="en-IN" sz="2500" dirty="0">
              <a:latin typeface="Times New Roman" panose="02020603050405020304" pitchFamily="18" charset="0"/>
              <a:cs typeface="Times New Roman" panose="02020603050405020304" pitchFamily="18" charset="0"/>
            </a:endParaRPr>
          </a:p>
          <a:p>
            <a:pPr lvl="0" algn="just"/>
            <a:endParaRPr lang="en-IN" sz="2500" dirty="0">
              <a:latin typeface="Times New Roman" panose="02020603050405020304" pitchFamily="18" charset="0"/>
              <a:cs typeface="Times New Roman" panose="02020603050405020304" pitchFamily="18" charset="0"/>
            </a:endParaRPr>
          </a:p>
          <a:p>
            <a:pPr lvl="0" algn="just"/>
            <a:endParaRPr lang="en-IN" sz="2500" dirty="0">
              <a:latin typeface="Times New Roman" panose="02020603050405020304" pitchFamily="18" charset="0"/>
              <a:cs typeface="Times New Roman" panose="02020603050405020304" pitchFamily="18" charset="0"/>
            </a:endParaRPr>
          </a:p>
          <a:p>
            <a:pPr lvl="0" algn="just"/>
            <a:endParaRPr lang="en-IN" sz="2500" dirty="0">
              <a:latin typeface="Times New Roman" panose="02020603050405020304" pitchFamily="18" charset="0"/>
              <a:cs typeface="Times New Roman" panose="02020603050405020304" pitchFamily="18" charset="0"/>
            </a:endParaRPr>
          </a:p>
          <a:p>
            <a:pPr lvl="0" algn="just"/>
            <a:endParaRPr lang="en-IN" sz="2500" dirty="0">
              <a:latin typeface="Times New Roman" panose="02020603050405020304" pitchFamily="18" charset="0"/>
              <a:cs typeface="Times New Roman" panose="02020603050405020304" pitchFamily="18" charset="0"/>
            </a:endParaRPr>
          </a:p>
          <a:p>
            <a:pPr lvl="0" algn="just"/>
            <a:r>
              <a:rPr lang="en-IN" sz="2500" dirty="0">
                <a:latin typeface="Times New Roman" panose="02020603050405020304" pitchFamily="18" charset="0"/>
                <a:cs typeface="Times New Roman" panose="02020603050405020304" pitchFamily="18" charset="0"/>
              </a:rPr>
              <a:t>Final decision: </a:t>
            </a:r>
            <a:r>
              <a:rPr lang="en-IN" sz="2500" b="1" dirty="0">
                <a:latin typeface="Times New Roman" panose="02020603050405020304" pitchFamily="18" charset="0"/>
                <a:cs typeface="Times New Roman" panose="02020603050405020304" pitchFamily="18" charset="0"/>
              </a:rPr>
              <a:t>Medium Risk</a:t>
            </a:r>
            <a:r>
              <a:rPr lang="en-IN" sz="2500" dirty="0">
                <a:latin typeface="Times New Roman" panose="02020603050405020304" pitchFamily="18" charset="0"/>
                <a:cs typeface="Times New Roman" panose="02020603050405020304" pitchFamily="18" charset="0"/>
              </a:rPr>
              <a:t>, confidence 98.5%</a:t>
            </a:r>
          </a:p>
          <a:p>
            <a:pPr lvl="0" algn="just"/>
            <a:r>
              <a:rPr lang="en-IN" sz="2500" dirty="0">
                <a:latin typeface="Times New Roman" panose="02020603050405020304" pitchFamily="18" charset="0"/>
                <a:cs typeface="Times New Roman" panose="02020603050405020304" pitchFamily="18" charset="0"/>
              </a:rPr>
              <a:t>Conflict value (K=0.54) correctly flagged that NGAFID's case describes a different aircraft — a known, documented limitation, not an error</a:t>
            </a:r>
          </a:p>
          <a:p>
            <a:pPr lvl="0" algn="just"/>
            <a:endParaRPr lang="en-IN" sz="2500" dirty="0">
              <a:latin typeface="Times New Roman" panose="02020603050405020304" pitchFamily="18" charset="0"/>
              <a:cs typeface="Times New Roman" panose="02020603050405020304" pitchFamily="18" charset="0"/>
            </a:endParaRPr>
          </a:p>
          <a:p>
            <a:pPr lvl="0" algn="just"/>
            <a:endParaRPr lang="en-IN" sz="25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20DBD5A-0198-5062-0496-D1B7AC54DA49}"/>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B1F84375-00D8-D7D6-52A7-C98C8AFA4CB3}"/>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2D0A938A-DDA2-11F2-8264-82C209EA10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69</a:t>
            </a:fld>
            <a:endParaRPr lang="en-US"/>
          </a:p>
        </p:txBody>
      </p:sp>
      <p:graphicFrame>
        <p:nvGraphicFramePr>
          <p:cNvPr id="10" name="Table 9">
            <a:extLst>
              <a:ext uri="{FF2B5EF4-FFF2-40B4-BE49-F238E27FC236}">
                <a16:creationId xmlns:a16="http://schemas.microsoft.com/office/drawing/2014/main" id="{605325AA-545E-2780-EFBF-E31CDC443640}"/>
              </a:ext>
            </a:extLst>
          </p:cNvPr>
          <p:cNvGraphicFramePr>
            <a:graphicFrameLocks noGrp="1"/>
          </p:cNvGraphicFramePr>
          <p:nvPr>
            <p:extLst>
              <p:ext uri="{D42A27DB-BD31-4B8C-83A1-F6EECF244321}">
                <p14:modId xmlns:p14="http://schemas.microsoft.com/office/powerpoint/2010/main" val="3114753123"/>
              </p:ext>
            </p:extLst>
          </p:nvPr>
        </p:nvGraphicFramePr>
        <p:xfrm>
          <a:off x="1194619" y="2764831"/>
          <a:ext cx="6096000" cy="1859280"/>
        </p:xfrm>
        <a:graphic>
          <a:graphicData uri="http://schemas.openxmlformats.org/drawingml/2006/table">
            <a:tbl>
              <a:tblPr firstRow="1" bandRow="1">
                <a:tableStyleId>{47879F58-94FC-4AB5-AACA-6E85711E4052}</a:tableStyleId>
              </a:tblPr>
              <a:tblGrid>
                <a:gridCol w="2032000">
                  <a:extLst>
                    <a:ext uri="{9D8B030D-6E8A-4147-A177-3AD203B41FA5}">
                      <a16:colId xmlns:a16="http://schemas.microsoft.com/office/drawing/2014/main" val="3386262513"/>
                    </a:ext>
                  </a:extLst>
                </a:gridCol>
                <a:gridCol w="2032000">
                  <a:extLst>
                    <a:ext uri="{9D8B030D-6E8A-4147-A177-3AD203B41FA5}">
                      <a16:colId xmlns:a16="http://schemas.microsoft.com/office/drawing/2014/main" val="1959131663"/>
                    </a:ext>
                  </a:extLst>
                </a:gridCol>
                <a:gridCol w="2032000">
                  <a:extLst>
                    <a:ext uri="{9D8B030D-6E8A-4147-A177-3AD203B41FA5}">
                      <a16:colId xmlns:a16="http://schemas.microsoft.com/office/drawing/2014/main" val="2552657138"/>
                    </a:ext>
                  </a:extLst>
                </a:gridCol>
              </a:tblGrid>
              <a:tr h="251043">
                <a:tc>
                  <a:txBody>
                    <a:bodyPr/>
                    <a:lstStyle/>
                    <a:p>
                      <a:r>
                        <a:rPr lang="en-IN" dirty="0">
                          <a:latin typeface="Times New Roman" panose="02020603050405020304" pitchFamily="18" charset="0"/>
                          <a:cs typeface="Times New Roman" panose="02020603050405020304" pitchFamily="18" charset="0"/>
                        </a:rPr>
                        <a:t>SOURCE </a:t>
                      </a:r>
                    </a:p>
                  </a:txBody>
                  <a:tcPr/>
                </a:tc>
                <a:tc>
                  <a:txBody>
                    <a:bodyPr/>
                    <a:lstStyle/>
                    <a:p>
                      <a:r>
                        <a:rPr lang="en-IN" dirty="0">
                          <a:latin typeface="Times New Roman" panose="02020603050405020304" pitchFamily="18" charset="0"/>
                          <a:cs typeface="Times New Roman" panose="02020603050405020304" pitchFamily="18" charset="0"/>
                        </a:rPr>
                        <a:t>HYPOTHESIS</a:t>
                      </a:r>
                    </a:p>
                  </a:txBody>
                  <a:tcPr/>
                </a:tc>
                <a:tc>
                  <a:txBody>
                    <a:bodyPr/>
                    <a:lstStyle/>
                    <a:p>
                      <a:r>
                        <a:rPr lang="en-IN" dirty="0">
                          <a:latin typeface="Times New Roman" panose="02020603050405020304" pitchFamily="18" charset="0"/>
                          <a:cs typeface="Times New Roman" panose="02020603050405020304" pitchFamily="18" charset="0"/>
                        </a:rPr>
                        <a:t>BELIEF</a:t>
                      </a:r>
                    </a:p>
                  </a:txBody>
                  <a:tcPr/>
                </a:tc>
                <a:extLst>
                  <a:ext uri="{0D108BD9-81ED-4DB2-BD59-A6C34878D82A}">
                    <a16:rowId xmlns:a16="http://schemas.microsoft.com/office/drawing/2014/main" val="2410439709"/>
                  </a:ext>
                </a:extLst>
              </a:tr>
              <a:tr h="4267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CMAPSS</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Medium Risk</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0.972</a:t>
                      </a:r>
                    </a:p>
                  </a:txBody>
                  <a:tcPr/>
                </a:tc>
                <a:extLst>
                  <a:ext uri="{0D108BD9-81ED-4DB2-BD59-A6C34878D82A}">
                    <a16:rowId xmlns:a16="http://schemas.microsoft.com/office/drawing/2014/main" val="2428644540"/>
                  </a:ext>
                </a:extLst>
              </a:tr>
              <a:tr h="4267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NTSB</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Medium Risk</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0.71</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7393841"/>
                  </a:ext>
                </a:extLst>
              </a:tr>
              <a:tr h="4267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NGAFID</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High Risk</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0.542</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1863618"/>
                  </a:ext>
                </a:extLst>
              </a:tr>
            </a:tbl>
          </a:graphicData>
        </a:graphic>
      </p:graphicFrame>
    </p:spTree>
    <p:extLst>
      <p:ext uri="{BB962C8B-B14F-4D97-AF65-F5344CB8AC3E}">
        <p14:creationId xmlns:p14="http://schemas.microsoft.com/office/powerpoint/2010/main" val="39549322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C5A4A-FF9A-2871-4F8C-22A6741062C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Dempster-Shafer Result</a:t>
            </a:r>
          </a:p>
        </p:txBody>
      </p:sp>
      <p:sp>
        <p:nvSpPr>
          <p:cNvPr id="3" name="Text Placeholder 2">
            <a:extLst>
              <a:ext uri="{FF2B5EF4-FFF2-40B4-BE49-F238E27FC236}">
                <a16:creationId xmlns:a16="http://schemas.microsoft.com/office/drawing/2014/main" id="{4312FD7F-D2C2-6B82-3493-FAF0E7B71154}"/>
              </a:ext>
            </a:extLst>
          </p:cNvPr>
          <p:cNvSpPr>
            <a:spLocks noGrp="1"/>
          </p:cNvSpPr>
          <p:nvPr>
            <p:ph type="body" idx="1"/>
          </p:nvPr>
        </p:nvSpPr>
        <p:spPr>
          <a:xfrm>
            <a:off x="285135" y="1600200"/>
            <a:ext cx="8401665" cy="4859594"/>
          </a:xfrm>
        </p:spPr>
        <p:txBody>
          <a:bodyPr/>
          <a:lstStyle/>
          <a:p>
            <a:endParaRPr lang="en-IN" dirty="0"/>
          </a:p>
        </p:txBody>
      </p:sp>
      <p:sp>
        <p:nvSpPr>
          <p:cNvPr id="4" name="Date Placeholder 3">
            <a:extLst>
              <a:ext uri="{FF2B5EF4-FFF2-40B4-BE49-F238E27FC236}">
                <a16:creationId xmlns:a16="http://schemas.microsoft.com/office/drawing/2014/main" id="{4D8E59C7-2570-9924-F414-05022006D699}"/>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5C44DB9F-1CD1-A7A8-F570-1466BF8F30A3}"/>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26B9AE1A-5A37-0143-D750-218FCBBD74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pic>
        <p:nvPicPr>
          <p:cNvPr id="8" name="Picture 7">
            <a:extLst>
              <a:ext uri="{FF2B5EF4-FFF2-40B4-BE49-F238E27FC236}">
                <a16:creationId xmlns:a16="http://schemas.microsoft.com/office/drawing/2014/main" id="{E19326BE-3747-4AA2-74DB-A1A3DB7B5ED6}"/>
              </a:ext>
            </a:extLst>
          </p:cNvPr>
          <p:cNvPicPr>
            <a:picLocks noChangeAspect="1"/>
          </p:cNvPicPr>
          <p:nvPr/>
        </p:nvPicPr>
        <p:blipFill>
          <a:blip r:embed="rId2"/>
          <a:stretch>
            <a:fillRect/>
          </a:stretch>
        </p:blipFill>
        <p:spPr>
          <a:xfrm>
            <a:off x="609600" y="1600199"/>
            <a:ext cx="3814916" cy="4664870"/>
          </a:xfrm>
          <a:prstGeom prst="rect">
            <a:avLst/>
          </a:prstGeom>
        </p:spPr>
      </p:pic>
      <p:pic>
        <p:nvPicPr>
          <p:cNvPr id="10" name="Picture 9">
            <a:extLst>
              <a:ext uri="{FF2B5EF4-FFF2-40B4-BE49-F238E27FC236}">
                <a16:creationId xmlns:a16="http://schemas.microsoft.com/office/drawing/2014/main" id="{34369BFA-CCE3-E5DA-EB3B-7541D1B6BEF7}"/>
              </a:ext>
            </a:extLst>
          </p:cNvPr>
          <p:cNvPicPr>
            <a:picLocks noChangeAspect="1"/>
          </p:cNvPicPr>
          <p:nvPr/>
        </p:nvPicPr>
        <p:blipFill>
          <a:blip r:embed="rId3"/>
          <a:stretch>
            <a:fillRect/>
          </a:stretch>
        </p:blipFill>
        <p:spPr>
          <a:xfrm>
            <a:off x="4748981" y="1600199"/>
            <a:ext cx="3814916" cy="4664870"/>
          </a:xfrm>
          <a:prstGeom prst="rect">
            <a:avLst/>
          </a:prstGeom>
        </p:spPr>
      </p:pic>
    </p:spTree>
    <p:extLst>
      <p:ext uri="{BB962C8B-B14F-4D97-AF65-F5344CB8AC3E}">
        <p14:creationId xmlns:p14="http://schemas.microsoft.com/office/powerpoint/2010/main" val="27888638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1837C-E606-E5B2-F7ED-C372C32AA827}"/>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Final Explainable Investigation Output</a:t>
            </a:r>
          </a:p>
        </p:txBody>
      </p:sp>
      <p:sp>
        <p:nvSpPr>
          <p:cNvPr id="3" name="Text Placeholder 2">
            <a:extLst>
              <a:ext uri="{FF2B5EF4-FFF2-40B4-BE49-F238E27FC236}">
                <a16:creationId xmlns:a16="http://schemas.microsoft.com/office/drawing/2014/main" id="{26DFD6F3-9817-C94B-BA8D-88FC5A73C46C}"/>
              </a:ext>
            </a:extLst>
          </p:cNvPr>
          <p:cNvSpPr>
            <a:spLocks noGrp="1"/>
          </p:cNvSpPr>
          <p:nvPr>
            <p:ph type="body" idx="1"/>
          </p:nvPr>
        </p:nvSpPr>
        <p:spPr/>
        <p:txBody>
          <a:bodyPr>
            <a:normAutofit fontScale="92500" lnSpcReduction="20000"/>
          </a:bodyPr>
          <a:lstStyle/>
          <a:p>
            <a:pPr algn="just"/>
            <a:r>
              <a:rPr lang="en-IN" sz="2800" dirty="0">
                <a:latin typeface="Times New Roman" panose="02020603050405020304" pitchFamily="18" charset="0"/>
                <a:cs typeface="Times New Roman" panose="02020603050405020304" pitchFamily="18" charset="0"/>
              </a:rPr>
              <a:t>"This is where all three data sources — CMAPSS, NTSB, and NGAFID — converge into one final, traceable answer.“</a:t>
            </a:r>
          </a:p>
          <a:p>
            <a:pPr lvl="0" algn="just"/>
            <a:r>
              <a:rPr lang="en-IN" sz="2800" b="1" dirty="0">
                <a:latin typeface="Times New Roman" panose="02020603050405020304" pitchFamily="18" charset="0"/>
                <a:cs typeface="Times New Roman" panose="02020603050405020304" pitchFamily="18" charset="0"/>
              </a:rPr>
              <a:t>Aircraft Risk Level:</a:t>
            </a:r>
            <a:r>
              <a:rPr lang="en-IN" sz="2800" dirty="0">
                <a:latin typeface="Times New Roman" panose="02020603050405020304" pitchFamily="18" charset="0"/>
                <a:cs typeface="Times New Roman" panose="02020603050405020304" pitchFamily="18" charset="0"/>
              </a:rPr>
              <a:t> Medium Risk (98.5% </a:t>
            </a:r>
            <a:r>
              <a:rPr lang="en-IN" sz="2800" dirty="0" err="1">
                <a:latin typeface="Times New Roman" panose="02020603050405020304" pitchFamily="18" charset="0"/>
                <a:cs typeface="Times New Roman" panose="02020603050405020304" pitchFamily="18" charset="0"/>
              </a:rPr>
              <a:t>pignistic</a:t>
            </a:r>
            <a:r>
              <a:rPr lang="en-IN" sz="2800" dirty="0">
                <a:latin typeface="Times New Roman" panose="02020603050405020304" pitchFamily="18" charset="0"/>
                <a:cs typeface="Times New Roman" panose="02020603050405020304" pitchFamily="18" charset="0"/>
              </a:rPr>
              <a:t> confidence)</a:t>
            </a:r>
          </a:p>
          <a:p>
            <a:pPr lvl="0" algn="just"/>
            <a:r>
              <a:rPr lang="en-IN" sz="2800" b="1" dirty="0">
                <a:latin typeface="Times New Roman" panose="02020603050405020304" pitchFamily="18" charset="0"/>
                <a:cs typeface="Times New Roman" panose="02020603050405020304" pitchFamily="18" charset="0"/>
              </a:rPr>
              <a:t>Most Probable Fault Subsystem:</a:t>
            </a:r>
            <a:r>
              <a:rPr lang="en-IN" sz="2800" dirty="0">
                <a:latin typeface="Times New Roman" panose="02020603050405020304" pitchFamily="18" charset="0"/>
                <a:cs typeface="Times New Roman" panose="02020603050405020304" pitchFamily="18" charset="0"/>
              </a:rPr>
              <a:t> High-Pressure Compressor (traced to CMAPSS, the highest-belief source)</a:t>
            </a:r>
          </a:p>
          <a:p>
            <a:pPr lvl="0" algn="just"/>
            <a:r>
              <a:rPr lang="en-IN" sz="2800" b="1" dirty="0">
                <a:latin typeface="Times New Roman" panose="02020603050405020304" pitchFamily="18" charset="0"/>
                <a:cs typeface="Times New Roman" panose="02020603050405020304" pitchFamily="18" charset="0"/>
              </a:rPr>
              <a:t>Confidence range:</a:t>
            </a:r>
            <a:r>
              <a:rPr lang="en-IN" sz="2800" dirty="0">
                <a:latin typeface="Times New Roman" panose="02020603050405020304" pitchFamily="18" charset="0"/>
                <a:cs typeface="Times New Roman" panose="02020603050405020304" pitchFamily="18" charset="0"/>
              </a:rPr>
              <a:t> Belief 97.2% — Plausibility 99.1% (explain: this is the </a:t>
            </a:r>
            <a:r>
              <a:rPr lang="en-IN" sz="2800" i="1" dirty="0">
                <a:latin typeface="Times New Roman" panose="02020603050405020304" pitchFamily="18" charset="0"/>
                <a:cs typeface="Times New Roman" panose="02020603050405020304" pitchFamily="18" charset="0"/>
              </a:rPr>
              <a:t>lower and upper bound</a:t>
            </a:r>
            <a:r>
              <a:rPr lang="en-IN" sz="2800" dirty="0">
                <a:latin typeface="Times New Roman" panose="02020603050405020304" pitchFamily="18" charset="0"/>
                <a:cs typeface="Times New Roman" panose="02020603050405020304" pitchFamily="18" charset="0"/>
              </a:rPr>
              <a:t> Dempster-Shafer guarantees, not a single point estimate — a key difference from a normal ML confidence score)</a:t>
            </a:r>
          </a:p>
          <a:p>
            <a:pPr marL="114300" indent="0" algn="just">
              <a:buNone/>
            </a:pPr>
            <a:endParaRPr lang="en-IN" sz="25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7EBE36D-29DB-2CE3-692D-706D282E565A}"/>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A916C423-7311-5795-9854-E87049F47C72}"/>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CB3127B7-A9FC-76B8-694A-D703D3AF8A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a:p>
        </p:txBody>
      </p:sp>
    </p:spTree>
    <p:extLst>
      <p:ext uri="{BB962C8B-B14F-4D97-AF65-F5344CB8AC3E}">
        <p14:creationId xmlns:p14="http://schemas.microsoft.com/office/powerpoint/2010/main" val="8564725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3E8F1-E70F-08BD-ED0E-C6C0F571DA24}"/>
              </a:ext>
            </a:extLst>
          </p:cNvPr>
          <p:cNvSpPr>
            <a:spLocks noGrp="1"/>
          </p:cNvSpPr>
          <p:nvPr>
            <p:ph type="title"/>
          </p:nvPr>
        </p:nvSpPr>
        <p:spPr>
          <a:xfrm>
            <a:off x="457200" y="274638"/>
            <a:ext cx="8229600" cy="783201"/>
          </a:xfrm>
        </p:spPr>
        <p:txBody>
          <a:bodyPr>
            <a:normAutofit fontScale="90000"/>
          </a:bodyPr>
          <a:lstStyle/>
          <a:p>
            <a:r>
              <a:rPr lang="en-IN" dirty="0">
                <a:latin typeface="Times New Roman" panose="02020603050405020304" pitchFamily="18" charset="0"/>
                <a:cs typeface="Times New Roman" panose="02020603050405020304" pitchFamily="18" charset="0"/>
              </a:rPr>
              <a:t>Final Explainable Investigation Output</a:t>
            </a:r>
          </a:p>
        </p:txBody>
      </p:sp>
      <p:sp>
        <p:nvSpPr>
          <p:cNvPr id="3" name="Text Placeholder 2">
            <a:extLst>
              <a:ext uri="{FF2B5EF4-FFF2-40B4-BE49-F238E27FC236}">
                <a16:creationId xmlns:a16="http://schemas.microsoft.com/office/drawing/2014/main" id="{8E24E2E6-8B26-9B3E-DDFF-85F71B4D77B8}"/>
              </a:ext>
            </a:extLst>
          </p:cNvPr>
          <p:cNvSpPr>
            <a:spLocks noGrp="1"/>
          </p:cNvSpPr>
          <p:nvPr>
            <p:ph type="body" idx="1"/>
          </p:nvPr>
        </p:nvSpPr>
        <p:spPr>
          <a:xfrm>
            <a:off x="457200" y="1288026"/>
            <a:ext cx="8229600" cy="4838137"/>
          </a:xfrm>
        </p:spPr>
        <p:txBody>
          <a:bodyPr>
            <a:normAutofit lnSpcReduction="10000"/>
          </a:bodyPr>
          <a:lstStyle/>
          <a:p>
            <a:pPr algn="just"/>
            <a:r>
              <a:rPr lang="en-IN" sz="2200" dirty="0">
                <a:latin typeface="Times New Roman" panose="02020603050405020304" pitchFamily="18" charset="0"/>
                <a:cs typeface="Times New Roman" panose="02020603050405020304" pitchFamily="18" charset="0"/>
              </a:rPr>
              <a:t>The three supporting evidence panels (walk through each briefly):</a:t>
            </a:r>
          </a:p>
          <a:p>
            <a:pPr lvl="0" algn="just"/>
            <a:r>
              <a:rPr lang="en-IN" sz="2200" b="1" dirty="0">
                <a:latin typeface="Times New Roman" panose="02020603050405020304" pitchFamily="18" charset="0"/>
                <a:cs typeface="Times New Roman" panose="02020603050405020304" pitchFamily="18" charset="0"/>
              </a:rPr>
              <a:t>CMAPSS (sensor evidence):</a:t>
            </a:r>
            <a:r>
              <a:rPr lang="en-IN" sz="2200" dirty="0">
                <a:latin typeface="Times New Roman" panose="02020603050405020304" pitchFamily="18" charset="0"/>
                <a:cs typeface="Times New Roman" panose="02020603050405020304" pitchFamily="18" charset="0"/>
              </a:rPr>
              <a:t> Predicted RUL = 70.43 cycles, top contributing sensors via SHAP (Ps30, </a:t>
            </a:r>
            <a:r>
              <a:rPr lang="en-IN" sz="2200" dirty="0" err="1">
                <a:latin typeface="Times New Roman" panose="02020603050405020304" pitchFamily="18" charset="0"/>
                <a:cs typeface="Times New Roman" panose="02020603050405020304" pitchFamily="18" charset="0"/>
              </a:rPr>
              <a:t>NRf</a:t>
            </a:r>
            <a:r>
              <a:rPr lang="en-IN" sz="2200" dirty="0">
                <a:latin typeface="Times New Roman" panose="02020603050405020304" pitchFamily="18" charset="0"/>
                <a:cs typeface="Times New Roman" panose="02020603050405020304" pitchFamily="18" charset="0"/>
              </a:rPr>
              <a:t>, phi, T50, P30)</a:t>
            </a:r>
          </a:p>
          <a:p>
            <a:pPr lvl="0" algn="just"/>
            <a:r>
              <a:rPr lang="en-IN" sz="2200" b="1" dirty="0">
                <a:latin typeface="Times New Roman" panose="02020603050405020304" pitchFamily="18" charset="0"/>
                <a:cs typeface="Times New Roman" panose="02020603050405020304" pitchFamily="18" charset="0"/>
              </a:rPr>
              <a:t>NTSB (historical precedent):</a:t>
            </a:r>
            <a:r>
              <a:rPr lang="en-IN" sz="2200" dirty="0">
                <a:latin typeface="Times New Roman" panose="02020603050405020304" pitchFamily="18" charset="0"/>
                <a:cs typeface="Times New Roman" panose="02020603050405020304" pitchFamily="18" charset="0"/>
              </a:rPr>
              <a:t> Retrieved report ENG19IA013 — a real Boeing 737 HPC blade separation case, 57% semantic similarity to the generated query</a:t>
            </a:r>
          </a:p>
          <a:p>
            <a:pPr lvl="0" algn="just"/>
            <a:r>
              <a:rPr lang="en-IN" sz="2200" b="1" dirty="0">
                <a:latin typeface="Times New Roman" panose="02020603050405020304" pitchFamily="18" charset="0"/>
                <a:cs typeface="Times New Roman" panose="02020603050405020304" pitchFamily="18" charset="0"/>
              </a:rPr>
              <a:t>NGAFID (independent flight evidence):</a:t>
            </a:r>
            <a:r>
              <a:rPr lang="en-IN" sz="2200" dirty="0">
                <a:latin typeface="Times New Roman" panose="02020603050405020304" pitchFamily="18" charset="0"/>
                <a:cs typeface="Times New Roman" panose="02020603050405020304" pitchFamily="18" charset="0"/>
              </a:rPr>
              <a:t> Failure risk 61.4%, diagnosed subsystem "Rocker/Valvetrain" — flagged transparently as describing a </a:t>
            </a:r>
            <a:r>
              <a:rPr lang="en-IN" sz="2200" i="1" dirty="0">
                <a:latin typeface="Times New Roman" panose="02020603050405020304" pitchFamily="18" charset="0"/>
                <a:cs typeface="Times New Roman" panose="02020603050405020304" pitchFamily="18" charset="0"/>
              </a:rPr>
              <a:t>different</a:t>
            </a:r>
            <a:r>
              <a:rPr lang="en-IN" sz="2200" dirty="0">
                <a:latin typeface="Times New Roman" panose="02020603050405020304" pitchFamily="18" charset="0"/>
                <a:cs typeface="Times New Roman" panose="02020603050405020304" pitchFamily="18" charset="0"/>
              </a:rPr>
              <a:t> aircraft case in this Phase 1 prototype.</a:t>
            </a:r>
          </a:p>
          <a:p>
            <a:pPr lvl="0" algn="just"/>
            <a:endParaRPr lang="en-IN" sz="2200" dirty="0">
              <a:latin typeface="Times New Roman" panose="02020603050405020304" pitchFamily="18" charset="0"/>
              <a:cs typeface="Times New Roman" panose="02020603050405020304" pitchFamily="18" charset="0"/>
            </a:endParaRPr>
          </a:p>
          <a:p>
            <a:pPr lvl="0" algn="just"/>
            <a:r>
              <a:rPr lang="en-IN" sz="2400" dirty="0">
                <a:latin typeface="Times New Roman" panose="02020603050405020304" pitchFamily="18" charset="0"/>
                <a:cs typeface="Times New Roman" panose="02020603050405020304" pitchFamily="18" charset="0"/>
              </a:rPr>
              <a:t>"The system doesn't just give a number — every value here is traceable back to a specific sensor, a specific historical report, or a specific flight record, which is the explainability goal from our original problem statement."</a:t>
            </a:r>
            <a:endParaRPr lang="en-IN" sz="2200" dirty="0">
              <a:latin typeface="Times New Roman" panose="02020603050405020304" pitchFamily="18" charset="0"/>
              <a:cs typeface="Times New Roman" panose="02020603050405020304" pitchFamily="18" charset="0"/>
            </a:endParaRPr>
          </a:p>
          <a:p>
            <a:pPr lvl="0" algn="just"/>
            <a:endParaRPr lang="en-IN" dirty="0">
              <a:latin typeface="Times New Roman" panose="02020603050405020304" pitchFamily="18" charset="0"/>
              <a:cs typeface="Times New Roman" panose="02020603050405020304" pitchFamily="18" charset="0"/>
            </a:endParaRPr>
          </a:p>
          <a:p>
            <a:pPr lvl="0"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CFCF650-3AC0-671D-DB2A-960506A3B8FA}"/>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92D1634D-8221-8DE1-0A72-916333F5497B}"/>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856248E1-2662-61B3-1FA4-7425CE99C1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a:p>
        </p:txBody>
      </p:sp>
    </p:spTree>
    <p:extLst>
      <p:ext uri="{BB962C8B-B14F-4D97-AF65-F5344CB8AC3E}">
        <p14:creationId xmlns:p14="http://schemas.microsoft.com/office/powerpoint/2010/main" val="32521753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41B3E-8229-638D-0620-20E2300B82BC}"/>
              </a:ext>
            </a:extLst>
          </p:cNvPr>
          <p:cNvSpPr>
            <a:spLocks noGrp="1"/>
          </p:cNvSpPr>
          <p:nvPr>
            <p:ph type="title"/>
          </p:nvPr>
        </p:nvSpPr>
        <p:spPr>
          <a:xfrm>
            <a:off x="457200" y="274638"/>
            <a:ext cx="8229600" cy="846239"/>
          </a:xfrm>
        </p:spPr>
        <p:txBody>
          <a:bodyPr/>
          <a:lstStyle/>
          <a:p>
            <a:r>
              <a:rPr lang="en-IN" dirty="0">
                <a:latin typeface="Times New Roman" panose="02020603050405020304" pitchFamily="18" charset="0"/>
                <a:cs typeface="Times New Roman" panose="02020603050405020304" pitchFamily="18" charset="0"/>
              </a:rPr>
              <a:t>Final Report </a:t>
            </a:r>
          </a:p>
        </p:txBody>
      </p:sp>
      <p:sp>
        <p:nvSpPr>
          <p:cNvPr id="3" name="Text Placeholder 2">
            <a:extLst>
              <a:ext uri="{FF2B5EF4-FFF2-40B4-BE49-F238E27FC236}">
                <a16:creationId xmlns:a16="http://schemas.microsoft.com/office/drawing/2014/main" id="{14238DEC-0E76-864A-67FB-1C7EE9F39D8E}"/>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4BC2D6FC-0DA7-2110-142E-7C051A12430F}"/>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BDDE83A7-3417-98B6-982E-FF027D4A64DD}"/>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5FB4ED50-2705-ECCC-5772-3CAF7A4225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73</a:t>
            </a:fld>
            <a:endParaRPr lang="en-US"/>
          </a:p>
        </p:txBody>
      </p:sp>
      <p:pic>
        <p:nvPicPr>
          <p:cNvPr id="8" name="Picture 7">
            <a:extLst>
              <a:ext uri="{FF2B5EF4-FFF2-40B4-BE49-F238E27FC236}">
                <a16:creationId xmlns:a16="http://schemas.microsoft.com/office/drawing/2014/main" id="{4CC0A818-2180-7327-6F5D-CAB13C83BE59}"/>
              </a:ext>
            </a:extLst>
          </p:cNvPr>
          <p:cNvPicPr>
            <a:picLocks noChangeAspect="1"/>
          </p:cNvPicPr>
          <p:nvPr/>
        </p:nvPicPr>
        <p:blipFill>
          <a:blip r:embed="rId2"/>
          <a:stretch>
            <a:fillRect/>
          </a:stretch>
        </p:blipFill>
        <p:spPr>
          <a:xfrm>
            <a:off x="457200" y="1351064"/>
            <a:ext cx="8229600" cy="4791196"/>
          </a:xfrm>
          <a:prstGeom prst="rect">
            <a:avLst/>
          </a:prstGeom>
        </p:spPr>
      </p:pic>
    </p:spTree>
    <p:extLst>
      <p:ext uri="{BB962C8B-B14F-4D97-AF65-F5344CB8AC3E}">
        <p14:creationId xmlns:p14="http://schemas.microsoft.com/office/powerpoint/2010/main" val="1178009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A8848-6773-D346-0D2F-BBA46302300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Final Report </a:t>
            </a:r>
            <a:endParaRPr lang="en-IN" dirty="0"/>
          </a:p>
        </p:txBody>
      </p:sp>
      <p:sp>
        <p:nvSpPr>
          <p:cNvPr id="4" name="Date Placeholder 3">
            <a:extLst>
              <a:ext uri="{FF2B5EF4-FFF2-40B4-BE49-F238E27FC236}">
                <a16:creationId xmlns:a16="http://schemas.microsoft.com/office/drawing/2014/main" id="{D18F568B-5D36-26F7-A0F6-18321C4C6785}"/>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EB58B6F8-A5FE-6F08-8175-3E989C528641}"/>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A647EA62-65BA-1087-48AD-48E9DB406C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74</a:t>
            </a:fld>
            <a:endParaRPr lang="en-US"/>
          </a:p>
        </p:txBody>
      </p:sp>
      <p:pic>
        <p:nvPicPr>
          <p:cNvPr id="12" name="Picture 11">
            <a:extLst>
              <a:ext uri="{FF2B5EF4-FFF2-40B4-BE49-F238E27FC236}">
                <a16:creationId xmlns:a16="http://schemas.microsoft.com/office/drawing/2014/main" id="{06396296-B106-A024-773A-AA38BF313D73}"/>
              </a:ext>
            </a:extLst>
          </p:cNvPr>
          <p:cNvPicPr>
            <a:picLocks noChangeAspect="1"/>
          </p:cNvPicPr>
          <p:nvPr/>
        </p:nvPicPr>
        <p:blipFill>
          <a:blip r:embed="rId2"/>
          <a:stretch>
            <a:fillRect/>
          </a:stretch>
        </p:blipFill>
        <p:spPr>
          <a:xfrm>
            <a:off x="457200" y="1417638"/>
            <a:ext cx="8362335" cy="4727523"/>
          </a:xfrm>
          <a:prstGeom prst="rect">
            <a:avLst/>
          </a:prstGeom>
        </p:spPr>
      </p:pic>
    </p:spTree>
    <p:extLst>
      <p:ext uri="{BB962C8B-B14F-4D97-AF65-F5344CB8AC3E}">
        <p14:creationId xmlns:p14="http://schemas.microsoft.com/office/powerpoint/2010/main" val="40863091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50D0-6DDE-7AF9-C64C-695404005050}"/>
              </a:ext>
            </a:extLst>
          </p:cNvPr>
          <p:cNvSpPr>
            <a:spLocks noGrp="1"/>
          </p:cNvSpPr>
          <p:nvPr>
            <p:ph type="title"/>
          </p:nvPr>
        </p:nvSpPr>
        <p:spPr>
          <a:xfrm>
            <a:off x="457200" y="274638"/>
            <a:ext cx="8229600" cy="836407"/>
          </a:xfrm>
        </p:spPr>
        <p:txBody>
          <a:bodyPr/>
          <a:lstStyle/>
          <a:p>
            <a:r>
              <a:rPr lang="en-IN" dirty="0">
                <a:latin typeface="Times New Roman" panose="02020603050405020304" pitchFamily="18" charset="0"/>
                <a:cs typeface="Times New Roman" panose="02020603050405020304" pitchFamily="18" charset="0"/>
              </a:rPr>
              <a:t>Final Report </a:t>
            </a:r>
            <a:endParaRPr lang="en-IN" dirty="0"/>
          </a:p>
        </p:txBody>
      </p:sp>
      <p:sp>
        <p:nvSpPr>
          <p:cNvPr id="3" name="Text Placeholder 2">
            <a:extLst>
              <a:ext uri="{FF2B5EF4-FFF2-40B4-BE49-F238E27FC236}">
                <a16:creationId xmlns:a16="http://schemas.microsoft.com/office/drawing/2014/main" id="{445812E9-7DB9-D06E-DB38-1E317602A4CC}"/>
              </a:ext>
            </a:extLst>
          </p:cNvPr>
          <p:cNvSpPr>
            <a:spLocks noGrp="1"/>
          </p:cNvSpPr>
          <p:nvPr>
            <p:ph type="body" idx="1"/>
          </p:nvPr>
        </p:nvSpPr>
        <p:spPr>
          <a:xfrm>
            <a:off x="457200" y="1292738"/>
            <a:ext cx="8229600" cy="4833426"/>
          </a:xfrm>
        </p:spPr>
        <p:txBody>
          <a:bodyPr>
            <a:normAutofit/>
          </a:bodyPr>
          <a:lstStyle/>
          <a:p>
            <a:r>
              <a:rPr lang="en-IN" sz="2500" dirty="0"/>
              <a:t>The live query field — it embeds the query with the same Sentence Transformer and searches your real FAISS index, showing ranked results with similarity scores.</a:t>
            </a:r>
          </a:p>
          <a:p>
            <a:pPr marL="114300" indent="0">
              <a:buNone/>
            </a:pPr>
            <a:endParaRPr lang="en-IN" sz="2500" dirty="0"/>
          </a:p>
        </p:txBody>
      </p:sp>
      <p:sp>
        <p:nvSpPr>
          <p:cNvPr id="4" name="Date Placeholder 3">
            <a:extLst>
              <a:ext uri="{FF2B5EF4-FFF2-40B4-BE49-F238E27FC236}">
                <a16:creationId xmlns:a16="http://schemas.microsoft.com/office/drawing/2014/main" id="{38A3CC87-FAAB-DA61-0555-7FCDA7BEA502}"/>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4AAFC473-C0CC-1876-F89C-4EEB44AB5234}"/>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4776FC46-4C84-5E32-88F4-F6BC08E35B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75</a:t>
            </a:fld>
            <a:endParaRPr lang="en-US"/>
          </a:p>
        </p:txBody>
      </p:sp>
      <p:pic>
        <p:nvPicPr>
          <p:cNvPr id="8" name="Picture 7">
            <a:extLst>
              <a:ext uri="{FF2B5EF4-FFF2-40B4-BE49-F238E27FC236}">
                <a16:creationId xmlns:a16="http://schemas.microsoft.com/office/drawing/2014/main" id="{70889D00-EB12-C09D-DCD0-C3558D682755}"/>
              </a:ext>
            </a:extLst>
          </p:cNvPr>
          <p:cNvPicPr>
            <a:picLocks noChangeAspect="1"/>
          </p:cNvPicPr>
          <p:nvPr/>
        </p:nvPicPr>
        <p:blipFill>
          <a:blip r:embed="rId2"/>
          <a:stretch>
            <a:fillRect/>
          </a:stretch>
        </p:blipFill>
        <p:spPr>
          <a:xfrm>
            <a:off x="599768" y="2635712"/>
            <a:ext cx="8087032" cy="3490452"/>
          </a:xfrm>
          <a:prstGeom prst="rect">
            <a:avLst/>
          </a:prstGeom>
        </p:spPr>
      </p:pic>
    </p:spTree>
    <p:extLst>
      <p:ext uri="{BB962C8B-B14F-4D97-AF65-F5344CB8AC3E}">
        <p14:creationId xmlns:p14="http://schemas.microsoft.com/office/powerpoint/2010/main" val="136050411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TotalTime>
  <Words>7132</Words>
  <Application>Microsoft Office PowerPoint</Application>
  <PresentationFormat>On-screen Show (4:3)</PresentationFormat>
  <Paragraphs>1217</Paragraphs>
  <Slides>75</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Calibri</vt:lpstr>
      <vt:lpstr>Courier New</vt:lpstr>
      <vt:lpstr>Times New Roman</vt:lpstr>
      <vt:lpstr>Wingdings</vt:lpstr>
      <vt:lpstr>Office Theme</vt:lpstr>
      <vt:lpstr>S.A. ENGINEERING COLLEGE- CHENNAI-77 (Autonomous- Institute Level Research Centre, Affiliated to Anna University) DEPARTMENT OF ARTIFICIAL INTELLIGENCE &amp; DATA SCIENCE</vt:lpstr>
      <vt:lpstr>Agenda</vt:lpstr>
      <vt:lpstr>Introduction</vt:lpstr>
      <vt:lpstr>Base Paper</vt:lpstr>
      <vt:lpstr>Abstract</vt:lpstr>
      <vt:lpstr>Scope and Motivation</vt:lpstr>
      <vt:lpstr>Literature Survey</vt:lpstr>
      <vt:lpstr>Literature Survey</vt:lpstr>
      <vt:lpstr>Objectives</vt:lpstr>
      <vt:lpstr>Problem Statement</vt:lpstr>
      <vt:lpstr>Proposed Work-Block Diagram</vt:lpstr>
      <vt:lpstr>Architecture Diagram</vt:lpstr>
      <vt:lpstr>Modules</vt:lpstr>
      <vt:lpstr>Proposed-Module Description</vt:lpstr>
      <vt:lpstr>Proposed-Module Description</vt:lpstr>
      <vt:lpstr>Software Requirements</vt:lpstr>
      <vt:lpstr>References</vt:lpstr>
      <vt:lpstr>References</vt:lpstr>
      <vt:lpstr>S.A. ENGINEERING COLLEGE- CHENNAI-77 (Autonomous- Institute Level Research Centre, Affiliated to Anna University) DEPARTMENT OF ARTIFICIAL INTELLIGENCE &amp; DATA SCIENCE</vt:lpstr>
      <vt:lpstr>Architecture Diagram</vt:lpstr>
      <vt:lpstr>SYSTEM ARCHITECTURE DESCRIPTION</vt:lpstr>
      <vt:lpstr>SYSTEM ARCHITECTURE DESCRIPTION</vt:lpstr>
      <vt:lpstr>SYSTEM ARCHITECTURE DESCRIPTION</vt:lpstr>
      <vt:lpstr>SYSTEM ARCHITECTURE DESCRIPTION</vt:lpstr>
      <vt:lpstr>DATASET USED</vt:lpstr>
      <vt:lpstr>PowerPoint Presentation</vt:lpstr>
      <vt:lpstr>Modules</vt:lpstr>
      <vt:lpstr>Proposed-Module Description</vt:lpstr>
      <vt:lpstr>Proposed-Module Description</vt:lpstr>
      <vt:lpstr>Proposed-Module Description</vt:lpstr>
      <vt:lpstr>S.A. ENGINEERING COLLEGE- CHENNAI-77 (Autonomous- Institute Level Research Centre, Affiliated to Anna University) DEPARTMENT OF ARTIFICIAL INTELLIGENCE &amp; DATA SCIENCE</vt:lpstr>
      <vt:lpstr>OVERALL ARCHITECTURE</vt:lpstr>
      <vt:lpstr>PROJECT PHASES </vt:lpstr>
      <vt:lpstr>CMAPSS – DATASET</vt:lpstr>
      <vt:lpstr>CMAPSS Work Completed</vt:lpstr>
      <vt:lpstr>CMAPSS – Baseline &amp; LSTM Results</vt:lpstr>
      <vt:lpstr>Transformer Model for RUL Prediction</vt:lpstr>
      <vt:lpstr>CMAPSS – Transformer Model Development</vt:lpstr>
      <vt:lpstr>CMAPSS – Final Transformer Results</vt:lpstr>
      <vt:lpstr> Output Continuation….</vt:lpstr>
      <vt:lpstr>UPCOMING IMPLEMENTATION </vt:lpstr>
      <vt:lpstr>NTSB Dataset</vt:lpstr>
      <vt:lpstr>NTSB – Data Processing &amp; Metadata Generation</vt:lpstr>
      <vt:lpstr>NTSB – Next Steps</vt:lpstr>
      <vt:lpstr>UPCOMING IMPLEMENTATION </vt:lpstr>
      <vt:lpstr>AERIS: NGAFID Branch</vt:lpstr>
      <vt:lpstr>AERIS: NGAFID Branch</vt:lpstr>
      <vt:lpstr>AERIS: NGAFID Branch</vt:lpstr>
      <vt:lpstr>AERIS: NGAFID Branch</vt:lpstr>
      <vt:lpstr>AERIS: NGAFID Branch</vt:lpstr>
      <vt:lpstr>AERIS: NGAFID Branch</vt:lpstr>
      <vt:lpstr>AERIS: NGAFID Branch</vt:lpstr>
      <vt:lpstr>S.A. ENGINEERING COLLEGE- CHENNAI-77 (Autonomous- Institute Level Research Centre, Affiliated to Anna University) DEPARTMENT OF ARTIFICIAL INTELLIGENCE &amp; DATA SCIENCE</vt:lpstr>
      <vt:lpstr>PowerPoint Presentation</vt:lpstr>
      <vt:lpstr>AERIS: CMAPSS Branch</vt:lpstr>
      <vt:lpstr>AERIS: CMAPSS Branch</vt:lpstr>
      <vt:lpstr>AERIS: CMAPSS Branch</vt:lpstr>
      <vt:lpstr>AERIS: CMAPSS Branch</vt:lpstr>
      <vt:lpstr>AERIS: NGAFID Branch</vt:lpstr>
      <vt:lpstr>AERIS: NGAFID Branch</vt:lpstr>
      <vt:lpstr>AERIS: NGAFID Branch</vt:lpstr>
      <vt:lpstr>AERIS: NGAFID Branch</vt:lpstr>
      <vt:lpstr>AERIS: NGAFID Branch</vt:lpstr>
      <vt:lpstr>AERIS: NGAFID Branch</vt:lpstr>
      <vt:lpstr>AERIS: NTSB Branch</vt:lpstr>
      <vt:lpstr>AERIS: NTSB Branch</vt:lpstr>
      <vt:lpstr>AERIS: NTSB Branch</vt:lpstr>
      <vt:lpstr>AERIS: NTSB Branch</vt:lpstr>
      <vt:lpstr>Dempster-Shafer Evidence Fusion</vt:lpstr>
      <vt:lpstr>Dempster-Shafer Result</vt:lpstr>
      <vt:lpstr>Final Explainable Investigation Output</vt:lpstr>
      <vt:lpstr>Final Explainable Investigation Output</vt:lpstr>
      <vt:lpstr>Final Report </vt:lpstr>
      <vt:lpstr>Final Report </vt:lpstr>
      <vt:lpstr>Final Report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 ENGINEERING COLLEGE- CHENNAI-77 (Autonomous- Institute Level Research Centre, Affiliated to Anna University) DEPARTMENT OF ARTIFICIAL INTELLIGENCE &amp; DATA SCIENCE</dc:title>
  <dc:creator>22101316I</dc:creator>
  <cp:lastModifiedBy>Menaka M</cp:lastModifiedBy>
  <cp:revision>25</cp:revision>
  <dcterms:created xsi:type="dcterms:W3CDTF">2025-08-02T14:18:00Z</dcterms:created>
  <dcterms:modified xsi:type="dcterms:W3CDTF">2026-09-27T07:42:44Z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5D9E7A7B5D9B44D59A24B41C6AB6D90A_13</vt:lpwstr>
  </property>
  <property fmtid="{D5CDD505-2E9C-101B-9397-08002B2CF9AE}" pid="3" name="KSOProductBuildVer">
    <vt:lpwstr>1033-12.2.0.22549</vt:lpwstr>
  </property>
</Properties>
</file>
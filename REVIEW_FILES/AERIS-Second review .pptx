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54"/>
  </p:notesMasterIdLst>
  <p:sldIdLst>
    <p:sldId id="256" r:id="rId2"/>
    <p:sldId id="257" r:id="rId3"/>
    <p:sldId id="258" r:id="rId4"/>
    <p:sldId id="259" r:id="rId5"/>
    <p:sldId id="260" r:id="rId6"/>
    <p:sldId id="261" r:id="rId7"/>
    <p:sldId id="262" r:id="rId8"/>
    <p:sldId id="274" r:id="rId9"/>
    <p:sldId id="263" r:id="rId10"/>
    <p:sldId id="264" r:id="rId11"/>
    <p:sldId id="265" r:id="rId12"/>
    <p:sldId id="266" r:id="rId13"/>
    <p:sldId id="284" r:id="rId14"/>
    <p:sldId id="285" r:id="rId15"/>
    <p:sldId id="269" r:id="rId16"/>
    <p:sldId id="270" r:id="rId17"/>
    <p:sldId id="272" r:id="rId18"/>
    <p:sldId id="271" r:id="rId19"/>
    <p:sldId id="278" r:id="rId20"/>
    <p:sldId id="282" r:id="rId21"/>
    <p:sldId id="283" r:id="rId22"/>
    <p:sldId id="286" r:id="rId23"/>
    <p:sldId id="287" r:id="rId24"/>
    <p:sldId id="288" r:id="rId25"/>
    <p:sldId id="281" r:id="rId26"/>
    <p:sldId id="289" r:id="rId27"/>
    <p:sldId id="267" r:id="rId28"/>
    <p:sldId id="268" r:id="rId29"/>
    <p:sldId id="275" r:id="rId30"/>
    <p:sldId id="276" r:id="rId31"/>
    <p:sldId id="291" r:id="rId32"/>
    <p:sldId id="319" r:id="rId33"/>
    <p:sldId id="292" r:id="rId34"/>
    <p:sldId id="312" r:id="rId35"/>
    <p:sldId id="310" r:id="rId36"/>
    <p:sldId id="314" r:id="rId37"/>
    <p:sldId id="299" r:id="rId38"/>
    <p:sldId id="315" r:id="rId39"/>
    <p:sldId id="316" r:id="rId40"/>
    <p:sldId id="298" r:id="rId41"/>
    <p:sldId id="294" r:id="rId42"/>
    <p:sldId id="295" r:id="rId43"/>
    <p:sldId id="318" r:id="rId44"/>
    <p:sldId id="317" r:id="rId45"/>
    <p:sldId id="296" r:id="rId46"/>
    <p:sldId id="290" r:id="rId47"/>
    <p:sldId id="305" r:id="rId48"/>
    <p:sldId id="301" r:id="rId49"/>
    <p:sldId id="302" r:id="rId50"/>
    <p:sldId id="308" r:id="rId51"/>
    <p:sldId id="303" r:id="rId52"/>
    <p:sldId id="304" r:id="rId5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59">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i8ZpY56QUA1/6CfgTxRwtTv1PV2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10E3E5-9758-4D36-A5D3-A7EB5B6A33A0}" v="73" dt="2026-09-06T16:34:30.076"/>
  </p1510:revLst>
</p1510:revInfo>
</file>

<file path=ppt/tableStyles.xml><?xml version="1.0" encoding="utf-8"?>
<a:tblStyleLst xmlns:a="http://schemas.openxmlformats.org/drawingml/2006/main" def="{47879F58-94FC-4AB5-AACA-6E85711E4052}">
  <a:tblStyle styleId="{47879F58-94FC-4AB5-AACA-6E85711E4052}" styleName="Table_0">
    <a:wholeTbl>
      <a:tcTxStyle b="off" i="off">
        <a:font>
          <a:latin typeface="Calibri"/>
          <a:ea typeface="Calibri"/>
          <a:cs typeface="Calibri"/>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FFFFFF">
              <a:alpha val="0"/>
            </a:srgbClr>
          </a:solidFill>
        </a:fill>
      </a:tcStyle>
    </a:wholeTbl>
    <a:band1H>
      <a:tcTxStyle/>
      <a:tcStyle>
        <a:tcBdr/>
        <a:fill>
          <a:solidFill>
            <a:schemeClr val="accent5">
              <a:alpha val="20000"/>
            </a:schemeClr>
          </a:solidFill>
        </a:fill>
      </a:tcStyle>
    </a:band1H>
    <a:band2H>
      <a:tcTxStyle/>
      <a:tcStyle>
        <a:tcBdr/>
        <a:fill>
          <a:solidFill>
            <a:schemeClr val="accent5">
              <a:alpha val="20000"/>
            </a:schemeClr>
          </a:solidFill>
        </a:fill>
      </a:tcStyle>
    </a:band2H>
    <a:band1V>
      <a:tcTxStyle/>
      <a:tcStyle>
        <a:tcBdr/>
        <a:fill>
          <a:solidFill>
            <a:schemeClr val="accent5">
              <a:alpha val="20000"/>
            </a:schemeClr>
          </a:solidFill>
        </a:fill>
      </a:tcStyle>
    </a:band1V>
    <a:band2V>
      <a:tcTxStyle/>
      <a:tcStyle>
        <a:tcBdr/>
        <a:fill>
          <a:solidFill>
            <a:schemeClr val="accent5">
              <a:alpha val="20000"/>
            </a:schemeClr>
          </a:solidFill>
        </a:fill>
      </a:tcStyle>
    </a:band2V>
    <a:lastCol>
      <a:tcTxStyle b="on" i="off"/>
      <a:tcStyle>
        <a:tcBdr/>
        <a:fill>
          <a:solidFill>
            <a:schemeClr val="accent5">
              <a:alpha val="20000"/>
            </a:schemeClr>
          </a:solidFill>
        </a:fill>
      </a:tcStyle>
    </a:lastCol>
    <a:firstCol>
      <a:tcTxStyle b="on" i="off"/>
      <a:tcStyle>
        <a:tcBdr/>
        <a:fill>
          <a:solidFill>
            <a:schemeClr val="accent5">
              <a:alpha val="20000"/>
            </a:schemeClr>
          </a:solidFill>
        </a:fill>
      </a:tcStyle>
    </a:firstCol>
    <a:lastRow>
      <a:tcTxStyle b="on" i="off"/>
      <a:tcStyle>
        <a:tcBdr>
          <a:top>
            <a:ln w="50800" cap="flat" cmpd="sng">
              <a:solidFill>
                <a:schemeClr val="accent5"/>
              </a:solidFill>
              <a:prstDash val="solid"/>
              <a:round/>
              <a:headEnd type="none" w="sm" len="sm"/>
              <a:tailEnd type="none" w="sm" len="sm"/>
            </a:ln>
          </a:top>
        </a:tcBdr>
        <a:fill>
          <a:solidFill>
            <a:srgbClr val="FFFFFF">
              <a:alpha val="0"/>
            </a:srgbClr>
          </a:solidFill>
        </a:fill>
      </a:tcStyle>
    </a:lastRow>
    <a:seCell>
      <a:tcTxStyle/>
      <a:tcStyle>
        <a:tcBdr>
          <a:top>
            <a:ln w="50800" cap="flat" cmpd="sng">
              <a:solidFill>
                <a:schemeClr val="accent5"/>
              </a:solidFill>
              <a:prstDash val="solid"/>
              <a:round/>
              <a:headEnd type="none" w="sm" len="sm"/>
              <a:tailEnd type="none" w="sm" len="sm"/>
            </a:ln>
          </a:top>
        </a:tcBdr>
        <a:fill>
          <a:solidFill>
            <a:srgbClr val="FFFFFF">
              <a:alpha val="0"/>
            </a:srgbClr>
          </a:solidFill>
        </a:fill>
      </a:tcStyle>
    </a:seCell>
    <a:swCell>
      <a:tcTxStyle/>
      <a:tcStyle>
        <a:tcBdr>
          <a:top>
            <a:ln w="50800" cap="flat" cmpd="sng">
              <a:solidFill>
                <a:schemeClr val="accent5"/>
              </a:solidFill>
              <a:prstDash val="solid"/>
              <a:round/>
              <a:headEnd type="none" w="sm" len="sm"/>
              <a:tailEnd type="none" w="sm" len="sm"/>
            </a:ln>
          </a:top>
        </a:tcBdr>
        <a:fill>
          <a:solidFill>
            <a:srgbClr val="FFFFFF">
              <a:alpha val="0"/>
            </a:srgbClr>
          </a:solidFill>
        </a:fill>
      </a:tcStyle>
    </a:swCell>
    <a:firstRow>
      <a:tcTxStyle b="on" i="off"/>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firstRow>
    <a:neCell>
      <a:tcTxStyle/>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neCell>
    <a:nwCell>
      <a:tcTxStyle/>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nwCell>
  </a:tblStyle>
  <a:tblStyle styleId="{6EB1FC0C-1D29-42B7-B8E6-0F5DF3C737FC}"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fill>
          <a:solidFill>
            <a:srgbClr val="CFD7E7"/>
          </a:solidFill>
        </a:fill>
      </a:tcStyle>
    </a:band2H>
    <a:band1V>
      <a:tcTxStyle/>
      <a:tcStyle>
        <a:tcBdr/>
        <a:fill>
          <a:solidFill>
            <a:srgbClr val="CFD7E7"/>
          </a:solidFill>
        </a:fill>
      </a:tcStyle>
    </a:band1V>
    <a:band2V>
      <a:tcTxStyle/>
      <a:tcStyle>
        <a:tcBdr/>
        <a:fill>
          <a:solidFill>
            <a:srgbClr val="CFD7E7"/>
          </a:solidFill>
        </a:fill>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op>
            <a:ln w="38100" cap="flat" cmpd="sng">
              <a:solidFill>
                <a:schemeClr val="lt1"/>
              </a:solidFill>
              <a:prstDash val="solid"/>
              <a:round/>
              <a:headEnd type="none" w="sm" len="sm"/>
              <a:tailEnd type="none" w="sm" len="sm"/>
            </a:ln>
          </a:top>
        </a:tcBdr>
        <a:fill>
          <a:solidFill>
            <a:schemeClr val="accent1"/>
          </a:solidFill>
        </a:fill>
      </a:tcStyle>
    </a:seCell>
    <a:swCell>
      <a:tcTxStyle/>
      <a:tcStyle>
        <a:tcBdr>
          <a:top>
            <a:ln w="38100" cap="flat" cmpd="sng">
              <a:solidFill>
                <a:schemeClr val="lt1"/>
              </a:solidFill>
              <a:prstDash val="solid"/>
              <a:round/>
              <a:headEnd type="none" w="sm" len="sm"/>
              <a:tailEnd type="none" w="sm" len="sm"/>
            </a:ln>
          </a:top>
        </a:tcBdr>
        <a:fill>
          <a:solidFill>
            <a:schemeClr val="accent1"/>
          </a:solidFill>
        </a:fill>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bottom>
            <a:ln w="38100" cap="flat" cmpd="sng">
              <a:solidFill>
                <a:schemeClr val="lt1"/>
              </a:solidFill>
              <a:prstDash val="solid"/>
              <a:round/>
              <a:headEnd type="none" w="sm" len="sm"/>
              <a:tailEnd type="none" w="sm" len="sm"/>
            </a:ln>
          </a:bottom>
        </a:tcBdr>
        <a:fill>
          <a:solidFill>
            <a:schemeClr val="accent1"/>
          </a:solidFill>
        </a:fill>
      </a:tcStyle>
    </a:neCell>
    <a:nwCell>
      <a:tcTxStyle/>
      <a:tcStyle>
        <a:tcBdr>
          <a:bottom>
            <a:ln w="38100" cap="flat" cmpd="sng">
              <a:solidFill>
                <a:schemeClr val="lt1"/>
              </a:solidFill>
              <a:prstDash val="solid"/>
              <a:round/>
              <a:headEnd type="none" w="sm" len="sm"/>
              <a:tailEnd type="none" w="sm" len="sm"/>
            </a:ln>
          </a:bottom>
        </a:tcBdr>
        <a:fill>
          <a:solidFill>
            <a:schemeClr val="accent1"/>
          </a:solidFill>
        </a:fill>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77"/>
      </p:cViewPr>
      <p:guideLst>
        <p:guide orient="horz" pos="2159"/>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naka M" userId="d9e978e0c3c25b9a" providerId="LiveId" clId="{218B589C-E051-44D8-8CE7-DC10A3856A89}"/>
    <pc:docChg chg="undo custSel addSld delSld modSld sldOrd">
      <pc:chgData name="Menaka M" userId="d9e978e0c3c25b9a" providerId="LiveId" clId="{218B589C-E051-44D8-8CE7-DC10A3856A89}" dt="2026-09-07T03:24:35.534" v="882" actId="2711"/>
      <pc:docMkLst>
        <pc:docMk/>
      </pc:docMkLst>
      <pc:sldChg chg="modSp mod">
        <pc:chgData name="Menaka M" userId="d9e978e0c3c25b9a" providerId="LiveId" clId="{218B589C-E051-44D8-8CE7-DC10A3856A89}" dt="2026-09-06T14:17:17.688" v="1" actId="1076"/>
        <pc:sldMkLst>
          <pc:docMk/>
          <pc:sldMk cId="0" sldId="260"/>
        </pc:sldMkLst>
        <pc:spChg chg="mod">
          <ac:chgData name="Menaka M" userId="d9e978e0c3c25b9a" providerId="LiveId" clId="{218B589C-E051-44D8-8CE7-DC10A3856A89}" dt="2026-09-06T14:17:17.688" v="1" actId="1076"/>
          <ac:spMkLst>
            <pc:docMk/>
            <pc:sldMk cId="0" sldId="260"/>
            <ac:spMk id="129" creationId="{00000000-0000-0000-0000-000000000000}"/>
          </ac:spMkLst>
        </pc:spChg>
      </pc:sldChg>
      <pc:sldChg chg="modSp add mod">
        <pc:chgData name="Menaka M" userId="d9e978e0c3c25b9a" providerId="LiveId" clId="{218B589C-E051-44D8-8CE7-DC10A3856A89}" dt="2026-09-07T03:23:53.109" v="881" actId="2711"/>
        <pc:sldMkLst>
          <pc:docMk/>
          <pc:sldMk cId="818101682" sldId="290"/>
        </pc:sldMkLst>
        <pc:spChg chg="mod">
          <ac:chgData name="Menaka M" userId="d9e978e0c3c25b9a" providerId="LiveId" clId="{218B589C-E051-44D8-8CE7-DC10A3856A89}" dt="2026-09-07T03:23:53.109" v="881" actId="2711"/>
          <ac:spMkLst>
            <pc:docMk/>
            <pc:sldMk cId="818101682" sldId="290"/>
            <ac:spMk id="203" creationId="{52620C57-1597-50C8-C866-228D622F685B}"/>
          </ac:spMkLst>
        </pc:spChg>
      </pc:sldChg>
      <pc:sldChg chg="addSp delSp modSp del mod">
        <pc:chgData name="Menaka M" userId="d9e978e0c3c25b9a" providerId="LiveId" clId="{218B589C-E051-44D8-8CE7-DC10A3856A89}" dt="2026-09-06T15:49:36.927" v="494" actId="47"/>
        <pc:sldMkLst>
          <pc:docMk/>
          <pc:sldMk cId="2311404504" sldId="293"/>
        </pc:sldMkLst>
        <pc:spChg chg="mod">
          <ac:chgData name="Menaka M" userId="d9e978e0c3c25b9a" providerId="LiveId" clId="{218B589C-E051-44D8-8CE7-DC10A3856A89}" dt="2026-09-06T15:48:17.491" v="491" actId="1076"/>
          <ac:spMkLst>
            <pc:docMk/>
            <pc:sldMk cId="2311404504" sldId="293"/>
            <ac:spMk id="2" creationId="{AACB1BEB-1FB5-8261-8168-9C0BCD8CE15C}"/>
          </ac:spMkLst>
        </pc:spChg>
        <pc:spChg chg="mod">
          <ac:chgData name="Menaka M" userId="d9e978e0c3c25b9a" providerId="LiveId" clId="{218B589C-E051-44D8-8CE7-DC10A3856A89}" dt="2026-09-06T15:48:25.975" v="493" actId="27636"/>
          <ac:spMkLst>
            <pc:docMk/>
            <pc:sldMk cId="2311404504" sldId="293"/>
            <ac:spMk id="3" creationId="{F23B725A-732F-801B-9EDC-26A51423841A}"/>
          </ac:spMkLst>
        </pc:spChg>
        <pc:spChg chg="del mod">
          <ac:chgData name="Menaka M" userId="d9e978e0c3c25b9a" providerId="LiveId" clId="{218B589C-E051-44D8-8CE7-DC10A3856A89}" dt="2026-09-06T15:47:05.864" v="476" actId="21"/>
          <ac:spMkLst>
            <pc:docMk/>
            <pc:sldMk cId="2311404504" sldId="293"/>
            <ac:spMk id="7" creationId="{87E1081B-979D-7708-3707-B404751A8E42}"/>
          </ac:spMkLst>
        </pc:spChg>
        <pc:spChg chg="add del">
          <ac:chgData name="Menaka M" userId="d9e978e0c3c25b9a" providerId="LiveId" clId="{218B589C-E051-44D8-8CE7-DC10A3856A89}" dt="2026-09-06T14:35:48.257" v="28" actId="478"/>
          <ac:spMkLst>
            <pc:docMk/>
            <pc:sldMk cId="2311404504" sldId="293"/>
            <ac:spMk id="8" creationId="{1E45E71C-ADA8-5894-D733-EDBEC91947C5}"/>
          </ac:spMkLst>
        </pc:spChg>
        <pc:spChg chg="del mod">
          <ac:chgData name="Menaka M" userId="d9e978e0c3c25b9a" providerId="LiveId" clId="{218B589C-E051-44D8-8CE7-DC10A3856A89}" dt="2026-09-06T15:47:25.816" v="481" actId="21"/>
          <ac:spMkLst>
            <pc:docMk/>
            <pc:sldMk cId="2311404504" sldId="293"/>
            <ac:spMk id="9" creationId="{D26A06BF-38AA-575F-68F0-B0297695A3BB}"/>
          </ac:spMkLst>
        </pc:spChg>
        <pc:spChg chg="add del">
          <ac:chgData name="Menaka M" userId="d9e978e0c3c25b9a" providerId="LiveId" clId="{218B589C-E051-44D8-8CE7-DC10A3856A89}" dt="2026-09-06T14:38:12.992" v="48" actId="478"/>
          <ac:spMkLst>
            <pc:docMk/>
            <pc:sldMk cId="2311404504" sldId="293"/>
            <ac:spMk id="10" creationId="{268E8B22-5E58-E601-F22E-6C8707D2CEBE}"/>
          </ac:spMkLst>
        </pc:spChg>
        <pc:spChg chg="add del">
          <ac:chgData name="Menaka M" userId="d9e978e0c3c25b9a" providerId="LiveId" clId="{218B589C-E051-44D8-8CE7-DC10A3856A89}" dt="2026-09-06T15:47:57.945" v="487" actId="22"/>
          <ac:spMkLst>
            <pc:docMk/>
            <pc:sldMk cId="2311404504" sldId="293"/>
            <ac:spMk id="10" creationId="{D5594BAB-1C77-9C2D-D7A9-863F51D1B790}"/>
          </ac:spMkLst>
        </pc:spChg>
      </pc:sldChg>
      <pc:sldChg chg="addSp delSp modSp mod ord">
        <pc:chgData name="Menaka M" userId="d9e978e0c3c25b9a" providerId="LiveId" clId="{218B589C-E051-44D8-8CE7-DC10A3856A89}" dt="2026-09-07T03:22:37.347" v="867" actId="2711"/>
        <pc:sldMkLst>
          <pc:docMk/>
          <pc:sldMk cId="3162210361" sldId="294"/>
        </pc:sldMkLst>
        <pc:spChg chg="mod">
          <ac:chgData name="Menaka M" userId="d9e978e0c3c25b9a" providerId="LiveId" clId="{218B589C-E051-44D8-8CE7-DC10A3856A89}" dt="2026-09-07T03:22:24.913" v="865" actId="27636"/>
          <ac:spMkLst>
            <pc:docMk/>
            <pc:sldMk cId="3162210361" sldId="294"/>
            <ac:spMk id="2" creationId="{C3829AB2-6243-1E7B-796D-EC24D879FF58}"/>
          </ac:spMkLst>
        </pc:spChg>
        <pc:spChg chg="add del">
          <ac:chgData name="Menaka M" userId="d9e978e0c3c25b9a" providerId="LiveId" clId="{218B589C-E051-44D8-8CE7-DC10A3856A89}" dt="2026-09-06T14:36:33.122" v="35" actId="478"/>
          <ac:spMkLst>
            <pc:docMk/>
            <pc:sldMk cId="3162210361" sldId="294"/>
            <ac:spMk id="3" creationId="{2C1E8902-1DCC-7966-D965-6B8C56CDB6D0}"/>
          </ac:spMkLst>
        </pc:spChg>
        <pc:spChg chg="mod">
          <ac:chgData name="Menaka M" userId="d9e978e0c3c25b9a" providerId="LiveId" clId="{218B589C-E051-44D8-8CE7-DC10A3856A89}" dt="2026-09-07T03:22:17.144" v="863" actId="2711"/>
          <ac:spMkLst>
            <pc:docMk/>
            <pc:sldMk cId="3162210361" sldId="294"/>
            <ac:spMk id="7" creationId="{6A8F8D7B-1DFD-B695-E8A9-659813F089F5}"/>
          </ac:spMkLst>
        </pc:spChg>
        <pc:spChg chg="add del">
          <ac:chgData name="Menaka M" userId="d9e978e0c3c25b9a" providerId="LiveId" clId="{218B589C-E051-44D8-8CE7-DC10A3856A89}" dt="2026-09-06T14:39:16.899" v="56" actId="478"/>
          <ac:spMkLst>
            <pc:docMk/>
            <pc:sldMk cId="3162210361" sldId="294"/>
            <ac:spMk id="10" creationId="{AD35776C-5F98-7AF4-A706-1ED0D44CC892}"/>
          </ac:spMkLst>
        </pc:spChg>
        <pc:spChg chg="add del">
          <ac:chgData name="Menaka M" userId="d9e978e0c3c25b9a" providerId="LiveId" clId="{218B589C-E051-44D8-8CE7-DC10A3856A89}" dt="2026-09-06T14:39:25.389" v="59" actId="478"/>
          <ac:spMkLst>
            <pc:docMk/>
            <pc:sldMk cId="3162210361" sldId="294"/>
            <ac:spMk id="11" creationId="{67F58CB9-AF7A-9727-A44F-E8B1F28DB8C0}"/>
          </ac:spMkLst>
        </pc:spChg>
        <pc:spChg chg="mod">
          <ac:chgData name="Menaka M" userId="d9e978e0c3c25b9a" providerId="LiveId" clId="{218B589C-E051-44D8-8CE7-DC10A3856A89}" dt="2026-09-07T03:22:29.901" v="866" actId="2711"/>
          <ac:spMkLst>
            <pc:docMk/>
            <pc:sldMk cId="3162210361" sldId="294"/>
            <ac:spMk id="12" creationId="{51D5C011-E516-1ABA-82EF-06BBEC8F9B7E}"/>
          </ac:spMkLst>
        </pc:spChg>
        <pc:spChg chg="mod">
          <ac:chgData name="Menaka M" userId="d9e978e0c3c25b9a" providerId="LiveId" clId="{218B589C-E051-44D8-8CE7-DC10A3856A89}" dt="2026-09-07T03:22:11.751" v="862" actId="2711"/>
          <ac:spMkLst>
            <pc:docMk/>
            <pc:sldMk cId="3162210361" sldId="294"/>
            <ac:spMk id="13" creationId="{ACE7EDFD-AE69-28F8-A654-7DF20C8B1143}"/>
          </ac:spMkLst>
        </pc:spChg>
        <pc:spChg chg="mod">
          <ac:chgData name="Menaka M" userId="d9e978e0c3c25b9a" providerId="LiveId" clId="{218B589C-E051-44D8-8CE7-DC10A3856A89}" dt="2026-09-07T03:22:37.347" v="867" actId="2711"/>
          <ac:spMkLst>
            <pc:docMk/>
            <pc:sldMk cId="3162210361" sldId="294"/>
            <ac:spMk id="14" creationId="{557E65D8-8BFB-22DE-8AAB-AA6C41CF9C4E}"/>
          </ac:spMkLst>
        </pc:spChg>
        <pc:cxnChg chg="add del">
          <ac:chgData name="Menaka M" userId="d9e978e0c3c25b9a" providerId="LiveId" clId="{218B589C-E051-44D8-8CE7-DC10A3856A89}" dt="2026-09-06T14:39:19.413" v="57" actId="478"/>
          <ac:cxnSpMkLst>
            <pc:docMk/>
            <pc:sldMk cId="3162210361" sldId="294"/>
            <ac:cxnSpMk id="9" creationId="{0AC9AED2-115A-53E0-A8A0-9A73A805D58C}"/>
          </ac:cxnSpMkLst>
        </pc:cxnChg>
      </pc:sldChg>
      <pc:sldChg chg="addSp delSp modSp mod">
        <pc:chgData name="Menaka M" userId="d9e978e0c3c25b9a" providerId="LiveId" clId="{218B589C-E051-44D8-8CE7-DC10A3856A89}" dt="2026-09-07T03:22:51.901" v="869" actId="2711"/>
        <pc:sldMkLst>
          <pc:docMk/>
          <pc:sldMk cId="2951607468" sldId="295"/>
        </pc:sldMkLst>
        <pc:spChg chg="mod">
          <ac:chgData name="Menaka M" userId="d9e978e0c3c25b9a" providerId="LiveId" clId="{218B589C-E051-44D8-8CE7-DC10A3856A89}" dt="2026-09-07T03:22:51.901" v="869" actId="2711"/>
          <ac:spMkLst>
            <pc:docMk/>
            <pc:sldMk cId="2951607468" sldId="295"/>
            <ac:spMk id="2" creationId="{24320D3A-3E3D-F69A-47F4-5945E4849F9B}"/>
          </ac:spMkLst>
        </pc:spChg>
        <pc:spChg chg="mod">
          <ac:chgData name="Menaka M" userId="d9e978e0c3c25b9a" providerId="LiveId" clId="{218B589C-E051-44D8-8CE7-DC10A3856A89}" dt="2026-09-07T03:22:43.503" v="868" actId="2711"/>
          <ac:spMkLst>
            <pc:docMk/>
            <pc:sldMk cId="2951607468" sldId="295"/>
            <ac:spMk id="3" creationId="{C89E0637-9B0E-C7C8-8F07-B1FE7E23FE3B}"/>
          </ac:spMkLst>
        </pc:spChg>
        <pc:spChg chg="add del">
          <ac:chgData name="Menaka M" userId="d9e978e0c3c25b9a" providerId="LiveId" clId="{218B589C-E051-44D8-8CE7-DC10A3856A89}" dt="2026-09-06T14:40:01.430" v="65" actId="478"/>
          <ac:spMkLst>
            <pc:docMk/>
            <pc:sldMk cId="2951607468" sldId="295"/>
            <ac:spMk id="7" creationId="{2C71AD6E-9FB6-7FB8-8F3C-2E002143B643}"/>
          </ac:spMkLst>
        </pc:spChg>
        <pc:spChg chg="del mod">
          <ac:chgData name="Menaka M" userId="d9e978e0c3c25b9a" providerId="LiveId" clId="{218B589C-E051-44D8-8CE7-DC10A3856A89}" dt="2026-09-06T14:50:41.413" v="125" actId="478"/>
          <ac:spMkLst>
            <pc:docMk/>
            <pc:sldMk cId="2951607468" sldId="295"/>
            <ac:spMk id="8" creationId="{3FB2F231-9C2F-6C53-8C53-6389520EB3EE}"/>
          </ac:spMkLst>
        </pc:spChg>
        <pc:spChg chg="add del mod">
          <ac:chgData name="Menaka M" userId="d9e978e0c3c25b9a" providerId="LiveId" clId="{218B589C-E051-44D8-8CE7-DC10A3856A89}" dt="2026-09-06T16:27:25.319" v="706" actId="21"/>
          <ac:spMkLst>
            <pc:docMk/>
            <pc:sldMk cId="2951607468" sldId="295"/>
            <ac:spMk id="9" creationId="{0551D79F-9F78-6CF9-5DFD-70442C8F458A}"/>
          </ac:spMkLst>
        </pc:spChg>
        <pc:spChg chg="add del mod">
          <ac:chgData name="Menaka M" userId="d9e978e0c3c25b9a" providerId="LiveId" clId="{218B589C-E051-44D8-8CE7-DC10A3856A89}" dt="2026-09-06T16:27:33.400" v="708" actId="21"/>
          <ac:spMkLst>
            <pc:docMk/>
            <pc:sldMk cId="2951607468" sldId="295"/>
            <ac:spMk id="11" creationId="{45548FC6-05B5-3AB3-A819-CAEF86E10FD5}"/>
          </ac:spMkLst>
        </pc:spChg>
        <pc:spChg chg="add del">
          <ac:chgData name="Menaka M" userId="d9e978e0c3c25b9a" providerId="LiveId" clId="{218B589C-E051-44D8-8CE7-DC10A3856A89}" dt="2026-09-06T14:55:57.566" v="190" actId="478"/>
          <ac:spMkLst>
            <pc:docMk/>
            <pc:sldMk cId="2951607468" sldId="295"/>
            <ac:spMk id="12" creationId="{3BC675FE-A9C6-0C10-71E0-B25A5532CD37}"/>
          </ac:spMkLst>
        </pc:spChg>
      </pc:sldChg>
      <pc:sldChg chg="addSp delSp modSp mod">
        <pc:chgData name="Menaka M" userId="d9e978e0c3c25b9a" providerId="LiveId" clId="{218B589C-E051-44D8-8CE7-DC10A3856A89}" dt="2026-09-07T03:23:47.411" v="880" actId="27636"/>
        <pc:sldMkLst>
          <pc:docMk/>
          <pc:sldMk cId="3408731914" sldId="296"/>
        </pc:sldMkLst>
        <pc:spChg chg="mod">
          <ac:chgData name="Menaka M" userId="d9e978e0c3c25b9a" providerId="LiveId" clId="{218B589C-E051-44D8-8CE7-DC10A3856A89}" dt="2026-09-07T03:23:47.411" v="880" actId="27636"/>
          <ac:spMkLst>
            <pc:docMk/>
            <pc:sldMk cId="3408731914" sldId="296"/>
            <ac:spMk id="2" creationId="{90B5D6F0-6FAF-D2B9-1D2A-2B4898B4A52E}"/>
          </ac:spMkLst>
        </pc:spChg>
        <pc:spChg chg="add del">
          <ac:chgData name="Menaka M" userId="d9e978e0c3c25b9a" providerId="LiveId" clId="{218B589C-E051-44D8-8CE7-DC10A3856A89}" dt="2026-09-06T14:37:21.073" v="41" actId="478"/>
          <ac:spMkLst>
            <pc:docMk/>
            <pc:sldMk cId="3408731914" sldId="296"/>
            <ac:spMk id="3" creationId="{20D629DC-BC62-727B-72EF-056261E6FED2}"/>
          </ac:spMkLst>
        </pc:spChg>
        <pc:spChg chg="add del">
          <ac:chgData name="Menaka M" userId="d9e978e0c3c25b9a" providerId="LiveId" clId="{218B589C-E051-44D8-8CE7-DC10A3856A89}" dt="2026-09-06T14:40:22.725" v="68" actId="478"/>
          <ac:spMkLst>
            <pc:docMk/>
            <pc:sldMk cId="3408731914" sldId="296"/>
            <ac:spMk id="7" creationId="{FC1B1DA5-CCBA-DC5B-469F-3C3715453574}"/>
          </ac:spMkLst>
        </pc:spChg>
        <pc:spChg chg="mod">
          <ac:chgData name="Menaka M" userId="d9e978e0c3c25b9a" providerId="LiveId" clId="{218B589C-E051-44D8-8CE7-DC10A3856A89}" dt="2026-09-07T03:23:31.673" v="876" actId="2711"/>
          <ac:spMkLst>
            <pc:docMk/>
            <pc:sldMk cId="3408731914" sldId="296"/>
            <ac:spMk id="9" creationId="{FBD348BE-6BFC-CA09-2463-0E55531F60C3}"/>
          </ac:spMkLst>
        </pc:spChg>
        <pc:spChg chg="mod">
          <ac:chgData name="Menaka M" userId="d9e978e0c3c25b9a" providerId="LiveId" clId="{218B589C-E051-44D8-8CE7-DC10A3856A89}" dt="2026-09-07T03:23:43.041" v="878" actId="2711"/>
          <ac:spMkLst>
            <pc:docMk/>
            <pc:sldMk cId="3408731914" sldId="296"/>
            <ac:spMk id="11" creationId="{9D03978C-17DB-12CC-F82A-FEE5B1E5141C}"/>
          </ac:spMkLst>
        </pc:spChg>
        <pc:spChg chg="mod">
          <ac:chgData name="Menaka M" userId="d9e978e0c3c25b9a" providerId="LiveId" clId="{218B589C-E051-44D8-8CE7-DC10A3856A89}" dt="2026-09-07T03:23:37.843" v="877" actId="2711"/>
          <ac:spMkLst>
            <pc:docMk/>
            <pc:sldMk cId="3408731914" sldId="296"/>
            <ac:spMk id="13" creationId="{6B10B809-BAB6-DEDC-CB04-99EBD60673D8}"/>
          </ac:spMkLst>
        </pc:spChg>
      </pc:sldChg>
      <pc:sldChg chg="addSp delSp modSp del mod">
        <pc:chgData name="Menaka M" userId="d9e978e0c3c25b9a" providerId="LiveId" clId="{218B589C-E051-44D8-8CE7-DC10A3856A89}" dt="2026-09-06T16:26:10.166" v="699" actId="47"/>
        <pc:sldMkLst>
          <pc:docMk/>
          <pc:sldMk cId="2576008937" sldId="297"/>
        </pc:sldMkLst>
        <pc:spChg chg="mod">
          <ac:chgData name="Menaka M" userId="d9e978e0c3c25b9a" providerId="LiveId" clId="{218B589C-E051-44D8-8CE7-DC10A3856A89}" dt="2026-09-06T16:24:33.317" v="674" actId="20577"/>
          <ac:spMkLst>
            <pc:docMk/>
            <pc:sldMk cId="2576008937" sldId="297"/>
            <ac:spMk id="2" creationId="{7AEBDF6F-8476-4E9E-F41A-3FD972DA7D7F}"/>
          </ac:spMkLst>
        </pc:spChg>
        <pc:spChg chg="mod">
          <ac:chgData name="Menaka M" userId="d9e978e0c3c25b9a" providerId="LiveId" clId="{218B589C-E051-44D8-8CE7-DC10A3856A89}" dt="2026-09-06T16:25:03.773" v="684"/>
          <ac:spMkLst>
            <pc:docMk/>
            <pc:sldMk cId="2576008937" sldId="297"/>
            <ac:spMk id="3" creationId="{E9DDF289-4FFB-A398-C024-B0D7628F38C5}"/>
          </ac:spMkLst>
        </pc:spChg>
        <pc:spChg chg="add del">
          <ac:chgData name="Menaka M" userId="d9e978e0c3c25b9a" providerId="LiveId" clId="{218B589C-E051-44D8-8CE7-DC10A3856A89}" dt="2026-09-06T16:25:16.582" v="686" actId="478"/>
          <ac:spMkLst>
            <pc:docMk/>
            <pc:sldMk cId="2576008937" sldId="297"/>
            <ac:spMk id="7" creationId="{73FB3C43-BA7A-C33F-B903-520C9AC8AF6C}"/>
          </ac:spMkLst>
        </pc:spChg>
        <pc:spChg chg="add del">
          <ac:chgData name="Menaka M" userId="d9e978e0c3c25b9a" providerId="LiveId" clId="{218B589C-E051-44D8-8CE7-DC10A3856A89}" dt="2026-09-06T16:25:33.613" v="689" actId="22"/>
          <ac:spMkLst>
            <pc:docMk/>
            <pc:sldMk cId="2576008937" sldId="297"/>
            <ac:spMk id="10" creationId="{F7C41222-DCFE-C79F-11B5-AAC1F89A6990}"/>
          </ac:spMkLst>
        </pc:spChg>
        <pc:picChg chg="del mod">
          <ac:chgData name="Menaka M" userId="d9e978e0c3c25b9a" providerId="LiveId" clId="{218B589C-E051-44D8-8CE7-DC10A3856A89}" dt="2026-09-06T16:25:35.751" v="690" actId="21"/>
          <ac:picMkLst>
            <pc:docMk/>
            <pc:sldMk cId="2576008937" sldId="297"/>
            <ac:picMk id="8" creationId="{D24456C7-21B0-590B-9FA1-816BEE66BEE8}"/>
          </ac:picMkLst>
        </pc:picChg>
      </pc:sldChg>
      <pc:sldChg chg="modSp mod">
        <pc:chgData name="Menaka M" userId="d9e978e0c3c25b9a" providerId="LiveId" clId="{218B589C-E051-44D8-8CE7-DC10A3856A89}" dt="2026-09-07T03:21:56.294" v="861" actId="20577"/>
        <pc:sldMkLst>
          <pc:docMk/>
          <pc:sldMk cId="1578299018" sldId="298"/>
        </pc:sldMkLst>
        <pc:spChg chg="mod">
          <ac:chgData name="Menaka M" userId="d9e978e0c3c25b9a" providerId="LiveId" clId="{218B589C-E051-44D8-8CE7-DC10A3856A89}" dt="2026-09-07T03:21:56.294" v="861" actId="20577"/>
          <ac:spMkLst>
            <pc:docMk/>
            <pc:sldMk cId="1578299018" sldId="298"/>
            <ac:spMk id="2" creationId="{21C38B9E-5C7A-589E-88C3-1334A91DFAE0}"/>
          </ac:spMkLst>
        </pc:spChg>
      </pc:sldChg>
      <pc:sldChg chg="addSp delSp modSp new mod">
        <pc:chgData name="Menaka M" userId="d9e978e0c3c25b9a" providerId="LiveId" clId="{218B589C-E051-44D8-8CE7-DC10A3856A89}" dt="2026-09-07T03:20:56.611" v="846" actId="255"/>
        <pc:sldMkLst>
          <pc:docMk/>
          <pc:sldMk cId="1995778716" sldId="299"/>
        </pc:sldMkLst>
        <pc:spChg chg="mod">
          <ac:chgData name="Menaka M" userId="d9e978e0c3c25b9a" providerId="LiveId" clId="{218B589C-E051-44D8-8CE7-DC10A3856A89}" dt="2026-09-07T03:20:34.510" v="842" actId="2711"/>
          <ac:spMkLst>
            <pc:docMk/>
            <pc:sldMk cId="1995778716" sldId="299"/>
            <ac:spMk id="2" creationId="{0FE0B0C2-6923-2132-8991-07F3F9309A7A}"/>
          </ac:spMkLst>
        </pc:spChg>
        <pc:spChg chg="add del mod">
          <ac:chgData name="Menaka M" userId="d9e978e0c3c25b9a" providerId="LiveId" clId="{218B589C-E051-44D8-8CE7-DC10A3856A89}" dt="2026-09-07T03:20:28.229" v="841" actId="2711"/>
          <ac:spMkLst>
            <pc:docMk/>
            <pc:sldMk cId="1995778716" sldId="299"/>
            <ac:spMk id="3" creationId="{B56AE086-C113-A6FC-19AA-45B3015AC7C8}"/>
          </ac:spMkLst>
        </pc:spChg>
        <pc:spChg chg="add del mod">
          <ac:chgData name="Menaka M" userId="d9e978e0c3c25b9a" providerId="LiveId" clId="{218B589C-E051-44D8-8CE7-DC10A3856A89}" dt="2026-09-06T14:34:26.492" v="12" actId="22"/>
          <ac:spMkLst>
            <pc:docMk/>
            <pc:sldMk cId="1995778716" sldId="299"/>
            <ac:spMk id="8" creationId="{2507170B-82CC-EDAC-C755-0B3050795D8F}"/>
          </ac:spMkLst>
        </pc:spChg>
        <pc:spChg chg="add del mod">
          <ac:chgData name="Menaka M" userId="d9e978e0c3c25b9a" providerId="LiveId" clId="{218B589C-E051-44D8-8CE7-DC10A3856A89}" dt="2026-09-07T03:20:56.611" v="846" actId="255"/>
          <ac:spMkLst>
            <pc:docMk/>
            <pc:sldMk cId="1995778716" sldId="299"/>
            <ac:spMk id="9" creationId="{C0D81C2B-2987-7788-F780-B4AED7A60006}"/>
          </ac:spMkLst>
        </pc:spChg>
        <pc:spChg chg="add del">
          <ac:chgData name="Menaka M" userId="d9e978e0c3c25b9a" providerId="LiveId" clId="{218B589C-E051-44D8-8CE7-DC10A3856A89}" dt="2026-09-06T14:36:13.353" v="32" actId="478"/>
          <ac:spMkLst>
            <pc:docMk/>
            <pc:sldMk cId="1995778716" sldId="299"/>
            <ac:spMk id="10" creationId="{5A67C3C8-2E53-0233-71A0-D3C043749A15}"/>
          </ac:spMkLst>
        </pc:spChg>
        <pc:spChg chg="add del">
          <ac:chgData name="Menaka M" userId="d9e978e0c3c25b9a" providerId="LiveId" clId="{218B589C-E051-44D8-8CE7-DC10A3856A89}" dt="2026-09-06T14:39:00.066" v="53" actId="478"/>
          <ac:spMkLst>
            <pc:docMk/>
            <pc:sldMk cId="1995778716" sldId="299"/>
            <ac:spMk id="11" creationId="{42E117FB-1D4B-6323-FD21-5000BB4AB5ED}"/>
          </ac:spMkLst>
        </pc:spChg>
        <pc:spChg chg="add del mod">
          <ac:chgData name="Menaka M" userId="d9e978e0c3c25b9a" providerId="LiveId" clId="{218B589C-E051-44D8-8CE7-DC10A3856A89}" dt="2026-09-06T14:43:46.433" v="109" actId="22"/>
          <ac:spMkLst>
            <pc:docMk/>
            <pc:sldMk cId="1995778716" sldId="299"/>
            <ac:spMk id="13" creationId="{038129E8-B31C-08FC-E563-0FFD2107A8E4}"/>
          </ac:spMkLst>
        </pc:spChg>
        <pc:spChg chg="add del mod">
          <ac:chgData name="Menaka M" userId="d9e978e0c3c25b9a" providerId="LiveId" clId="{218B589C-E051-44D8-8CE7-DC10A3856A89}" dt="2026-09-07T03:20:51.206" v="845" actId="255"/>
          <ac:spMkLst>
            <pc:docMk/>
            <pc:sldMk cId="1995778716" sldId="299"/>
            <ac:spMk id="15" creationId="{4925524B-2ACF-ED58-564B-B0AA1AF7A66A}"/>
          </ac:spMkLst>
        </pc:spChg>
      </pc:sldChg>
      <pc:sldChg chg="new del ord">
        <pc:chgData name="Menaka M" userId="d9e978e0c3c25b9a" providerId="LiveId" clId="{218B589C-E051-44D8-8CE7-DC10A3856A89}" dt="2026-09-06T15:34:46.532" v="287" actId="47"/>
        <pc:sldMkLst>
          <pc:docMk/>
          <pc:sldMk cId="1595289378" sldId="300"/>
        </pc:sldMkLst>
      </pc:sldChg>
      <pc:sldChg chg="add ord">
        <pc:chgData name="Menaka M" userId="d9e978e0c3c25b9a" providerId="LiveId" clId="{218B589C-E051-44D8-8CE7-DC10A3856A89}" dt="2026-09-06T15:30:24.889" v="278"/>
        <pc:sldMkLst>
          <pc:docMk/>
          <pc:sldMk cId="648365390" sldId="301"/>
        </pc:sldMkLst>
      </pc:sldChg>
      <pc:sldChg chg="add">
        <pc:chgData name="Menaka M" userId="d9e978e0c3c25b9a" providerId="LiveId" clId="{218B589C-E051-44D8-8CE7-DC10A3856A89}" dt="2026-09-06T15:30:43.931" v="279"/>
        <pc:sldMkLst>
          <pc:docMk/>
          <pc:sldMk cId="3485622003" sldId="302"/>
        </pc:sldMkLst>
      </pc:sldChg>
      <pc:sldChg chg="add">
        <pc:chgData name="Menaka M" userId="d9e978e0c3c25b9a" providerId="LiveId" clId="{218B589C-E051-44D8-8CE7-DC10A3856A89}" dt="2026-09-06T15:31:05.210" v="280"/>
        <pc:sldMkLst>
          <pc:docMk/>
          <pc:sldMk cId="3605509408" sldId="303"/>
        </pc:sldMkLst>
      </pc:sldChg>
      <pc:sldChg chg="modSp add mod">
        <pc:chgData name="Menaka M" userId="d9e978e0c3c25b9a" providerId="LiveId" clId="{218B589C-E051-44D8-8CE7-DC10A3856A89}" dt="2026-09-07T03:24:35.534" v="882" actId="2711"/>
        <pc:sldMkLst>
          <pc:docMk/>
          <pc:sldMk cId="1622445448" sldId="304"/>
        </pc:sldMkLst>
        <pc:spChg chg="mod">
          <ac:chgData name="Menaka M" userId="d9e978e0c3c25b9a" providerId="LiveId" clId="{218B589C-E051-44D8-8CE7-DC10A3856A89}" dt="2026-09-07T03:24:35.534" v="882" actId="2711"/>
          <ac:spMkLst>
            <pc:docMk/>
            <pc:sldMk cId="1622445448" sldId="304"/>
            <ac:spMk id="203" creationId="{C1A9F3C5-A0F5-29D8-ECC9-F220538EFE9E}"/>
          </ac:spMkLst>
        </pc:spChg>
      </pc:sldChg>
      <pc:sldChg chg="add">
        <pc:chgData name="Menaka M" userId="d9e978e0c3c25b9a" providerId="LiveId" clId="{218B589C-E051-44D8-8CE7-DC10A3856A89}" dt="2026-09-06T15:33:06.133" v="282"/>
        <pc:sldMkLst>
          <pc:docMk/>
          <pc:sldMk cId="3280566597" sldId="305"/>
        </pc:sldMkLst>
      </pc:sldChg>
      <pc:sldChg chg="add del">
        <pc:chgData name="Menaka M" userId="d9e978e0c3c25b9a" providerId="LiveId" clId="{218B589C-E051-44D8-8CE7-DC10A3856A89}" dt="2026-09-06T16:18:05.741" v="579" actId="47"/>
        <pc:sldMkLst>
          <pc:docMk/>
          <pc:sldMk cId="3083390140" sldId="306"/>
        </pc:sldMkLst>
      </pc:sldChg>
      <pc:sldChg chg="add del">
        <pc:chgData name="Menaka M" userId="d9e978e0c3c25b9a" providerId="LiveId" clId="{218B589C-E051-44D8-8CE7-DC10A3856A89}" dt="2026-09-06T16:18:10.318" v="580" actId="47"/>
        <pc:sldMkLst>
          <pc:docMk/>
          <pc:sldMk cId="2998552955" sldId="307"/>
        </pc:sldMkLst>
      </pc:sldChg>
      <pc:sldChg chg="add">
        <pc:chgData name="Menaka M" userId="d9e978e0c3c25b9a" providerId="LiveId" clId="{218B589C-E051-44D8-8CE7-DC10A3856A89}" dt="2026-09-06T15:34:15.232" v="285"/>
        <pc:sldMkLst>
          <pc:docMk/>
          <pc:sldMk cId="2585610057" sldId="308"/>
        </pc:sldMkLst>
      </pc:sldChg>
      <pc:sldChg chg="add del">
        <pc:chgData name="Menaka M" userId="d9e978e0c3c25b9a" providerId="LiveId" clId="{218B589C-E051-44D8-8CE7-DC10A3856A89}" dt="2026-09-06T16:18:22.292" v="581" actId="47"/>
        <pc:sldMkLst>
          <pc:docMk/>
          <pc:sldMk cId="111223091" sldId="309"/>
        </pc:sldMkLst>
      </pc:sldChg>
      <pc:sldChg chg="modSp new mod">
        <pc:chgData name="Menaka M" userId="d9e978e0c3c25b9a" providerId="LiveId" clId="{218B589C-E051-44D8-8CE7-DC10A3856A89}" dt="2026-09-07T03:19:57.480" v="836" actId="2711"/>
        <pc:sldMkLst>
          <pc:docMk/>
          <pc:sldMk cId="1641277661" sldId="310"/>
        </pc:sldMkLst>
        <pc:spChg chg="mod">
          <ac:chgData name="Menaka M" userId="d9e978e0c3c25b9a" providerId="LiveId" clId="{218B589C-E051-44D8-8CE7-DC10A3856A89}" dt="2026-09-07T03:19:57.480" v="836" actId="2711"/>
          <ac:spMkLst>
            <pc:docMk/>
            <pc:sldMk cId="1641277661" sldId="310"/>
            <ac:spMk id="2" creationId="{FA22BE61-FE80-7B6E-4740-0684A542288D}"/>
          </ac:spMkLst>
        </pc:spChg>
        <pc:spChg chg="mod">
          <ac:chgData name="Menaka M" userId="d9e978e0c3c25b9a" providerId="LiveId" clId="{218B589C-E051-44D8-8CE7-DC10A3856A89}" dt="2026-09-07T03:19:46.360" v="835" actId="2711"/>
          <ac:spMkLst>
            <pc:docMk/>
            <pc:sldMk cId="1641277661" sldId="310"/>
            <ac:spMk id="3" creationId="{65E0CB56-02F6-756F-610E-286064E4B116}"/>
          </ac:spMkLst>
        </pc:spChg>
      </pc:sldChg>
      <pc:sldChg chg="addSp delSp modSp new del mod">
        <pc:chgData name="Menaka M" userId="d9e978e0c3c25b9a" providerId="LiveId" clId="{218B589C-E051-44D8-8CE7-DC10A3856A89}" dt="2026-09-06T15:56:06.816" v="578" actId="47"/>
        <pc:sldMkLst>
          <pc:docMk/>
          <pc:sldMk cId="240268052" sldId="311"/>
        </pc:sldMkLst>
        <pc:spChg chg="mod">
          <ac:chgData name="Menaka M" userId="d9e978e0c3c25b9a" providerId="LiveId" clId="{218B589C-E051-44D8-8CE7-DC10A3856A89}" dt="2026-09-06T15:40:42.299" v="350" actId="14100"/>
          <ac:spMkLst>
            <pc:docMk/>
            <pc:sldMk cId="240268052" sldId="311"/>
            <ac:spMk id="2" creationId="{32BF3417-9F14-13F7-0441-231EC1EE5B96}"/>
          </ac:spMkLst>
        </pc:spChg>
        <pc:spChg chg="mod">
          <ac:chgData name="Menaka M" userId="d9e978e0c3c25b9a" providerId="LiveId" clId="{218B589C-E051-44D8-8CE7-DC10A3856A89}" dt="2026-09-06T15:40:50.247" v="356" actId="5793"/>
          <ac:spMkLst>
            <pc:docMk/>
            <pc:sldMk cId="240268052" sldId="311"/>
            <ac:spMk id="3" creationId="{87F0901D-2743-A3FC-FF86-921DF52A63A8}"/>
          </ac:spMkLst>
        </pc:spChg>
        <pc:spChg chg="add del">
          <ac:chgData name="Menaka M" userId="d9e978e0c3c25b9a" providerId="LiveId" clId="{218B589C-E051-44D8-8CE7-DC10A3856A89}" dt="2026-09-06T15:40:24.779" v="318" actId="22"/>
          <ac:spMkLst>
            <pc:docMk/>
            <pc:sldMk cId="240268052" sldId="311"/>
            <ac:spMk id="8" creationId="{0FB0E41A-B2F9-6434-9A43-FA59AD2189FB}"/>
          </ac:spMkLst>
        </pc:spChg>
        <pc:spChg chg="add del">
          <ac:chgData name="Menaka M" userId="d9e978e0c3c25b9a" providerId="LiveId" clId="{218B589C-E051-44D8-8CE7-DC10A3856A89}" dt="2026-09-06T15:40:23.101" v="316" actId="22"/>
          <ac:spMkLst>
            <pc:docMk/>
            <pc:sldMk cId="240268052" sldId="311"/>
            <ac:spMk id="10" creationId="{19EF6F3C-D22F-3387-E93A-7D997C4BCDD5}"/>
          </ac:spMkLst>
        </pc:spChg>
      </pc:sldChg>
      <pc:sldChg chg="addSp modSp new mod">
        <pc:chgData name="Menaka M" userId="d9e978e0c3c25b9a" providerId="LiveId" clId="{218B589C-E051-44D8-8CE7-DC10A3856A89}" dt="2026-09-07T03:19:01.978" v="833" actId="2711"/>
        <pc:sldMkLst>
          <pc:docMk/>
          <pc:sldMk cId="944255827" sldId="312"/>
        </pc:sldMkLst>
        <pc:spChg chg="mod">
          <ac:chgData name="Menaka M" userId="d9e978e0c3c25b9a" providerId="LiveId" clId="{218B589C-E051-44D8-8CE7-DC10A3856A89}" dt="2026-09-07T03:19:01.978" v="833" actId="2711"/>
          <ac:spMkLst>
            <pc:docMk/>
            <pc:sldMk cId="944255827" sldId="312"/>
            <ac:spMk id="2" creationId="{80265BD1-D8FF-2332-F4CE-E7C60236E916}"/>
          </ac:spMkLst>
        </pc:spChg>
        <pc:spChg chg="mod">
          <ac:chgData name="Menaka M" userId="d9e978e0c3c25b9a" providerId="LiveId" clId="{218B589C-E051-44D8-8CE7-DC10A3856A89}" dt="2026-09-07T03:18:55.539" v="832" actId="123"/>
          <ac:spMkLst>
            <pc:docMk/>
            <pc:sldMk cId="944255827" sldId="312"/>
            <ac:spMk id="3" creationId="{C825A9CC-28C5-3C94-0E19-062D6B0A3155}"/>
          </ac:spMkLst>
        </pc:spChg>
        <pc:spChg chg="add mod">
          <ac:chgData name="Menaka M" userId="d9e978e0c3c25b9a" providerId="LiveId" clId="{218B589C-E051-44D8-8CE7-DC10A3856A89}" dt="2026-09-07T03:18:51.074" v="830" actId="123"/>
          <ac:spMkLst>
            <pc:docMk/>
            <pc:sldMk cId="944255827" sldId="312"/>
            <ac:spMk id="8" creationId="{EEC49476-A876-099E-AEDF-998646C50C6B}"/>
          </ac:spMkLst>
        </pc:spChg>
        <pc:spChg chg="add mod">
          <ac:chgData name="Menaka M" userId="d9e978e0c3c25b9a" providerId="LiveId" clId="{218B589C-E051-44D8-8CE7-DC10A3856A89}" dt="2026-09-07T03:18:46.832" v="829" actId="123"/>
          <ac:spMkLst>
            <pc:docMk/>
            <pc:sldMk cId="944255827" sldId="312"/>
            <ac:spMk id="10" creationId="{F4EC3AB7-D00C-9AFE-1B95-A15AB0803B68}"/>
          </ac:spMkLst>
        </pc:spChg>
      </pc:sldChg>
      <pc:sldChg chg="modSp new del mod">
        <pc:chgData name="Menaka M" userId="d9e978e0c3c25b9a" providerId="LiveId" clId="{218B589C-E051-44D8-8CE7-DC10A3856A89}" dt="2026-09-06T16:22:28.186" v="656" actId="47"/>
        <pc:sldMkLst>
          <pc:docMk/>
          <pc:sldMk cId="1440116831" sldId="313"/>
        </pc:sldMkLst>
        <pc:spChg chg="mod">
          <ac:chgData name="Menaka M" userId="d9e978e0c3c25b9a" providerId="LiveId" clId="{218B589C-E051-44D8-8CE7-DC10A3856A89}" dt="2026-09-06T15:50:01.498" v="498" actId="14100"/>
          <ac:spMkLst>
            <pc:docMk/>
            <pc:sldMk cId="1440116831" sldId="313"/>
            <ac:spMk id="2" creationId="{4E244011-17BF-3CE9-C3E7-845DA431E7C6}"/>
          </ac:spMkLst>
        </pc:spChg>
        <pc:spChg chg="mod">
          <ac:chgData name="Menaka M" userId="d9e978e0c3c25b9a" providerId="LiveId" clId="{218B589C-E051-44D8-8CE7-DC10A3856A89}" dt="2026-09-06T16:20:49.085" v="590" actId="21"/>
          <ac:spMkLst>
            <pc:docMk/>
            <pc:sldMk cId="1440116831" sldId="313"/>
            <ac:spMk id="3" creationId="{E0AA7251-5298-6650-9BC8-8541C736E402}"/>
          </ac:spMkLst>
        </pc:spChg>
      </pc:sldChg>
      <pc:sldChg chg="modSp new mod">
        <pc:chgData name="Menaka M" userId="d9e978e0c3c25b9a" providerId="LiveId" clId="{218B589C-E051-44D8-8CE7-DC10A3856A89}" dt="2026-09-07T03:20:18.037" v="840" actId="27636"/>
        <pc:sldMkLst>
          <pc:docMk/>
          <pc:sldMk cId="2713400912" sldId="314"/>
        </pc:sldMkLst>
        <pc:spChg chg="mod">
          <ac:chgData name="Menaka M" userId="d9e978e0c3c25b9a" providerId="LiveId" clId="{218B589C-E051-44D8-8CE7-DC10A3856A89}" dt="2026-09-07T03:20:18.037" v="840" actId="27636"/>
          <ac:spMkLst>
            <pc:docMk/>
            <pc:sldMk cId="2713400912" sldId="314"/>
            <ac:spMk id="2" creationId="{395ED132-3F64-0E47-6EF1-82ED12560FBA}"/>
          </ac:spMkLst>
        </pc:spChg>
        <pc:spChg chg="mod">
          <ac:chgData name="Menaka M" userId="d9e978e0c3c25b9a" providerId="LiveId" clId="{218B589C-E051-44D8-8CE7-DC10A3856A89}" dt="2026-09-07T03:20:08.644" v="838" actId="123"/>
          <ac:spMkLst>
            <pc:docMk/>
            <pc:sldMk cId="2713400912" sldId="314"/>
            <ac:spMk id="3" creationId="{D4891719-8DE7-9DBF-3292-ADC47288DAF8}"/>
          </ac:spMkLst>
        </pc:spChg>
      </pc:sldChg>
      <pc:sldChg chg="modSp new mod ord">
        <pc:chgData name="Menaka M" userId="d9e978e0c3c25b9a" providerId="LiveId" clId="{218B589C-E051-44D8-8CE7-DC10A3856A89}" dt="2026-09-07T03:21:17.625" v="849" actId="2711"/>
        <pc:sldMkLst>
          <pc:docMk/>
          <pc:sldMk cId="2614230806" sldId="315"/>
        </pc:sldMkLst>
        <pc:spChg chg="mod">
          <ac:chgData name="Menaka M" userId="d9e978e0c3c25b9a" providerId="LiveId" clId="{218B589C-E051-44D8-8CE7-DC10A3856A89}" dt="2026-09-07T03:21:17.625" v="849" actId="2711"/>
          <ac:spMkLst>
            <pc:docMk/>
            <pc:sldMk cId="2614230806" sldId="315"/>
            <ac:spMk id="2" creationId="{334D17F6-E0B4-BDC2-D673-5399B81833DF}"/>
          </ac:spMkLst>
        </pc:spChg>
        <pc:spChg chg="mod">
          <ac:chgData name="Menaka M" userId="d9e978e0c3c25b9a" providerId="LiveId" clId="{218B589C-E051-44D8-8CE7-DC10A3856A89}" dt="2026-09-07T03:21:10.567" v="848" actId="123"/>
          <ac:spMkLst>
            <pc:docMk/>
            <pc:sldMk cId="2614230806" sldId="315"/>
            <ac:spMk id="3" creationId="{BA975F64-DEF3-F37D-CA53-D6CF8BE401CD}"/>
          </ac:spMkLst>
        </pc:spChg>
      </pc:sldChg>
      <pc:sldChg chg="addSp delSp modSp new mod">
        <pc:chgData name="Menaka M" userId="d9e978e0c3c25b9a" providerId="LiveId" clId="{218B589C-E051-44D8-8CE7-DC10A3856A89}" dt="2026-09-07T03:21:40.004" v="852" actId="2711"/>
        <pc:sldMkLst>
          <pc:docMk/>
          <pc:sldMk cId="3410225637" sldId="316"/>
        </pc:sldMkLst>
        <pc:spChg chg="mod">
          <ac:chgData name="Menaka M" userId="d9e978e0c3c25b9a" providerId="LiveId" clId="{218B589C-E051-44D8-8CE7-DC10A3856A89}" dt="2026-09-07T03:21:40.004" v="852" actId="2711"/>
          <ac:spMkLst>
            <pc:docMk/>
            <pc:sldMk cId="3410225637" sldId="316"/>
            <ac:spMk id="2" creationId="{10E0151E-BE88-F16E-AF43-0198218B2CCD}"/>
          </ac:spMkLst>
        </pc:spChg>
        <pc:spChg chg="mod">
          <ac:chgData name="Menaka M" userId="d9e978e0c3c25b9a" providerId="LiveId" clId="{218B589C-E051-44D8-8CE7-DC10A3856A89}" dt="2026-09-07T03:21:30.905" v="851" actId="27636"/>
          <ac:spMkLst>
            <pc:docMk/>
            <pc:sldMk cId="3410225637" sldId="316"/>
            <ac:spMk id="3" creationId="{588FA572-B687-BD28-5FC8-BAF2343730B8}"/>
          </ac:spMkLst>
        </pc:spChg>
        <pc:picChg chg="add">
          <ac:chgData name="Menaka M" userId="d9e978e0c3c25b9a" providerId="LiveId" clId="{218B589C-E051-44D8-8CE7-DC10A3856A89}" dt="2026-09-06T16:25:38.649" v="691" actId="22"/>
          <ac:picMkLst>
            <pc:docMk/>
            <pc:sldMk cId="3410225637" sldId="316"/>
            <ac:picMk id="9" creationId="{0CEF5652-C1DB-17DF-7896-985ACCCC990D}"/>
          </ac:picMkLst>
        </pc:picChg>
        <pc:picChg chg="add del">
          <ac:chgData name="Menaka M" userId="d9e978e0c3c25b9a" providerId="LiveId" clId="{218B589C-E051-44D8-8CE7-DC10A3856A89}" dt="2026-09-06T16:25:42.047" v="693" actId="22"/>
          <ac:picMkLst>
            <pc:docMk/>
            <pc:sldMk cId="3410225637" sldId="316"/>
            <ac:picMk id="11" creationId="{981B697C-9D94-6AE2-CC69-CDCABD0E6A05}"/>
          </ac:picMkLst>
        </pc:picChg>
      </pc:sldChg>
      <pc:sldChg chg="addSp delSp modSp new mod">
        <pc:chgData name="Menaka M" userId="d9e978e0c3c25b9a" providerId="LiveId" clId="{218B589C-E051-44D8-8CE7-DC10A3856A89}" dt="2026-09-07T03:23:24.832" v="875" actId="2711"/>
        <pc:sldMkLst>
          <pc:docMk/>
          <pc:sldMk cId="2742297729" sldId="317"/>
        </pc:sldMkLst>
        <pc:spChg chg="mod">
          <ac:chgData name="Menaka M" userId="d9e978e0c3c25b9a" providerId="LiveId" clId="{218B589C-E051-44D8-8CE7-DC10A3856A89}" dt="2026-09-07T03:23:14.334" v="873" actId="2711"/>
          <ac:spMkLst>
            <pc:docMk/>
            <pc:sldMk cId="2742297729" sldId="317"/>
            <ac:spMk id="2" creationId="{BF2D6241-46E9-C848-A3E0-542E68FB0738}"/>
          </ac:spMkLst>
        </pc:spChg>
        <pc:spChg chg="del mod">
          <ac:chgData name="Menaka M" userId="d9e978e0c3c25b9a" providerId="LiveId" clId="{218B589C-E051-44D8-8CE7-DC10A3856A89}" dt="2026-09-06T16:33:35.291" v="777" actId="478"/>
          <ac:spMkLst>
            <pc:docMk/>
            <pc:sldMk cId="2742297729" sldId="317"/>
            <ac:spMk id="3" creationId="{38B0247F-A8DF-8366-7A00-CDD773D1913F}"/>
          </ac:spMkLst>
        </pc:spChg>
        <pc:spChg chg="add mod">
          <ac:chgData name="Menaka M" userId="d9e978e0c3c25b9a" providerId="LiveId" clId="{218B589C-E051-44D8-8CE7-DC10A3856A89}" dt="2026-09-07T03:23:19.727" v="874" actId="2711"/>
          <ac:spMkLst>
            <pc:docMk/>
            <pc:sldMk cId="2742297729" sldId="317"/>
            <ac:spMk id="8" creationId="{CE16B9A0-66EE-8369-9E16-373F841AB821}"/>
          </ac:spMkLst>
        </pc:spChg>
        <pc:spChg chg="add mod">
          <ac:chgData name="Menaka M" userId="d9e978e0c3c25b9a" providerId="LiveId" clId="{218B589C-E051-44D8-8CE7-DC10A3856A89}" dt="2026-09-07T03:23:24.832" v="875" actId="2711"/>
          <ac:spMkLst>
            <pc:docMk/>
            <pc:sldMk cId="2742297729" sldId="317"/>
            <ac:spMk id="10" creationId="{A3AD2EFB-3AED-619A-27F9-D2FEFD3165B5}"/>
          </ac:spMkLst>
        </pc:spChg>
        <pc:spChg chg="add del mod">
          <ac:chgData name="Menaka M" userId="d9e978e0c3c25b9a" providerId="LiveId" clId="{218B589C-E051-44D8-8CE7-DC10A3856A89}" dt="2026-09-06T16:33:35.294" v="779"/>
          <ac:spMkLst>
            <pc:docMk/>
            <pc:sldMk cId="2742297729" sldId="317"/>
            <ac:spMk id="11" creationId="{AF120D50-5151-8358-B302-F6DB8AAFCED4}"/>
          </ac:spMkLst>
        </pc:spChg>
        <pc:spChg chg="add mod">
          <ac:chgData name="Menaka M" userId="d9e978e0c3c25b9a" providerId="LiveId" clId="{218B589C-E051-44D8-8CE7-DC10A3856A89}" dt="2026-09-07T03:23:09.372" v="872" actId="2711"/>
          <ac:spMkLst>
            <pc:docMk/>
            <pc:sldMk cId="2742297729" sldId="317"/>
            <ac:spMk id="12" creationId="{F6CEAC96-081D-5630-78A4-9E53F257696C}"/>
          </ac:spMkLst>
        </pc:spChg>
      </pc:sldChg>
      <pc:sldChg chg="modSp new mod">
        <pc:chgData name="Menaka M" userId="d9e978e0c3c25b9a" providerId="LiveId" clId="{218B589C-E051-44D8-8CE7-DC10A3856A89}" dt="2026-09-07T03:23:03.743" v="871" actId="2711"/>
        <pc:sldMkLst>
          <pc:docMk/>
          <pc:sldMk cId="3820268261" sldId="318"/>
        </pc:sldMkLst>
        <pc:spChg chg="mod">
          <ac:chgData name="Menaka M" userId="d9e978e0c3c25b9a" providerId="LiveId" clId="{218B589C-E051-44D8-8CE7-DC10A3856A89}" dt="2026-09-07T03:23:03.743" v="871" actId="2711"/>
          <ac:spMkLst>
            <pc:docMk/>
            <pc:sldMk cId="3820268261" sldId="318"/>
            <ac:spMk id="2" creationId="{C0BBD6E9-9FB0-CED9-C6B7-462FA166667B}"/>
          </ac:spMkLst>
        </pc:spChg>
        <pc:spChg chg="mod">
          <ac:chgData name="Menaka M" userId="d9e978e0c3c25b9a" providerId="LiveId" clId="{218B589C-E051-44D8-8CE7-DC10A3856A89}" dt="2026-09-07T03:22:59.187" v="870" actId="2711"/>
          <ac:spMkLst>
            <pc:docMk/>
            <pc:sldMk cId="3820268261" sldId="318"/>
            <ac:spMk id="3" creationId="{170C1AB5-B7F9-0E6E-61AD-1279B792C6E3}"/>
          </ac:spMkLst>
        </pc:spChg>
      </pc:sldChg>
      <pc:sldChg chg="addSp modSp new mod">
        <pc:chgData name="Menaka M" userId="d9e978e0c3c25b9a" providerId="LiveId" clId="{218B589C-E051-44D8-8CE7-DC10A3856A89}" dt="2026-09-06T16:36:42.211" v="825" actId="27636"/>
        <pc:sldMkLst>
          <pc:docMk/>
          <pc:sldMk cId="50789144" sldId="319"/>
        </pc:sldMkLst>
        <pc:spChg chg="mod">
          <ac:chgData name="Menaka M" userId="d9e978e0c3c25b9a" providerId="LiveId" clId="{218B589C-E051-44D8-8CE7-DC10A3856A89}" dt="2026-09-06T16:36:42.211" v="825" actId="27636"/>
          <ac:spMkLst>
            <pc:docMk/>
            <pc:sldMk cId="50789144" sldId="319"/>
            <ac:spMk id="2" creationId="{C22EB3DF-44FB-366F-CDA3-26B1DDDEA1AF}"/>
          </ac:spMkLst>
        </pc:spChg>
        <pc:picChg chg="add mod">
          <ac:chgData name="Menaka M" userId="d9e978e0c3c25b9a" providerId="LiveId" clId="{218B589C-E051-44D8-8CE7-DC10A3856A89}" dt="2026-09-06T16:36:35.199" v="823" actId="14100"/>
          <ac:picMkLst>
            <pc:docMk/>
            <pc:sldMk cId="50789144" sldId="319"/>
            <ac:picMk id="8" creationId="{8D485BD7-D14E-2936-5AB8-FBE91D50610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92" name="Google Shape;9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00" name="Google Shape;10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09" name="Google Shape;109;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f4fb01c2d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f4fb01c2df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g3f4fb01c2df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35" name="Google Shape;13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45" name="Google Shape;14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22D0E7DF-7534-0CF1-09E0-3C9AA8E40604}"/>
            </a:ext>
          </a:extLst>
        </p:cNvPr>
        <p:cNvGrpSpPr/>
        <p:nvPr/>
      </p:nvGrpSpPr>
      <p:grpSpPr>
        <a:xfrm>
          <a:off x="0" y="0"/>
          <a:ext cx="0" cy="0"/>
          <a:chOff x="0" y="0"/>
          <a:chExt cx="0" cy="0"/>
        </a:xfrm>
      </p:grpSpPr>
      <p:sp>
        <p:nvSpPr>
          <p:cNvPr id="144" name="Google Shape;144;p6:notes">
            <a:extLst>
              <a:ext uri="{FF2B5EF4-FFF2-40B4-BE49-F238E27FC236}">
                <a16:creationId xmlns:a16="http://schemas.microsoft.com/office/drawing/2014/main" id="{4AE045E0-6DD4-00F4-109B-A4A8BC54ADB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45" name="Google Shape;145;p6:notes">
            <a:extLst>
              <a:ext uri="{FF2B5EF4-FFF2-40B4-BE49-F238E27FC236}">
                <a16:creationId xmlns:a16="http://schemas.microsoft.com/office/drawing/2014/main" id="{E0FF730A-050D-CFBE-2B1C-74474669131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006324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53" name="Google Shape;15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62" name="Google Shape;162;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71" name="Google Shape;17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81" name="Google Shape;181;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91" name="Google Shape;19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9" name="Google Shape;209;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18" name="Google Shape;218;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36" name="Google Shape;236;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27" name="Google Shape;227;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60326EBD-95AB-DC80-5B28-273FF67496C2}"/>
            </a:ext>
          </a:extLst>
        </p:cNvPr>
        <p:cNvGrpSpPr/>
        <p:nvPr/>
      </p:nvGrpSpPr>
      <p:grpSpPr>
        <a:xfrm>
          <a:off x="0" y="0"/>
          <a:ext cx="0" cy="0"/>
          <a:chOff x="0" y="0"/>
          <a:chExt cx="0" cy="0"/>
        </a:xfrm>
      </p:grpSpPr>
      <p:sp>
        <p:nvSpPr>
          <p:cNvPr id="91" name="Google Shape;91;p1:notes">
            <a:extLst>
              <a:ext uri="{FF2B5EF4-FFF2-40B4-BE49-F238E27FC236}">
                <a16:creationId xmlns:a16="http://schemas.microsoft.com/office/drawing/2014/main" id="{E49CC420-1C6E-4CBF-6A0C-6809036EF5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92" name="Google Shape;92;p1:notes">
            <a:extLst>
              <a:ext uri="{FF2B5EF4-FFF2-40B4-BE49-F238E27FC236}">
                <a16:creationId xmlns:a16="http://schemas.microsoft.com/office/drawing/2014/main" id="{8EB8141E-4965-63BC-DB58-81B753AAEF6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091444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7123E77A-20FF-F89E-2C63-CFDFB399FC8C}"/>
            </a:ext>
          </a:extLst>
        </p:cNvPr>
        <p:cNvGrpSpPr/>
        <p:nvPr/>
      </p:nvGrpSpPr>
      <p:grpSpPr>
        <a:xfrm>
          <a:off x="0" y="0"/>
          <a:ext cx="0" cy="0"/>
          <a:chOff x="0" y="0"/>
          <a:chExt cx="0" cy="0"/>
        </a:xfrm>
      </p:grpSpPr>
      <p:sp>
        <p:nvSpPr>
          <p:cNvPr id="180" name="Google Shape;180;p10:notes">
            <a:extLst>
              <a:ext uri="{FF2B5EF4-FFF2-40B4-BE49-F238E27FC236}">
                <a16:creationId xmlns:a16="http://schemas.microsoft.com/office/drawing/2014/main" id="{6A5B230D-B211-DDA6-5319-9D56EE0143B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81" name="Google Shape;181;p10:notes">
            <a:extLst>
              <a:ext uri="{FF2B5EF4-FFF2-40B4-BE49-F238E27FC236}">
                <a16:creationId xmlns:a16="http://schemas.microsoft.com/office/drawing/2014/main" id="{C9840167-2CC3-2499-6BC4-6F366691965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150759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223D140B-9C8D-7AAB-C37B-200C9E3C49F2}"/>
            </a:ext>
          </a:extLst>
        </p:cNvPr>
        <p:cNvGrpSpPr/>
        <p:nvPr/>
      </p:nvGrpSpPr>
      <p:grpSpPr>
        <a:xfrm>
          <a:off x="0" y="0"/>
          <a:ext cx="0" cy="0"/>
          <a:chOff x="0" y="0"/>
          <a:chExt cx="0" cy="0"/>
        </a:xfrm>
      </p:grpSpPr>
      <p:sp>
        <p:nvSpPr>
          <p:cNvPr id="190" name="Google Shape;190;p12:notes">
            <a:extLst>
              <a:ext uri="{FF2B5EF4-FFF2-40B4-BE49-F238E27FC236}">
                <a16:creationId xmlns:a16="http://schemas.microsoft.com/office/drawing/2014/main" id="{B359C0C6-00C9-34FD-CC51-8A043167522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91" name="Google Shape;191;p12:notes">
            <a:extLst>
              <a:ext uri="{FF2B5EF4-FFF2-40B4-BE49-F238E27FC236}">
                <a16:creationId xmlns:a16="http://schemas.microsoft.com/office/drawing/2014/main" id="{BDEA8F80-B470-83A0-6A9A-D9126958FAE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57932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91" name="Google Shape;19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2E045088-8F02-4C8C-6665-6254A5B634D6}"/>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3F64B3B9-FEC3-0D53-7485-46DF9D58C96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3CCAFE08-81B1-7B24-72FE-609A819C039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632851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9B356463-9462-C8A2-02F1-987E950FE8FE}"/>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B7AF8ACE-0BC5-3714-8150-80A5827DDD8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B2E96B72-F37D-A2A5-6D97-24D553AE06A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66550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9FC2BBF6-AB67-F7E5-0665-9F7ABB6CB022}"/>
            </a:ext>
          </a:extLst>
        </p:cNvPr>
        <p:cNvGrpSpPr/>
        <p:nvPr/>
      </p:nvGrpSpPr>
      <p:grpSpPr>
        <a:xfrm>
          <a:off x="0" y="0"/>
          <a:ext cx="0" cy="0"/>
          <a:chOff x="0" y="0"/>
          <a:chExt cx="0" cy="0"/>
        </a:xfrm>
      </p:grpSpPr>
      <p:sp>
        <p:nvSpPr>
          <p:cNvPr id="91" name="Google Shape;91;p1:notes">
            <a:extLst>
              <a:ext uri="{FF2B5EF4-FFF2-40B4-BE49-F238E27FC236}">
                <a16:creationId xmlns:a16="http://schemas.microsoft.com/office/drawing/2014/main" id="{21422CD5-E921-324B-0A59-E6DA2E4612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92" name="Google Shape;92;p1:notes">
            <a:extLst>
              <a:ext uri="{FF2B5EF4-FFF2-40B4-BE49-F238E27FC236}">
                <a16:creationId xmlns:a16="http://schemas.microsoft.com/office/drawing/2014/main" id="{95229364-6B3F-18F4-B3E7-106927A7D77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691424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D43D7E54-0F3F-3010-3DD6-6B03A4713F9E}"/>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774A5008-BBB4-2485-7FAB-B8B9BF54D24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EB1C026E-C536-0EFB-35BA-FD3B59028C5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074103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E3B291EC-2571-AD71-7450-C81FA5FF3D88}"/>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55E7C5A7-7DE8-6834-C343-2586258D379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5E57EABF-8231-71C2-C162-61F95758D33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279347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96D4C37E-882E-FDD4-1788-54A353A8D127}"/>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F250A372-196F-32A4-FD44-0767AB88388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2C8A7864-305F-851E-74C0-DA99A24F443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177338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91D96909-6207-2C3A-7F33-FD34C79E4EE3}"/>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EA148528-6369-D6B3-2F27-5B83820F42A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A2C45646-A19A-4C7C-EC5E-5225BB1D2DD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537505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9EA417F8-25E0-FEAC-1234-7D21B925B7DE}"/>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62A74763-7944-0E68-02B8-4FB91887481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838EE1D0-EE4C-A4B3-076B-759ABAEFC52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118754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6FC4D9EF-B487-AB71-4CB3-64065A48D7EA}"/>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A54C9020-8DDA-ED51-D7FD-117A770FD53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1C92A205-C306-57BA-AD24-00E9EEC3F28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553370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05F407D9-848B-B23C-1534-51424D7EC595}"/>
            </a:ext>
          </a:extLst>
        </p:cNvPr>
        <p:cNvGrpSpPr/>
        <p:nvPr/>
      </p:nvGrpSpPr>
      <p:grpSpPr>
        <a:xfrm>
          <a:off x="0" y="0"/>
          <a:ext cx="0" cy="0"/>
          <a:chOff x="0" y="0"/>
          <a:chExt cx="0" cy="0"/>
        </a:xfrm>
      </p:grpSpPr>
      <p:sp>
        <p:nvSpPr>
          <p:cNvPr id="199" name="Google Shape;199;p13:notes">
            <a:extLst>
              <a:ext uri="{FF2B5EF4-FFF2-40B4-BE49-F238E27FC236}">
                <a16:creationId xmlns:a16="http://schemas.microsoft.com/office/drawing/2014/main" id="{918F0E35-032F-BC13-4A55-080400AD8FC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a:extLst>
              <a:ext uri="{FF2B5EF4-FFF2-40B4-BE49-F238E27FC236}">
                <a16:creationId xmlns:a16="http://schemas.microsoft.com/office/drawing/2014/main" id="{95C94628-6458-7582-D8B9-1B5EC556EAD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21835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19" name="Google Shape;19;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20" name="Google Shape;20;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25" name="Google Shape;25;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26" name="Google Shape;26;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31" name="Google Shape;31;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32" name="Google Shape;32;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2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38" name="Google Shape;38;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39" name="Google Shape;39;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2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2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2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47" name="Google Shape;47;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48" name="Google Shape;48;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52" name="Google Shape;52;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53" name="Google Shape;53;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56" name="Google Shape;56;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57" name="Google Shape;57;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2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63" name="Google Shape;63;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64" name="Google Shape;64;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9"/>
          <p:cNvSpPr>
            <a:spLocks noGrp="1"/>
          </p:cNvSpPr>
          <p:nvPr>
            <p:ph type="pic" idx="2"/>
          </p:nvPr>
        </p:nvSpPr>
        <p:spPr>
          <a:xfrm>
            <a:off x="1792288" y="612775"/>
            <a:ext cx="5486400" cy="4114800"/>
          </a:xfrm>
          <a:prstGeom prst="rect">
            <a:avLst/>
          </a:prstGeom>
          <a:noFill/>
          <a:ln>
            <a:noFill/>
          </a:ln>
        </p:spPr>
      </p:sp>
      <p:sp>
        <p:nvSpPr>
          <p:cNvPr id="68" name="Google Shape;68;p2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70" name="Google Shape;70;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71" name="Google Shape;71;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76" name="Google Shape;76;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77" name="Google Shape;77;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82" name="Google Shape;82;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83" name="Google Shape;83;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type="tx">
  <p:cSld name="TITLE_AND_BODY">
    <p:spTree>
      <p:nvGrpSpPr>
        <p:cNvPr id="1" name="Shape 84"/>
        <p:cNvGrpSpPr/>
        <p:nvPr/>
      </p:nvGrpSpPr>
      <p:grpSpPr>
        <a:xfrm>
          <a:off x="0" y="0"/>
          <a:ext cx="0" cy="0"/>
          <a:chOff x="0" y="0"/>
          <a:chExt cx="0" cy="0"/>
        </a:xfrm>
      </p:grpSpPr>
      <p:sp>
        <p:nvSpPr>
          <p:cNvPr id="85" name="Google Shape;85;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3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SzPts val="3200"/>
              <a:buChar char="•"/>
              <a:defRPr/>
            </a:lvl1pPr>
            <a:lvl2pPr marL="914400" lvl="1" indent="-406400" algn="l">
              <a:lnSpc>
                <a:spcPct val="100000"/>
              </a:lnSpc>
              <a:spcBef>
                <a:spcPts val="560"/>
              </a:spcBef>
              <a:spcAft>
                <a:spcPts val="0"/>
              </a:spcAft>
              <a:buSzPts val="2800"/>
              <a:buChar char="–"/>
              <a:defRPr/>
            </a:lvl2pPr>
            <a:lvl3pPr marL="1371600" lvl="2" indent="-381000" algn="l">
              <a:lnSpc>
                <a:spcPct val="100000"/>
              </a:lnSpc>
              <a:spcBef>
                <a:spcPts val="480"/>
              </a:spcBef>
              <a:spcAft>
                <a:spcPts val="0"/>
              </a:spcAft>
              <a:buSzPts val="2400"/>
              <a:buChar char="•"/>
              <a:defRPr/>
            </a:lvl3pPr>
            <a:lvl4pPr marL="1828800" lvl="3" indent="-355600" algn="l">
              <a:lnSpc>
                <a:spcPct val="100000"/>
              </a:lnSpc>
              <a:spcBef>
                <a:spcPts val="400"/>
              </a:spcBef>
              <a:spcAft>
                <a:spcPts val="0"/>
              </a:spcAft>
              <a:buSzPts val="2000"/>
              <a:buChar char="–"/>
              <a:defRPr/>
            </a:lvl4pPr>
            <a:lvl5pPr marL="2286000" lvl="4" indent="-355600" algn="l">
              <a:lnSpc>
                <a:spcPct val="100000"/>
              </a:lnSpc>
              <a:spcBef>
                <a:spcPts val="400"/>
              </a:spcBef>
              <a:spcAft>
                <a:spcPts val="0"/>
              </a:spcAft>
              <a:buSzPts val="2000"/>
              <a:buChar char="»"/>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
        <p:nvSpPr>
          <p:cNvPr id="87" name="Google Shape;87;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88" name="Google Shape;88;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89" name="Google Shape;89;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a:t>20/07/2026</a:t>
            </a:r>
            <a:endParaRPr/>
          </a:p>
        </p:txBody>
      </p:sp>
      <p:sp>
        <p:nvSpPr>
          <p:cNvPr id="13" name="Google Shape;13;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a:t>DEPT OF AI&amp;DS, SAEC</a:t>
            </a:r>
            <a:endParaRPr/>
          </a:p>
        </p:txBody>
      </p:sp>
      <p:sp>
        <p:nvSpPr>
          <p:cNvPr id="14" name="Google Shape;14;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
          <p:cNvSpPr txBox="1">
            <a:spLocks noGrp="1"/>
          </p:cNvSpPr>
          <p:nvPr>
            <p:ph type="ctrTitle"/>
          </p:nvPr>
        </p:nvSpPr>
        <p:spPr>
          <a:xfrm>
            <a:off x="645160" y="373380"/>
            <a:ext cx="7219950" cy="13303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000"/>
              <a:buFont typeface="Times New Roman"/>
              <a:buNone/>
            </a:pPr>
            <a:r>
              <a:rPr lang="en-US" sz="2200" b="1">
                <a:latin typeface="Times New Roman"/>
                <a:ea typeface="Times New Roman"/>
                <a:cs typeface="Times New Roman"/>
                <a:sym typeface="Times New Roman"/>
              </a:rPr>
              <a:t>S.A. ENGINEERING COLLEGE- CHENNAI-77</a:t>
            </a:r>
            <a:br>
              <a:rPr lang="en-US" sz="2200" b="1">
                <a:latin typeface="Times New Roman"/>
                <a:ea typeface="Times New Roman"/>
                <a:cs typeface="Times New Roman"/>
                <a:sym typeface="Times New Roman"/>
              </a:rPr>
            </a:br>
            <a:r>
              <a:rPr lang="en-US" sz="1600" b="1">
                <a:latin typeface="Times New Roman"/>
                <a:ea typeface="Times New Roman"/>
                <a:cs typeface="Times New Roman"/>
                <a:sym typeface="Times New Roman"/>
              </a:rPr>
              <a:t>(Autonomous- Institute Level Research Centre, Affiliated to Anna University)</a:t>
            </a:r>
            <a:br>
              <a:rPr lang="en-US" sz="1800" b="1">
                <a:latin typeface="Times New Roman"/>
                <a:ea typeface="Times New Roman"/>
                <a:cs typeface="Times New Roman"/>
                <a:sym typeface="Times New Roman"/>
              </a:rPr>
            </a:br>
            <a:r>
              <a:rPr lang="en-US" sz="1700" b="1">
                <a:latin typeface="Times New Roman"/>
                <a:ea typeface="Times New Roman"/>
                <a:cs typeface="Times New Roman"/>
                <a:sym typeface="Times New Roman"/>
              </a:rPr>
              <a:t>DEPARTMENT OF ARTIFICIAL INTELLIGENCE &amp; DATA SCIENCE</a:t>
            </a:r>
            <a:endParaRPr sz="1700" b="1">
              <a:latin typeface="Times New Roman"/>
              <a:ea typeface="Times New Roman"/>
              <a:cs typeface="Times New Roman"/>
              <a:sym typeface="Times New Roman"/>
            </a:endParaRPr>
          </a:p>
        </p:txBody>
      </p:sp>
      <p:sp>
        <p:nvSpPr>
          <p:cNvPr id="95" name="Google Shape;95;p1"/>
          <p:cNvSpPr txBox="1">
            <a:spLocks noGrp="1"/>
          </p:cNvSpPr>
          <p:nvPr>
            <p:ph type="subTitle" idx="1"/>
          </p:nvPr>
        </p:nvSpPr>
        <p:spPr>
          <a:xfrm>
            <a:off x="508000" y="1757892"/>
            <a:ext cx="8077200" cy="9144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1800"/>
              <a:buNone/>
            </a:pPr>
            <a:r>
              <a:rPr lang="en-US" sz="2200" b="1" dirty="0">
                <a:solidFill>
                  <a:schemeClr val="dk1"/>
                </a:solidFill>
                <a:latin typeface="Times New Roman"/>
                <a:ea typeface="Times New Roman"/>
                <a:cs typeface="Times New Roman"/>
                <a:sym typeface="Times New Roman"/>
              </a:rPr>
              <a:t>AD1703A -  Project Phase-1</a:t>
            </a:r>
            <a:endParaRPr sz="2200" b="1" dirty="0">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ts val="1800"/>
              <a:buNone/>
            </a:pPr>
            <a:r>
              <a:rPr lang="en-US" sz="2200" b="1" dirty="0">
                <a:solidFill>
                  <a:schemeClr val="dk1"/>
                </a:solidFill>
                <a:latin typeface="Times New Roman"/>
                <a:ea typeface="Times New Roman"/>
                <a:cs typeface="Times New Roman"/>
                <a:sym typeface="Times New Roman"/>
              </a:rPr>
              <a:t>ZEROTH REVIEW</a:t>
            </a:r>
            <a:endParaRPr sz="2200" b="1" dirty="0">
              <a:solidFill>
                <a:schemeClr val="dk1"/>
              </a:solidFill>
              <a:latin typeface="Times New Roman"/>
              <a:ea typeface="Times New Roman"/>
              <a:cs typeface="Times New Roman"/>
              <a:sym typeface="Times New Roman"/>
            </a:endParaRPr>
          </a:p>
          <a:p>
            <a:pPr marL="0" lvl="0" indent="0" algn="ctr" rtl="0">
              <a:lnSpc>
                <a:spcPct val="100000"/>
              </a:lnSpc>
              <a:spcBef>
                <a:spcPts val="360"/>
              </a:spcBef>
              <a:spcAft>
                <a:spcPts val="0"/>
              </a:spcAft>
              <a:buClr>
                <a:schemeClr val="dk1"/>
              </a:buClr>
              <a:buSzPts val="1800"/>
              <a:buNone/>
            </a:pPr>
            <a:endParaRPr sz="1800" dirty="0">
              <a:solidFill>
                <a:schemeClr val="dk1"/>
              </a:solidFill>
              <a:latin typeface="Times New Roman"/>
              <a:ea typeface="Times New Roman"/>
              <a:cs typeface="Times New Roman"/>
              <a:sym typeface="Times New Roman"/>
            </a:endParaRPr>
          </a:p>
          <a:p>
            <a:pPr marL="0" lvl="0" indent="0" algn="ctr" rtl="0">
              <a:lnSpc>
                <a:spcPct val="100000"/>
              </a:lnSpc>
              <a:spcBef>
                <a:spcPts val="480"/>
              </a:spcBef>
              <a:spcAft>
                <a:spcPts val="0"/>
              </a:spcAft>
              <a:buClr>
                <a:srgbClr val="888888"/>
              </a:buClr>
              <a:buSzPts val="2400"/>
              <a:buNone/>
            </a:pPr>
            <a:endParaRPr sz="2400" dirty="0">
              <a:solidFill>
                <a:schemeClr val="dk1"/>
              </a:solidFill>
              <a:latin typeface="Times New Roman"/>
              <a:ea typeface="Times New Roman"/>
              <a:cs typeface="Times New Roman"/>
              <a:sym typeface="Times New Roman"/>
            </a:endParaRPr>
          </a:p>
          <a:p>
            <a:r>
              <a:rPr lang="en-US" sz="2200" dirty="0">
                <a:solidFill>
                  <a:srgbClr val="000000"/>
                </a:solidFill>
                <a:latin typeface="Times New Roman"/>
                <a:ea typeface="Times New Roman"/>
                <a:cs typeface="Times New Roman"/>
                <a:sym typeface="Times New Roman"/>
              </a:rPr>
              <a:t>TITLE : </a:t>
            </a:r>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AERIS </a:t>
            </a:r>
          </a:p>
          <a:p>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An Explainable Reasoning and Investigation System for Intelligent Aerospace Maintenance</a:t>
            </a:r>
          </a:p>
          <a:p>
            <a:pPr marL="0" lvl="0" indent="0" algn="ctr" rtl="0">
              <a:lnSpc>
                <a:spcPct val="100000"/>
              </a:lnSpc>
              <a:spcBef>
                <a:spcPts val="360"/>
              </a:spcBef>
              <a:spcAft>
                <a:spcPts val="0"/>
              </a:spcAft>
              <a:buClr>
                <a:srgbClr val="000000"/>
              </a:buClr>
              <a:buSzPts val="1800"/>
              <a:buNone/>
            </a:pPr>
            <a:endParaRPr sz="2200" b="0" i="0" u="none" strike="noStrike" dirty="0">
              <a:solidFill>
                <a:srgbClr val="000000"/>
              </a:solidFill>
              <a:latin typeface="Times New Roman"/>
              <a:ea typeface="Times New Roman"/>
              <a:cs typeface="Times New Roman"/>
              <a:sym typeface="Times New Roman"/>
            </a:endParaRPr>
          </a:p>
          <a:p>
            <a:pPr marL="0" lvl="0" indent="0" algn="ctr" rtl="0">
              <a:lnSpc>
                <a:spcPct val="100000"/>
              </a:lnSpc>
              <a:spcBef>
                <a:spcPts val="360"/>
              </a:spcBef>
              <a:spcAft>
                <a:spcPts val="0"/>
              </a:spcAft>
              <a:buClr>
                <a:srgbClr val="000000"/>
              </a:buClr>
              <a:buSzPts val="1800"/>
              <a:buNone/>
            </a:pPr>
            <a:endParaRPr sz="2200" b="0" i="0" u="none" strike="noStrike" dirty="0">
              <a:solidFill>
                <a:srgbClr val="000000"/>
              </a:solidFill>
              <a:latin typeface="Times New Roman"/>
              <a:ea typeface="Times New Roman"/>
              <a:cs typeface="Times New Roman"/>
              <a:sym typeface="Times New Roman"/>
            </a:endParaRPr>
          </a:p>
        </p:txBody>
      </p:sp>
      <p:sp>
        <p:nvSpPr>
          <p:cNvPr id="96" name="Google Shape;96;p1"/>
          <p:cNvSpPr txBox="1"/>
          <p:nvPr/>
        </p:nvSpPr>
        <p:spPr>
          <a:xfrm>
            <a:off x="1858536" y="2672295"/>
            <a:ext cx="5562600" cy="390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3200"/>
              <a:buFont typeface="Arial"/>
              <a:buNone/>
            </a:pPr>
            <a:r>
              <a:rPr lang="en-US" sz="2200" b="0" i="0" u="none" strike="noStrike" cap="none" dirty="0">
                <a:solidFill>
                  <a:schemeClr val="dk1"/>
                </a:solidFill>
                <a:latin typeface="Times New Roman"/>
                <a:ea typeface="Times New Roman"/>
                <a:cs typeface="Times New Roman"/>
                <a:sym typeface="Times New Roman"/>
              </a:rPr>
              <a:t>BATCH NUMBER :</a:t>
            </a:r>
            <a:r>
              <a:rPr lang="en-US" sz="2200" dirty="0">
                <a:solidFill>
                  <a:schemeClr val="dk1"/>
                </a:solidFill>
                <a:latin typeface="Times New Roman"/>
                <a:ea typeface="Times New Roman"/>
                <a:cs typeface="Times New Roman"/>
                <a:sym typeface="Times New Roman"/>
              </a:rPr>
              <a:t> 13</a:t>
            </a:r>
            <a:endParaRPr sz="2200" b="0" i="0" u="none" strike="noStrike" cap="none" dirty="0">
              <a:solidFill>
                <a:schemeClr val="dk1"/>
              </a:solidFill>
              <a:latin typeface="Times New Roman"/>
              <a:ea typeface="Times New Roman"/>
              <a:cs typeface="Times New Roman"/>
              <a:sym typeface="Times New Roman"/>
            </a:endParaRPr>
          </a:p>
        </p:txBody>
      </p:sp>
      <p:graphicFrame>
        <p:nvGraphicFramePr>
          <p:cNvPr id="97" name="Google Shape;97;p1"/>
          <p:cNvGraphicFramePr/>
          <p:nvPr>
            <p:extLst>
              <p:ext uri="{D42A27DB-BD31-4B8C-83A1-F6EECF244321}">
                <p14:modId xmlns:p14="http://schemas.microsoft.com/office/powerpoint/2010/main" val="2678088885"/>
              </p:ext>
            </p:extLst>
          </p:nvPr>
        </p:nvGraphicFramePr>
        <p:xfrm>
          <a:off x="398780" y="4185920"/>
          <a:ext cx="8135625" cy="2228870"/>
        </p:xfrm>
        <a:graphic>
          <a:graphicData uri="http://schemas.openxmlformats.org/drawingml/2006/table">
            <a:tbl>
              <a:tblPr firstRow="1" bandRow="1">
                <a:noFill/>
                <a:tableStyleId>{47879F58-94FC-4AB5-AACA-6E85711E4052}</a:tableStyleId>
              </a:tblPr>
              <a:tblGrid>
                <a:gridCol w="4425950">
                  <a:extLst>
                    <a:ext uri="{9D8B030D-6E8A-4147-A177-3AD203B41FA5}">
                      <a16:colId xmlns:a16="http://schemas.microsoft.com/office/drawing/2014/main" val="20000"/>
                    </a:ext>
                  </a:extLst>
                </a:gridCol>
                <a:gridCol w="3709675">
                  <a:extLst>
                    <a:ext uri="{9D8B030D-6E8A-4147-A177-3AD203B41FA5}">
                      <a16:colId xmlns:a16="http://schemas.microsoft.com/office/drawing/2014/main" val="20001"/>
                    </a:ext>
                  </a:extLst>
                </a:gridCol>
              </a:tblGrid>
              <a:tr h="3657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latin typeface="Times New Roman"/>
                          <a:ea typeface="Times New Roman"/>
                          <a:cs typeface="Times New Roman"/>
                          <a:sym typeface="Times New Roman"/>
                        </a:rPr>
                        <a:t>TEAM MEMBERS </a:t>
                      </a: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dirty="0">
                          <a:latin typeface="Times New Roman"/>
                          <a:ea typeface="Times New Roman"/>
                          <a:cs typeface="Times New Roman"/>
                          <a:sym typeface="Times New Roman"/>
                        </a:rPr>
                        <a:t>SUPERVISOR</a:t>
                      </a:r>
                    </a:p>
                  </a:txBody>
                  <a:tcPr marL="91450" marR="91450" marT="45725" marB="45725"/>
                </a:tc>
                <a:extLst>
                  <a:ext uri="{0D108BD9-81ED-4DB2-BD59-A6C34878D82A}">
                    <a16:rowId xmlns:a16="http://schemas.microsoft.com/office/drawing/2014/main" val="10000"/>
                  </a:ext>
                </a:extLst>
              </a:tr>
              <a:tr h="1863100">
                <a:tc>
                  <a:txBody>
                    <a:bodyPr/>
                    <a:lstStyle/>
                    <a:p>
                      <a:pPr marL="0" marR="0" lvl="0" indent="0" algn="l" rtl="0">
                        <a:lnSpc>
                          <a:spcPct val="100000"/>
                        </a:lnSpc>
                        <a:spcBef>
                          <a:spcPts val="0"/>
                        </a:spcBef>
                        <a:spcAft>
                          <a:spcPts val="0"/>
                        </a:spcAft>
                        <a:buClr>
                          <a:srgbClr val="000000"/>
                        </a:buClr>
                        <a:buSzPts val="1800"/>
                        <a:buFont typeface="Calibri"/>
                        <a:buNone/>
                      </a:pPr>
                      <a:r>
                        <a:rPr lang="en-US" sz="1800" u="sng" dirty="0">
                          <a:solidFill>
                            <a:schemeClr val="hlink"/>
                          </a:solidFill>
                          <a:latin typeface="Times New Roman"/>
                          <a:ea typeface="Times New Roman"/>
                          <a:cs typeface="Times New Roman"/>
                          <a:sym typeface="Times New Roman"/>
                        </a:rPr>
                        <a:t>111923AI01003</a:t>
                      </a:r>
                      <a:r>
                        <a:rPr lang="en-US" sz="1800" dirty="0">
                          <a:latin typeface="Times New Roman"/>
                          <a:ea typeface="Times New Roman"/>
                          <a:cs typeface="Times New Roman"/>
                          <a:sym typeface="Times New Roman"/>
                        </a:rPr>
                        <a:t> – ABIRAMI M</a:t>
                      </a:r>
                    </a:p>
                    <a:p>
                      <a:pPr marL="0" marR="0" lvl="0" indent="0" algn="l" rtl="0">
                        <a:lnSpc>
                          <a:spcPct val="100000"/>
                        </a:lnSpc>
                        <a:spcBef>
                          <a:spcPts val="0"/>
                        </a:spcBef>
                        <a:spcAft>
                          <a:spcPts val="0"/>
                        </a:spcAft>
                        <a:buClr>
                          <a:srgbClr val="000000"/>
                        </a:buClr>
                        <a:buSzPts val="1800"/>
                        <a:buFont typeface="Calibri"/>
                        <a:buNone/>
                      </a:pPr>
                      <a:endParaRPr lang="en-US" sz="1800" u="none" strike="noStrike" cap="none" dirty="0">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alibri"/>
                        <a:buNone/>
                        <a:tabLst/>
                        <a:defRPr/>
                      </a:pPr>
                      <a:r>
                        <a:rPr lang="en-US" sz="1800" u="sng" dirty="0">
                          <a:solidFill>
                            <a:schemeClr val="hlink"/>
                          </a:solidFill>
                          <a:latin typeface="Times New Roman"/>
                          <a:ea typeface="Times New Roman"/>
                          <a:cs typeface="Times New Roman"/>
                          <a:sym typeface="Times New Roman"/>
                        </a:rPr>
                        <a:t>111923AI01022</a:t>
                      </a:r>
                      <a:r>
                        <a:rPr lang="en-US" sz="1800" dirty="0">
                          <a:latin typeface="Times New Roman"/>
                          <a:ea typeface="Times New Roman"/>
                          <a:cs typeface="Times New Roman"/>
                          <a:sym typeface="Times New Roman"/>
                        </a:rPr>
                        <a:t> – DEVISHRI S</a:t>
                      </a:r>
                      <a:endParaRPr sz="18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Mrs. NATHIYA M,</a:t>
                      </a:r>
                    </a:p>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Assistant Professor,</a:t>
                      </a:r>
                    </a:p>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Department of AI&amp;DS</a:t>
                      </a:r>
                    </a:p>
                  </a:txBody>
                  <a:tcPr marL="91450" marR="91450" marT="45725" marB="45725"/>
                </a:tc>
                <a:extLst>
                  <a:ext uri="{0D108BD9-81ED-4DB2-BD59-A6C34878D82A}">
                    <a16:rowId xmlns:a16="http://schemas.microsoft.com/office/drawing/2014/main" val="1000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415250" y="117338"/>
            <a:ext cx="8229600" cy="1143000"/>
          </a:xfrm>
          <a:prstGeom prst="rect">
            <a:avLst/>
          </a:prstGeom>
          <a:noFill/>
          <a:ln>
            <a:noFill/>
          </a:ln>
        </p:spPr>
        <p:txBody>
          <a:bodyPr spcFirstLastPara="1" wrap="square" lIns="91425" tIns="45700" rIns="91425" bIns="45700" anchor="ctr" anchorCtr="0">
            <a:normAutofit/>
          </a:bodyPr>
          <a:lstStyle/>
          <a:p>
            <a:pPr>
              <a:buSzPts val="4400"/>
            </a:pPr>
            <a:r>
              <a:rPr lang="en-US" b="1" dirty="0">
                <a:latin typeface="Times New Roman" panose="02020603050405020304" pitchFamily="18" charset="0"/>
                <a:cs typeface="Times New Roman" panose="02020603050405020304" pitchFamily="18" charset="0"/>
                <a:sym typeface="Times New Roman"/>
              </a:rPr>
              <a:t>Agenda</a:t>
            </a:r>
            <a:endParaRPr b="1" dirty="0">
              <a:latin typeface="Times New Roman" panose="02020603050405020304" pitchFamily="18" charset="0"/>
              <a:cs typeface="Times New Roman" panose="02020603050405020304" pitchFamily="18" charset="0"/>
              <a:sym typeface="Times New Roman"/>
            </a:endParaRPr>
          </a:p>
        </p:txBody>
      </p:sp>
      <p:sp>
        <p:nvSpPr>
          <p:cNvPr id="103" name="Google Shape;103;p2"/>
          <p:cNvSpPr txBox="1">
            <a:spLocks noGrp="1"/>
          </p:cNvSpPr>
          <p:nvPr>
            <p:ph type="body" idx="1"/>
          </p:nvPr>
        </p:nvSpPr>
        <p:spPr>
          <a:xfrm>
            <a:off x="270500" y="789250"/>
            <a:ext cx="8519100" cy="5182200"/>
          </a:xfrm>
          <a:prstGeom prst="rect">
            <a:avLst/>
          </a:prstGeom>
          <a:noFill/>
          <a:ln>
            <a:noFill/>
          </a:ln>
        </p:spPr>
        <p:txBody>
          <a:bodyPr spcFirstLastPara="1" wrap="square" lIns="91425" tIns="45700" rIns="91425" bIns="45700" anchor="t" anchorCtr="0">
            <a:noAutofit/>
          </a:bodyPr>
          <a:lstStyle/>
          <a:p>
            <a:pPr marL="342900" lvl="0" indent="-342900" algn="l" rtl="0">
              <a:spcBef>
                <a:spcPts val="1000"/>
              </a:spcBef>
              <a:spcAft>
                <a:spcPts val="0"/>
              </a:spcAft>
              <a:buSzPts val="1800"/>
              <a:buFont typeface="Times New Roman"/>
              <a:buChar char="•"/>
            </a:pPr>
            <a:r>
              <a:rPr lang="en-US" sz="1800" dirty="0">
                <a:solidFill>
                  <a:srgbClr val="000000"/>
                </a:solidFill>
                <a:latin typeface="Times New Roman"/>
                <a:ea typeface="Times New Roman"/>
                <a:cs typeface="Times New Roman"/>
                <a:sym typeface="Times New Roman"/>
              </a:rPr>
              <a:t>Introduction</a:t>
            </a:r>
            <a:endParaRPr sz="1800"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Base Paper </a:t>
            </a:r>
            <a:r>
              <a:rPr lang="en-US" sz="1600" dirty="0">
                <a:solidFill>
                  <a:srgbClr val="000000"/>
                </a:solidFill>
                <a:latin typeface="Times New Roman"/>
                <a:ea typeface="Times New Roman"/>
                <a:cs typeface="Times New Roman"/>
                <a:sym typeface="Times New Roman"/>
              </a:rPr>
              <a:t>[ IEEE Transactions, ACM, springer, etc.. </a:t>
            </a:r>
            <a:r>
              <a:rPr lang="en-US" sz="1600" dirty="0">
                <a:solidFill>
                  <a:srgbClr val="FF0000"/>
                </a:solidFill>
                <a:latin typeface="Times New Roman"/>
                <a:ea typeface="Times New Roman"/>
                <a:cs typeface="Times New Roman"/>
                <a:sym typeface="Times New Roman"/>
              </a:rPr>
              <a:t>Note: base paper should not be conference or survey paper</a:t>
            </a:r>
            <a:r>
              <a:rPr lang="en-US" sz="1600" dirty="0">
                <a:solidFill>
                  <a:srgbClr val="000000"/>
                </a:solidFill>
                <a:latin typeface="Times New Roman"/>
                <a:ea typeface="Times New Roman"/>
                <a:cs typeface="Times New Roman"/>
                <a:sym typeface="Times New Roman"/>
              </a:rPr>
              <a:t>]</a:t>
            </a:r>
            <a:endParaRPr sz="1600"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Abstract</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Scope and Motivation</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Literature Survey </a:t>
            </a:r>
            <a:r>
              <a:rPr lang="en-US" sz="1400" dirty="0">
                <a:solidFill>
                  <a:srgbClr val="000000"/>
                </a:solidFill>
                <a:latin typeface="Times New Roman"/>
                <a:ea typeface="Times New Roman"/>
                <a:cs typeface="Times New Roman"/>
                <a:sym typeface="Times New Roman"/>
              </a:rPr>
              <a:t>[ Authors, year, journal/conference name, findings, limitations in table - min 10 papers]</a:t>
            </a:r>
            <a:endParaRPr sz="14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Objectives / Problem Statement [</a:t>
            </a:r>
            <a:r>
              <a:rPr lang="en-US" sz="1400" dirty="0">
                <a:solidFill>
                  <a:srgbClr val="000000"/>
                </a:solidFill>
                <a:latin typeface="Times New Roman"/>
                <a:ea typeface="Times New Roman"/>
                <a:cs typeface="Times New Roman"/>
                <a:sym typeface="Times New Roman"/>
              </a:rPr>
              <a:t> Minimum 3 objectives</a:t>
            </a:r>
            <a:r>
              <a:rPr lang="en-US" sz="1800" dirty="0">
                <a:solidFill>
                  <a:srgbClr val="000000"/>
                </a:solidFill>
                <a:latin typeface="Times New Roman"/>
                <a:ea typeface="Times New Roman"/>
                <a:cs typeface="Times New Roman"/>
                <a:sym typeface="Times New Roman"/>
              </a:rPr>
              <a:t>]</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SDG Mapping and description</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Proposed Work</a:t>
            </a:r>
            <a:endParaRPr sz="1800" dirty="0">
              <a:solidFill>
                <a:srgbClr val="000000"/>
              </a:solidFill>
              <a:latin typeface="Times New Roman"/>
              <a:ea typeface="Times New Roman"/>
              <a:cs typeface="Times New Roman"/>
              <a:sym typeface="Times New Roman"/>
            </a:endParaRPr>
          </a:p>
          <a:p>
            <a:pPr marL="742950" lvl="1" indent="-3175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Architecture Diagram/Flow Diagram/Block Diagram</a:t>
            </a:r>
            <a:endParaRPr sz="1800" dirty="0">
              <a:solidFill>
                <a:srgbClr val="000000"/>
              </a:solidFill>
              <a:latin typeface="Times New Roman"/>
              <a:ea typeface="Times New Roman"/>
              <a:cs typeface="Times New Roman"/>
              <a:sym typeface="Times New Roman"/>
            </a:endParaRPr>
          </a:p>
          <a:p>
            <a:pPr marL="742950" lvl="1" indent="-3175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Modules</a:t>
            </a:r>
            <a:endParaRPr sz="1800" dirty="0">
              <a:solidFill>
                <a:srgbClr val="000000"/>
              </a:solidFill>
              <a:latin typeface="Times New Roman"/>
              <a:ea typeface="Times New Roman"/>
              <a:cs typeface="Times New Roman"/>
              <a:sym typeface="Times New Roman"/>
            </a:endParaRPr>
          </a:p>
          <a:p>
            <a:pPr marL="742950" lvl="1" indent="-3175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Module Description</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Software &amp; Hardware Requirements</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References [</a:t>
            </a:r>
            <a:r>
              <a:rPr lang="en-US" sz="1400" dirty="0">
                <a:solidFill>
                  <a:srgbClr val="000000"/>
                </a:solidFill>
                <a:latin typeface="Times New Roman"/>
                <a:ea typeface="Times New Roman"/>
                <a:cs typeface="Times New Roman"/>
                <a:sym typeface="Times New Roman"/>
              </a:rPr>
              <a:t> should include 10 references and follow MLA/ IEEE format</a:t>
            </a:r>
            <a:r>
              <a:rPr lang="en-US" sz="1800" dirty="0">
                <a:solidFill>
                  <a:srgbClr val="000000"/>
                </a:solidFill>
                <a:latin typeface="Times New Roman"/>
                <a:ea typeface="Times New Roman"/>
                <a:cs typeface="Times New Roman"/>
                <a:sym typeface="Times New Roman"/>
              </a:rPr>
              <a:t> ] </a:t>
            </a:r>
            <a:endParaRPr sz="1800" dirty="0">
              <a:solidFill>
                <a:srgbClr val="000000"/>
              </a:solidFill>
              <a:latin typeface="Times New Roman"/>
              <a:ea typeface="Times New Roman"/>
              <a:cs typeface="Times New Roman"/>
              <a:sym typeface="Times New Roman"/>
            </a:endParaRPr>
          </a:p>
          <a:p>
            <a:pPr marL="342900" lvl="0" indent="0" algn="l" rtl="0">
              <a:lnSpc>
                <a:spcPct val="100000"/>
              </a:lnSpc>
              <a:spcBef>
                <a:spcPts val="1000"/>
              </a:spcBef>
              <a:spcAft>
                <a:spcPts val="0"/>
              </a:spcAft>
              <a:buSzPts val="1800"/>
              <a:buNone/>
            </a:pPr>
            <a:endParaRPr sz="1800" dirty="0">
              <a:solidFill>
                <a:srgbClr val="000000"/>
              </a:solidFill>
              <a:latin typeface="Times New Roman"/>
              <a:ea typeface="Times New Roman"/>
              <a:cs typeface="Times New Roman"/>
              <a:sym typeface="Times New Roman"/>
            </a:endParaRPr>
          </a:p>
          <a:p>
            <a:pPr marL="342900" lvl="0" indent="-154940" algn="l" rtl="0">
              <a:lnSpc>
                <a:spcPct val="100000"/>
              </a:lnSpc>
              <a:spcBef>
                <a:spcPts val="590"/>
              </a:spcBef>
              <a:spcAft>
                <a:spcPts val="0"/>
              </a:spcAft>
              <a:buClr>
                <a:schemeClr val="dk1"/>
              </a:buClr>
              <a:buSzPts val="3200"/>
              <a:buNone/>
            </a:pPr>
            <a:endParaRPr sz="1800" dirty="0">
              <a:solidFill>
                <a:srgbClr val="000000"/>
              </a:solidFill>
              <a:latin typeface="Times New Roman"/>
              <a:ea typeface="Times New Roman"/>
              <a:cs typeface="Times New Roman"/>
              <a:sym typeface="Times New Roman"/>
            </a:endParaRPr>
          </a:p>
        </p:txBody>
      </p:sp>
      <p:sp>
        <p:nvSpPr>
          <p:cNvPr id="105" name="Google Shape;105;p2"/>
          <p:cNvSpPr txBox="1">
            <a:spLocks noGrp="1"/>
          </p:cNvSpPr>
          <p:nvPr>
            <p:ph type="dt" idx="10"/>
          </p:nvPr>
        </p:nvSpPr>
        <p:spPr>
          <a:xfrm>
            <a:off x="457200" y="6386513"/>
            <a:ext cx="2133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100">
                <a:latin typeface="Times New Roman" panose="02020603050405020304" pitchFamily="18" charset="0"/>
                <a:cs typeface="Times New Roman" panose="02020603050405020304" pitchFamily="18" charset="0"/>
              </a:rPr>
              <a:t>20/07/2026</a:t>
            </a:r>
            <a:endParaRPr sz="1100" dirty="0">
              <a:latin typeface="Times New Roman" panose="02020603050405020304" pitchFamily="18" charset="0"/>
              <a:cs typeface="Times New Roman" panose="02020603050405020304" pitchFamily="18" charset="0"/>
            </a:endParaRPr>
          </a:p>
        </p:txBody>
      </p:sp>
      <p:sp>
        <p:nvSpPr>
          <p:cNvPr id="106" name="Google Shape;106;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atin typeface="Times New Roman" panose="02020603050405020304" pitchFamily="18" charset="0"/>
                <a:cs typeface="Times New Roman" panose="02020603050405020304" pitchFamily="18" charset="0"/>
              </a:rPr>
              <a:t>2</a:t>
            </a:fld>
            <a:endParaRPr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idx="11"/>
          </p:nvPr>
        </p:nvSpPr>
        <p:spPr/>
        <p:txBody>
          <a:bodyPr/>
          <a:lstStyle/>
          <a:p>
            <a:r>
              <a:rPr lang="en-US" sz="105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Introduction</a:t>
            </a:r>
            <a:endParaRPr b="1" dirty="0">
              <a:latin typeface="Times New Roman" panose="02020603050405020304" pitchFamily="18" charset="0"/>
              <a:cs typeface="Times New Roman" panose="02020603050405020304" pitchFamily="18" charset="0"/>
            </a:endParaRPr>
          </a:p>
        </p:txBody>
      </p:sp>
      <p:sp>
        <p:nvSpPr>
          <p:cNvPr id="115" name="Google Shape;115;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114300" indent="0">
              <a:buNone/>
            </a:pPr>
            <a:r>
              <a:rPr lang="en-IN" sz="2400" dirty="0">
                <a:latin typeface="Times New Roman" panose="02020603050405020304" pitchFamily="18" charset="0"/>
                <a:cs typeface="Times New Roman" panose="02020603050405020304" pitchFamily="18" charset="0"/>
              </a:rPr>
              <a:t>Aircraft component failures pose significant challenges to aviation safety, operational reliability, and maintenance costs. </a:t>
            </a:r>
            <a:r>
              <a:rPr lang="en-IN" sz="2400" b="1" dirty="0">
                <a:latin typeface="Times New Roman" panose="02020603050405020304" pitchFamily="18" charset="0"/>
                <a:cs typeface="Times New Roman" panose="02020603050405020304" pitchFamily="18" charset="0"/>
              </a:rPr>
              <a:t>AERIS is an AI-powered Evidence-Driven Investigation Platform that goes beyond conventional predictive maintenance by identifying what is likely to fail, when it may fail, and why it may happen.</a:t>
            </a:r>
            <a:r>
              <a:rPr lang="en-IN" sz="2400" dirty="0">
                <a:latin typeface="Times New Roman" panose="02020603050405020304" pitchFamily="18" charset="0"/>
                <a:cs typeface="Times New Roman" panose="02020603050405020304" pitchFamily="18" charset="0"/>
              </a:rPr>
              <a:t> By combining aircraft sensor data, maintenance records, historical failure cases, causal knowledge, and technical documents, the system investigates potential root causes, fuses supporting and conflicting evidence, and generates explainable investigation reports with actionable maintenance recommendations.</a:t>
            </a:r>
          </a:p>
        </p:txBody>
      </p:sp>
      <p:sp>
        <p:nvSpPr>
          <p:cNvPr id="2" name="Date Placeholder 1"/>
          <p:cNvSpPr>
            <a:spLocks noGrp="1"/>
          </p:cNvSpPr>
          <p:nvPr>
            <p:ph type="dt" idx="10"/>
          </p:nvPr>
        </p:nvSpPr>
        <p:spPr/>
        <p:txBody>
          <a:bodyPr/>
          <a:lstStyle/>
          <a:p>
            <a:r>
              <a:rPr lang="en-US"/>
              <a:t>20/07/2026</a:t>
            </a:r>
            <a:endParaRPr lang="en-US"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4" name="Footer Placeholder 3"/>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g3f4fb01c2df_0_0"/>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a:buSzPts val="4400"/>
            </a:pPr>
            <a:r>
              <a:rPr lang="en-US" b="1" dirty="0">
                <a:latin typeface="Times New Roman" panose="02020603050405020304" pitchFamily="18" charset="0"/>
                <a:cs typeface="Times New Roman" panose="02020603050405020304" pitchFamily="18" charset="0"/>
                <a:sym typeface="Times New Roman"/>
              </a:rPr>
              <a:t>Base Paper</a:t>
            </a:r>
            <a:endParaRPr b="1" dirty="0">
              <a:latin typeface="Times New Roman" panose="02020603050405020304" pitchFamily="18" charset="0"/>
              <a:cs typeface="Times New Roman" panose="02020603050405020304" pitchFamily="18" charset="0"/>
              <a:sym typeface="Times New Roman"/>
            </a:endParaRPr>
          </a:p>
        </p:txBody>
      </p:sp>
      <p:sp>
        <p:nvSpPr>
          <p:cNvPr id="122" name="Google Shape;122;g3f4fb01c2df_0_0"/>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a:bodyPr>
          <a:lstStyle/>
          <a:p>
            <a:pPr marL="0" lvl="0" indent="0">
              <a:buNone/>
            </a:pPr>
            <a:r>
              <a:rPr lang="en-US" sz="2400" b="1" dirty="0">
                <a:latin typeface="Times New Roman"/>
                <a:ea typeface="Times New Roman"/>
                <a:cs typeface="Times New Roman"/>
                <a:sym typeface="Times New Roman"/>
              </a:rPr>
              <a:t>TITLE </a:t>
            </a:r>
            <a:r>
              <a:rPr lang="en-US" sz="2400" dirty="0">
                <a:latin typeface="Times New Roman"/>
                <a:ea typeface="Times New Roman"/>
                <a:cs typeface="Times New Roman"/>
                <a:sym typeface="Times New Roman"/>
              </a:rPr>
              <a:t>: </a:t>
            </a:r>
            <a:r>
              <a:rPr lang="en-IN" sz="2400" dirty="0">
                <a:latin typeface="Times New Roman" panose="02020603050405020304" pitchFamily="18" charset="0"/>
                <a:cs typeface="Times New Roman" panose="02020603050405020304" pitchFamily="18" charset="0"/>
              </a:rPr>
              <a:t>Fault inference diagnosis based on causal network and large language model-enhanced knowledge graph network</a:t>
            </a:r>
            <a:endParaRPr sz="2400" dirty="0">
              <a:latin typeface="Times New Roman" panose="02020603050405020304" pitchFamily="18" charset="0"/>
              <a:ea typeface="Times New Roman"/>
              <a:cs typeface="Times New Roman" panose="02020603050405020304" pitchFamily="18" charset="0"/>
              <a:sym typeface="Times New Roman"/>
            </a:endParaRPr>
          </a:p>
          <a:p>
            <a:pPr marL="0" lvl="0" indent="0" algn="l" rtl="0">
              <a:spcBef>
                <a:spcPts val="360"/>
              </a:spcBef>
              <a:spcAft>
                <a:spcPts val="0"/>
              </a:spcAft>
              <a:buNone/>
            </a:pPr>
            <a:r>
              <a:rPr lang="en-US" sz="2400" b="1" dirty="0">
                <a:latin typeface="Times New Roman"/>
                <a:ea typeface="Times New Roman"/>
                <a:cs typeface="Times New Roman"/>
                <a:sym typeface="Times New Roman"/>
              </a:rPr>
              <a:t>YEAR</a:t>
            </a:r>
            <a:r>
              <a:rPr lang="en-US" sz="2400" dirty="0">
                <a:latin typeface="Times New Roman"/>
                <a:ea typeface="Times New Roman"/>
                <a:cs typeface="Times New Roman"/>
                <a:sym typeface="Times New Roman"/>
              </a:rPr>
              <a:t> : 2026</a:t>
            </a:r>
            <a:endParaRPr sz="2400" dirty="0">
              <a:latin typeface="Times New Roman"/>
              <a:ea typeface="Times New Roman"/>
              <a:cs typeface="Times New Roman"/>
              <a:sym typeface="Times New Roman"/>
            </a:endParaRPr>
          </a:p>
          <a:p>
            <a:pPr marL="0" lvl="0" indent="0">
              <a:buNone/>
            </a:pPr>
            <a:r>
              <a:rPr lang="en-US" sz="2400" b="1" dirty="0">
                <a:latin typeface="Times New Roman"/>
                <a:ea typeface="Times New Roman"/>
                <a:cs typeface="Times New Roman"/>
                <a:sym typeface="Times New Roman"/>
              </a:rPr>
              <a:t>JOURNAL NAME</a:t>
            </a:r>
            <a:r>
              <a:rPr lang="en-US" sz="2400" dirty="0">
                <a:latin typeface="Times New Roman"/>
                <a:ea typeface="Times New Roman"/>
                <a:cs typeface="Times New Roman"/>
                <a:sym typeface="Times New Roman"/>
              </a:rPr>
              <a:t>: </a:t>
            </a:r>
            <a:r>
              <a:rPr lang="en-IN" sz="2400" dirty="0">
                <a:latin typeface="Times New Roman" panose="02020603050405020304" pitchFamily="18" charset="0"/>
                <a:cs typeface="Times New Roman" panose="02020603050405020304" pitchFamily="18" charset="0"/>
              </a:rPr>
              <a:t>Chinese Journal of Mechanical Engineering</a:t>
            </a:r>
            <a:endParaRPr sz="2400" dirty="0">
              <a:latin typeface="Times New Roman" panose="02020603050405020304" pitchFamily="18" charset="0"/>
              <a:ea typeface="Times New Roman"/>
              <a:cs typeface="Times New Roman" panose="02020603050405020304" pitchFamily="18" charset="0"/>
              <a:sym typeface="Times New Roman"/>
            </a:endParaRPr>
          </a:p>
          <a:p>
            <a:pPr marL="0" lvl="0" indent="0">
              <a:buNone/>
            </a:pPr>
            <a:r>
              <a:rPr lang="en-US" sz="2400" b="1" dirty="0">
                <a:latin typeface="Times New Roman"/>
                <a:ea typeface="Times New Roman"/>
                <a:cs typeface="Times New Roman"/>
                <a:sym typeface="Times New Roman"/>
              </a:rPr>
              <a:t>ARTICLE TYPE </a:t>
            </a:r>
            <a:r>
              <a:rPr lang="en-US" sz="2400" dirty="0">
                <a:latin typeface="Times New Roman" panose="02020603050405020304" pitchFamily="18" charset="0"/>
                <a:ea typeface="Times New Roman"/>
                <a:cs typeface="Times New Roman" panose="02020603050405020304" pitchFamily="18" charset="0"/>
                <a:sym typeface="Times New Roman"/>
              </a:rPr>
              <a:t>: </a:t>
            </a:r>
            <a:r>
              <a:rPr lang="en-IN" sz="2400" dirty="0">
                <a:latin typeface="Times New Roman" panose="02020603050405020304" pitchFamily="18" charset="0"/>
                <a:cs typeface="Times New Roman" panose="02020603050405020304" pitchFamily="18" charset="0"/>
              </a:rPr>
              <a:t>Original Research Article</a:t>
            </a:r>
          </a:p>
          <a:p>
            <a:pPr marL="0" lvl="0" indent="0">
              <a:buNone/>
            </a:pPr>
            <a:endParaRPr lang="en-IN" sz="2400" dirty="0">
              <a:latin typeface="Times New Roman" panose="02020603050405020304" pitchFamily="18" charset="0"/>
              <a:cs typeface="Times New Roman" panose="02020603050405020304" pitchFamily="18" charset="0"/>
            </a:endParaRPr>
          </a:p>
          <a:p>
            <a:pPr marL="0" lvl="0" indent="0">
              <a:buNone/>
            </a:pPr>
            <a:r>
              <a:rPr lang="en-IN" sz="1800" dirty="0">
                <a:latin typeface="Times New Roman" panose="02020603050405020304" pitchFamily="18" charset="0"/>
                <a:cs typeface="Times New Roman" panose="02020603050405020304" pitchFamily="18" charset="0"/>
              </a:rPr>
              <a:t>The base paper proposes a </a:t>
            </a:r>
            <a:r>
              <a:rPr lang="en-IN" sz="1800" b="1" dirty="0">
                <a:latin typeface="Times New Roman" panose="02020603050405020304" pitchFamily="18" charset="0"/>
                <a:cs typeface="Times New Roman" panose="02020603050405020304" pitchFamily="18" charset="0"/>
              </a:rPr>
              <a:t>CN-LLM-KGN</a:t>
            </a:r>
            <a:r>
              <a:rPr lang="en-IN" sz="1800" dirty="0">
                <a:latin typeface="Times New Roman" panose="02020603050405020304" pitchFamily="18" charset="0"/>
                <a:cs typeface="Times New Roman" panose="02020603050405020304" pitchFamily="18" charset="0"/>
              </a:rPr>
              <a:t> framework that integrates </a:t>
            </a:r>
            <a:r>
              <a:rPr lang="en-IN" sz="1800" b="1" dirty="0">
                <a:latin typeface="Times New Roman" panose="02020603050405020304" pitchFamily="18" charset="0"/>
                <a:cs typeface="Times New Roman" panose="02020603050405020304" pitchFamily="18" charset="0"/>
              </a:rPr>
              <a:t>Causal Networks (CN), Knowledge Graphs (KG), and Large Language Models (LLMs)</a:t>
            </a:r>
            <a:r>
              <a:rPr lang="en-IN" sz="1800" dirty="0">
                <a:latin typeface="Times New Roman" panose="02020603050405020304" pitchFamily="18" charset="0"/>
                <a:cs typeface="Times New Roman" panose="02020603050405020304" pitchFamily="18" charset="0"/>
              </a:rPr>
              <a:t> to perform </a:t>
            </a:r>
            <a:r>
              <a:rPr lang="en-IN" sz="1800" b="1" dirty="0">
                <a:latin typeface="Times New Roman" panose="02020603050405020304" pitchFamily="18" charset="0"/>
                <a:cs typeface="Times New Roman" panose="02020603050405020304" pitchFamily="18" charset="0"/>
              </a:rPr>
              <a:t>fault diagnosis and root cause localization</a:t>
            </a:r>
            <a:r>
              <a:rPr lang="en-IN" sz="1800" dirty="0">
                <a:latin typeface="Times New Roman" panose="02020603050405020304" pitchFamily="18" charset="0"/>
                <a:cs typeface="Times New Roman" panose="02020603050405020304" pitchFamily="18" charset="0"/>
              </a:rPr>
              <a:t> in rotating machinery. It improves explainability by identifying causal relationships behind equipment failures and achieved </a:t>
            </a:r>
            <a:r>
              <a:rPr lang="en-IN" sz="1800" b="1" dirty="0">
                <a:latin typeface="Times New Roman" panose="02020603050405020304" pitchFamily="18" charset="0"/>
                <a:cs typeface="Times New Roman" panose="02020603050405020304" pitchFamily="18" charset="0"/>
              </a:rPr>
              <a:t>81.12% root cause localization accuracy</a:t>
            </a:r>
            <a:r>
              <a:rPr lang="en-IN"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ea typeface="Times New Roman"/>
              <a:cs typeface="Times New Roman" panose="02020603050405020304" pitchFamily="18" charset="0"/>
              <a:sym typeface="Times New Roman"/>
            </a:endParaRPr>
          </a:p>
        </p:txBody>
      </p:sp>
      <p:sp>
        <p:nvSpPr>
          <p:cNvPr id="123" name="Google Shape;123;g3f4fb01c2df_0_0"/>
          <p:cNvSpPr txBox="1">
            <a:spLocks noGrp="1"/>
          </p:cNvSpPr>
          <p:nvPr>
            <p:ph type="sldNum" idx="12"/>
          </p:nvPr>
        </p:nvSpPr>
        <p:spPr>
          <a:xfrm>
            <a:off x="6553200" y="635635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
        <p:nvSpPr>
          <p:cNvPr id="2" name="Date Placeholder 1"/>
          <p:cNvSpPr>
            <a:spLocks noGrp="1"/>
          </p:cNvSpPr>
          <p:nvPr>
            <p:ph type="dt" idx="10"/>
          </p:nvPr>
        </p:nvSpPr>
        <p:spPr/>
        <p:txBody>
          <a:bodyPr/>
          <a:lstStyle/>
          <a:p>
            <a:r>
              <a:rPr lang="en-US"/>
              <a:t>20/07/2026</a:t>
            </a:r>
          </a:p>
        </p:txBody>
      </p:sp>
      <p:sp>
        <p:nvSpPr>
          <p:cNvPr id="4" name="Footer Placeholder 3"/>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dirty="0">
                <a:latin typeface="Times New Roman" panose="02020603050405020304" pitchFamily="18" charset="0"/>
                <a:cs typeface="Times New Roman" panose="02020603050405020304" pitchFamily="18" charset="0"/>
              </a:rPr>
              <a:t>Abstract</a:t>
            </a:r>
            <a:endParaRPr b="1" dirty="0">
              <a:latin typeface="Times New Roman" panose="02020603050405020304" pitchFamily="18" charset="0"/>
              <a:cs typeface="Times New Roman" panose="02020603050405020304" pitchFamily="18" charset="0"/>
            </a:endParaRPr>
          </a:p>
        </p:txBody>
      </p:sp>
      <p:sp>
        <p:nvSpPr>
          <p:cNvPr id="129" name="Google Shape;129;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114300" lvl="0" indent="0" algn="just">
              <a:buNone/>
            </a:pPr>
            <a:r>
              <a:rPr lang="en-IN" sz="2400" dirty="0">
                <a:latin typeface="Times New Roman" panose="02020603050405020304" pitchFamily="18" charset="0"/>
                <a:cs typeface="Times New Roman" panose="02020603050405020304" pitchFamily="18" charset="0"/>
              </a:rPr>
              <a:t>Aircraft component failures pose significant challenges to aviation safety, operational reliability, and maintenance costs. The proposed system investigates potential failures by </a:t>
            </a:r>
            <a:r>
              <a:rPr lang="en-IN" sz="2400" dirty="0" err="1">
                <a:latin typeface="Times New Roman" panose="02020603050405020304" pitchFamily="18" charset="0"/>
                <a:cs typeface="Times New Roman" panose="02020603050405020304" pitchFamily="18" charset="0"/>
              </a:rPr>
              <a:t>analyzing</a:t>
            </a:r>
            <a:r>
              <a:rPr lang="en-IN" sz="2400" dirty="0">
                <a:latin typeface="Times New Roman" panose="02020603050405020304" pitchFamily="18" charset="0"/>
                <a:cs typeface="Times New Roman" panose="02020603050405020304" pitchFamily="18" charset="0"/>
              </a:rPr>
              <a:t> sensor data, maintenance records, historical failure cases, causal relationships, and technical documents. A time-series model identifies abnormal </a:t>
            </a:r>
            <a:r>
              <a:rPr lang="en-IN" sz="2400" dirty="0" err="1">
                <a:latin typeface="Times New Roman" panose="02020603050405020304" pitchFamily="18" charset="0"/>
                <a:cs typeface="Times New Roman" panose="02020603050405020304" pitchFamily="18" charset="0"/>
              </a:rPr>
              <a:t>behavior</a:t>
            </a:r>
            <a:r>
              <a:rPr lang="en-IN" sz="2400" dirty="0">
                <a:latin typeface="Times New Roman" panose="02020603050405020304" pitchFamily="18" charset="0"/>
                <a:cs typeface="Times New Roman" panose="02020603050405020304" pitchFamily="18" charset="0"/>
              </a:rPr>
              <a:t> and potential degradation, while causal reasoning and knowledge graphs explore possible failure causes. Dempster-Shafer evidence fusion combines supporting and conflicting evidence to generate reliable root-cause hypotheses. Finally, RAG and LLM-based report generation provide explainable findings and actionable maintenance recommendations for maintenance engineers.</a:t>
            </a:r>
            <a:endParaRPr sz="2400" dirty="0">
              <a:latin typeface="Times New Roman" panose="02020603050405020304" pitchFamily="18" charset="0"/>
              <a:ea typeface="Times New Roman"/>
              <a:cs typeface="Times New Roman" panose="02020603050405020304" pitchFamily="18" charset="0"/>
              <a:sym typeface="Times New Roman"/>
            </a:endParaRPr>
          </a:p>
        </p:txBody>
      </p:sp>
      <p:sp>
        <p:nvSpPr>
          <p:cNvPr id="130" name="Google Shape;130;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32" name="Google Shape;132;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8" name="Google Shape;138;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Scope and Motivation</a:t>
            </a:r>
            <a:endParaRPr b="1" dirty="0">
              <a:latin typeface="Times New Roman" panose="02020603050405020304" pitchFamily="18" charset="0"/>
              <a:cs typeface="Times New Roman" panose="02020603050405020304" pitchFamily="18" charset="0"/>
            </a:endParaRPr>
          </a:p>
        </p:txBody>
      </p:sp>
      <p:sp>
        <p:nvSpPr>
          <p:cNvPr id="139" name="Google Shape;139;p4"/>
          <p:cNvSpPr txBox="1">
            <a:spLocks noGrp="1"/>
          </p:cNvSpPr>
          <p:nvPr>
            <p:ph type="body" idx="1"/>
          </p:nvPr>
        </p:nvSpPr>
        <p:spPr>
          <a:xfrm>
            <a:off x="457200" y="1295400"/>
            <a:ext cx="8229600" cy="5203723"/>
          </a:xfrm>
          <a:prstGeom prst="rect">
            <a:avLst/>
          </a:prstGeom>
          <a:noFill/>
          <a:ln>
            <a:noFill/>
          </a:ln>
        </p:spPr>
        <p:txBody>
          <a:bodyPr spcFirstLastPara="1" wrap="square" lIns="91425" tIns="45700" rIns="91425" bIns="45700" anchor="t" anchorCtr="0">
            <a:noAutofit/>
          </a:bodyPr>
          <a:lstStyle/>
          <a:p>
            <a:pPr marL="342900" lvl="0" indent="-154940" algn="just">
              <a:lnSpc>
                <a:spcPct val="150000"/>
              </a:lnSpc>
              <a:spcBef>
                <a:spcPts val="590"/>
              </a:spcBef>
              <a:buSzPts val="2000"/>
              <a:buNone/>
            </a:pPr>
            <a:r>
              <a:rPr lang="en-US" sz="2000" b="1" dirty="0">
                <a:latin typeface="Times New Roman" panose="02020603050405020304" pitchFamily="18" charset="0"/>
                <a:ea typeface="Times New Roman"/>
                <a:cs typeface="Times New Roman" panose="02020603050405020304" pitchFamily="18" charset="0"/>
                <a:sym typeface="Times New Roman"/>
              </a:rPr>
              <a:t>Scope: </a:t>
            </a:r>
            <a:r>
              <a:rPr lang="en-IN" sz="2000" dirty="0">
                <a:latin typeface="Times New Roman" panose="02020603050405020304" pitchFamily="18" charset="0"/>
                <a:cs typeface="Times New Roman" panose="02020603050405020304" pitchFamily="18" charset="0"/>
              </a:rPr>
              <a:t>AERIS focuses on AI-driven investigation of aircraft component failures, covering failure detection, root-cause investigation, evidence analysis, and maintenance decision support. The system is intended for use by aircraft maintenance engineers to assist in failure investigation and assessment.</a:t>
            </a:r>
          </a:p>
          <a:p>
            <a:pPr marL="342900" lvl="0" indent="-154940" algn="just">
              <a:lnSpc>
                <a:spcPct val="150000"/>
              </a:lnSpc>
              <a:spcBef>
                <a:spcPts val="590"/>
              </a:spcBef>
              <a:buSzPts val="2000"/>
              <a:buNone/>
            </a:pPr>
            <a:r>
              <a:rPr lang="en-US" sz="2000" b="1" dirty="0">
                <a:latin typeface="Times New Roman" panose="02020603050405020304" pitchFamily="18" charset="0"/>
                <a:ea typeface="Times New Roman"/>
                <a:cs typeface="Times New Roman" panose="02020603050405020304" pitchFamily="18" charset="0"/>
                <a:sym typeface="Times New Roman"/>
              </a:rPr>
              <a:t>Motivation:</a:t>
            </a:r>
            <a:r>
              <a:rPr lang="en-US" sz="2000" dirty="0">
                <a:latin typeface="Times New Roman" panose="02020603050405020304" pitchFamily="18" charset="0"/>
                <a:ea typeface="Times New Roman"/>
                <a:cs typeface="Times New Roman" panose="02020603050405020304" pitchFamily="18" charset="0"/>
                <a:sym typeface="Times New Roman"/>
              </a:rPr>
              <a:t> </a:t>
            </a:r>
            <a:r>
              <a:rPr lang="en-IN" sz="2000" dirty="0">
                <a:latin typeface="Times New Roman" panose="02020603050405020304" pitchFamily="18" charset="0"/>
                <a:cs typeface="Times New Roman" panose="02020603050405020304" pitchFamily="18" charset="0"/>
              </a:rPr>
              <a:t>Existing predictive maintenance approaches mainly focus on detecting or predicting failures, leaving engineers to investigate the reasons separately. AERIS is motivated by the need for a transparent system that can connect different sources of evidence and support engineers in understanding potential failure causes and making informed maintenance decisions.</a:t>
            </a:r>
            <a:endParaRPr lang="en-US" sz="2000" dirty="0">
              <a:latin typeface="Times New Roman" panose="02020603050405020304" pitchFamily="18" charset="0"/>
              <a:ea typeface="Times New Roman"/>
              <a:cs typeface="Times New Roman" panose="02020603050405020304" pitchFamily="18" charset="0"/>
              <a:sym typeface="Times New Roman"/>
            </a:endParaRPr>
          </a:p>
        </p:txBody>
      </p:sp>
      <p:sp>
        <p:nvSpPr>
          <p:cNvPr id="141" name="Google Shape;141;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42" name="Google Shape;142;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6"/>
          <p:cNvSpPr txBox="1">
            <a:spLocks noGrp="1"/>
          </p:cNvSpPr>
          <p:nvPr>
            <p:ph type="title"/>
          </p:nvPr>
        </p:nvSpPr>
        <p:spPr>
          <a:xfrm>
            <a:off x="457200" y="-110887"/>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Literature Survey</a:t>
            </a:r>
            <a:endParaRPr b="1" dirty="0">
              <a:latin typeface="Times New Roman" panose="02020603050405020304" pitchFamily="18" charset="0"/>
              <a:cs typeface="Times New Roman" panose="02020603050405020304" pitchFamily="18" charset="0"/>
            </a:endParaRPr>
          </a:p>
        </p:txBody>
      </p:sp>
      <p:graphicFrame>
        <p:nvGraphicFramePr>
          <p:cNvPr id="149" name="Google Shape;149;p6"/>
          <p:cNvGraphicFramePr/>
          <p:nvPr>
            <p:extLst>
              <p:ext uri="{D42A27DB-BD31-4B8C-83A1-F6EECF244321}">
                <p14:modId xmlns:p14="http://schemas.microsoft.com/office/powerpoint/2010/main" val="469151307"/>
              </p:ext>
            </p:extLst>
          </p:nvPr>
        </p:nvGraphicFramePr>
        <p:xfrm>
          <a:off x="457200" y="730664"/>
          <a:ext cx="8229601" cy="5613863"/>
        </p:xfrm>
        <a:graphic>
          <a:graphicData uri="http://schemas.openxmlformats.org/drawingml/2006/table">
            <a:tbl>
              <a:tblPr firstRow="1" bandRow="1">
                <a:noFill/>
                <a:tableStyleId>{6EB1FC0C-1D29-42B7-B8E6-0F5DF3C737FC}</a:tableStyleId>
              </a:tblPr>
              <a:tblGrid>
                <a:gridCol w="289018">
                  <a:extLst>
                    <a:ext uri="{9D8B030D-6E8A-4147-A177-3AD203B41FA5}">
                      <a16:colId xmlns:a16="http://schemas.microsoft.com/office/drawing/2014/main" val="20000"/>
                    </a:ext>
                  </a:extLst>
                </a:gridCol>
                <a:gridCol w="2334333">
                  <a:extLst>
                    <a:ext uri="{9D8B030D-6E8A-4147-A177-3AD203B41FA5}">
                      <a16:colId xmlns:a16="http://schemas.microsoft.com/office/drawing/2014/main" val="20001"/>
                    </a:ext>
                  </a:extLst>
                </a:gridCol>
                <a:gridCol w="665826">
                  <a:extLst>
                    <a:ext uri="{9D8B030D-6E8A-4147-A177-3AD203B41FA5}">
                      <a16:colId xmlns:a16="http://schemas.microsoft.com/office/drawing/2014/main" val="20002"/>
                    </a:ext>
                  </a:extLst>
                </a:gridCol>
                <a:gridCol w="1171852">
                  <a:extLst>
                    <a:ext uri="{9D8B030D-6E8A-4147-A177-3AD203B41FA5}">
                      <a16:colId xmlns:a16="http://schemas.microsoft.com/office/drawing/2014/main" val="20003"/>
                    </a:ext>
                  </a:extLst>
                </a:gridCol>
                <a:gridCol w="2201662">
                  <a:extLst>
                    <a:ext uri="{9D8B030D-6E8A-4147-A177-3AD203B41FA5}">
                      <a16:colId xmlns:a16="http://schemas.microsoft.com/office/drawing/2014/main" val="20004"/>
                    </a:ext>
                  </a:extLst>
                </a:gridCol>
                <a:gridCol w="1566910">
                  <a:extLst>
                    <a:ext uri="{9D8B030D-6E8A-4147-A177-3AD203B41FA5}">
                      <a16:colId xmlns:a16="http://schemas.microsoft.com/office/drawing/2014/main" val="2874578075"/>
                    </a:ext>
                  </a:extLst>
                </a:gridCol>
              </a:tblGrid>
              <a:tr h="729497">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S no</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a:solidFill>
                            <a:srgbClr val="000000"/>
                          </a:solidFill>
                          <a:latin typeface="Times New Roman" panose="02020603050405020304" pitchFamily="18" charset="0"/>
                          <a:cs typeface="Times New Roman" panose="02020603050405020304" pitchFamily="18" charset="0"/>
                        </a:rPr>
                        <a:t>Title of the Paper</a:t>
                      </a:r>
                      <a:endParaRPr sz="1600" u="none" strike="noStrike" cap="none">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Year</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a:solidFill>
                            <a:srgbClr val="000000"/>
                          </a:solidFill>
                          <a:latin typeface="Times New Roman" panose="02020603050405020304" pitchFamily="18" charset="0"/>
                          <a:cs typeface="Times New Roman" panose="02020603050405020304" pitchFamily="18" charset="0"/>
                        </a:rPr>
                        <a:t>Journal/</a:t>
                      </a:r>
                      <a:endParaRPr sz="1600" u="none" strike="noStrike" cap="none">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Arial"/>
                        <a:buNone/>
                      </a:pPr>
                      <a:r>
                        <a:rPr lang="en-US" sz="1600" b="1" u="none" strike="noStrike" cap="none">
                          <a:solidFill>
                            <a:srgbClr val="000000"/>
                          </a:solidFill>
                          <a:latin typeface="Times New Roman" panose="02020603050405020304" pitchFamily="18" charset="0"/>
                          <a:cs typeface="Times New Roman" panose="02020603050405020304" pitchFamily="18" charset="0"/>
                        </a:rPr>
                        <a:t>Conference</a:t>
                      </a:r>
                      <a:endParaRPr sz="1600" u="none" strike="noStrike" cap="none">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Inferences/Findings</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i="0" u="none" strike="noStrike" cap="none" dirty="0">
                          <a:solidFill>
                            <a:srgbClr val="000000"/>
                          </a:solidFill>
                          <a:latin typeface="Times New Roman" panose="02020603050405020304" pitchFamily="18" charset="0"/>
                          <a:ea typeface="Calibri"/>
                          <a:cs typeface="Times New Roman" panose="02020603050405020304" pitchFamily="18" charset="0"/>
                          <a:sym typeface="Arial"/>
                        </a:rPr>
                        <a:t>Limitations</a:t>
                      </a:r>
                      <a:endParaRPr sz="1600" b="1" i="0" u="none" strike="noStrike" cap="none" dirty="0">
                        <a:solidFill>
                          <a:srgbClr val="000000"/>
                        </a:solidFill>
                        <a:latin typeface="Times New Roman" panose="02020603050405020304" pitchFamily="18" charset="0"/>
                        <a:ea typeface="Calibri"/>
                        <a:cs typeface="Times New Roman" panose="02020603050405020304" pitchFamily="18" charset="0"/>
                        <a:sym typeface="Arial"/>
                      </a:endParaRPr>
                    </a:p>
                  </a:txBody>
                  <a:tcPr marL="37075" marR="37075" marT="37075" marB="37075">
                    <a:lnB w="381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1233684">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dirty="0">
                          <a:solidFill>
                            <a:srgbClr val="000000"/>
                          </a:solidFill>
                          <a:latin typeface="Times New Roman" panose="02020603050405020304" pitchFamily="18" charset="0"/>
                          <a:cs typeface="Times New Roman" panose="02020603050405020304" pitchFamily="18" charset="0"/>
                        </a:rPr>
                        <a:t>1</a:t>
                      </a:r>
                      <a:endParaRPr sz="1400" u="none" strike="noStrike" cap="none" dirty="0">
                        <a:latin typeface="Times New Roman" panose="02020603050405020304" pitchFamily="18" charset="0"/>
                        <a:cs typeface="Times New Roman" panose="02020603050405020304" pitchFamily="18" charset="0"/>
                      </a:endParaRPr>
                    </a:p>
                  </a:txBody>
                  <a:tcPr marL="37075" marR="37075" marT="37075" marB="37075">
                    <a:lnR w="12700" cap="flat" cmpd="sng">
                      <a:solidFill>
                        <a:schemeClr val="lt1"/>
                      </a:solidFill>
                      <a:prstDash val="solid"/>
                      <a:round/>
                      <a:headEnd type="none" w="sm" len="sm"/>
                      <a:tailEnd type="none" w="sm" len="sm"/>
                    </a:lnR>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Fault Inference Diagnosis Based on Causal Network and Large Language Model-Enhanced Knowledge Graph Network</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2026</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IN" dirty="0">
                          <a:latin typeface="Times New Roman" panose="02020603050405020304" pitchFamily="18" charset="0"/>
                          <a:cs typeface="Times New Roman" panose="02020603050405020304" pitchFamily="18" charset="0"/>
                        </a:rPr>
                        <a:t>Chinese Journal of Mechanical Engineering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Improved root cause localization using </a:t>
                      </a:r>
                      <a:r>
                        <a:rPr lang="en-IN" b="1" dirty="0">
                          <a:latin typeface="Times New Roman" panose="02020603050405020304" pitchFamily="18" charset="0"/>
                          <a:cs typeface="Times New Roman" panose="02020603050405020304" pitchFamily="18" charset="0"/>
                        </a:rPr>
                        <a:t>CN + LLM + Knowledge Graph</a:t>
                      </a:r>
                      <a:r>
                        <a:rPr lang="en-IN" dirty="0">
                          <a:latin typeface="Times New Roman" panose="02020603050405020304" pitchFamily="18" charset="0"/>
                          <a:cs typeface="Times New Roman" panose="02020603050405020304" pitchFamily="18" charset="0"/>
                        </a:rPr>
                        <a:t> with explainable reasoning.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Limited to rotating machinery; not designed for aerospace systems.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1165469">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a:solidFill>
                            <a:srgbClr val="000000"/>
                          </a:solidFill>
                          <a:latin typeface="Times New Roman" panose="02020603050405020304" pitchFamily="18" charset="0"/>
                          <a:cs typeface="Times New Roman" panose="02020603050405020304" pitchFamily="18" charset="0"/>
                        </a:rPr>
                        <a:t>2</a:t>
                      </a:r>
                      <a:endParaRPr sz="1400" u="none" strike="noStrike" cap="none">
                        <a:latin typeface="Times New Roman" panose="02020603050405020304" pitchFamily="18" charset="0"/>
                        <a:cs typeface="Times New Roman" panose="02020603050405020304" pitchFamily="18" charset="0"/>
                      </a:endParaRPr>
                    </a:p>
                  </a:txBody>
                  <a:tcPr marL="37075" marR="37075" marT="37075" marB="37075"/>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Aircraft Engine Root Cause Analysis (Nature Paper)</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2026</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Scientific Reports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chemeClr val="dk1"/>
                        </a:buClr>
                        <a:buSzPts val="1100"/>
                        <a:buFont typeface="Arial"/>
                        <a:buNone/>
                      </a:pPr>
                      <a:r>
                        <a:rPr lang="en-IN" dirty="0">
                          <a:latin typeface="Times New Roman" panose="02020603050405020304" pitchFamily="18" charset="0"/>
                          <a:cs typeface="Times New Roman" panose="02020603050405020304" pitchFamily="18" charset="0"/>
                        </a:rPr>
                        <a:t>Improved aircraft fault diagnosis using graph reasoning.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chemeClr val="dk1"/>
                        </a:buClr>
                        <a:buSzPts val="1100"/>
                        <a:buFont typeface="Arial"/>
                        <a:buNone/>
                      </a:pPr>
                      <a:r>
                        <a:rPr lang="en-IN" dirty="0">
                          <a:latin typeface="Times New Roman" panose="02020603050405020304" pitchFamily="18" charset="0"/>
                          <a:cs typeface="Times New Roman" panose="02020603050405020304" pitchFamily="18" charset="0"/>
                        </a:rPr>
                        <a:t>No LLM or RAG integration.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965938">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a:solidFill>
                            <a:srgbClr val="000000"/>
                          </a:solidFill>
                          <a:latin typeface="Times New Roman" panose="02020603050405020304" pitchFamily="18" charset="0"/>
                          <a:cs typeface="Times New Roman" panose="02020603050405020304" pitchFamily="18" charset="0"/>
                        </a:rPr>
                        <a:t>3</a:t>
                      </a:r>
                      <a:endParaRPr sz="1400" u="none" strike="noStrike" cap="none">
                        <a:latin typeface="Times New Roman" panose="02020603050405020304" pitchFamily="18" charset="0"/>
                        <a:cs typeface="Times New Roman" panose="02020603050405020304" pitchFamily="18" charset="0"/>
                      </a:endParaRPr>
                    </a:p>
                  </a:txBody>
                  <a:tcPr marL="37075" marR="37075" marT="37075" marB="37075">
                    <a:lnR w="12700" cap="flat" cmpd="sng" algn="ctr">
                      <a:solidFill>
                        <a:schemeClr val="lt1"/>
                      </a:solidFill>
                      <a:prstDash val="solid"/>
                      <a:round/>
                      <a:headEnd type="none" w="sm" len="sm"/>
                      <a:tailEnd type="none" w="sm" len="sm"/>
                    </a:lnR>
                  </a:tcPr>
                </a:tc>
                <a:tc>
                  <a:txBody>
                    <a:bodyPr/>
                    <a:lstStyle/>
                    <a:p>
                      <a:pPr>
                        <a:buNone/>
                      </a:pPr>
                      <a:r>
                        <a:rPr lang="en-IN" dirty="0" err="1">
                          <a:latin typeface="Times New Roman" panose="02020603050405020304" pitchFamily="18" charset="0"/>
                          <a:cs typeface="Times New Roman" panose="02020603050405020304" pitchFamily="18" charset="0"/>
                        </a:rPr>
                        <a:t>DiagLLM</a:t>
                      </a:r>
                      <a:r>
                        <a:rPr lang="en-IN" dirty="0">
                          <a:latin typeface="Times New Roman" panose="02020603050405020304" pitchFamily="18" charset="0"/>
                          <a:cs typeface="Times New Roman" panose="02020603050405020304" pitchFamily="18" charset="0"/>
                        </a:rPr>
                        <a:t>: Multimodal Reasoning with Large Language Model for Explainable Bearing Fault Diagnosis</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None/>
                      </a:pPr>
                      <a:r>
                        <a:rPr lang="en-IN" dirty="0">
                          <a:latin typeface="Times New Roman" panose="02020603050405020304" pitchFamily="18" charset="0"/>
                          <a:cs typeface="Times New Roman" panose="02020603050405020304" pitchFamily="18" charset="0"/>
                        </a:rPr>
                        <a:t>Science China Information Sciences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Uses LLM for explainable fault diagnosis through multimodal reasoning.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Focused only on bearing faults; lacks multi-source evidence fusion.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1326973">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a:solidFill>
                            <a:srgbClr val="000000"/>
                          </a:solidFill>
                          <a:latin typeface="Times New Roman" panose="02020603050405020304" pitchFamily="18" charset="0"/>
                          <a:cs typeface="Times New Roman" panose="02020603050405020304" pitchFamily="18" charset="0"/>
                        </a:rPr>
                        <a:t>4</a:t>
                      </a:r>
                      <a:endParaRPr sz="1400" u="none" strike="noStrike" cap="none">
                        <a:latin typeface="Times New Roman" panose="02020603050405020304" pitchFamily="18" charset="0"/>
                        <a:cs typeface="Times New Roman" panose="02020603050405020304" pitchFamily="18" charset="0"/>
                      </a:endParaRPr>
                    </a:p>
                  </a:txBody>
                  <a:tcPr marL="37075" marR="37075" marT="37075" marB="37075">
                    <a:lnR w="12700" cap="flat" cmpd="sng">
                      <a:solidFill>
                        <a:schemeClr val="lt1"/>
                      </a:solidFill>
                      <a:prstDash val="solid"/>
                      <a:round/>
                      <a:headEnd type="none" w="sm" len="sm"/>
                      <a:tailEnd type="none" w="sm" len="sm"/>
                    </a:lnR>
                  </a:tcPr>
                </a:tc>
                <a:tc>
                  <a:txBody>
                    <a:bodyPr/>
                    <a:lstStyle/>
                    <a:p>
                      <a:pPr marL="127000" marR="0" lvl="0" indent="-12700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Causal Inference-Enabled Graph Neural Networks for Generalized Fault Diagnosis in Industrial IoT Systems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127000" marR="0" lvl="0" indent="-12700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Information Sciences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Applies causal inference with GNNs for generalized industrial fault diagnosis.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Industrial IoT focused; no knowledge retrieval or report generation.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50" name="Google Shape;150;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3" name="Footer Placeholder 2"/>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A6E37BEC-6BB4-4553-46FF-E12AAE0676AA}"/>
            </a:ext>
          </a:extLst>
        </p:cNvPr>
        <p:cNvGrpSpPr/>
        <p:nvPr/>
      </p:nvGrpSpPr>
      <p:grpSpPr>
        <a:xfrm>
          <a:off x="0" y="0"/>
          <a:ext cx="0" cy="0"/>
          <a:chOff x="0" y="0"/>
          <a:chExt cx="0" cy="0"/>
        </a:xfrm>
      </p:grpSpPr>
      <p:sp>
        <p:nvSpPr>
          <p:cNvPr id="147" name="Google Shape;147;p6">
            <a:extLst>
              <a:ext uri="{FF2B5EF4-FFF2-40B4-BE49-F238E27FC236}">
                <a16:creationId xmlns:a16="http://schemas.microsoft.com/office/drawing/2014/main" id="{FB1027E5-A680-3230-0AF6-2373E59187B0}"/>
              </a:ext>
            </a:extLst>
          </p:cNvPr>
          <p:cNvSpPr txBox="1">
            <a:spLocks noGrp="1"/>
          </p:cNvSpPr>
          <p:nvPr>
            <p:ph type="title"/>
          </p:nvPr>
        </p:nvSpPr>
        <p:spPr>
          <a:xfrm>
            <a:off x="457200" y="-110887"/>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Literature Survey</a:t>
            </a:r>
            <a:endParaRPr b="1" dirty="0">
              <a:latin typeface="Times New Roman" panose="02020603050405020304" pitchFamily="18" charset="0"/>
              <a:cs typeface="Times New Roman" panose="02020603050405020304" pitchFamily="18" charset="0"/>
            </a:endParaRPr>
          </a:p>
        </p:txBody>
      </p:sp>
      <p:graphicFrame>
        <p:nvGraphicFramePr>
          <p:cNvPr id="149" name="Google Shape;149;p6">
            <a:extLst>
              <a:ext uri="{FF2B5EF4-FFF2-40B4-BE49-F238E27FC236}">
                <a16:creationId xmlns:a16="http://schemas.microsoft.com/office/drawing/2014/main" id="{4D439736-7DEF-545B-A553-9AD4599C3E10}"/>
              </a:ext>
            </a:extLst>
          </p:cNvPr>
          <p:cNvGraphicFramePr/>
          <p:nvPr>
            <p:extLst>
              <p:ext uri="{D42A27DB-BD31-4B8C-83A1-F6EECF244321}">
                <p14:modId xmlns:p14="http://schemas.microsoft.com/office/powerpoint/2010/main" val="411047869"/>
              </p:ext>
            </p:extLst>
          </p:nvPr>
        </p:nvGraphicFramePr>
        <p:xfrm>
          <a:off x="457200" y="730664"/>
          <a:ext cx="8443358" cy="5872639"/>
        </p:xfrm>
        <a:graphic>
          <a:graphicData uri="http://schemas.openxmlformats.org/drawingml/2006/table">
            <a:tbl>
              <a:tblPr firstRow="1" bandRow="1">
                <a:noFill/>
                <a:tableStyleId>{6EB1FC0C-1D29-42B7-B8E6-0F5DF3C737FC}</a:tableStyleId>
              </a:tblPr>
              <a:tblGrid>
                <a:gridCol w="502775">
                  <a:extLst>
                    <a:ext uri="{9D8B030D-6E8A-4147-A177-3AD203B41FA5}">
                      <a16:colId xmlns:a16="http://schemas.microsoft.com/office/drawing/2014/main" val="20000"/>
                    </a:ext>
                  </a:extLst>
                </a:gridCol>
                <a:gridCol w="2334333">
                  <a:extLst>
                    <a:ext uri="{9D8B030D-6E8A-4147-A177-3AD203B41FA5}">
                      <a16:colId xmlns:a16="http://schemas.microsoft.com/office/drawing/2014/main" val="20001"/>
                    </a:ext>
                  </a:extLst>
                </a:gridCol>
                <a:gridCol w="665826">
                  <a:extLst>
                    <a:ext uri="{9D8B030D-6E8A-4147-A177-3AD203B41FA5}">
                      <a16:colId xmlns:a16="http://schemas.microsoft.com/office/drawing/2014/main" val="20002"/>
                    </a:ext>
                  </a:extLst>
                </a:gridCol>
                <a:gridCol w="1171852">
                  <a:extLst>
                    <a:ext uri="{9D8B030D-6E8A-4147-A177-3AD203B41FA5}">
                      <a16:colId xmlns:a16="http://schemas.microsoft.com/office/drawing/2014/main" val="20003"/>
                    </a:ext>
                  </a:extLst>
                </a:gridCol>
                <a:gridCol w="2201662">
                  <a:extLst>
                    <a:ext uri="{9D8B030D-6E8A-4147-A177-3AD203B41FA5}">
                      <a16:colId xmlns:a16="http://schemas.microsoft.com/office/drawing/2014/main" val="20004"/>
                    </a:ext>
                  </a:extLst>
                </a:gridCol>
                <a:gridCol w="1566910">
                  <a:extLst>
                    <a:ext uri="{9D8B030D-6E8A-4147-A177-3AD203B41FA5}">
                      <a16:colId xmlns:a16="http://schemas.microsoft.com/office/drawing/2014/main" val="2874578075"/>
                    </a:ext>
                  </a:extLst>
                </a:gridCol>
              </a:tblGrid>
              <a:tr h="890872">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S no</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a:solidFill>
                            <a:srgbClr val="000000"/>
                          </a:solidFill>
                          <a:latin typeface="Times New Roman" panose="02020603050405020304" pitchFamily="18" charset="0"/>
                          <a:cs typeface="Times New Roman" panose="02020603050405020304" pitchFamily="18" charset="0"/>
                        </a:rPr>
                        <a:t>Title of the Paper</a:t>
                      </a:r>
                      <a:endParaRPr sz="1600" u="none" strike="noStrike" cap="none">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Year</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a:solidFill>
                            <a:srgbClr val="000000"/>
                          </a:solidFill>
                          <a:latin typeface="Times New Roman" panose="02020603050405020304" pitchFamily="18" charset="0"/>
                          <a:cs typeface="Times New Roman" panose="02020603050405020304" pitchFamily="18" charset="0"/>
                        </a:rPr>
                        <a:t>Journal/</a:t>
                      </a:r>
                      <a:endParaRPr sz="1600" u="none" strike="noStrike" cap="none">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Arial"/>
                        <a:buNone/>
                      </a:pPr>
                      <a:r>
                        <a:rPr lang="en-US" sz="1600" b="1" u="none" strike="noStrike" cap="none">
                          <a:solidFill>
                            <a:srgbClr val="000000"/>
                          </a:solidFill>
                          <a:latin typeface="Times New Roman" panose="02020603050405020304" pitchFamily="18" charset="0"/>
                          <a:cs typeface="Times New Roman" panose="02020603050405020304" pitchFamily="18" charset="0"/>
                        </a:rPr>
                        <a:t>Conference</a:t>
                      </a:r>
                      <a:endParaRPr sz="1600" u="none" strike="noStrike" cap="none">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Inferences/Findings</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i="0" u="none" strike="noStrike" cap="none" dirty="0">
                          <a:solidFill>
                            <a:srgbClr val="000000"/>
                          </a:solidFill>
                          <a:latin typeface="Times New Roman" panose="02020603050405020304" pitchFamily="18" charset="0"/>
                          <a:ea typeface="Calibri"/>
                          <a:cs typeface="Times New Roman" panose="02020603050405020304" pitchFamily="18" charset="0"/>
                          <a:sym typeface="Arial"/>
                        </a:rPr>
                        <a:t>Limitations</a:t>
                      </a:r>
                      <a:endParaRPr sz="1600" b="1" i="0" u="none" strike="noStrike" cap="none" dirty="0">
                        <a:solidFill>
                          <a:srgbClr val="000000"/>
                        </a:solidFill>
                        <a:latin typeface="Times New Roman" panose="02020603050405020304" pitchFamily="18" charset="0"/>
                        <a:ea typeface="Calibri"/>
                        <a:cs typeface="Times New Roman" panose="02020603050405020304" pitchFamily="18" charset="0"/>
                        <a:sym typeface="Arial"/>
                      </a:endParaRPr>
                    </a:p>
                  </a:txBody>
                  <a:tcPr marL="37075" marR="37075" marT="37075" marB="37075">
                    <a:lnB w="381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1233684">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dirty="0">
                          <a:solidFill>
                            <a:srgbClr val="000000"/>
                          </a:solidFill>
                          <a:latin typeface="Times New Roman" panose="02020603050405020304" pitchFamily="18" charset="0"/>
                          <a:cs typeface="Times New Roman" panose="02020603050405020304" pitchFamily="18" charset="0"/>
                        </a:rPr>
                        <a:t>6</a:t>
                      </a:r>
                      <a:endParaRPr sz="1400" u="none" strike="noStrike" cap="none" dirty="0">
                        <a:latin typeface="Times New Roman" panose="02020603050405020304" pitchFamily="18" charset="0"/>
                        <a:cs typeface="Times New Roman" panose="02020603050405020304" pitchFamily="18" charset="0"/>
                      </a:endParaRPr>
                    </a:p>
                  </a:txBody>
                  <a:tcPr marL="37075" marR="37075" marT="37075" marB="37075">
                    <a:lnR w="12700" cap="flat" cmpd="sng">
                      <a:solidFill>
                        <a:schemeClr val="lt1"/>
                      </a:solidFill>
                      <a:prstDash val="solid"/>
                      <a:round/>
                      <a:headEnd type="none" w="sm" len="sm"/>
                      <a:tailEnd type="none" w="sm" len="sm"/>
                    </a:lnR>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Large Language Model Assisted Fine-Grained Knowledge Graph Construction for Robotic Fault Diagnosis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IN" dirty="0">
                          <a:latin typeface="Times New Roman" panose="02020603050405020304" pitchFamily="18" charset="0"/>
                          <a:cs typeface="Times New Roman" panose="02020603050405020304" pitchFamily="18" charset="0"/>
                        </a:rPr>
                        <a:t>Advanced Engineering Informatics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Uses LLMs to enhance Knowledge Graph construction for diagnosis.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Focused on KG construction rather than complete investigation.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1165469">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dirty="0">
                          <a:solidFill>
                            <a:srgbClr val="000000"/>
                          </a:solidFill>
                          <a:latin typeface="Times New Roman" panose="02020603050405020304" pitchFamily="18" charset="0"/>
                          <a:cs typeface="Times New Roman" panose="02020603050405020304" pitchFamily="18" charset="0"/>
                        </a:rPr>
                        <a:t>7</a:t>
                      </a:r>
                      <a:endParaRPr sz="1400" u="none" strike="noStrike" cap="none" dirty="0">
                        <a:latin typeface="Times New Roman" panose="02020603050405020304" pitchFamily="18" charset="0"/>
                        <a:cs typeface="Times New Roman" panose="02020603050405020304" pitchFamily="18" charset="0"/>
                      </a:endParaRPr>
                    </a:p>
                  </a:txBody>
                  <a:tcPr marL="37075" marR="37075" marT="37075" marB="37075"/>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Causal Discovery for Rolling Bearing Fault Under Missing Data: From the Perspective of Causal Effect and Information Flow</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IEEE Transactions on Instrumentation and Measurement</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chemeClr val="dk1"/>
                        </a:buClr>
                        <a:buSzPts val="1100"/>
                        <a:buFont typeface="Arial"/>
                        <a:buNone/>
                      </a:pPr>
                      <a:r>
                        <a:rPr lang="en-IN" dirty="0">
                          <a:latin typeface="Times New Roman" panose="02020603050405020304" pitchFamily="18" charset="0"/>
                          <a:cs typeface="Times New Roman" panose="02020603050405020304" pitchFamily="18" charset="0"/>
                        </a:rPr>
                        <a:t>Discovers causal relationships from incomplete sensor data.</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chemeClr val="dk1"/>
                        </a:buClr>
                        <a:buSzPts val="1100"/>
                        <a:buFont typeface="Arial"/>
                        <a:buNone/>
                      </a:pPr>
                      <a:r>
                        <a:rPr lang="en-IN" dirty="0">
                          <a:latin typeface="Times New Roman" panose="02020603050405020304" pitchFamily="18" charset="0"/>
                          <a:cs typeface="Times New Roman" panose="02020603050405020304" pitchFamily="18" charset="0"/>
                        </a:rPr>
                        <a:t>Limited to causal discovery; lacks recommendation and reporting.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965938">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dirty="0">
                          <a:solidFill>
                            <a:srgbClr val="000000"/>
                          </a:solidFill>
                          <a:latin typeface="Times New Roman" panose="02020603050405020304" pitchFamily="18" charset="0"/>
                          <a:cs typeface="Times New Roman" panose="02020603050405020304" pitchFamily="18" charset="0"/>
                        </a:rPr>
                        <a:t>8</a:t>
                      </a:r>
                      <a:endParaRPr sz="1400" u="none" strike="noStrike" cap="none" dirty="0">
                        <a:latin typeface="Times New Roman" panose="02020603050405020304" pitchFamily="18" charset="0"/>
                        <a:cs typeface="Times New Roman" panose="02020603050405020304" pitchFamily="18" charset="0"/>
                      </a:endParaRPr>
                    </a:p>
                  </a:txBody>
                  <a:tcPr marL="37075" marR="37075" marT="37075" marB="37075">
                    <a:lnR w="12700" cap="flat" cmpd="sng">
                      <a:solidFill>
                        <a:schemeClr val="lt1"/>
                      </a:solidFill>
                      <a:prstDash val="solid"/>
                      <a:round/>
                      <a:headEnd type="none" w="sm" len="sm"/>
                      <a:tailEnd type="none" w="sm" len="sm"/>
                    </a:lnR>
                  </a:tcPr>
                </a:tc>
                <a:tc>
                  <a:txBody>
                    <a:bodyPr/>
                    <a:lstStyle/>
                    <a:p>
                      <a:pPr marL="0" marR="0" lvl="0" indent="0" algn="just" rtl="0">
                        <a:lnSpc>
                          <a:spcPct val="100000"/>
                        </a:lnSpc>
                        <a:spcBef>
                          <a:spcPts val="0"/>
                        </a:spcBef>
                        <a:spcAft>
                          <a:spcPts val="0"/>
                        </a:spcAft>
                        <a:buNone/>
                      </a:pPr>
                      <a:r>
                        <a:rPr lang="en-IN" dirty="0">
                          <a:latin typeface="Times New Roman" panose="02020603050405020304" pitchFamily="18" charset="0"/>
                          <a:cs typeface="Times New Roman" panose="02020603050405020304" pitchFamily="18" charset="0"/>
                        </a:rPr>
                        <a:t>An Interpretable Integration Fusion Time-Frequency Prototype Contrastive Learning for Machine Fault Diagnosis with Limited </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 Samples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None/>
                      </a:pPr>
                      <a:r>
                        <a:rPr lang="en-IN" dirty="0">
                          <a:latin typeface="Times New Roman" panose="02020603050405020304" pitchFamily="18" charset="0"/>
                          <a:cs typeface="Times New Roman" panose="02020603050405020304" pitchFamily="18" charset="0"/>
                        </a:rPr>
                        <a:t>Information Fusion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Improves diagnosis accuracy using interpretable time-frequency learning.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Focuses on classification; no root cause investigation.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1326973">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dirty="0">
                          <a:solidFill>
                            <a:srgbClr val="000000"/>
                          </a:solidFill>
                          <a:latin typeface="Times New Roman" panose="02020603050405020304" pitchFamily="18" charset="0"/>
                          <a:cs typeface="Times New Roman" panose="02020603050405020304" pitchFamily="18" charset="0"/>
                        </a:rPr>
                        <a:t>9</a:t>
                      </a:r>
                      <a:endParaRPr sz="1400" u="none" strike="noStrike" cap="none" dirty="0">
                        <a:latin typeface="Times New Roman" panose="02020603050405020304" pitchFamily="18" charset="0"/>
                        <a:cs typeface="Times New Roman" panose="02020603050405020304" pitchFamily="18" charset="0"/>
                      </a:endParaRPr>
                    </a:p>
                  </a:txBody>
                  <a:tcPr marL="37075" marR="37075" marT="37075" marB="37075">
                    <a:lnR w="12700" cap="flat" cmpd="sng">
                      <a:solidFill>
                        <a:schemeClr val="lt1"/>
                      </a:solidFill>
                      <a:prstDash val="solid"/>
                      <a:round/>
                      <a:headEnd type="none" w="sm" len="sm"/>
                      <a:tailEnd type="none" w="sm" len="sm"/>
                    </a:lnR>
                  </a:tcPr>
                </a:tc>
                <a:tc>
                  <a:txBody>
                    <a:bodyPr/>
                    <a:lstStyle/>
                    <a:p>
                      <a:pPr marL="127000" marR="0" lvl="0" indent="-12700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A Trustworthy Lightweight Multi-Expert Wavelet Transformer for Rotating Machinery Fault Diagnosis</a:t>
                      </a:r>
                      <a:endParaRPr lang="en-US"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127000" marR="0" lvl="0" indent="-12700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Mechanical Systems and Signal Processing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Uses lightweight Transformer for accurate rotating machinery fault diagnosis.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Concentrates on prediction only; lacks explainable investigation and evidence fusion.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50" name="Google Shape;150;p6">
            <a:extLst>
              <a:ext uri="{FF2B5EF4-FFF2-40B4-BE49-F238E27FC236}">
                <a16:creationId xmlns:a16="http://schemas.microsoft.com/office/drawing/2014/main" id="{D4AB3487-5EC2-59DC-3289-E765ECDEB041}"/>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 name="Slide Number Placeholder 1">
            <a:extLst>
              <a:ext uri="{FF2B5EF4-FFF2-40B4-BE49-F238E27FC236}">
                <a16:creationId xmlns:a16="http://schemas.microsoft.com/office/drawing/2014/main" id="{351C461F-7466-15B6-7F6D-08D6BC473C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3" name="Footer Placeholder 2">
            <a:extLst>
              <a:ext uri="{FF2B5EF4-FFF2-40B4-BE49-F238E27FC236}">
                <a16:creationId xmlns:a16="http://schemas.microsoft.com/office/drawing/2014/main" id="{523718D5-4135-025B-49EE-D8C16D4136FD}"/>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extLst>
      <p:ext uri="{BB962C8B-B14F-4D97-AF65-F5344CB8AC3E}">
        <p14:creationId xmlns:p14="http://schemas.microsoft.com/office/powerpoint/2010/main" val="3786302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7"/>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ct val="100000"/>
              <a:buFont typeface="Calibri"/>
              <a:buNone/>
            </a:pPr>
            <a:r>
              <a:rPr lang="en-US" b="1" dirty="0">
                <a:latin typeface="Times New Roman" panose="02020603050405020304" pitchFamily="18" charset="0"/>
                <a:cs typeface="Times New Roman" panose="02020603050405020304" pitchFamily="18" charset="0"/>
              </a:rPr>
              <a:t>Objectives</a:t>
            </a:r>
            <a:endParaRPr b="1" dirty="0">
              <a:latin typeface="Times New Roman" panose="02020603050405020304" pitchFamily="18" charset="0"/>
              <a:cs typeface="Times New Roman" panose="02020603050405020304" pitchFamily="18" charset="0"/>
            </a:endParaRPr>
          </a:p>
        </p:txBody>
      </p:sp>
      <p:sp>
        <p:nvSpPr>
          <p:cNvPr id="156" name="Google Shape;156;p7"/>
          <p:cNvSpPr txBox="1">
            <a:spLocks noGrp="1"/>
          </p:cNvSpPr>
          <p:nvPr>
            <p:ph type="body" idx="1"/>
          </p:nvPr>
        </p:nvSpPr>
        <p:spPr>
          <a:xfrm>
            <a:off x="592393" y="1120878"/>
            <a:ext cx="8229600" cy="5235472"/>
          </a:xfrm>
          <a:prstGeom prst="rect">
            <a:avLst/>
          </a:prstGeom>
          <a:noFill/>
          <a:ln>
            <a:noFill/>
          </a:ln>
        </p:spPr>
        <p:txBody>
          <a:bodyPr spcFirstLastPara="1" wrap="square" lIns="91425" tIns="45700" rIns="91425" bIns="45700" anchor="t" anchorCtr="0">
            <a:noAutofit/>
          </a:bodyPr>
          <a:lstStyle/>
          <a:p>
            <a:pPr marL="0" lvl="0" indent="0" algn="just">
              <a:spcBef>
                <a:spcPts val="1600"/>
              </a:spcBef>
              <a:buSzPts val="2000"/>
              <a:buNone/>
            </a:pPr>
            <a:r>
              <a:rPr lang="en-IN" sz="2400" dirty="0">
                <a:latin typeface="Times New Roman" panose="02020603050405020304" pitchFamily="18" charset="0"/>
                <a:cs typeface="Times New Roman" panose="02020603050405020304" pitchFamily="18" charset="0"/>
              </a:rPr>
              <a:t>The main objective of AERIS is to develop an AI-powered Aircraft Investigation Platform that predicts potential component failures and explains their root causes using evidence-driven AI. The system provides explainable insights and maintenance recommendations to support better decision-making.</a:t>
            </a:r>
          </a:p>
          <a:p>
            <a:pPr marL="342900" algn="just">
              <a:spcBef>
                <a:spcPts val="1600"/>
              </a:spcBef>
              <a:buSzPts val="2000"/>
            </a:pPr>
            <a:r>
              <a:rPr lang="en-US" sz="2400" dirty="0">
                <a:latin typeface="Times New Roman" panose="02020603050405020304" pitchFamily="18" charset="0"/>
                <a:ea typeface="Times New Roman"/>
                <a:cs typeface="Times New Roman" panose="02020603050405020304" pitchFamily="18" charset="0"/>
                <a:sym typeface="Times New Roman"/>
              </a:rPr>
              <a:t>Objective 1 : </a:t>
            </a:r>
            <a:r>
              <a:rPr lang="en-IN" sz="2400" dirty="0">
                <a:latin typeface="Times New Roman" panose="02020603050405020304" pitchFamily="18" charset="0"/>
                <a:cs typeface="Times New Roman" panose="02020603050405020304" pitchFamily="18" charset="0"/>
              </a:rPr>
              <a:t>To detect abnormal aircraft component </a:t>
            </a:r>
            <a:r>
              <a:rPr lang="en-IN" sz="2400" dirty="0" err="1">
                <a:latin typeface="Times New Roman" panose="02020603050405020304" pitchFamily="18" charset="0"/>
                <a:cs typeface="Times New Roman" panose="02020603050405020304" pitchFamily="18" charset="0"/>
              </a:rPr>
              <a:t>behavior</a:t>
            </a:r>
            <a:r>
              <a:rPr lang="en-IN" sz="2400" dirty="0">
                <a:latin typeface="Times New Roman" panose="02020603050405020304" pitchFamily="18" charset="0"/>
                <a:cs typeface="Times New Roman" panose="02020603050405020304" pitchFamily="18" charset="0"/>
              </a:rPr>
              <a:t> and assess potential degradation.</a:t>
            </a:r>
          </a:p>
          <a:p>
            <a:pPr marL="342900" algn="just">
              <a:spcBef>
                <a:spcPts val="1600"/>
              </a:spcBef>
              <a:buSzPts val="2000"/>
            </a:pPr>
            <a:r>
              <a:rPr lang="en-IN" sz="2400" dirty="0">
                <a:latin typeface="Times New Roman" panose="02020603050405020304" pitchFamily="18" charset="0"/>
                <a:ea typeface="Times New Roman"/>
                <a:cs typeface="Times New Roman" panose="02020603050405020304" pitchFamily="18" charset="0"/>
                <a:sym typeface="Times New Roman"/>
              </a:rPr>
              <a:t>Objective 2 : </a:t>
            </a:r>
            <a:r>
              <a:rPr lang="en-IN" sz="2400" dirty="0">
                <a:latin typeface="Times New Roman" panose="02020603050405020304" pitchFamily="18" charset="0"/>
                <a:cs typeface="Times New Roman" panose="02020603050405020304" pitchFamily="18" charset="0"/>
              </a:rPr>
              <a:t>To investigate possible failure causes by analysing and fusing diverse sources of evidence.</a:t>
            </a:r>
          </a:p>
          <a:p>
            <a:pPr marL="342900" algn="just">
              <a:spcBef>
                <a:spcPts val="1600"/>
              </a:spcBef>
              <a:buSzPts val="2000"/>
            </a:pPr>
            <a:r>
              <a:rPr lang="en-IN" sz="2400" dirty="0">
                <a:latin typeface="Times New Roman" panose="02020603050405020304" pitchFamily="18" charset="0"/>
                <a:ea typeface="Times New Roman"/>
                <a:cs typeface="Times New Roman" panose="02020603050405020304" pitchFamily="18" charset="0"/>
                <a:sym typeface="Times New Roman"/>
              </a:rPr>
              <a:t>Objective 3 : </a:t>
            </a:r>
            <a:r>
              <a:rPr lang="en-IN" sz="2400" dirty="0">
                <a:latin typeface="Times New Roman" panose="02020603050405020304" pitchFamily="18" charset="0"/>
                <a:cs typeface="Times New Roman" panose="02020603050405020304" pitchFamily="18" charset="0"/>
              </a:rPr>
              <a:t>To deliver clear investigation findings and maintenance actions for engineering decision-making.</a:t>
            </a:r>
            <a:endParaRPr sz="2400" dirty="0">
              <a:latin typeface="Times New Roman" panose="02020603050405020304" pitchFamily="18" charset="0"/>
              <a:ea typeface="Times New Roman"/>
              <a:cs typeface="Times New Roman" panose="02020603050405020304" pitchFamily="18" charset="0"/>
              <a:sym typeface="Times New Roman"/>
            </a:endParaRPr>
          </a:p>
        </p:txBody>
      </p:sp>
      <p:sp>
        <p:nvSpPr>
          <p:cNvPr id="158" name="Google Shape;158;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59" name="Google Shape;15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Problem Statement</a:t>
            </a:r>
            <a:endParaRPr b="1" dirty="0">
              <a:latin typeface="Times New Roman" panose="02020603050405020304" pitchFamily="18" charset="0"/>
              <a:cs typeface="Times New Roman" panose="02020603050405020304" pitchFamily="18" charset="0"/>
            </a:endParaRPr>
          </a:p>
        </p:txBody>
      </p:sp>
      <p:sp>
        <p:nvSpPr>
          <p:cNvPr id="165" name="Google Shape;165;p8"/>
          <p:cNvSpPr txBox="1">
            <a:spLocks noGrp="1"/>
          </p:cNvSpPr>
          <p:nvPr>
            <p:ph type="body" idx="1"/>
          </p:nvPr>
        </p:nvSpPr>
        <p:spPr>
          <a:xfrm>
            <a:off x="457200" y="1600201"/>
            <a:ext cx="8229600" cy="3962400"/>
          </a:xfrm>
          <a:prstGeom prst="rect">
            <a:avLst/>
          </a:prstGeom>
          <a:noFill/>
          <a:ln>
            <a:noFill/>
          </a:ln>
        </p:spPr>
        <p:txBody>
          <a:bodyPr spcFirstLastPara="1" wrap="square" lIns="91425" tIns="45700" rIns="91425" bIns="45700" anchor="t" anchorCtr="0">
            <a:noAutofit/>
          </a:bodyPr>
          <a:lstStyle/>
          <a:p>
            <a:pPr marL="114300" indent="0">
              <a:buNone/>
            </a:pPr>
            <a:r>
              <a:rPr lang="en-IN" sz="2400" dirty="0">
                <a:latin typeface="Times New Roman" panose="02020603050405020304" pitchFamily="18" charset="0"/>
                <a:cs typeface="Times New Roman" panose="02020603050405020304" pitchFamily="18" charset="0"/>
              </a:rPr>
              <a:t>Aircraft component failures can compromise aviation safety, increase maintenance costs, and cause unexpected operational delays. Existing systems mainly predict failures or detect anomalies but often fail to explain why a failure is occurring or provide evidence-backed maintenance recommendations. AERIS addresses this by delivering explainable, evidence-driven failure investigation with root-cause analysis and intelligent maintenance recommendations for engineers.</a:t>
            </a:r>
          </a:p>
        </p:txBody>
      </p:sp>
      <p:sp>
        <p:nvSpPr>
          <p:cNvPr id="167" name="Google Shape;167;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68" name="Google Shape;168;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9"/>
          <p:cNvSpPr txBox="1">
            <a:spLocks noGrp="1"/>
          </p:cNvSpPr>
          <p:nvPr>
            <p:ph type="title"/>
          </p:nvPr>
        </p:nvSpPr>
        <p:spPr>
          <a:xfrm>
            <a:off x="457200" y="86043"/>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Proposed Work-Block Diagram</a:t>
            </a:r>
            <a:endParaRPr b="1" dirty="0">
              <a:latin typeface="Times New Roman" panose="02020603050405020304" pitchFamily="18" charset="0"/>
              <a:cs typeface="Times New Roman" panose="02020603050405020304" pitchFamily="18" charset="0"/>
            </a:endParaRPr>
          </a:p>
        </p:txBody>
      </p:sp>
      <p:sp>
        <p:nvSpPr>
          <p:cNvPr id="175" name="Google Shape;175;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76" name="Google Shape;176;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pic>
        <p:nvPicPr>
          <p:cNvPr id="3" name="Picture 2" descr="PlantUML diagram">
            <a:extLst>
              <a:ext uri="{FF2B5EF4-FFF2-40B4-BE49-F238E27FC236}">
                <a16:creationId xmlns:a16="http://schemas.microsoft.com/office/drawing/2014/main" id="{C4649AC3-FB56-5DD3-D97D-7DB75BE99B21}"/>
              </a:ext>
            </a:extLst>
          </p:cNvPr>
          <p:cNvPicPr>
            <a:picLocks noChangeAspect="1"/>
          </p:cNvPicPr>
          <p:nvPr/>
        </p:nvPicPr>
        <p:blipFill>
          <a:blip r:embed="rId3"/>
          <a:stretch>
            <a:fillRect/>
          </a:stretch>
        </p:blipFill>
        <p:spPr>
          <a:xfrm>
            <a:off x="457200" y="1573162"/>
            <a:ext cx="8226849" cy="443434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0"/>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Architecture Diagram</a:t>
            </a:r>
            <a:endParaRPr b="1" dirty="0">
              <a:latin typeface="Times New Roman" panose="02020603050405020304" pitchFamily="18" charset="0"/>
              <a:cs typeface="Times New Roman" panose="02020603050405020304" pitchFamily="18" charset="0"/>
            </a:endParaRPr>
          </a:p>
        </p:txBody>
      </p:sp>
      <p:sp>
        <p:nvSpPr>
          <p:cNvPr id="185" name="Google Shape;18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86" name="Google Shape;186;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pic>
        <p:nvPicPr>
          <p:cNvPr id="5" name="Picture 4">
            <a:extLst>
              <a:ext uri="{FF2B5EF4-FFF2-40B4-BE49-F238E27FC236}">
                <a16:creationId xmlns:a16="http://schemas.microsoft.com/office/drawing/2014/main" id="{0D2056B9-6C2C-828C-2E8D-B94944EB938B}"/>
              </a:ext>
            </a:extLst>
          </p:cNvPr>
          <p:cNvPicPr>
            <a:picLocks noChangeAspect="1"/>
          </p:cNvPicPr>
          <p:nvPr/>
        </p:nvPicPr>
        <p:blipFill>
          <a:blip r:embed="rId3"/>
          <a:stretch>
            <a:fillRect/>
          </a:stretch>
        </p:blipFill>
        <p:spPr>
          <a:xfrm>
            <a:off x="1720854" y="1048928"/>
            <a:ext cx="5702292" cy="515568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Modules</a:t>
            </a:r>
            <a:endParaRPr b="1" dirty="0">
              <a:latin typeface="Times New Roman" panose="02020603050405020304" pitchFamily="18" charset="0"/>
              <a:cs typeface="Times New Roman" panose="02020603050405020304" pitchFamily="18" charset="0"/>
            </a:endParaRPr>
          </a:p>
        </p:txBody>
      </p:sp>
      <p:sp>
        <p:nvSpPr>
          <p:cNvPr id="194" name="Google Shape;194;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114300" lvl="0" indent="0" algn="just">
              <a:buNone/>
            </a:pPr>
            <a:r>
              <a:rPr lang="en-IN" sz="2400" dirty="0">
                <a:latin typeface="Times New Roman" panose="02020603050405020304" pitchFamily="18" charset="0"/>
                <a:cs typeface="Times New Roman" panose="02020603050405020304" pitchFamily="18" charset="0"/>
              </a:rPr>
              <a:t>Module 1 – Data Collection &amp; Preprocessing </a:t>
            </a:r>
          </a:p>
          <a:p>
            <a:pPr marL="114300" lvl="0" indent="0" algn="just">
              <a:buNone/>
            </a:pPr>
            <a:r>
              <a:rPr lang="en-IN" sz="2400" dirty="0">
                <a:latin typeface="Times New Roman" panose="02020603050405020304" pitchFamily="18" charset="0"/>
                <a:cs typeface="Times New Roman" panose="02020603050405020304" pitchFamily="18" charset="0"/>
              </a:rPr>
              <a:t>Module 2 – Failure Prediction </a:t>
            </a:r>
          </a:p>
          <a:p>
            <a:pPr marL="114300" lvl="0" indent="0" algn="just">
              <a:buNone/>
            </a:pPr>
            <a:r>
              <a:rPr lang="en-IN" sz="2400" dirty="0">
                <a:latin typeface="Times New Roman" panose="02020603050405020304" pitchFamily="18" charset="0"/>
                <a:cs typeface="Times New Roman" panose="02020603050405020304" pitchFamily="18" charset="0"/>
              </a:rPr>
              <a:t>Module 3 – Investigation &amp; Root Cause Analysis </a:t>
            </a:r>
          </a:p>
          <a:p>
            <a:pPr marL="114300" lvl="0" indent="0" algn="just">
              <a:buNone/>
            </a:pPr>
            <a:r>
              <a:rPr lang="en-IN" sz="2400" dirty="0">
                <a:latin typeface="Times New Roman" panose="02020603050405020304" pitchFamily="18" charset="0"/>
                <a:cs typeface="Times New Roman" panose="02020603050405020304" pitchFamily="18" charset="0"/>
              </a:rPr>
              <a:t>Module 4 – Report Generation &amp; Maintenance                   Recommendation</a:t>
            </a:r>
            <a:endParaRPr sz="2400" dirty="0">
              <a:latin typeface="Times New Roman" panose="02020603050405020304" pitchFamily="18" charset="0"/>
              <a:cs typeface="Times New Roman" panose="02020603050405020304" pitchFamily="18" charset="0"/>
            </a:endParaRPr>
          </a:p>
        </p:txBody>
      </p:sp>
      <p:sp>
        <p:nvSpPr>
          <p:cNvPr id="196" name="Google Shape;196;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97" name="Google Shape;197;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Proposed-Module Description</a:t>
            </a:r>
            <a:endParaRPr b="1" dirty="0">
              <a:latin typeface="Times New Roman" panose="02020603050405020304" pitchFamily="18" charset="0"/>
              <a:cs typeface="Times New Roman" panose="02020603050405020304" pitchFamily="18" charset="0"/>
            </a:endParaRPr>
          </a:p>
        </p:txBody>
      </p:sp>
      <p:sp>
        <p:nvSpPr>
          <p:cNvPr id="203" name="Google Shape;203;p13"/>
          <p:cNvSpPr txBox="1">
            <a:spLocks noGrp="1"/>
          </p:cNvSpPr>
          <p:nvPr>
            <p:ph type="body" idx="1"/>
          </p:nvPr>
        </p:nvSpPr>
        <p:spPr>
          <a:xfrm>
            <a:off x="457200" y="1600200"/>
            <a:ext cx="8229600" cy="4661535"/>
          </a:xfrm>
          <a:prstGeom prst="rect">
            <a:avLst/>
          </a:prstGeom>
          <a:noFill/>
          <a:ln>
            <a:noFill/>
          </a:ln>
        </p:spPr>
        <p:txBody>
          <a:bodyPr spcFirstLastPara="1" wrap="square" lIns="91425" tIns="45700" rIns="91425" bIns="45700" anchor="t" anchorCtr="0">
            <a:normAutofit fontScale="97500" lnSpcReduction="10000"/>
          </a:bodyPr>
          <a:lstStyle/>
          <a:p>
            <a:pPr algn="just">
              <a:buFont typeface="Wingdings" panose="05000000000000000000" pitchFamily="2" charset="2"/>
              <a:buChar char="q"/>
            </a:pPr>
            <a:r>
              <a:rPr lang="en-IN" sz="1800" b="1" dirty="0">
                <a:latin typeface="Times New Roman" panose="02020603050405020304" pitchFamily="18" charset="0"/>
                <a:cs typeface="Times New Roman" panose="02020603050405020304" pitchFamily="18" charset="0"/>
              </a:rPr>
              <a:t>Module 1 – Data Collection &amp; Preprocessing</a:t>
            </a:r>
          </a:p>
          <a:p>
            <a:pPr marL="114300" indent="0" algn="just">
              <a:lnSpc>
                <a:spcPct val="150000"/>
              </a:lnSpc>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Collect and prepare aircraft operational data.</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How it Works:</a:t>
            </a:r>
            <a:r>
              <a:rPr lang="en-IN" sz="1800" dirty="0">
                <a:latin typeface="Times New Roman" panose="02020603050405020304" pitchFamily="18" charset="0"/>
                <a:cs typeface="Times New Roman" panose="02020603050405020304" pitchFamily="18" charset="0"/>
              </a:rPr>
              <a:t> Integrates sensor data, maintenance records, flight logs, and weather 	 information, then cleans and transforms them into structured features.</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Outcome:</a:t>
            </a:r>
            <a:r>
              <a:rPr lang="en-IN" sz="1800" dirty="0">
                <a:latin typeface="Times New Roman" panose="02020603050405020304" pitchFamily="18" charset="0"/>
                <a:cs typeface="Times New Roman" panose="02020603050405020304" pitchFamily="18" charset="0"/>
              </a:rPr>
              <a:t> A high-quality dataset ready for AI analysis.</a:t>
            </a:r>
          </a:p>
          <a:p>
            <a:pPr marL="114300" lvl="0" indent="0" algn="just">
              <a:lnSpc>
                <a:spcPct val="150000"/>
              </a:lnSpc>
              <a:buSzPct val="100000"/>
              <a:buNone/>
            </a:pPr>
            <a:endParaRPr lang="en-US" sz="1800" dirty="0">
              <a:latin typeface="Times New Roman" panose="02020603050405020304" pitchFamily="18" charset="0"/>
              <a:ea typeface="Times New Roman"/>
              <a:cs typeface="Times New Roman" panose="02020603050405020304" pitchFamily="18" charset="0"/>
              <a:sym typeface="Times New Roman"/>
            </a:endParaRPr>
          </a:p>
          <a:p>
            <a:pPr algn="just">
              <a:lnSpc>
                <a:spcPct val="150000"/>
              </a:lnSpc>
              <a:buFont typeface="Wingdings" panose="05000000000000000000" pitchFamily="2" charset="2"/>
              <a:buChar char="q"/>
            </a:pPr>
            <a:r>
              <a:rPr lang="en-IN" sz="1800" b="1" dirty="0">
                <a:latin typeface="Times New Roman" panose="02020603050405020304" pitchFamily="18" charset="0"/>
                <a:cs typeface="Times New Roman" panose="02020603050405020304" pitchFamily="18" charset="0"/>
              </a:rPr>
              <a:t>Module 2 – Failure Prediction</a:t>
            </a:r>
          </a:p>
          <a:p>
            <a:pPr marL="114300" indent="0" algn="just">
              <a:lnSpc>
                <a:spcPct val="150000"/>
              </a:lnSpc>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Predict potential aircraft component failures.</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How it Works:</a:t>
            </a:r>
            <a:r>
              <a:rPr lang="en-IN" sz="1800" dirty="0">
                <a:latin typeface="Times New Roman" panose="02020603050405020304" pitchFamily="18" charset="0"/>
                <a:cs typeface="Times New Roman" panose="02020603050405020304" pitchFamily="18" charset="0"/>
              </a:rPr>
              <a:t> A Time-Series AI model </a:t>
            </a:r>
            <a:r>
              <a:rPr lang="en-IN" sz="1800" dirty="0" err="1">
                <a:latin typeface="Times New Roman" panose="02020603050405020304" pitchFamily="18" charset="0"/>
                <a:cs typeface="Times New Roman" panose="02020603050405020304" pitchFamily="18" charset="0"/>
              </a:rPr>
              <a:t>analyzes</a:t>
            </a:r>
            <a:r>
              <a:rPr lang="en-IN" sz="1800" dirty="0">
                <a:latin typeface="Times New Roman" panose="02020603050405020304" pitchFamily="18" charset="0"/>
                <a:cs typeface="Times New Roman" panose="02020603050405020304" pitchFamily="18" charset="0"/>
              </a:rPr>
              <a:t> historical patterns and detects anomalies to estimate failure risk.</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Outcome:</a:t>
            </a:r>
            <a:r>
              <a:rPr lang="en-IN" sz="1800" dirty="0">
                <a:latin typeface="Times New Roman" panose="02020603050405020304" pitchFamily="18" charset="0"/>
                <a:cs typeface="Times New Roman" panose="02020603050405020304" pitchFamily="18" charset="0"/>
              </a:rPr>
              <a:t> Early warnings with predicted failure probability and confidence score.</a:t>
            </a:r>
          </a:p>
          <a:p>
            <a:pPr marL="114300" indent="0" algn="just">
              <a:lnSpc>
                <a:spcPct val="150000"/>
              </a:lnSpc>
              <a:buNone/>
            </a:pPr>
            <a:endParaRPr lang="en-IN" sz="1800" dirty="0">
              <a:latin typeface="Times New Roman" panose="02020603050405020304" pitchFamily="18" charset="0"/>
              <a:cs typeface="Times New Roman" panose="02020603050405020304" pitchFamily="18" charset="0"/>
            </a:endParaRPr>
          </a:p>
          <a:p>
            <a:pPr marL="114300" lvl="0" indent="0" algn="just">
              <a:buSzPct val="100000"/>
              <a:buNone/>
            </a:pPr>
            <a:endParaRPr lang="en-US" sz="1800" dirty="0">
              <a:latin typeface="Times New Roman" panose="02020603050405020304" pitchFamily="18" charset="0"/>
              <a:ea typeface="Times New Roman"/>
              <a:cs typeface="Times New Roman" panose="02020603050405020304" pitchFamily="18" charset="0"/>
              <a:sym typeface="Times New Roman"/>
            </a:endParaRPr>
          </a:p>
        </p:txBody>
      </p:sp>
      <p:sp>
        <p:nvSpPr>
          <p:cNvPr id="205" name="Google Shape;205;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06" name="Google Shape;206;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dirty="0">
                <a:latin typeface="Times New Roman" panose="02020603050405020304" pitchFamily="18" charset="0"/>
                <a:cs typeface="Times New Roman" panose="02020603050405020304" pitchFamily="18" charset="0"/>
              </a:rPr>
              <a:t>Proposed-Module Description</a:t>
            </a:r>
            <a:endParaRPr dirty="0">
              <a:latin typeface="Times New Roman" panose="02020603050405020304" pitchFamily="18" charset="0"/>
              <a:cs typeface="Times New Roman" panose="02020603050405020304" pitchFamily="18" charset="0"/>
            </a:endParaRPr>
          </a:p>
        </p:txBody>
      </p:sp>
      <p:sp>
        <p:nvSpPr>
          <p:cNvPr id="212" name="Google Shape;212;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algn="just">
              <a:lnSpc>
                <a:spcPct val="150000"/>
              </a:lnSpc>
              <a:buFont typeface="Wingdings" panose="05000000000000000000" pitchFamily="2" charset="2"/>
              <a:buChar char="q"/>
            </a:pPr>
            <a:r>
              <a:rPr lang="en-IN" sz="1800" b="1" dirty="0">
                <a:latin typeface="Times New Roman" panose="02020603050405020304" pitchFamily="18" charset="0"/>
                <a:cs typeface="Times New Roman" panose="02020603050405020304" pitchFamily="18" charset="0"/>
              </a:rPr>
              <a:t>Module 3 – Evidence-Driven Investigation</a:t>
            </a:r>
          </a:p>
          <a:p>
            <a:pPr marL="114300" indent="0" algn="just">
              <a:lnSpc>
                <a:spcPct val="150000"/>
              </a:lnSpc>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Identify the root cause behind predicted failures.</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How it Works:</a:t>
            </a:r>
            <a:r>
              <a:rPr lang="en-IN" sz="1800" dirty="0">
                <a:latin typeface="Times New Roman" panose="02020603050405020304" pitchFamily="18" charset="0"/>
                <a:cs typeface="Times New Roman" panose="02020603050405020304" pitchFamily="18" charset="0"/>
              </a:rPr>
              <a:t> The Investigation Engine combines maintenance history, operational context, and causal relationships to reconstruct the chain of evidence.</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Outcome:</a:t>
            </a:r>
            <a:r>
              <a:rPr lang="en-IN" sz="1800" dirty="0">
                <a:latin typeface="Times New Roman" panose="02020603050405020304" pitchFamily="18" charset="0"/>
                <a:cs typeface="Times New Roman" panose="02020603050405020304" pitchFamily="18" charset="0"/>
              </a:rPr>
              <a:t> Explainable root cause with supporting evidence and confidence level.</a:t>
            </a:r>
          </a:p>
          <a:p>
            <a:pPr marL="114300" indent="0" algn="just">
              <a:buNone/>
            </a:pPr>
            <a:endParaRPr lang="en-IN" sz="1800" b="1"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lang="en-IN" sz="1800" b="1" dirty="0">
                <a:latin typeface="Times New Roman" panose="02020603050405020304" pitchFamily="18" charset="0"/>
                <a:cs typeface="Times New Roman" panose="02020603050405020304" pitchFamily="18" charset="0"/>
              </a:rPr>
              <a:t>Module 4 – Recommendation &amp; Report Generation</a:t>
            </a:r>
          </a:p>
          <a:p>
            <a:pPr marL="114300" indent="0" algn="just">
              <a:lnSpc>
                <a:spcPct val="150000"/>
              </a:lnSpc>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Assist engineers in making maintenance decisions.</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How it Works:</a:t>
            </a:r>
            <a:r>
              <a:rPr lang="en-IN" sz="1800" dirty="0">
                <a:latin typeface="Times New Roman" panose="02020603050405020304" pitchFamily="18" charset="0"/>
                <a:cs typeface="Times New Roman" panose="02020603050405020304" pitchFamily="18" charset="0"/>
              </a:rPr>
              <a:t> RAG and an LLM retrieve relevant technical knowledge and generate evidence-based maintenance recommendations.</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Outcome:</a:t>
            </a:r>
            <a:r>
              <a:rPr lang="en-IN" sz="1800" dirty="0">
                <a:latin typeface="Times New Roman" panose="02020603050405020304" pitchFamily="18" charset="0"/>
                <a:cs typeface="Times New Roman" panose="02020603050405020304" pitchFamily="18" charset="0"/>
              </a:rPr>
              <a:t> A clear investigation report with actionable maintenance suggestions.</a:t>
            </a:r>
          </a:p>
          <a:p>
            <a:pPr marL="114300" lvl="0" indent="0" algn="just" rtl="0">
              <a:lnSpc>
                <a:spcPct val="100000"/>
              </a:lnSpc>
              <a:spcBef>
                <a:spcPts val="360"/>
              </a:spcBef>
              <a:spcAft>
                <a:spcPts val="0"/>
              </a:spcAft>
              <a:buSzPts val="1800"/>
              <a:buNone/>
            </a:pPr>
            <a:endParaRPr sz="1800" dirty="0">
              <a:latin typeface="Times New Roman" panose="02020603050405020304" pitchFamily="18" charset="0"/>
              <a:ea typeface="Times New Roman"/>
              <a:cs typeface="Times New Roman" panose="02020603050405020304" pitchFamily="18" charset="0"/>
              <a:sym typeface="Times New Roman"/>
            </a:endParaRPr>
          </a:p>
        </p:txBody>
      </p:sp>
      <p:sp>
        <p:nvSpPr>
          <p:cNvPr id="214" name="Google Shape;214;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15" name="Google Shape;215;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5"/>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ct val="100000"/>
              <a:buFont typeface="Calibri"/>
              <a:buNone/>
            </a:pPr>
            <a:r>
              <a:rPr lang="en-US" b="1" dirty="0">
                <a:latin typeface="Times New Roman" panose="02020603050405020304" pitchFamily="18" charset="0"/>
                <a:cs typeface="Times New Roman" panose="02020603050405020304" pitchFamily="18" charset="0"/>
              </a:rPr>
              <a:t>Software Requirements</a:t>
            </a:r>
            <a:endParaRPr b="1" dirty="0">
              <a:latin typeface="Times New Roman" panose="02020603050405020304" pitchFamily="18" charset="0"/>
              <a:cs typeface="Times New Roman" panose="02020603050405020304" pitchFamily="18" charset="0"/>
            </a:endParaRPr>
          </a:p>
        </p:txBody>
      </p:sp>
      <p:sp>
        <p:nvSpPr>
          <p:cNvPr id="221" name="Google Shape;221;p15"/>
          <p:cNvSpPr txBox="1">
            <a:spLocks noGrp="1"/>
          </p:cNvSpPr>
          <p:nvPr>
            <p:ph type="body" idx="1"/>
          </p:nvPr>
        </p:nvSpPr>
        <p:spPr>
          <a:xfrm>
            <a:off x="545691" y="954856"/>
            <a:ext cx="8229600" cy="5589638"/>
          </a:xfrm>
          <a:prstGeom prst="rect">
            <a:avLst/>
          </a:prstGeom>
          <a:noFill/>
          <a:ln>
            <a:noFill/>
          </a:ln>
        </p:spPr>
        <p:txBody>
          <a:bodyPr spcFirstLastPara="1" wrap="square" lIns="91425" tIns="45700" rIns="91425" bIns="45700" anchor="t" anchorCtr="0">
            <a:normAutofit fontScale="85000" lnSpcReduction="20000"/>
          </a:bodyPr>
          <a:lstStyle/>
          <a:p>
            <a:pPr marL="114300" indent="0">
              <a:buNone/>
            </a:pPr>
            <a:r>
              <a:rPr lang="en-IN" sz="2400" b="1" dirty="0">
                <a:latin typeface="Times New Roman" panose="02020603050405020304" pitchFamily="18" charset="0"/>
                <a:cs typeface="Times New Roman" panose="02020603050405020304" pitchFamily="18" charset="0"/>
              </a:rPr>
              <a:t>Software Requirements</a:t>
            </a:r>
          </a:p>
          <a:p>
            <a:pPr marL="114300" indent="0">
              <a:buNone/>
            </a:pPr>
            <a:r>
              <a:rPr lang="en-IN" sz="2400" b="1" dirty="0">
                <a:latin typeface="Times New Roman" panose="02020603050405020304" pitchFamily="18" charset="0"/>
                <a:cs typeface="Times New Roman" panose="02020603050405020304" pitchFamily="18" charset="0"/>
              </a:rPr>
              <a:t>Operating System:</a:t>
            </a:r>
            <a:r>
              <a:rPr lang="en-IN" sz="2400" dirty="0">
                <a:latin typeface="Times New Roman" panose="02020603050405020304" pitchFamily="18" charset="0"/>
                <a:cs typeface="Times New Roman" panose="02020603050405020304" pitchFamily="18" charset="0"/>
              </a:rPr>
              <a:t> Windows 10/11 or Ubuntu</a:t>
            </a:r>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Programming Language:</a:t>
            </a:r>
            <a:r>
              <a:rPr lang="en-IN" sz="2400" dirty="0">
                <a:latin typeface="Times New Roman" panose="02020603050405020304" pitchFamily="18" charset="0"/>
                <a:cs typeface="Times New Roman" panose="02020603050405020304" pitchFamily="18" charset="0"/>
              </a:rPr>
              <a:t> Python 3.11+</a:t>
            </a:r>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IDE:</a:t>
            </a:r>
            <a:r>
              <a:rPr lang="en-IN" sz="2400" dirty="0">
                <a:latin typeface="Times New Roman" panose="02020603050405020304" pitchFamily="18" charset="0"/>
                <a:cs typeface="Times New Roman" panose="02020603050405020304" pitchFamily="18" charset="0"/>
              </a:rPr>
              <a:t> Visual Studio Code / Jupyter Notebook </a:t>
            </a:r>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Database:</a:t>
            </a:r>
            <a:r>
              <a:rPr lang="en-IN" sz="2400" dirty="0">
                <a:latin typeface="Times New Roman" panose="02020603050405020304" pitchFamily="18" charset="0"/>
                <a:cs typeface="Times New Roman" panose="02020603050405020304" pitchFamily="18" charset="0"/>
              </a:rPr>
              <a:t> PostgreSQL</a:t>
            </a:r>
          </a:p>
          <a:p>
            <a:pPr marL="114300" indent="0">
              <a:buNone/>
            </a:pPr>
            <a:endParaRPr lang="en-IN" sz="2400" dirty="0">
              <a:latin typeface="Times New Roman" panose="02020603050405020304" pitchFamily="18" charset="0"/>
              <a:cs typeface="Times New Roman" panose="02020603050405020304" pitchFamily="18" charset="0"/>
            </a:endParaRPr>
          </a:p>
          <a:p>
            <a:pPr marL="114300" indent="0">
              <a:buNone/>
            </a:pPr>
            <a:r>
              <a:rPr lang="en-IN" sz="2400" b="1" dirty="0">
                <a:latin typeface="Times New Roman" panose="02020603050405020304" pitchFamily="18" charset="0"/>
                <a:cs typeface="Times New Roman" panose="02020603050405020304" pitchFamily="18" charset="0"/>
              </a:rPr>
              <a:t>Libraries &amp; Frameworks:</a:t>
            </a:r>
            <a:endParaRPr lang="en-IN" sz="2400" dirty="0">
              <a:latin typeface="Times New Roman" panose="02020603050405020304" pitchFamily="18" charset="0"/>
              <a:cs typeface="Times New Roman" panose="02020603050405020304" pitchFamily="18" charset="0"/>
            </a:endParaRPr>
          </a:p>
          <a:p>
            <a:pPr lvl="0"/>
            <a:r>
              <a:rPr lang="en-IN" sz="2400" b="1" dirty="0">
                <a:latin typeface="Times New Roman" panose="02020603050405020304" pitchFamily="18" charset="0"/>
                <a:cs typeface="Times New Roman" panose="02020603050405020304" pitchFamily="18" charset="0"/>
              </a:rPr>
              <a:t>Pandas, NumPy</a:t>
            </a:r>
            <a:r>
              <a:rPr lang="en-IN" sz="2400" dirty="0">
                <a:latin typeface="Times New Roman" panose="02020603050405020304" pitchFamily="18" charset="0"/>
                <a:cs typeface="Times New Roman" panose="02020603050405020304" pitchFamily="18" charset="0"/>
              </a:rPr>
              <a:t> – Data Processing</a:t>
            </a:r>
          </a:p>
          <a:p>
            <a:pPr lvl="0"/>
            <a:r>
              <a:rPr lang="en-IN" sz="2400" b="1" dirty="0">
                <a:latin typeface="Times New Roman" panose="02020603050405020304" pitchFamily="18" charset="0"/>
                <a:cs typeface="Times New Roman" panose="02020603050405020304" pitchFamily="18" charset="0"/>
              </a:rPr>
              <a:t>Scikit-learn</a:t>
            </a:r>
            <a:r>
              <a:rPr lang="en-IN" sz="2400" dirty="0">
                <a:latin typeface="Times New Roman" panose="02020603050405020304" pitchFamily="18" charset="0"/>
                <a:cs typeface="Times New Roman" panose="02020603050405020304" pitchFamily="18" charset="0"/>
              </a:rPr>
              <a:t> – Machine Learning</a:t>
            </a:r>
          </a:p>
          <a:p>
            <a:pPr lvl="0"/>
            <a:r>
              <a:rPr lang="en-IN" sz="2400" b="1" dirty="0" err="1">
                <a:latin typeface="Times New Roman" panose="02020603050405020304" pitchFamily="18" charset="0"/>
                <a:cs typeface="Times New Roman" panose="02020603050405020304" pitchFamily="18" charset="0"/>
              </a:rPr>
              <a:t>PyTorch</a:t>
            </a:r>
            <a:r>
              <a:rPr lang="en-IN" sz="2400" dirty="0">
                <a:latin typeface="Times New Roman" panose="02020603050405020304" pitchFamily="18" charset="0"/>
                <a:cs typeface="Times New Roman" panose="02020603050405020304" pitchFamily="18" charset="0"/>
              </a:rPr>
              <a:t> – Time-Series Transformer</a:t>
            </a:r>
          </a:p>
          <a:p>
            <a:pPr lvl="0"/>
            <a:r>
              <a:rPr lang="en-IN" sz="2400" b="1" dirty="0" err="1">
                <a:latin typeface="Times New Roman" panose="02020603050405020304" pitchFamily="18" charset="0"/>
                <a:cs typeface="Times New Roman" panose="02020603050405020304" pitchFamily="18" charset="0"/>
              </a:rPr>
              <a:t>DoWhy</a:t>
            </a:r>
            <a:r>
              <a:rPr lang="en-IN" sz="2400" dirty="0">
                <a:latin typeface="Times New Roman" panose="02020603050405020304" pitchFamily="18" charset="0"/>
                <a:cs typeface="Times New Roman" panose="02020603050405020304" pitchFamily="18" charset="0"/>
              </a:rPr>
              <a:t> – Causal Analysis</a:t>
            </a:r>
          </a:p>
          <a:p>
            <a:pPr lvl="0"/>
            <a:r>
              <a:rPr lang="en-IN" sz="2400" b="1" dirty="0">
                <a:latin typeface="Times New Roman" panose="02020603050405020304" pitchFamily="18" charset="0"/>
                <a:cs typeface="Times New Roman" panose="02020603050405020304" pitchFamily="18" charset="0"/>
              </a:rPr>
              <a:t>Neo4j</a:t>
            </a:r>
            <a:r>
              <a:rPr lang="en-IN" sz="2400" dirty="0">
                <a:latin typeface="Times New Roman" panose="02020603050405020304" pitchFamily="18" charset="0"/>
                <a:cs typeface="Times New Roman" panose="02020603050405020304" pitchFamily="18" charset="0"/>
              </a:rPr>
              <a:t> – Knowledge Graph</a:t>
            </a:r>
          </a:p>
          <a:p>
            <a:pPr lvl="0"/>
            <a:r>
              <a:rPr lang="en-IN" sz="2400" b="1" dirty="0" err="1">
                <a:latin typeface="Times New Roman" panose="02020603050405020304" pitchFamily="18" charset="0"/>
                <a:cs typeface="Times New Roman" panose="02020603050405020304" pitchFamily="18" charset="0"/>
              </a:rPr>
              <a:t>LangChain</a:t>
            </a:r>
            <a:r>
              <a:rPr lang="en-IN" sz="2400" dirty="0">
                <a:latin typeface="Times New Roman" panose="02020603050405020304" pitchFamily="18" charset="0"/>
                <a:cs typeface="Times New Roman" panose="02020603050405020304" pitchFamily="18" charset="0"/>
              </a:rPr>
              <a:t> – RAG Pipeline</a:t>
            </a:r>
          </a:p>
          <a:p>
            <a:pPr lvl="0"/>
            <a:r>
              <a:rPr lang="en-IN" sz="2400" b="1" dirty="0">
                <a:latin typeface="Times New Roman" panose="02020603050405020304" pitchFamily="18" charset="0"/>
                <a:cs typeface="Times New Roman" panose="02020603050405020304" pitchFamily="18" charset="0"/>
              </a:rPr>
              <a:t>FAISS</a:t>
            </a:r>
            <a:r>
              <a:rPr lang="en-IN" sz="2400" dirty="0">
                <a:latin typeface="Times New Roman" panose="02020603050405020304" pitchFamily="18" charset="0"/>
                <a:cs typeface="Times New Roman" panose="02020603050405020304" pitchFamily="18" charset="0"/>
              </a:rPr>
              <a:t> – Vector Search</a:t>
            </a:r>
          </a:p>
          <a:p>
            <a:pPr lvl="0"/>
            <a:r>
              <a:rPr lang="en-IN" sz="2400" b="1" dirty="0">
                <a:latin typeface="Times New Roman" panose="02020603050405020304" pitchFamily="18" charset="0"/>
                <a:cs typeface="Times New Roman" panose="02020603050405020304" pitchFamily="18" charset="0"/>
              </a:rPr>
              <a:t>Hugging Face Transformers</a:t>
            </a:r>
            <a:r>
              <a:rPr lang="en-IN" sz="2400" dirty="0">
                <a:latin typeface="Times New Roman" panose="02020603050405020304" pitchFamily="18" charset="0"/>
                <a:cs typeface="Times New Roman" panose="02020603050405020304" pitchFamily="18" charset="0"/>
              </a:rPr>
              <a:t> – LLM Integration</a:t>
            </a:r>
          </a:p>
          <a:p>
            <a:pPr lvl="0"/>
            <a:r>
              <a:rPr lang="en-IN" sz="2400" b="1" dirty="0">
                <a:latin typeface="Times New Roman" panose="02020603050405020304" pitchFamily="18" charset="0"/>
                <a:cs typeface="Times New Roman" panose="02020603050405020304" pitchFamily="18" charset="0"/>
              </a:rPr>
              <a:t>SHAP</a:t>
            </a:r>
            <a:r>
              <a:rPr lang="en-IN" sz="2400" dirty="0">
                <a:latin typeface="Times New Roman" panose="02020603050405020304" pitchFamily="18" charset="0"/>
                <a:cs typeface="Times New Roman" panose="02020603050405020304" pitchFamily="18" charset="0"/>
              </a:rPr>
              <a:t> – Model Explainability</a:t>
            </a:r>
          </a:p>
          <a:p>
            <a:pPr lvl="0"/>
            <a:r>
              <a:rPr lang="en-IN" sz="2400" b="1" dirty="0">
                <a:latin typeface="Times New Roman" panose="02020603050405020304" pitchFamily="18" charset="0"/>
                <a:cs typeface="Times New Roman" panose="02020603050405020304" pitchFamily="18" charset="0"/>
              </a:rPr>
              <a:t>Matplotlib, Seaborn</a:t>
            </a:r>
            <a:r>
              <a:rPr lang="en-IN" sz="2400" dirty="0">
                <a:latin typeface="Times New Roman" panose="02020603050405020304" pitchFamily="18" charset="0"/>
                <a:cs typeface="Times New Roman" panose="02020603050405020304" pitchFamily="18" charset="0"/>
              </a:rPr>
              <a:t> – Visualization</a:t>
            </a:r>
          </a:p>
          <a:p>
            <a:pPr lvl="0"/>
            <a:r>
              <a:rPr lang="en-IN" sz="2400" b="1" dirty="0">
                <a:latin typeface="Times New Roman" panose="02020603050405020304" pitchFamily="18" charset="0"/>
                <a:cs typeface="Times New Roman" panose="02020603050405020304" pitchFamily="18" charset="0"/>
              </a:rPr>
              <a:t>Backend:</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FastAPI</a:t>
            </a:r>
            <a:endParaRPr lang="en-IN" sz="2400" dirty="0">
              <a:latin typeface="Times New Roman" panose="02020603050405020304" pitchFamily="18" charset="0"/>
              <a:cs typeface="Times New Roman" panose="02020603050405020304" pitchFamily="18" charset="0"/>
            </a:endParaRPr>
          </a:p>
          <a:p>
            <a:pPr lvl="0"/>
            <a:r>
              <a:rPr lang="en-IN" sz="2400" b="1" dirty="0">
                <a:latin typeface="Times New Roman" panose="02020603050405020304" pitchFamily="18" charset="0"/>
                <a:cs typeface="Times New Roman" panose="02020603050405020304" pitchFamily="18" charset="0"/>
              </a:rPr>
              <a:t>Frontend:</a:t>
            </a:r>
            <a:r>
              <a:rPr lang="en-IN" sz="2400" dirty="0">
                <a:latin typeface="Times New Roman" panose="02020603050405020304" pitchFamily="18" charset="0"/>
                <a:cs typeface="Times New Roman" panose="02020603050405020304" pitchFamily="18" charset="0"/>
              </a:rPr>
              <a:t> React, Tailwind CSS</a:t>
            </a:r>
          </a:p>
        </p:txBody>
      </p:sp>
      <p:sp>
        <p:nvSpPr>
          <p:cNvPr id="223" name="Google Shape;223;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24" name="Google Shape;224;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9"/>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sz="4900" b="1" dirty="0">
                <a:latin typeface="Times New Roman" panose="02020603050405020304" pitchFamily="18" charset="0"/>
                <a:cs typeface="Times New Roman" panose="02020603050405020304" pitchFamily="18" charset="0"/>
              </a:rPr>
              <a:t>References</a:t>
            </a:r>
            <a:endParaRPr b="1" dirty="0">
              <a:latin typeface="Times New Roman" panose="02020603050405020304" pitchFamily="18" charset="0"/>
              <a:cs typeface="Times New Roman" panose="02020603050405020304" pitchFamily="18" charset="0"/>
            </a:endParaRPr>
          </a:p>
        </p:txBody>
      </p:sp>
      <p:sp>
        <p:nvSpPr>
          <p:cNvPr id="239" name="Google Shape;239;p19"/>
          <p:cNvSpPr txBox="1">
            <a:spLocks noGrp="1"/>
          </p:cNvSpPr>
          <p:nvPr>
            <p:ph type="body" idx="1"/>
          </p:nvPr>
        </p:nvSpPr>
        <p:spPr>
          <a:xfrm>
            <a:off x="457200" y="990600"/>
            <a:ext cx="8229600" cy="5445125"/>
          </a:xfrm>
          <a:prstGeom prst="rect">
            <a:avLst/>
          </a:prstGeom>
          <a:noFill/>
          <a:ln>
            <a:noFill/>
          </a:ln>
        </p:spPr>
        <p:txBody>
          <a:bodyPr spcFirstLastPara="1" wrap="square" lIns="91425" tIns="45700" rIns="91425" bIns="45700" anchor="t" anchorCtr="0">
            <a:noAutofit/>
          </a:bodyPr>
          <a:lstStyle/>
          <a:p>
            <a:pPr marL="114300" indent="0">
              <a:buNone/>
            </a:pPr>
            <a:r>
              <a:rPr lang="en-IN" sz="1600" b="1" dirty="0">
                <a:latin typeface="Times New Roman" panose="02020603050405020304" pitchFamily="18" charset="0"/>
                <a:cs typeface="Times New Roman" panose="02020603050405020304" pitchFamily="18" charset="0"/>
              </a:rPr>
              <a:t>[1] </a:t>
            </a:r>
            <a:r>
              <a:rPr lang="en-IN" sz="1600" dirty="0">
                <a:latin typeface="Times New Roman" panose="02020603050405020304" pitchFamily="18" charset="0"/>
                <a:cs typeface="Times New Roman" panose="02020603050405020304" pitchFamily="18" charset="0"/>
              </a:rPr>
              <a:t>Z. Guo, Z. Liu, E. Estupiñan, and D. Cabrera, “Fault Inference Diagnosis Based on Causal Network and Large Language Model-Enhanced Knowledge Graph Network,” </a:t>
            </a:r>
            <a:r>
              <a:rPr lang="en-IN" sz="1600" i="1" dirty="0">
                <a:latin typeface="Times New Roman" panose="02020603050405020304" pitchFamily="18" charset="0"/>
                <a:cs typeface="Times New Roman" panose="02020603050405020304" pitchFamily="18" charset="0"/>
              </a:rPr>
              <a:t>Chinese Journal of Mechanical Engineering</a:t>
            </a:r>
            <a:r>
              <a:rPr lang="en-IN" sz="1600" dirty="0">
                <a:latin typeface="Times New Roman" panose="02020603050405020304" pitchFamily="18" charset="0"/>
                <a:cs typeface="Times New Roman" panose="02020603050405020304" pitchFamily="18" charset="0"/>
              </a:rPr>
              <a:t>, vol. 39, Art. no. 100162, 2026.</a:t>
            </a:r>
          </a:p>
          <a:p>
            <a:pPr marL="114300" indent="0">
              <a:buNone/>
            </a:pPr>
            <a:endParaRPr lang="en-IN" sz="1600" dirty="0">
              <a:latin typeface="Times New Roman" panose="02020603050405020304" pitchFamily="18" charset="0"/>
              <a:cs typeface="Times New Roman" panose="02020603050405020304" pitchFamily="18" charset="0"/>
            </a:endParaRPr>
          </a:p>
          <a:p>
            <a:pPr marL="114300" indent="0">
              <a:buNone/>
            </a:pPr>
            <a:r>
              <a:rPr lang="en-IN" sz="1600" b="1" dirty="0">
                <a:latin typeface="Times New Roman" panose="02020603050405020304" pitchFamily="18" charset="0"/>
                <a:cs typeface="Times New Roman" panose="02020603050405020304" pitchFamily="18" charset="0"/>
              </a:rPr>
              <a:t>[2] </a:t>
            </a:r>
            <a:r>
              <a:rPr lang="en-IN" sz="1600" dirty="0">
                <a:latin typeface="Times New Roman" panose="02020603050405020304" pitchFamily="18" charset="0"/>
                <a:cs typeface="Times New Roman" panose="02020603050405020304" pitchFamily="18" charset="0"/>
              </a:rPr>
              <a:t>J. Wang, T. Li, Y. Yang, et al., “</a:t>
            </a:r>
            <a:r>
              <a:rPr lang="en-IN" sz="1600" dirty="0" err="1">
                <a:latin typeface="Times New Roman" panose="02020603050405020304" pitchFamily="18" charset="0"/>
                <a:cs typeface="Times New Roman" panose="02020603050405020304" pitchFamily="18" charset="0"/>
              </a:rPr>
              <a:t>DiagLLM</a:t>
            </a:r>
            <a:r>
              <a:rPr lang="en-IN" sz="1600" dirty="0">
                <a:latin typeface="Times New Roman" panose="02020603050405020304" pitchFamily="18" charset="0"/>
                <a:cs typeface="Times New Roman" panose="02020603050405020304" pitchFamily="18" charset="0"/>
              </a:rPr>
              <a:t>: Multimodal Reasoning with Large Language Model for Explainable Bearing Fault Diagnosis,” </a:t>
            </a:r>
            <a:r>
              <a:rPr lang="en-IN" sz="1600" i="1" dirty="0">
                <a:latin typeface="Times New Roman" panose="02020603050405020304" pitchFamily="18" charset="0"/>
                <a:cs typeface="Times New Roman" panose="02020603050405020304" pitchFamily="18" charset="0"/>
              </a:rPr>
              <a:t>Science China Information Sciences</a:t>
            </a:r>
            <a:r>
              <a:rPr lang="en-IN" sz="1600" dirty="0">
                <a:latin typeface="Times New Roman" panose="02020603050405020304" pitchFamily="18" charset="0"/>
                <a:cs typeface="Times New Roman" panose="02020603050405020304" pitchFamily="18" charset="0"/>
              </a:rPr>
              <a:t>, vol. 68, no. 1, 2025.</a:t>
            </a:r>
          </a:p>
          <a:p>
            <a:pPr marL="114300" indent="0">
              <a:buNone/>
            </a:pPr>
            <a:endParaRPr lang="en-IN" sz="1600" b="1" dirty="0">
              <a:latin typeface="Times New Roman" panose="02020603050405020304" pitchFamily="18" charset="0"/>
              <a:cs typeface="Times New Roman" panose="02020603050405020304" pitchFamily="18" charset="0"/>
            </a:endParaRPr>
          </a:p>
          <a:p>
            <a:pPr marL="114300" indent="0">
              <a:buNone/>
            </a:pPr>
            <a:r>
              <a:rPr lang="en-IN" sz="1600" b="1" dirty="0">
                <a:latin typeface="Times New Roman" panose="02020603050405020304" pitchFamily="18" charset="0"/>
                <a:cs typeface="Times New Roman" panose="02020603050405020304" pitchFamily="18" charset="0"/>
              </a:rPr>
              <a:t>[3] </a:t>
            </a:r>
            <a:r>
              <a:rPr lang="en-IN" sz="1600" dirty="0">
                <a:latin typeface="Times New Roman" panose="02020603050405020304" pitchFamily="18" charset="0"/>
                <a:cs typeface="Times New Roman" panose="02020603050405020304" pitchFamily="18" charset="0"/>
              </a:rPr>
              <a:t>S. Zheng, K. Pan, J. Liu, et al., “Empirical Study on Fine-Tuning Pre-trained Large Language Models for Fault Diagnosis of Complex Systems,” </a:t>
            </a:r>
            <a:r>
              <a:rPr lang="en-IN" sz="1600" i="1" dirty="0">
                <a:latin typeface="Times New Roman" panose="02020603050405020304" pitchFamily="18" charset="0"/>
                <a:cs typeface="Times New Roman" panose="02020603050405020304" pitchFamily="18" charset="0"/>
              </a:rPr>
              <a:t>Reliability Engineering &amp; System Safety</a:t>
            </a:r>
            <a:r>
              <a:rPr lang="en-IN" sz="1600" dirty="0">
                <a:latin typeface="Times New Roman" panose="02020603050405020304" pitchFamily="18" charset="0"/>
                <a:cs typeface="Times New Roman" panose="02020603050405020304" pitchFamily="18" charset="0"/>
              </a:rPr>
              <a:t>, vol. 252, Art. no. 110382, 2024.</a:t>
            </a:r>
          </a:p>
          <a:p>
            <a:pPr marL="114300" indent="0">
              <a:buNone/>
            </a:pPr>
            <a:endParaRPr lang="en-IN" sz="1600" dirty="0">
              <a:latin typeface="Times New Roman" panose="02020603050405020304" pitchFamily="18" charset="0"/>
              <a:cs typeface="Times New Roman" panose="02020603050405020304" pitchFamily="18" charset="0"/>
            </a:endParaRPr>
          </a:p>
          <a:p>
            <a:pPr marL="114300" indent="0">
              <a:buNone/>
            </a:pPr>
            <a:r>
              <a:rPr lang="en-IN" sz="1600" b="1" dirty="0">
                <a:latin typeface="Times New Roman" panose="02020603050405020304" pitchFamily="18" charset="0"/>
                <a:cs typeface="Times New Roman" panose="02020603050405020304" pitchFamily="18" charset="0"/>
              </a:rPr>
              <a:t>[4] </a:t>
            </a:r>
            <a:r>
              <a:rPr lang="en-IN" sz="1600" dirty="0">
                <a:latin typeface="Times New Roman" panose="02020603050405020304" pitchFamily="18" charset="0"/>
                <a:cs typeface="Times New Roman" panose="02020603050405020304" pitchFamily="18" charset="0"/>
              </a:rPr>
              <a:t>Z. Zhang, Q. Li, S. Liu, et al., “Causal Inference-Enabled Graph Neural Networks for Generalized Fault Diagnosis in Industrial IoT Systems,” </a:t>
            </a:r>
            <a:r>
              <a:rPr lang="en-IN" sz="1600" i="1" dirty="0">
                <a:latin typeface="Times New Roman" panose="02020603050405020304" pitchFamily="18" charset="0"/>
                <a:cs typeface="Times New Roman" panose="02020603050405020304" pitchFamily="18" charset="0"/>
              </a:rPr>
              <a:t>Information Sciences</a:t>
            </a:r>
            <a:r>
              <a:rPr lang="en-IN" sz="1600" dirty="0">
                <a:latin typeface="Times New Roman" panose="02020603050405020304" pitchFamily="18" charset="0"/>
                <a:cs typeface="Times New Roman" panose="02020603050405020304" pitchFamily="18" charset="0"/>
              </a:rPr>
              <a:t>, vol. 694, Art. no. 121719, 2025.</a:t>
            </a:r>
          </a:p>
          <a:p>
            <a:pPr marL="114300" indent="0">
              <a:buNone/>
            </a:pPr>
            <a:endParaRPr lang="en-IN" sz="1600" dirty="0">
              <a:latin typeface="Times New Roman" panose="02020603050405020304" pitchFamily="18" charset="0"/>
              <a:cs typeface="Times New Roman" panose="02020603050405020304" pitchFamily="18" charset="0"/>
            </a:endParaRPr>
          </a:p>
          <a:p>
            <a:pPr marL="114300" indent="0">
              <a:buNone/>
            </a:pPr>
            <a:r>
              <a:rPr lang="en-IN" sz="1600" b="1" dirty="0">
                <a:latin typeface="Times New Roman" panose="02020603050405020304" pitchFamily="18" charset="0"/>
                <a:cs typeface="Times New Roman" panose="02020603050405020304" pitchFamily="18" charset="0"/>
              </a:rPr>
              <a:t>[5] </a:t>
            </a:r>
            <a:r>
              <a:rPr lang="en-IN" sz="1600" dirty="0">
                <a:latin typeface="Times New Roman" panose="02020603050405020304" pitchFamily="18" charset="0"/>
                <a:cs typeface="Times New Roman" panose="02020603050405020304" pitchFamily="18" charset="0"/>
              </a:rPr>
              <a:t>Z. Mao, H. Wang, B. Jiang, et al., “Graph Convolutional Neural Network for Intelligent Fault Diagnosis of Machines via Knowledge Graph,” </a:t>
            </a:r>
            <a:r>
              <a:rPr lang="en-IN" sz="1600" i="1" dirty="0">
                <a:latin typeface="Times New Roman" panose="02020603050405020304" pitchFamily="18" charset="0"/>
                <a:cs typeface="Times New Roman" panose="02020603050405020304" pitchFamily="18" charset="0"/>
              </a:rPr>
              <a:t>IEEE Transactions on Industrial Informatics</a:t>
            </a:r>
            <a:r>
              <a:rPr lang="en-IN" sz="1600" dirty="0">
                <a:latin typeface="Times New Roman" panose="02020603050405020304" pitchFamily="18" charset="0"/>
                <a:cs typeface="Times New Roman" panose="02020603050405020304" pitchFamily="18" charset="0"/>
              </a:rPr>
              <a:t>, vol. 20, no. 5, pp. 7862–7870, 2024.</a:t>
            </a:r>
          </a:p>
          <a:p>
            <a:pPr marL="0" lvl="0" indent="0" algn="just" rtl="0">
              <a:lnSpc>
                <a:spcPct val="100000"/>
              </a:lnSpc>
              <a:spcBef>
                <a:spcPts val="240"/>
              </a:spcBef>
              <a:spcAft>
                <a:spcPts val="0"/>
              </a:spcAft>
              <a:buSzPts val="1800"/>
              <a:buNone/>
            </a:pPr>
            <a:endParaRPr lang="en-IN" sz="16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00000"/>
              </a:lnSpc>
              <a:spcBef>
                <a:spcPts val="240"/>
              </a:spcBef>
              <a:spcAft>
                <a:spcPts val="0"/>
              </a:spcAft>
              <a:buSzPts val="1800"/>
              <a:buNone/>
            </a:pPr>
            <a:endParaRPr sz="16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41" name="Google Shape;24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42" name="Google Shape;242;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8"/>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ct val="100000"/>
              <a:buFont typeface="Calibri"/>
              <a:buNone/>
            </a:pPr>
            <a:r>
              <a:rPr lang="en-US" dirty="0">
                <a:latin typeface="Times New Roman" panose="02020603050405020304" pitchFamily="18" charset="0"/>
                <a:cs typeface="Times New Roman" panose="02020603050405020304" pitchFamily="18" charset="0"/>
              </a:rPr>
              <a:t>References</a:t>
            </a:r>
            <a:endParaRPr dirty="0">
              <a:latin typeface="Times New Roman" panose="02020603050405020304" pitchFamily="18" charset="0"/>
              <a:cs typeface="Times New Roman" panose="02020603050405020304" pitchFamily="18" charset="0"/>
            </a:endParaRPr>
          </a:p>
        </p:txBody>
      </p:sp>
      <p:sp>
        <p:nvSpPr>
          <p:cNvPr id="230" name="Google Shape;230;p18"/>
          <p:cNvSpPr txBox="1">
            <a:spLocks noGrp="1"/>
          </p:cNvSpPr>
          <p:nvPr>
            <p:ph type="body" idx="1"/>
          </p:nvPr>
        </p:nvSpPr>
        <p:spPr>
          <a:xfrm>
            <a:off x="457200" y="899160"/>
            <a:ext cx="8229600" cy="5456555"/>
          </a:xfrm>
          <a:prstGeom prst="rect">
            <a:avLst/>
          </a:prstGeom>
          <a:noFill/>
          <a:ln>
            <a:noFill/>
          </a:ln>
        </p:spPr>
        <p:txBody>
          <a:bodyPr spcFirstLastPara="1" wrap="square" lIns="91425" tIns="45700" rIns="91425" bIns="45700" anchor="t" anchorCtr="0">
            <a:noAutofit/>
          </a:bodyPr>
          <a:lstStyle/>
          <a:p>
            <a:pPr marL="114300" indent="0">
              <a:buNone/>
            </a:pPr>
            <a:r>
              <a:rPr lang="en-IN" sz="1600" b="1" dirty="0">
                <a:latin typeface="Times New Roman" panose="02020603050405020304" pitchFamily="18" charset="0"/>
                <a:cs typeface="Times New Roman" panose="02020603050405020304" pitchFamily="18" charset="0"/>
              </a:rPr>
              <a:t>[6] </a:t>
            </a:r>
            <a:r>
              <a:rPr lang="en-IN" sz="1600" dirty="0">
                <a:latin typeface="Times New Roman" panose="02020603050405020304" pitchFamily="18" charset="0"/>
                <a:cs typeface="Times New Roman" panose="02020603050405020304" pitchFamily="18" charset="0"/>
              </a:rPr>
              <a:t>X. Liao, C. Chen, Z. Wang, et al., “Large Language Model Assisted Fine-Grained Knowledge Graph Construction for Robotic Fault Diagnosis,” </a:t>
            </a:r>
            <a:r>
              <a:rPr lang="en-IN" sz="1600" i="1" dirty="0">
                <a:latin typeface="Times New Roman" panose="02020603050405020304" pitchFamily="18" charset="0"/>
                <a:cs typeface="Times New Roman" panose="02020603050405020304" pitchFamily="18" charset="0"/>
              </a:rPr>
              <a:t>Advanced Engineering Informatics</a:t>
            </a:r>
            <a:r>
              <a:rPr lang="en-IN" sz="1600" dirty="0">
                <a:latin typeface="Times New Roman" panose="02020603050405020304" pitchFamily="18" charset="0"/>
                <a:cs typeface="Times New Roman" panose="02020603050405020304" pitchFamily="18" charset="0"/>
              </a:rPr>
              <a:t>, vol. 65, Art. no. 103134, 2025.</a:t>
            </a:r>
            <a:endParaRPr lang="en-IN" sz="1600" dirty="0">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00000"/>
              </a:lnSpc>
              <a:spcBef>
                <a:spcPts val="240"/>
              </a:spcBef>
              <a:spcAft>
                <a:spcPts val="0"/>
              </a:spcAft>
              <a:buSzPts val="1800"/>
              <a:buNone/>
            </a:pPr>
            <a:endParaRPr lang="en-IN" sz="1600" dirty="0">
              <a:latin typeface="Times New Roman" panose="02020603050405020304" pitchFamily="18" charset="0"/>
              <a:ea typeface="Times New Roman"/>
              <a:cs typeface="Times New Roman" panose="02020603050405020304" pitchFamily="18" charset="0"/>
              <a:sym typeface="Times New Roman"/>
            </a:endParaRPr>
          </a:p>
          <a:p>
            <a:pPr marL="114300" indent="0">
              <a:buNone/>
            </a:pPr>
            <a:r>
              <a:rPr lang="en-IN" sz="1600" b="1" dirty="0">
                <a:latin typeface="Times New Roman" panose="02020603050405020304" pitchFamily="18" charset="0"/>
                <a:cs typeface="Times New Roman" panose="02020603050405020304" pitchFamily="18" charset="0"/>
              </a:rPr>
              <a:t>[7] </a:t>
            </a:r>
            <a:r>
              <a:rPr lang="en-IN" sz="1600" dirty="0">
                <a:latin typeface="Times New Roman" panose="02020603050405020304" pitchFamily="18" charset="0"/>
                <a:cs typeface="Times New Roman" panose="02020603050405020304" pitchFamily="18" charset="0"/>
              </a:rPr>
              <a:t>X. Ding, H. Wu, J. Wang, et al., “Causal Discovery for Rolling Bearing Fault Under Missing Data: From the Perspective of Causal Effect and Information Flow,” </a:t>
            </a:r>
            <a:r>
              <a:rPr lang="en-IN" sz="1600" i="1" dirty="0">
                <a:latin typeface="Times New Roman" panose="02020603050405020304" pitchFamily="18" charset="0"/>
                <a:cs typeface="Times New Roman" panose="02020603050405020304" pitchFamily="18" charset="0"/>
              </a:rPr>
              <a:t>IEEE Transactions on Instrumentation and Measurement</a:t>
            </a:r>
            <a:r>
              <a:rPr lang="en-IN" sz="1600" dirty="0">
                <a:latin typeface="Times New Roman" panose="02020603050405020304" pitchFamily="18" charset="0"/>
                <a:cs typeface="Times New Roman" panose="02020603050405020304" pitchFamily="18" charset="0"/>
              </a:rPr>
              <a:t>, vol. 74, pp. 1–17, 2025.</a:t>
            </a:r>
          </a:p>
          <a:p>
            <a:pPr marL="114300" indent="0">
              <a:buNone/>
            </a:pPr>
            <a:endParaRPr lang="en-IN" sz="1600" dirty="0">
              <a:latin typeface="Times New Roman" panose="02020603050405020304" pitchFamily="18" charset="0"/>
              <a:cs typeface="Times New Roman" panose="02020603050405020304" pitchFamily="18" charset="0"/>
            </a:endParaRPr>
          </a:p>
          <a:p>
            <a:pPr marL="114300" indent="0">
              <a:buNone/>
            </a:pPr>
            <a:r>
              <a:rPr lang="en-IN" sz="1600" b="1" dirty="0">
                <a:latin typeface="Times New Roman" panose="02020603050405020304" pitchFamily="18" charset="0"/>
                <a:cs typeface="Times New Roman" panose="02020603050405020304" pitchFamily="18" charset="0"/>
              </a:rPr>
              <a:t>[8] </a:t>
            </a:r>
            <a:r>
              <a:rPr lang="en-IN" sz="1600" dirty="0">
                <a:latin typeface="Times New Roman" panose="02020603050405020304" pitchFamily="18" charset="0"/>
                <a:cs typeface="Times New Roman" panose="02020603050405020304" pitchFamily="18" charset="0"/>
              </a:rPr>
              <a:t>Y. Dong, H. Jiang, X. Wang, et al., “An Interpretable Integration Fusion Time-Frequency Prototype Contrastive Learning for Machine Fault Diagnosis with Limited </a:t>
            </a:r>
            <a:r>
              <a:rPr lang="en-IN" sz="1600" dirty="0" err="1">
                <a:latin typeface="Times New Roman" panose="02020603050405020304" pitchFamily="18" charset="0"/>
                <a:cs typeface="Times New Roman" panose="02020603050405020304" pitchFamily="18" charset="0"/>
              </a:rPr>
              <a:t>Labeled</a:t>
            </a:r>
            <a:r>
              <a:rPr lang="en-IN" sz="1600" dirty="0">
                <a:latin typeface="Times New Roman" panose="02020603050405020304" pitchFamily="18" charset="0"/>
                <a:cs typeface="Times New Roman" panose="02020603050405020304" pitchFamily="18" charset="0"/>
              </a:rPr>
              <a:t> Samples,” </a:t>
            </a:r>
            <a:r>
              <a:rPr lang="en-IN" sz="1600" i="1" dirty="0">
                <a:latin typeface="Times New Roman" panose="02020603050405020304" pitchFamily="18" charset="0"/>
                <a:cs typeface="Times New Roman" panose="02020603050405020304" pitchFamily="18" charset="0"/>
              </a:rPr>
              <a:t>Information Fusion</a:t>
            </a:r>
            <a:r>
              <a:rPr lang="en-IN" sz="1600" dirty="0">
                <a:latin typeface="Times New Roman" panose="02020603050405020304" pitchFamily="18" charset="0"/>
                <a:cs typeface="Times New Roman" panose="02020603050405020304" pitchFamily="18" charset="0"/>
              </a:rPr>
              <a:t>, vol. 124, Art. no. 103340, 2025.</a:t>
            </a:r>
          </a:p>
          <a:p>
            <a:pPr marL="114300" indent="0">
              <a:buNone/>
            </a:pPr>
            <a:endParaRPr lang="en-IN" sz="1600" b="1" dirty="0">
              <a:latin typeface="Times New Roman" panose="02020603050405020304" pitchFamily="18" charset="0"/>
              <a:cs typeface="Times New Roman" panose="02020603050405020304" pitchFamily="18" charset="0"/>
            </a:endParaRPr>
          </a:p>
          <a:p>
            <a:pPr marL="114300" indent="0">
              <a:buNone/>
            </a:pPr>
            <a:r>
              <a:rPr lang="en-IN" sz="1600" b="1" dirty="0">
                <a:latin typeface="Times New Roman" panose="02020603050405020304" pitchFamily="18" charset="0"/>
                <a:cs typeface="Times New Roman" panose="02020603050405020304" pitchFamily="18" charset="0"/>
              </a:rPr>
              <a:t>[9] </a:t>
            </a:r>
            <a:r>
              <a:rPr lang="en-IN" sz="1600" dirty="0">
                <a:latin typeface="Times New Roman" panose="02020603050405020304" pitchFamily="18" charset="0"/>
                <a:cs typeface="Times New Roman" panose="02020603050405020304" pitchFamily="18" charset="0"/>
              </a:rPr>
              <a:t>D. Song, F. Zhang, M. Lu, et al., “</a:t>
            </a:r>
            <a:r>
              <a:rPr lang="en-IN" sz="1600" dirty="0" err="1">
                <a:latin typeface="Times New Roman" panose="02020603050405020304" pitchFamily="18" charset="0"/>
                <a:cs typeface="Times New Roman" panose="02020603050405020304" pitchFamily="18" charset="0"/>
              </a:rPr>
              <a:t>DTransE</a:t>
            </a:r>
            <a:r>
              <a:rPr lang="en-IN" sz="1600" dirty="0">
                <a:latin typeface="Times New Roman" panose="02020603050405020304" pitchFamily="18" charset="0"/>
                <a:cs typeface="Times New Roman" panose="02020603050405020304" pitchFamily="18" charset="0"/>
              </a:rPr>
              <a:t>: Distributed Translating Embedding for Knowledge Graph,” </a:t>
            </a:r>
            <a:r>
              <a:rPr lang="en-IN" sz="1600" i="1" dirty="0">
                <a:latin typeface="Times New Roman" panose="02020603050405020304" pitchFamily="18" charset="0"/>
                <a:cs typeface="Times New Roman" panose="02020603050405020304" pitchFamily="18" charset="0"/>
              </a:rPr>
              <a:t>IEEE Transactions on Parallel and Distributed Systems</a:t>
            </a:r>
            <a:r>
              <a:rPr lang="en-IN" sz="1600" dirty="0">
                <a:latin typeface="Times New Roman" panose="02020603050405020304" pitchFamily="18" charset="0"/>
                <a:cs typeface="Times New Roman" panose="02020603050405020304" pitchFamily="18" charset="0"/>
              </a:rPr>
              <a:t>, vol. 32, no. 10, pp. 2509–2523, 2021.</a:t>
            </a:r>
          </a:p>
          <a:p>
            <a:pPr marL="114300" indent="0">
              <a:buNone/>
            </a:pPr>
            <a:endParaRPr lang="en-IN" sz="1600" dirty="0">
              <a:latin typeface="Times New Roman" panose="02020603050405020304" pitchFamily="18" charset="0"/>
              <a:ea typeface="Times New Roman"/>
              <a:cs typeface="Times New Roman" panose="02020603050405020304" pitchFamily="18" charset="0"/>
              <a:sym typeface="Times New Roman"/>
            </a:endParaRPr>
          </a:p>
          <a:p>
            <a:pPr marL="114300" indent="0">
              <a:buNone/>
            </a:pPr>
            <a:r>
              <a:rPr lang="en-IN" sz="1600" b="1" dirty="0">
                <a:latin typeface="Times New Roman" panose="02020603050405020304" pitchFamily="18" charset="0"/>
                <a:cs typeface="Times New Roman" panose="02020603050405020304" pitchFamily="18" charset="0"/>
              </a:rPr>
              <a:t>[10]</a:t>
            </a:r>
            <a:r>
              <a:rPr lang="en-IN" sz="1600" dirty="0">
                <a:latin typeface="Times New Roman" panose="02020603050405020304" pitchFamily="18" charset="0"/>
                <a:cs typeface="Times New Roman" panose="02020603050405020304" pitchFamily="18" charset="0"/>
              </a:rPr>
              <a:t>Y. Dong, H. Jiang, M. Mu, et al., “A Trustworthy Lightweight Multi-Expert Wavelet Transformer for Rotating Machinery Fault Diagnosis,” </a:t>
            </a:r>
            <a:r>
              <a:rPr lang="en-IN" sz="1600" i="1" dirty="0">
                <a:latin typeface="Times New Roman" panose="02020603050405020304" pitchFamily="18" charset="0"/>
                <a:cs typeface="Times New Roman" panose="02020603050405020304" pitchFamily="18" charset="0"/>
              </a:rPr>
              <a:t>Mechanical Systems and Signal Processing</a:t>
            </a:r>
            <a:r>
              <a:rPr lang="en-IN" sz="1600" dirty="0">
                <a:latin typeface="Times New Roman" panose="02020603050405020304" pitchFamily="18" charset="0"/>
                <a:cs typeface="Times New Roman" panose="02020603050405020304" pitchFamily="18" charset="0"/>
              </a:rPr>
              <a:t>, vol. 235, Art. no. 112945, 2025.</a:t>
            </a:r>
            <a:endParaRPr lang="en-IN" sz="1600" dirty="0">
              <a:latin typeface="Times New Roman" panose="02020603050405020304" pitchFamily="18" charset="0"/>
              <a:ea typeface="Times New Roman"/>
              <a:cs typeface="Times New Roman" panose="02020603050405020304" pitchFamily="18" charset="0"/>
              <a:sym typeface="Times New Roman"/>
            </a:endParaRPr>
          </a:p>
        </p:txBody>
      </p:sp>
      <p:sp>
        <p:nvSpPr>
          <p:cNvPr id="232" name="Google Shape;232;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33" name="Google Shape;233;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533BE903-3D6D-CEAE-4AA0-38E3AEBB57AA}"/>
            </a:ext>
          </a:extLst>
        </p:cNvPr>
        <p:cNvGrpSpPr/>
        <p:nvPr/>
      </p:nvGrpSpPr>
      <p:grpSpPr>
        <a:xfrm>
          <a:off x="0" y="0"/>
          <a:ext cx="0" cy="0"/>
          <a:chOff x="0" y="0"/>
          <a:chExt cx="0" cy="0"/>
        </a:xfrm>
      </p:grpSpPr>
      <p:sp>
        <p:nvSpPr>
          <p:cNvPr id="94" name="Google Shape;94;p1">
            <a:extLst>
              <a:ext uri="{FF2B5EF4-FFF2-40B4-BE49-F238E27FC236}">
                <a16:creationId xmlns:a16="http://schemas.microsoft.com/office/drawing/2014/main" id="{3524BCE0-5736-BA95-083C-2D2EAB93C709}"/>
              </a:ext>
            </a:extLst>
          </p:cNvPr>
          <p:cNvSpPr txBox="1">
            <a:spLocks noGrp="1"/>
          </p:cNvSpPr>
          <p:nvPr>
            <p:ph type="ctrTitle"/>
          </p:nvPr>
        </p:nvSpPr>
        <p:spPr>
          <a:xfrm>
            <a:off x="645160" y="373380"/>
            <a:ext cx="7219950" cy="13303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000"/>
              <a:buFont typeface="Times New Roman"/>
              <a:buNone/>
            </a:pPr>
            <a:r>
              <a:rPr lang="en-US" sz="2200" b="1">
                <a:latin typeface="Times New Roman"/>
                <a:ea typeface="Times New Roman"/>
                <a:cs typeface="Times New Roman"/>
                <a:sym typeface="Times New Roman"/>
              </a:rPr>
              <a:t>S.A. ENGINEERING COLLEGE- CHENNAI-77</a:t>
            </a:r>
            <a:br>
              <a:rPr lang="en-US" sz="2200" b="1">
                <a:latin typeface="Times New Roman"/>
                <a:ea typeface="Times New Roman"/>
                <a:cs typeface="Times New Roman"/>
                <a:sym typeface="Times New Roman"/>
              </a:rPr>
            </a:br>
            <a:r>
              <a:rPr lang="en-US" sz="1600" b="1">
                <a:latin typeface="Times New Roman"/>
                <a:ea typeface="Times New Roman"/>
                <a:cs typeface="Times New Roman"/>
                <a:sym typeface="Times New Roman"/>
              </a:rPr>
              <a:t>(Autonomous- Institute Level Research Centre, Affiliated to Anna University)</a:t>
            </a:r>
            <a:br>
              <a:rPr lang="en-US" sz="1800" b="1">
                <a:latin typeface="Times New Roman"/>
                <a:ea typeface="Times New Roman"/>
                <a:cs typeface="Times New Roman"/>
                <a:sym typeface="Times New Roman"/>
              </a:rPr>
            </a:br>
            <a:r>
              <a:rPr lang="en-US" sz="1700" b="1">
                <a:latin typeface="Times New Roman"/>
                <a:ea typeface="Times New Roman"/>
                <a:cs typeface="Times New Roman"/>
                <a:sym typeface="Times New Roman"/>
              </a:rPr>
              <a:t>DEPARTMENT OF ARTIFICIAL INTELLIGENCE &amp; DATA SCIENCE</a:t>
            </a:r>
            <a:endParaRPr sz="1700" b="1">
              <a:latin typeface="Times New Roman"/>
              <a:ea typeface="Times New Roman"/>
              <a:cs typeface="Times New Roman"/>
              <a:sym typeface="Times New Roman"/>
            </a:endParaRPr>
          </a:p>
        </p:txBody>
      </p:sp>
      <p:sp>
        <p:nvSpPr>
          <p:cNvPr id="95" name="Google Shape;95;p1">
            <a:extLst>
              <a:ext uri="{FF2B5EF4-FFF2-40B4-BE49-F238E27FC236}">
                <a16:creationId xmlns:a16="http://schemas.microsoft.com/office/drawing/2014/main" id="{6B0DA332-5EAC-38C5-8867-28C7ADEB7BAA}"/>
              </a:ext>
            </a:extLst>
          </p:cNvPr>
          <p:cNvSpPr txBox="1">
            <a:spLocks noGrp="1"/>
          </p:cNvSpPr>
          <p:nvPr>
            <p:ph type="subTitle" idx="1"/>
          </p:nvPr>
        </p:nvSpPr>
        <p:spPr>
          <a:xfrm>
            <a:off x="508000" y="1757892"/>
            <a:ext cx="8077200" cy="9144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1800"/>
              <a:buNone/>
            </a:pPr>
            <a:r>
              <a:rPr lang="en-US" sz="2200" b="1" dirty="0">
                <a:solidFill>
                  <a:schemeClr val="dk1"/>
                </a:solidFill>
                <a:latin typeface="Times New Roman"/>
                <a:ea typeface="Times New Roman"/>
                <a:cs typeface="Times New Roman"/>
                <a:sym typeface="Times New Roman"/>
              </a:rPr>
              <a:t>AD1703A -  Project Phase-1</a:t>
            </a:r>
            <a:endParaRPr sz="2200" b="1" dirty="0">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ts val="1800"/>
              <a:buNone/>
            </a:pPr>
            <a:r>
              <a:rPr lang="en-US" sz="2200" b="1" dirty="0">
                <a:solidFill>
                  <a:schemeClr val="dk1"/>
                </a:solidFill>
                <a:latin typeface="Times New Roman"/>
                <a:ea typeface="Times New Roman"/>
                <a:cs typeface="Times New Roman"/>
                <a:sym typeface="Times New Roman"/>
              </a:rPr>
              <a:t>FIRST REVIEW</a:t>
            </a:r>
            <a:endParaRPr sz="2200" b="1" dirty="0">
              <a:solidFill>
                <a:schemeClr val="dk1"/>
              </a:solidFill>
              <a:latin typeface="Times New Roman"/>
              <a:ea typeface="Times New Roman"/>
              <a:cs typeface="Times New Roman"/>
              <a:sym typeface="Times New Roman"/>
            </a:endParaRPr>
          </a:p>
          <a:p>
            <a:pPr marL="0" lvl="0" indent="0" algn="ctr" rtl="0">
              <a:lnSpc>
                <a:spcPct val="100000"/>
              </a:lnSpc>
              <a:spcBef>
                <a:spcPts val="360"/>
              </a:spcBef>
              <a:spcAft>
                <a:spcPts val="0"/>
              </a:spcAft>
              <a:buClr>
                <a:schemeClr val="dk1"/>
              </a:buClr>
              <a:buSzPts val="1800"/>
              <a:buNone/>
            </a:pPr>
            <a:endParaRPr sz="1800" dirty="0">
              <a:solidFill>
                <a:schemeClr val="dk1"/>
              </a:solidFill>
              <a:latin typeface="Times New Roman"/>
              <a:ea typeface="Times New Roman"/>
              <a:cs typeface="Times New Roman"/>
              <a:sym typeface="Times New Roman"/>
            </a:endParaRPr>
          </a:p>
          <a:p>
            <a:pPr marL="0" lvl="0" indent="0" algn="ctr" rtl="0">
              <a:lnSpc>
                <a:spcPct val="100000"/>
              </a:lnSpc>
              <a:spcBef>
                <a:spcPts val="480"/>
              </a:spcBef>
              <a:spcAft>
                <a:spcPts val="0"/>
              </a:spcAft>
              <a:buClr>
                <a:srgbClr val="888888"/>
              </a:buClr>
              <a:buSzPts val="2400"/>
              <a:buNone/>
            </a:pPr>
            <a:endParaRPr sz="2400" dirty="0">
              <a:solidFill>
                <a:schemeClr val="dk1"/>
              </a:solidFill>
              <a:latin typeface="Times New Roman"/>
              <a:ea typeface="Times New Roman"/>
              <a:cs typeface="Times New Roman"/>
              <a:sym typeface="Times New Roman"/>
            </a:endParaRPr>
          </a:p>
          <a:p>
            <a:r>
              <a:rPr lang="en-US" sz="2200" dirty="0">
                <a:solidFill>
                  <a:srgbClr val="000000"/>
                </a:solidFill>
                <a:latin typeface="Times New Roman"/>
                <a:ea typeface="Times New Roman"/>
                <a:cs typeface="Times New Roman"/>
                <a:sym typeface="Times New Roman"/>
              </a:rPr>
              <a:t>TITLE : </a:t>
            </a:r>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AERIS </a:t>
            </a:r>
          </a:p>
          <a:p>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An Explainable Reasoning and Investigation System for Intelligent Aerospace Maintenance</a:t>
            </a:r>
          </a:p>
          <a:p>
            <a:pPr marL="0" lvl="0" indent="0" algn="ctr" rtl="0">
              <a:lnSpc>
                <a:spcPct val="100000"/>
              </a:lnSpc>
              <a:spcBef>
                <a:spcPts val="360"/>
              </a:spcBef>
              <a:spcAft>
                <a:spcPts val="0"/>
              </a:spcAft>
              <a:buClr>
                <a:srgbClr val="000000"/>
              </a:buClr>
              <a:buSzPts val="1800"/>
              <a:buNone/>
            </a:pPr>
            <a:endParaRPr sz="2200" b="0" i="0" u="none" strike="noStrike" dirty="0">
              <a:solidFill>
                <a:srgbClr val="000000"/>
              </a:solidFill>
              <a:latin typeface="Times New Roman"/>
              <a:ea typeface="Times New Roman"/>
              <a:cs typeface="Times New Roman"/>
              <a:sym typeface="Times New Roman"/>
            </a:endParaRPr>
          </a:p>
          <a:p>
            <a:pPr marL="0" lvl="0" indent="0" algn="ctr" rtl="0">
              <a:lnSpc>
                <a:spcPct val="100000"/>
              </a:lnSpc>
              <a:spcBef>
                <a:spcPts val="360"/>
              </a:spcBef>
              <a:spcAft>
                <a:spcPts val="0"/>
              </a:spcAft>
              <a:buClr>
                <a:srgbClr val="000000"/>
              </a:buClr>
              <a:buSzPts val="1800"/>
              <a:buNone/>
            </a:pPr>
            <a:endParaRPr sz="2200" b="0" i="0" u="none" strike="noStrike" dirty="0">
              <a:solidFill>
                <a:srgbClr val="000000"/>
              </a:solidFill>
              <a:latin typeface="Times New Roman"/>
              <a:ea typeface="Times New Roman"/>
              <a:cs typeface="Times New Roman"/>
              <a:sym typeface="Times New Roman"/>
            </a:endParaRPr>
          </a:p>
        </p:txBody>
      </p:sp>
      <p:sp>
        <p:nvSpPr>
          <p:cNvPr id="96" name="Google Shape;96;p1">
            <a:extLst>
              <a:ext uri="{FF2B5EF4-FFF2-40B4-BE49-F238E27FC236}">
                <a16:creationId xmlns:a16="http://schemas.microsoft.com/office/drawing/2014/main" id="{3C8A3660-5ADD-E45D-CB26-E1DF3E07D89A}"/>
              </a:ext>
            </a:extLst>
          </p:cNvPr>
          <p:cNvSpPr txBox="1"/>
          <p:nvPr/>
        </p:nvSpPr>
        <p:spPr>
          <a:xfrm>
            <a:off x="1858536" y="2672295"/>
            <a:ext cx="5562600" cy="390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3200"/>
              <a:buFont typeface="Arial"/>
              <a:buNone/>
            </a:pPr>
            <a:r>
              <a:rPr lang="en-US" sz="2200" b="0" i="0" u="none" strike="noStrike" cap="none" dirty="0">
                <a:solidFill>
                  <a:schemeClr val="dk1"/>
                </a:solidFill>
                <a:latin typeface="Times New Roman"/>
                <a:ea typeface="Times New Roman"/>
                <a:cs typeface="Times New Roman"/>
                <a:sym typeface="Times New Roman"/>
              </a:rPr>
              <a:t>BATCH NUMBER :</a:t>
            </a:r>
            <a:r>
              <a:rPr lang="en-US" sz="2200" dirty="0">
                <a:solidFill>
                  <a:schemeClr val="dk1"/>
                </a:solidFill>
                <a:latin typeface="Times New Roman"/>
                <a:ea typeface="Times New Roman"/>
                <a:cs typeface="Times New Roman"/>
                <a:sym typeface="Times New Roman"/>
              </a:rPr>
              <a:t> 13</a:t>
            </a:r>
            <a:endParaRPr sz="2200" b="0" i="0" u="none" strike="noStrike" cap="none" dirty="0">
              <a:solidFill>
                <a:schemeClr val="dk1"/>
              </a:solidFill>
              <a:latin typeface="Times New Roman"/>
              <a:ea typeface="Times New Roman"/>
              <a:cs typeface="Times New Roman"/>
              <a:sym typeface="Times New Roman"/>
            </a:endParaRPr>
          </a:p>
        </p:txBody>
      </p:sp>
      <p:graphicFrame>
        <p:nvGraphicFramePr>
          <p:cNvPr id="97" name="Google Shape;97;p1">
            <a:extLst>
              <a:ext uri="{FF2B5EF4-FFF2-40B4-BE49-F238E27FC236}">
                <a16:creationId xmlns:a16="http://schemas.microsoft.com/office/drawing/2014/main" id="{2B24DA41-E0CA-DF29-8084-A2CF88B2B3D7}"/>
              </a:ext>
            </a:extLst>
          </p:cNvPr>
          <p:cNvGraphicFramePr/>
          <p:nvPr/>
        </p:nvGraphicFramePr>
        <p:xfrm>
          <a:off x="398780" y="4185920"/>
          <a:ext cx="8135625" cy="2228870"/>
        </p:xfrm>
        <a:graphic>
          <a:graphicData uri="http://schemas.openxmlformats.org/drawingml/2006/table">
            <a:tbl>
              <a:tblPr firstRow="1" bandRow="1">
                <a:noFill/>
                <a:tableStyleId>{47879F58-94FC-4AB5-AACA-6E85711E4052}</a:tableStyleId>
              </a:tblPr>
              <a:tblGrid>
                <a:gridCol w="4425950">
                  <a:extLst>
                    <a:ext uri="{9D8B030D-6E8A-4147-A177-3AD203B41FA5}">
                      <a16:colId xmlns:a16="http://schemas.microsoft.com/office/drawing/2014/main" val="20000"/>
                    </a:ext>
                  </a:extLst>
                </a:gridCol>
                <a:gridCol w="3709675">
                  <a:extLst>
                    <a:ext uri="{9D8B030D-6E8A-4147-A177-3AD203B41FA5}">
                      <a16:colId xmlns:a16="http://schemas.microsoft.com/office/drawing/2014/main" val="20001"/>
                    </a:ext>
                  </a:extLst>
                </a:gridCol>
              </a:tblGrid>
              <a:tr h="3657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latin typeface="Times New Roman"/>
                          <a:ea typeface="Times New Roman"/>
                          <a:cs typeface="Times New Roman"/>
                          <a:sym typeface="Times New Roman"/>
                        </a:rPr>
                        <a:t>TEAM MEMBERS </a:t>
                      </a: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dirty="0">
                          <a:latin typeface="Times New Roman"/>
                          <a:ea typeface="Times New Roman"/>
                          <a:cs typeface="Times New Roman"/>
                          <a:sym typeface="Times New Roman"/>
                        </a:rPr>
                        <a:t>SUPERVISOR</a:t>
                      </a:r>
                    </a:p>
                  </a:txBody>
                  <a:tcPr marL="91450" marR="91450" marT="45725" marB="45725"/>
                </a:tc>
                <a:extLst>
                  <a:ext uri="{0D108BD9-81ED-4DB2-BD59-A6C34878D82A}">
                    <a16:rowId xmlns:a16="http://schemas.microsoft.com/office/drawing/2014/main" val="10000"/>
                  </a:ext>
                </a:extLst>
              </a:tr>
              <a:tr h="1863100">
                <a:tc>
                  <a:txBody>
                    <a:bodyPr/>
                    <a:lstStyle/>
                    <a:p>
                      <a:pPr marL="0" marR="0" lvl="0" indent="0" algn="l" rtl="0">
                        <a:lnSpc>
                          <a:spcPct val="100000"/>
                        </a:lnSpc>
                        <a:spcBef>
                          <a:spcPts val="0"/>
                        </a:spcBef>
                        <a:spcAft>
                          <a:spcPts val="0"/>
                        </a:spcAft>
                        <a:buClr>
                          <a:srgbClr val="000000"/>
                        </a:buClr>
                        <a:buSzPts val="1800"/>
                        <a:buFont typeface="Calibri"/>
                        <a:buNone/>
                      </a:pPr>
                      <a:r>
                        <a:rPr lang="en-US" sz="1800" u="sng" dirty="0">
                          <a:solidFill>
                            <a:schemeClr val="hlink"/>
                          </a:solidFill>
                          <a:latin typeface="Times New Roman"/>
                          <a:ea typeface="Times New Roman"/>
                          <a:cs typeface="Times New Roman"/>
                          <a:sym typeface="Times New Roman"/>
                        </a:rPr>
                        <a:t>111923AI01003</a:t>
                      </a:r>
                      <a:r>
                        <a:rPr lang="en-US" sz="1800" dirty="0">
                          <a:latin typeface="Times New Roman"/>
                          <a:ea typeface="Times New Roman"/>
                          <a:cs typeface="Times New Roman"/>
                          <a:sym typeface="Times New Roman"/>
                        </a:rPr>
                        <a:t> – ABIRAMI M</a:t>
                      </a:r>
                    </a:p>
                    <a:p>
                      <a:pPr marL="0" marR="0" lvl="0" indent="0" algn="l" rtl="0">
                        <a:lnSpc>
                          <a:spcPct val="100000"/>
                        </a:lnSpc>
                        <a:spcBef>
                          <a:spcPts val="0"/>
                        </a:spcBef>
                        <a:spcAft>
                          <a:spcPts val="0"/>
                        </a:spcAft>
                        <a:buClr>
                          <a:srgbClr val="000000"/>
                        </a:buClr>
                        <a:buSzPts val="1800"/>
                        <a:buFont typeface="Calibri"/>
                        <a:buNone/>
                      </a:pPr>
                      <a:endParaRPr lang="en-US" sz="1800" u="none" strike="noStrike" cap="none" dirty="0">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alibri"/>
                        <a:buNone/>
                        <a:tabLst/>
                        <a:defRPr/>
                      </a:pPr>
                      <a:r>
                        <a:rPr lang="en-US" sz="1800" u="sng" dirty="0">
                          <a:solidFill>
                            <a:schemeClr val="hlink"/>
                          </a:solidFill>
                          <a:latin typeface="Times New Roman"/>
                          <a:ea typeface="Times New Roman"/>
                          <a:cs typeface="Times New Roman"/>
                          <a:sym typeface="Times New Roman"/>
                        </a:rPr>
                        <a:t>111923AI01022</a:t>
                      </a:r>
                      <a:r>
                        <a:rPr lang="en-US" sz="1800" dirty="0">
                          <a:latin typeface="Times New Roman"/>
                          <a:ea typeface="Times New Roman"/>
                          <a:cs typeface="Times New Roman"/>
                          <a:sym typeface="Times New Roman"/>
                        </a:rPr>
                        <a:t> – DEVISHRI S</a:t>
                      </a:r>
                      <a:endParaRPr sz="18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Mrs. NATHIYA M,</a:t>
                      </a:r>
                    </a:p>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Assistant Professor,</a:t>
                      </a:r>
                    </a:p>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Department of AI&amp;DS</a:t>
                      </a:r>
                    </a:p>
                  </a:txBody>
                  <a:tcPr marL="91450" marR="91450" marT="45725" marB="45725"/>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870765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2">
          <a:extLst>
            <a:ext uri="{FF2B5EF4-FFF2-40B4-BE49-F238E27FC236}">
              <a16:creationId xmlns:a16="http://schemas.microsoft.com/office/drawing/2014/main" id="{7236CAD2-06F1-5470-700A-2D5A18DA579B}"/>
            </a:ext>
          </a:extLst>
        </p:cNvPr>
        <p:cNvGrpSpPr/>
        <p:nvPr/>
      </p:nvGrpSpPr>
      <p:grpSpPr>
        <a:xfrm>
          <a:off x="0" y="0"/>
          <a:ext cx="0" cy="0"/>
          <a:chOff x="0" y="0"/>
          <a:chExt cx="0" cy="0"/>
        </a:xfrm>
      </p:grpSpPr>
      <p:sp>
        <p:nvSpPr>
          <p:cNvPr id="183" name="Google Shape;183;p10">
            <a:extLst>
              <a:ext uri="{FF2B5EF4-FFF2-40B4-BE49-F238E27FC236}">
                <a16:creationId xmlns:a16="http://schemas.microsoft.com/office/drawing/2014/main" id="{046C761A-2246-3297-0882-397B89DA0F5C}"/>
              </a:ext>
            </a:extLst>
          </p:cNvPr>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Architecture Diagram</a:t>
            </a:r>
            <a:endParaRPr b="1" dirty="0">
              <a:latin typeface="Times New Roman" panose="02020603050405020304" pitchFamily="18" charset="0"/>
              <a:cs typeface="Times New Roman" panose="02020603050405020304" pitchFamily="18" charset="0"/>
            </a:endParaRPr>
          </a:p>
        </p:txBody>
      </p:sp>
      <p:sp>
        <p:nvSpPr>
          <p:cNvPr id="185" name="Google Shape;185;p10">
            <a:extLst>
              <a:ext uri="{FF2B5EF4-FFF2-40B4-BE49-F238E27FC236}">
                <a16:creationId xmlns:a16="http://schemas.microsoft.com/office/drawing/2014/main" id="{4246A77F-6E32-101D-FDE5-1CE6987878AB}"/>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11/08/2026</a:t>
            </a:r>
            <a:endParaRPr dirty="0"/>
          </a:p>
        </p:txBody>
      </p:sp>
      <p:sp>
        <p:nvSpPr>
          <p:cNvPr id="186" name="Google Shape;186;p10">
            <a:extLst>
              <a:ext uri="{FF2B5EF4-FFF2-40B4-BE49-F238E27FC236}">
                <a16:creationId xmlns:a16="http://schemas.microsoft.com/office/drawing/2014/main" id="{5E0CC060-D044-F5DE-C13A-1A191B69445D}"/>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20</a:t>
            </a:fld>
            <a:endParaRPr/>
          </a:p>
        </p:txBody>
      </p:sp>
      <p:sp>
        <p:nvSpPr>
          <p:cNvPr id="2" name="Footer Placeholder 1">
            <a:extLst>
              <a:ext uri="{FF2B5EF4-FFF2-40B4-BE49-F238E27FC236}">
                <a16:creationId xmlns:a16="http://schemas.microsoft.com/office/drawing/2014/main" id="{49B04648-C5FE-B328-0A74-E396E0EF7524}"/>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pic>
        <p:nvPicPr>
          <p:cNvPr id="9" name="Picture 8">
            <a:extLst>
              <a:ext uri="{FF2B5EF4-FFF2-40B4-BE49-F238E27FC236}">
                <a16:creationId xmlns:a16="http://schemas.microsoft.com/office/drawing/2014/main" id="{0FAAD80B-3BFE-FB09-67D2-CD009DE6BFE8}"/>
              </a:ext>
            </a:extLst>
          </p:cNvPr>
          <p:cNvPicPr>
            <a:picLocks noChangeAspect="1"/>
          </p:cNvPicPr>
          <p:nvPr/>
        </p:nvPicPr>
        <p:blipFill>
          <a:blip r:embed="rId3"/>
          <a:stretch>
            <a:fillRect/>
          </a:stretch>
        </p:blipFill>
        <p:spPr>
          <a:xfrm>
            <a:off x="1574500" y="974471"/>
            <a:ext cx="6045500" cy="5747004"/>
          </a:xfrm>
          <a:prstGeom prst="rect">
            <a:avLst/>
          </a:prstGeom>
        </p:spPr>
      </p:pic>
    </p:spTree>
    <p:extLst>
      <p:ext uri="{BB962C8B-B14F-4D97-AF65-F5344CB8AC3E}">
        <p14:creationId xmlns:p14="http://schemas.microsoft.com/office/powerpoint/2010/main" val="37296764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6D136-1E5A-75FB-1B9A-A4FF720703F3}"/>
              </a:ext>
            </a:extLst>
          </p:cNvPr>
          <p:cNvSpPr>
            <a:spLocks noGrp="1"/>
          </p:cNvSpPr>
          <p:nvPr>
            <p:ph type="title"/>
          </p:nvPr>
        </p:nvSpPr>
        <p:spPr/>
        <p:txBody>
          <a:bodyPr>
            <a:normAutofit fontScale="90000"/>
          </a:bodyPr>
          <a:lstStyle/>
          <a:p>
            <a:r>
              <a:rPr lang="en-IN" dirty="0"/>
              <a:t>SYSTEM ARCHITECTURE DESCRIPTION</a:t>
            </a:r>
          </a:p>
        </p:txBody>
      </p:sp>
      <p:sp>
        <p:nvSpPr>
          <p:cNvPr id="3" name="Text Placeholder 2">
            <a:extLst>
              <a:ext uri="{FF2B5EF4-FFF2-40B4-BE49-F238E27FC236}">
                <a16:creationId xmlns:a16="http://schemas.microsoft.com/office/drawing/2014/main" id="{9875F6CF-4519-0426-3D1F-6E5FECCF4C23}"/>
              </a:ext>
            </a:extLst>
          </p:cNvPr>
          <p:cNvSpPr>
            <a:spLocks noGrp="1"/>
          </p:cNvSpPr>
          <p:nvPr>
            <p:ph type="body" idx="1"/>
          </p:nvPr>
        </p:nvSpPr>
        <p:spPr>
          <a:xfrm>
            <a:off x="457200" y="1337188"/>
            <a:ext cx="8229600" cy="5019162"/>
          </a:xfrm>
        </p:spPr>
        <p:txBody>
          <a:bodyPr>
            <a:normAutofit fontScale="55000" lnSpcReduction="20000"/>
          </a:bodyPr>
          <a:lstStyle/>
          <a:p>
            <a:pPr marL="114300" indent="0">
              <a:buNone/>
            </a:pPr>
            <a:r>
              <a:rPr lang="en-IN" b="1" dirty="0">
                <a:latin typeface="Times New Roman" panose="02020603050405020304" pitchFamily="18" charset="0"/>
                <a:cs typeface="Times New Roman" panose="02020603050405020304" pitchFamily="18" charset="0"/>
              </a:rPr>
              <a:t>1. Data &amp; Processing Layer</a:t>
            </a:r>
          </a:p>
          <a:p>
            <a:pPr marL="114300" lvl="0" indent="0">
              <a:buNone/>
            </a:pPr>
            <a:r>
              <a:rPr lang="en-IN" b="1" dirty="0">
                <a:latin typeface="Times New Roman" panose="02020603050405020304" pitchFamily="18" charset="0"/>
                <a:cs typeface="Times New Roman" panose="02020603050405020304" pitchFamily="18" charset="0"/>
              </a:rPr>
              <a:t>Data Sources:</a:t>
            </a:r>
            <a:r>
              <a:rPr lang="en-IN" dirty="0">
                <a:latin typeface="Times New Roman" panose="02020603050405020304" pitchFamily="18" charset="0"/>
                <a:cs typeface="Times New Roman" panose="02020603050405020304" pitchFamily="18" charset="0"/>
              </a:rPr>
              <a:t> NASA C-MAPSS/N-CMAPSS, NGAFID, FAA SDR, Aircraft Maintenance Manuals</a:t>
            </a:r>
          </a:p>
          <a:p>
            <a:pPr marL="114300" lvl="0" indent="0">
              <a:buNone/>
            </a:pPr>
            <a:r>
              <a:rPr lang="en-IN" b="1" dirty="0">
                <a:latin typeface="Times New Roman" panose="02020603050405020304" pitchFamily="18" charset="0"/>
                <a:cs typeface="Times New Roman" panose="02020603050405020304" pitchFamily="18" charset="0"/>
              </a:rPr>
              <a:t>Data Integration:</a:t>
            </a:r>
            <a:r>
              <a:rPr lang="en-IN" dirty="0">
                <a:latin typeface="Times New Roman" panose="02020603050405020304" pitchFamily="18" charset="0"/>
                <a:cs typeface="Times New Roman" panose="02020603050405020304" pitchFamily="18" charset="0"/>
              </a:rPr>
              <a:t> Collects and integrates information from multiple sources</a:t>
            </a:r>
          </a:p>
          <a:p>
            <a:pPr marL="114300" lvl="0" indent="0">
              <a:buNone/>
            </a:pPr>
            <a:r>
              <a:rPr lang="en-IN" b="1" dirty="0">
                <a:latin typeface="Times New Roman" panose="02020603050405020304" pitchFamily="18" charset="0"/>
                <a:cs typeface="Times New Roman" panose="02020603050405020304" pitchFamily="18" charset="0"/>
              </a:rPr>
              <a:t>Data Processing:</a:t>
            </a:r>
            <a:r>
              <a:rPr lang="en-IN" dirty="0">
                <a:latin typeface="Times New Roman" panose="02020603050405020304" pitchFamily="18" charset="0"/>
                <a:cs typeface="Times New Roman" panose="02020603050405020304" pitchFamily="18" charset="0"/>
              </a:rPr>
              <a:t> Performs data cleaning and feature engineering</a:t>
            </a:r>
          </a:p>
          <a:p>
            <a:pPr marL="114300" indent="0">
              <a:buNone/>
            </a:pPr>
            <a:endParaRPr lang="en-IN" b="1" dirty="0">
              <a:latin typeface="Times New Roman" panose="02020603050405020304" pitchFamily="18" charset="0"/>
              <a:cs typeface="Times New Roman" panose="02020603050405020304" pitchFamily="18" charset="0"/>
            </a:endParaRPr>
          </a:p>
          <a:p>
            <a:pPr marL="114300" indent="0">
              <a:buNone/>
            </a:pPr>
            <a:r>
              <a:rPr lang="en-IN" b="1" dirty="0">
                <a:latin typeface="Times New Roman" panose="02020603050405020304" pitchFamily="18" charset="0"/>
                <a:cs typeface="Times New Roman" panose="02020603050405020304" pitchFamily="18" charset="0"/>
              </a:rPr>
              <a:t>2. AI, Reasoning &amp; Application Layer</a:t>
            </a:r>
          </a:p>
          <a:p>
            <a:pPr marL="114300" lvl="0" indent="0">
              <a:buNone/>
            </a:pPr>
            <a:r>
              <a:rPr lang="en-IN" b="1" dirty="0">
                <a:latin typeface="Times New Roman" panose="02020603050405020304" pitchFamily="18" charset="0"/>
                <a:cs typeface="Times New Roman" panose="02020603050405020304" pitchFamily="18" charset="0"/>
              </a:rPr>
              <a:t>Failure Prediction:</a:t>
            </a:r>
            <a:r>
              <a:rPr lang="en-IN" dirty="0">
                <a:latin typeface="Times New Roman" panose="02020603050405020304" pitchFamily="18" charset="0"/>
                <a:cs typeface="Times New Roman" panose="02020603050405020304" pitchFamily="18" charset="0"/>
              </a:rPr>
              <a:t> Time-Series Transformer performs RUL estimation and anomaly scoring</a:t>
            </a:r>
          </a:p>
          <a:p>
            <a:pPr marL="114300" lvl="0" indent="0">
              <a:buNone/>
            </a:pPr>
            <a:r>
              <a:rPr lang="en-IN" b="1" dirty="0">
                <a:latin typeface="Times New Roman" panose="02020603050405020304" pitchFamily="18" charset="0"/>
                <a:cs typeface="Times New Roman" panose="02020603050405020304" pitchFamily="18" charset="0"/>
              </a:rPr>
              <a:t>Causal Analysis: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DoWhy</a:t>
            </a:r>
            <a:r>
              <a:rPr lang="en-IN" dirty="0">
                <a:latin typeface="Times New Roman" panose="02020603050405020304" pitchFamily="18" charset="0"/>
                <a:cs typeface="Times New Roman" panose="02020603050405020304" pitchFamily="18" charset="0"/>
              </a:rPr>
              <a:t> identifies causal relationships behind potential failures</a:t>
            </a:r>
          </a:p>
          <a:p>
            <a:pPr marL="114300" lvl="0" indent="0">
              <a:buNone/>
            </a:pPr>
            <a:r>
              <a:rPr lang="en-IN" b="1" dirty="0">
                <a:latin typeface="Times New Roman" panose="02020603050405020304" pitchFamily="18" charset="0"/>
                <a:cs typeface="Times New Roman" panose="02020603050405020304" pitchFamily="18" charset="0"/>
              </a:rPr>
              <a:t>Knowledge Graph:</a:t>
            </a:r>
            <a:r>
              <a:rPr lang="en-IN" dirty="0">
                <a:latin typeface="Times New Roman" panose="02020603050405020304" pitchFamily="18" charset="0"/>
                <a:cs typeface="Times New Roman" panose="02020603050405020304" pitchFamily="18" charset="0"/>
              </a:rPr>
              <a:t> Neo4j represents relationships between components, events and failures</a:t>
            </a:r>
          </a:p>
          <a:p>
            <a:pPr marL="114300" lvl="0" indent="0">
              <a:buNone/>
            </a:pPr>
            <a:r>
              <a:rPr lang="en-IN" b="1" dirty="0">
                <a:latin typeface="Times New Roman" panose="02020603050405020304" pitchFamily="18" charset="0"/>
                <a:cs typeface="Times New Roman" panose="02020603050405020304" pitchFamily="18" charset="0"/>
              </a:rPr>
              <a:t>Knowledge Retrieval: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LangChain</a:t>
            </a:r>
            <a:r>
              <a:rPr lang="en-IN" dirty="0">
                <a:latin typeface="Times New Roman" panose="02020603050405020304" pitchFamily="18" charset="0"/>
                <a:cs typeface="Times New Roman" panose="02020603050405020304" pitchFamily="18" charset="0"/>
              </a:rPr>
              <a:t> + FAISS retrieves relevant technical information</a:t>
            </a:r>
          </a:p>
          <a:p>
            <a:pPr marL="114300" lvl="0" indent="0">
              <a:buNone/>
            </a:pPr>
            <a:r>
              <a:rPr lang="en-IN" b="1" dirty="0">
                <a:latin typeface="Times New Roman" panose="02020603050405020304" pitchFamily="18" charset="0"/>
                <a:cs typeface="Times New Roman" panose="02020603050405020304" pitchFamily="18" charset="0"/>
              </a:rPr>
              <a:t>Explainability:</a:t>
            </a:r>
            <a:r>
              <a:rPr lang="en-IN" dirty="0">
                <a:latin typeface="Times New Roman" panose="02020603050405020304" pitchFamily="18" charset="0"/>
                <a:cs typeface="Times New Roman" panose="02020603050405020304" pitchFamily="18" charset="0"/>
              </a:rPr>
              <a:t> SHAP provides feature-level explanations</a:t>
            </a:r>
          </a:p>
          <a:p>
            <a:pPr marL="114300" lvl="0" indent="0">
              <a:buNone/>
            </a:pPr>
            <a:r>
              <a:rPr lang="en-IN" b="1" dirty="0">
                <a:latin typeface="Times New Roman" panose="02020603050405020304" pitchFamily="18" charset="0"/>
                <a:cs typeface="Times New Roman" panose="02020603050405020304" pitchFamily="18" charset="0"/>
              </a:rPr>
              <a:t>Evidence Fusion:</a:t>
            </a:r>
            <a:r>
              <a:rPr lang="en-IN" dirty="0">
                <a:latin typeface="Times New Roman" panose="02020603050405020304" pitchFamily="18" charset="0"/>
                <a:cs typeface="Times New Roman" panose="02020603050405020304" pitchFamily="18" charset="0"/>
              </a:rPr>
              <a:t> Dempster-Shafer combines evidence from multiple sources</a:t>
            </a:r>
          </a:p>
          <a:p>
            <a:pPr marL="114300" lvl="0" indent="0">
              <a:buNone/>
            </a:pPr>
            <a:r>
              <a:rPr lang="en-IN" b="1" dirty="0">
                <a:latin typeface="Times New Roman" panose="02020603050405020304" pitchFamily="18" charset="0"/>
                <a:cs typeface="Times New Roman" panose="02020603050405020304" pitchFamily="18" charset="0"/>
              </a:rPr>
              <a:t>Report Generation:</a:t>
            </a:r>
            <a:r>
              <a:rPr lang="en-IN" dirty="0">
                <a:latin typeface="Times New Roman" panose="02020603050405020304" pitchFamily="18" charset="0"/>
                <a:cs typeface="Times New Roman" panose="02020603050405020304" pitchFamily="18" charset="0"/>
              </a:rPr>
              <a:t> Qwen/Llama + </a:t>
            </a:r>
            <a:r>
              <a:rPr lang="en-IN" dirty="0" err="1">
                <a:latin typeface="Times New Roman" panose="02020603050405020304" pitchFamily="18" charset="0"/>
                <a:cs typeface="Times New Roman" panose="02020603050405020304" pitchFamily="18" charset="0"/>
              </a:rPr>
              <a:t>LangGraph</a:t>
            </a:r>
            <a:r>
              <a:rPr lang="en-IN" dirty="0">
                <a:latin typeface="Times New Roman" panose="02020603050405020304" pitchFamily="18" charset="0"/>
                <a:cs typeface="Times New Roman" panose="02020603050405020304" pitchFamily="18" charset="0"/>
              </a:rPr>
              <a:t> generates investigation reports</a:t>
            </a:r>
          </a:p>
          <a:p>
            <a:pPr marL="114300" lvl="0" indent="0">
              <a:buNone/>
            </a:pPr>
            <a:r>
              <a:rPr lang="en-IN" b="1" dirty="0">
                <a:latin typeface="Times New Roman" panose="02020603050405020304" pitchFamily="18" charset="0"/>
                <a:cs typeface="Times New Roman" panose="02020603050405020304" pitchFamily="18" charset="0"/>
              </a:rPr>
              <a:t>Application: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 connects the AI system with PostgreSQL/Neo4j and the React + Tailwind CSS dashboard</a:t>
            </a:r>
          </a:p>
          <a:p>
            <a:pPr marL="114300" indent="0">
              <a:buNone/>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8B5EE79-39AD-1A2F-B7A0-080429FFC993}"/>
              </a:ext>
            </a:extLst>
          </p:cNvPr>
          <p:cNvSpPr>
            <a:spLocks noGrp="1"/>
          </p:cNvSpPr>
          <p:nvPr>
            <p:ph type="dt" idx="10"/>
          </p:nvPr>
        </p:nvSpPr>
        <p:spPr/>
        <p:txBody>
          <a:bodyPr/>
          <a:lstStyle/>
          <a:p>
            <a:r>
              <a:rPr lang="en-US" dirty="0"/>
              <a:t>11/08/2026</a:t>
            </a:r>
          </a:p>
        </p:txBody>
      </p:sp>
      <p:sp>
        <p:nvSpPr>
          <p:cNvPr id="5" name="Footer Placeholder 4">
            <a:extLst>
              <a:ext uri="{FF2B5EF4-FFF2-40B4-BE49-F238E27FC236}">
                <a16:creationId xmlns:a16="http://schemas.microsoft.com/office/drawing/2014/main" id="{AE8866FD-AEA9-1012-3AFB-886328E19CEE}"/>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4B03A6B0-E1B7-4C71-BE81-603FD5D0739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31700825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0360E-9BDB-ACAC-780C-1B79D6684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661C56-789B-C860-FEF3-1E625C924349}"/>
              </a:ext>
            </a:extLst>
          </p:cNvPr>
          <p:cNvSpPr>
            <a:spLocks noGrp="1"/>
          </p:cNvSpPr>
          <p:nvPr>
            <p:ph type="title"/>
          </p:nvPr>
        </p:nvSpPr>
        <p:spPr/>
        <p:txBody>
          <a:bodyPr>
            <a:normAutofit fontScale="90000"/>
          </a:bodyPr>
          <a:lstStyle/>
          <a:p>
            <a:r>
              <a:rPr lang="en-IN" dirty="0"/>
              <a:t>SYSTEM ARCHITECTURE DESCRIPTION</a:t>
            </a:r>
          </a:p>
        </p:txBody>
      </p:sp>
      <p:sp>
        <p:nvSpPr>
          <p:cNvPr id="3" name="Text Placeholder 2">
            <a:extLst>
              <a:ext uri="{FF2B5EF4-FFF2-40B4-BE49-F238E27FC236}">
                <a16:creationId xmlns:a16="http://schemas.microsoft.com/office/drawing/2014/main" id="{3A3E0601-929B-AA28-FC81-E4637356D1FB}"/>
              </a:ext>
            </a:extLst>
          </p:cNvPr>
          <p:cNvSpPr>
            <a:spLocks noGrp="1"/>
          </p:cNvSpPr>
          <p:nvPr>
            <p:ph type="body" idx="1"/>
          </p:nvPr>
        </p:nvSpPr>
        <p:spPr>
          <a:xfrm>
            <a:off x="535858" y="1239327"/>
            <a:ext cx="8229600" cy="5482148"/>
          </a:xfrm>
        </p:spPr>
        <p:txBody>
          <a:bodyPr>
            <a:normAutofit fontScale="55000" lnSpcReduction="20000"/>
          </a:bodyPr>
          <a:lstStyle/>
          <a:p>
            <a:pPr marL="114300" indent="0">
              <a:buNone/>
            </a:pPr>
            <a:r>
              <a:rPr lang="en-IN" b="1" dirty="0">
                <a:latin typeface="Times New Roman" panose="02020603050405020304" pitchFamily="18" charset="0"/>
                <a:cs typeface="Times New Roman" panose="02020603050405020304" pitchFamily="18" charset="0"/>
              </a:rPr>
              <a:t>3. AI Prediction &amp; Investigation Layer</a:t>
            </a:r>
          </a:p>
          <a:p>
            <a:pPr marL="114300" indent="0">
              <a:buNone/>
            </a:pPr>
            <a:r>
              <a:rPr lang="en-IN" b="1" dirty="0">
                <a:latin typeface="Times New Roman" panose="02020603050405020304" pitchFamily="18" charset="0"/>
                <a:cs typeface="Times New Roman" panose="02020603050405020304" pitchFamily="18" charset="0"/>
              </a:rPr>
              <a:t>Health Monitoring:</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aircraft operating conditions and component health trends</a:t>
            </a:r>
          </a:p>
          <a:p>
            <a:pPr marL="114300" indent="0">
              <a:buNone/>
            </a:pPr>
            <a:r>
              <a:rPr lang="en-IN" b="1" dirty="0">
                <a:latin typeface="Times New Roman" panose="02020603050405020304" pitchFamily="18" charset="0"/>
                <a:cs typeface="Times New Roman" panose="02020603050405020304" pitchFamily="18" charset="0"/>
              </a:rPr>
              <a:t>Anomaly Detection:</a:t>
            </a:r>
            <a:r>
              <a:rPr lang="en-IN" dirty="0">
                <a:latin typeface="Times New Roman" panose="02020603050405020304" pitchFamily="18" charset="0"/>
                <a:cs typeface="Times New Roman" panose="02020603050405020304" pitchFamily="18" charset="0"/>
              </a:rPr>
              <a:t> Identifies deviations from normal aircraft </a:t>
            </a:r>
            <a:r>
              <a:rPr lang="en-IN" dirty="0" err="1">
                <a:latin typeface="Times New Roman" panose="02020603050405020304" pitchFamily="18" charset="0"/>
                <a:cs typeface="Times New Roman" panose="02020603050405020304" pitchFamily="18" charset="0"/>
              </a:rPr>
              <a:t>behavior</a:t>
            </a:r>
            <a:endParaRPr lang="en-IN" dirty="0">
              <a:latin typeface="Times New Roman" panose="02020603050405020304" pitchFamily="18" charset="0"/>
              <a:cs typeface="Times New Roman" panose="02020603050405020304" pitchFamily="18" charset="0"/>
            </a:endParaRPr>
          </a:p>
          <a:p>
            <a:pPr marL="114300" indent="0">
              <a:buNone/>
            </a:pPr>
            <a:r>
              <a:rPr lang="en-IN" b="1" dirty="0">
                <a:latin typeface="Times New Roman" panose="02020603050405020304" pitchFamily="18" charset="0"/>
                <a:cs typeface="Times New Roman" panose="02020603050405020304" pitchFamily="18" charset="0"/>
              </a:rPr>
              <a:t>RUL Estimation:</a:t>
            </a:r>
            <a:r>
              <a:rPr lang="en-IN" dirty="0">
                <a:latin typeface="Times New Roman" panose="02020603050405020304" pitchFamily="18" charset="0"/>
                <a:cs typeface="Times New Roman" panose="02020603050405020304" pitchFamily="18" charset="0"/>
              </a:rPr>
              <a:t> Predicts the remaining useful life of critical components</a:t>
            </a:r>
          </a:p>
          <a:p>
            <a:pPr marL="114300" indent="0">
              <a:buNone/>
            </a:pPr>
            <a:r>
              <a:rPr lang="en-IN" b="1" dirty="0">
                <a:latin typeface="Times New Roman" panose="02020603050405020304" pitchFamily="18" charset="0"/>
                <a:cs typeface="Times New Roman" panose="02020603050405020304" pitchFamily="18" charset="0"/>
              </a:rPr>
              <a:t>Root Cause Analysis:</a:t>
            </a:r>
            <a:r>
              <a:rPr lang="en-IN" dirty="0">
                <a:latin typeface="Times New Roman" panose="02020603050405020304" pitchFamily="18" charset="0"/>
                <a:cs typeface="Times New Roman" panose="02020603050405020304" pitchFamily="18" charset="0"/>
              </a:rPr>
              <a:t> Traces the probable cause of an emerging failure</a:t>
            </a:r>
          </a:p>
          <a:p>
            <a:pPr marL="114300" indent="0">
              <a:buNone/>
            </a:pPr>
            <a:r>
              <a:rPr lang="en-IN" b="1" dirty="0">
                <a:latin typeface="Times New Roman" panose="02020603050405020304" pitchFamily="18" charset="0"/>
                <a:cs typeface="Times New Roman" panose="02020603050405020304" pitchFamily="18" charset="0"/>
              </a:rPr>
              <a:t>Causal Reasoning:</a:t>
            </a:r>
            <a:r>
              <a:rPr lang="en-IN" dirty="0">
                <a:latin typeface="Times New Roman" panose="02020603050405020304" pitchFamily="18" charset="0"/>
                <a:cs typeface="Times New Roman" panose="02020603050405020304" pitchFamily="18" charset="0"/>
              </a:rPr>
              <a:t> Links observed symptoms with potential underlying causes</a:t>
            </a:r>
          </a:p>
          <a:p>
            <a:pPr marL="114300" indent="0">
              <a:buNone/>
            </a:pPr>
            <a:r>
              <a:rPr lang="en-IN" b="1" dirty="0">
                <a:latin typeface="Times New Roman" panose="02020603050405020304" pitchFamily="18" charset="0"/>
                <a:cs typeface="Times New Roman" panose="02020603050405020304" pitchFamily="18" charset="0"/>
              </a:rPr>
              <a:t>Historical Comparison:</a:t>
            </a:r>
            <a:r>
              <a:rPr lang="en-IN" dirty="0">
                <a:latin typeface="Times New Roman" panose="02020603050405020304" pitchFamily="18" charset="0"/>
                <a:cs typeface="Times New Roman" panose="02020603050405020304" pitchFamily="18" charset="0"/>
              </a:rPr>
              <a:t> Compares current failure patterns with previous similar cases</a:t>
            </a:r>
          </a:p>
          <a:p>
            <a:endParaRPr lang="en-IN" b="1" dirty="0">
              <a:latin typeface="Times New Roman" panose="02020603050405020304" pitchFamily="18" charset="0"/>
              <a:cs typeface="Times New Roman" panose="02020603050405020304" pitchFamily="18" charset="0"/>
            </a:endParaRPr>
          </a:p>
          <a:p>
            <a:pPr marL="114300" indent="0">
              <a:buNone/>
            </a:pPr>
            <a:r>
              <a:rPr lang="en-IN" b="1" dirty="0">
                <a:latin typeface="Times New Roman" panose="02020603050405020304" pitchFamily="18" charset="0"/>
                <a:cs typeface="Times New Roman" panose="02020603050405020304" pitchFamily="18" charset="0"/>
              </a:rPr>
              <a:t>4. Evidence &amp; Decision Layer</a:t>
            </a:r>
          </a:p>
          <a:p>
            <a:pPr marL="114300" indent="0">
              <a:buNone/>
            </a:pPr>
            <a:r>
              <a:rPr lang="en-IN" b="1" dirty="0">
                <a:latin typeface="Times New Roman" panose="02020603050405020304" pitchFamily="18" charset="0"/>
                <a:cs typeface="Times New Roman" panose="02020603050405020304" pitchFamily="18" charset="0"/>
              </a:rPr>
              <a:t>Evidence Collection:</a:t>
            </a:r>
            <a:r>
              <a:rPr lang="en-IN" dirty="0">
                <a:latin typeface="Times New Roman" panose="02020603050405020304" pitchFamily="18" charset="0"/>
                <a:cs typeface="Times New Roman" panose="02020603050405020304" pitchFamily="18" charset="0"/>
              </a:rPr>
              <a:t> Gathers supporting information from sensors, maintenance and operational data</a:t>
            </a:r>
          </a:p>
          <a:p>
            <a:pPr marL="114300" indent="0">
              <a:buNone/>
            </a:pPr>
            <a:r>
              <a:rPr lang="en-IN" b="1" dirty="0">
                <a:latin typeface="Times New Roman" panose="02020603050405020304" pitchFamily="18" charset="0"/>
                <a:cs typeface="Times New Roman" panose="02020603050405020304" pitchFamily="18" charset="0"/>
              </a:rPr>
              <a:t>Evidence Fusion:</a:t>
            </a:r>
            <a:r>
              <a:rPr lang="en-IN" dirty="0">
                <a:latin typeface="Times New Roman" panose="02020603050405020304" pitchFamily="18" charset="0"/>
                <a:cs typeface="Times New Roman" panose="02020603050405020304" pitchFamily="18" charset="0"/>
              </a:rPr>
              <a:t> Combines evidence to strengthen the root-cause conclusion</a:t>
            </a:r>
          </a:p>
          <a:p>
            <a:pPr marL="114300" indent="0">
              <a:buNone/>
            </a:pPr>
            <a:r>
              <a:rPr lang="en-IN" b="1" dirty="0">
                <a:latin typeface="Times New Roman" panose="02020603050405020304" pitchFamily="18" charset="0"/>
                <a:cs typeface="Times New Roman" panose="02020603050405020304" pitchFamily="18" charset="0"/>
              </a:rPr>
              <a:t>Confidence Assessment:</a:t>
            </a:r>
            <a:r>
              <a:rPr lang="en-IN" dirty="0">
                <a:latin typeface="Times New Roman" panose="02020603050405020304" pitchFamily="18" charset="0"/>
                <a:cs typeface="Times New Roman" panose="02020603050405020304" pitchFamily="18" charset="0"/>
              </a:rPr>
              <a:t> Determines the confidence of the investigation result</a:t>
            </a:r>
          </a:p>
          <a:p>
            <a:pPr marL="114300" indent="0">
              <a:buNone/>
            </a:pPr>
            <a:r>
              <a:rPr lang="en-IN" b="1" dirty="0">
                <a:latin typeface="Times New Roman" panose="02020603050405020304" pitchFamily="18" charset="0"/>
                <a:cs typeface="Times New Roman" panose="02020603050405020304" pitchFamily="18" charset="0"/>
              </a:rPr>
              <a:t>Maintenance Recommendation:</a:t>
            </a:r>
            <a:r>
              <a:rPr lang="en-IN" dirty="0">
                <a:latin typeface="Times New Roman" panose="02020603050405020304" pitchFamily="18" charset="0"/>
                <a:cs typeface="Times New Roman" panose="02020603050405020304" pitchFamily="18" charset="0"/>
              </a:rPr>
              <a:t> Suggests appropriate maintenance actions</a:t>
            </a:r>
          </a:p>
          <a:p>
            <a:pPr marL="114300" indent="0">
              <a:buNone/>
            </a:pPr>
            <a:r>
              <a:rPr lang="en-IN" b="1" dirty="0">
                <a:latin typeface="Times New Roman" panose="02020603050405020304" pitchFamily="18" charset="0"/>
                <a:cs typeface="Times New Roman" panose="02020603050405020304" pitchFamily="18" charset="0"/>
              </a:rPr>
              <a:t>Risk Assessment:</a:t>
            </a:r>
            <a:r>
              <a:rPr lang="en-IN" dirty="0">
                <a:latin typeface="Times New Roman" panose="02020603050405020304" pitchFamily="18" charset="0"/>
                <a:cs typeface="Times New Roman" panose="02020603050405020304" pitchFamily="18" charset="0"/>
              </a:rPr>
              <a:t> Highlights potential consequences if the issue is not addressed</a:t>
            </a:r>
          </a:p>
          <a:p>
            <a:pPr marL="114300" indent="0">
              <a:buNone/>
            </a:pPr>
            <a:r>
              <a:rPr lang="en-IN" b="1" dirty="0">
                <a:latin typeface="Times New Roman" panose="02020603050405020304" pitchFamily="18" charset="0"/>
                <a:cs typeface="Times New Roman" panose="02020603050405020304" pitchFamily="18" charset="0"/>
              </a:rPr>
              <a:t>Investigation Report:</a:t>
            </a:r>
            <a:r>
              <a:rPr lang="en-IN" dirty="0">
                <a:latin typeface="Times New Roman" panose="02020603050405020304" pitchFamily="18" charset="0"/>
                <a:cs typeface="Times New Roman" panose="02020603050405020304" pitchFamily="18" charset="0"/>
              </a:rPr>
              <a:t> Presents the findings, evidence and recommended action in an engineer-readable format.</a:t>
            </a:r>
          </a:p>
          <a:p>
            <a:pPr marL="114300" indent="0">
              <a:buNone/>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E34A088-73D5-289A-237A-2A596356602F}"/>
              </a:ext>
            </a:extLst>
          </p:cNvPr>
          <p:cNvSpPr>
            <a:spLocks noGrp="1"/>
          </p:cNvSpPr>
          <p:nvPr>
            <p:ph type="dt" idx="10"/>
          </p:nvPr>
        </p:nvSpPr>
        <p:spPr/>
        <p:txBody>
          <a:bodyPr/>
          <a:lstStyle/>
          <a:p>
            <a:r>
              <a:rPr lang="en-US" dirty="0"/>
              <a:t>11/08/2026</a:t>
            </a:r>
          </a:p>
        </p:txBody>
      </p:sp>
      <p:sp>
        <p:nvSpPr>
          <p:cNvPr id="5" name="Footer Placeholder 4">
            <a:extLst>
              <a:ext uri="{FF2B5EF4-FFF2-40B4-BE49-F238E27FC236}">
                <a16:creationId xmlns:a16="http://schemas.microsoft.com/office/drawing/2014/main" id="{6079AA55-6092-9C02-EC31-62FE34834047}"/>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8754AFE0-29AF-B97F-9910-82B62734837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extLst>
      <p:ext uri="{BB962C8B-B14F-4D97-AF65-F5344CB8AC3E}">
        <p14:creationId xmlns:p14="http://schemas.microsoft.com/office/powerpoint/2010/main" val="39439817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46C4A-B0D9-C4E1-DDC5-9B33191490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A5319E-4BEF-F2F2-A5F9-D63485AE839C}"/>
              </a:ext>
            </a:extLst>
          </p:cNvPr>
          <p:cNvSpPr>
            <a:spLocks noGrp="1"/>
          </p:cNvSpPr>
          <p:nvPr>
            <p:ph type="title"/>
          </p:nvPr>
        </p:nvSpPr>
        <p:spPr>
          <a:xfrm>
            <a:off x="457200" y="136525"/>
            <a:ext cx="8229600" cy="1143000"/>
          </a:xfrm>
        </p:spPr>
        <p:txBody>
          <a:bodyPr>
            <a:normAutofit fontScale="90000"/>
          </a:bodyPr>
          <a:lstStyle/>
          <a:p>
            <a:r>
              <a:rPr lang="en-IN" dirty="0"/>
              <a:t>SYSTEM ARCHITECTURE DESCRIPTION</a:t>
            </a:r>
          </a:p>
        </p:txBody>
      </p:sp>
      <p:sp>
        <p:nvSpPr>
          <p:cNvPr id="3" name="Text Placeholder 2">
            <a:extLst>
              <a:ext uri="{FF2B5EF4-FFF2-40B4-BE49-F238E27FC236}">
                <a16:creationId xmlns:a16="http://schemas.microsoft.com/office/drawing/2014/main" id="{698938BD-F97A-4B56-4166-D71EA699D8B1}"/>
              </a:ext>
            </a:extLst>
          </p:cNvPr>
          <p:cNvSpPr>
            <a:spLocks noGrp="1"/>
          </p:cNvSpPr>
          <p:nvPr>
            <p:ph type="body" idx="1"/>
          </p:nvPr>
        </p:nvSpPr>
        <p:spPr>
          <a:xfrm>
            <a:off x="457200" y="1199075"/>
            <a:ext cx="8229600" cy="5384287"/>
          </a:xfrm>
        </p:spPr>
        <p:txBody>
          <a:bodyPr>
            <a:normAutofit fontScale="62500" lnSpcReduction="20000"/>
          </a:bodyPr>
          <a:lstStyle/>
          <a:p>
            <a:pPr marL="114300" indent="0">
              <a:buNone/>
            </a:pPr>
            <a:r>
              <a:rPr lang="en-IN" b="1" dirty="0">
                <a:latin typeface="Times New Roman" panose="02020603050405020304" pitchFamily="18" charset="0"/>
                <a:cs typeface="Times New Roman" panose="02020603050405020304" pitchFamily="18" charset="0"/>
              </a:rPr>
              <a:t>5. Backend &amp; Storage Layer</a:t>
            </a:r>
          </a:p>
          <a:p>
            <a:pPr marL="114300" indent="0">
              <a:buNone/>
            </a:pPr>
            <a:r>
              <a:rPr lang="en-IN" b="1" dirty="0">
                <a:latin typeface="Times New Roman" panose="02020603050405020304" pitchFamily="18" charset="0"/>
                <a:cs typeface="Times New Roman" panose="02020603050405020304" pitchFamily="18" charset="0"/>
              </a:rPr>
              <a:t>API Management: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 manages communication between the AI components and application</a:t>
            </a:r>
          </a:p>
          <a:p>
            <a:pPr marL="114300" indent="0">
              <a:buNone/>
            </a:pPr>
            <a:r>
              <a:rPr lang="en-IN" b="1" dirty="0">
                <a:latin typeface="Times New Roman" panose="02020603050405020304" pitchFamily="18" charset="0"/>
                <a:cs typeface="Times New Roman" panose="02020603050405020304" pitchFamily="18" charset="0"/>
              </a:rPr>
              <a:t>Structured Storage:</a:t>
            </a:r>
            <a:r>
              <a:rPr lang="en-IN" dirty="0">
                <a:latin typeface="Times New Roman" panose="02020603050405020304" pitchFamily="18" charset="0"/>
                <a:cs typeface="Times New Roman" panose="02020603050405020304" pitchFamily="18" charset="0"/>
              </a:rPr>
              <a:t> PostgreSQL stores aircraft, sensor, maintenance and prediction data</a:t>
            </a:r>
          </a:p>
          <a:p>
            <a:pPr marL="114300" indent="0">
              <a:buNone/>
            </a:pPr>
            <a:r>
              <a:rPr lang="en-IN" b="1" dirty="0">
                <a:latin typeface="Times New Roman" panose="02020603050405020304" pitchFamily="18" charset="0"/>
                <a:cs typeface="Times New Roman" panose="02020603050405020304" pitchFamily="18" charset="0"/>
              </a:rPr>
              <a:t>Graph Storage:</a:t>
            </a:r>
            <a:r>
              <a:rPr lang="en-IN" dirty="0">
                <a:latin typeface="Times New Roman" panose="02020603050405020304" pitchFamily="18" charset="0"/>
                <a:cs typeface="Times New Roman" panose="02020603050405020304" pitchFamily="18" charset="0"/>
              </a:rPr>
              <a:t> Neo4j stores component, event and failure relationships</a:t>
            </a:r>
          </a:p>
          <a:p>
            <a:pPr marL="114300" indent="0">
              <a:buNone/>
            </a:pPr>
            <a:r>
              <a:rPr lang="en-IN" b="1" dirty="0">
                <a:latin typeface="Times New Roman" panose="02020603050405020304" pitchFamily="18" charset="0"/>
                <a:cs typeface="Times New Roman" panose="02020603050405020304" pitchFamily="18" charset="0"/>
              </a:rPr>
              <a:t>Model Integration:</a:t>
            </a:r>
            <a:r>
              <a:rPr lang="en-IN" dirty="0">
                <a:latin typeface="Times New Roman" panose="02020603050405020304" pitchFamily="18" charset="0"/>
                <a:cs typeface="Times New Roman" panose="02020603050405020304" pitchFamily="18" charset="0"/>
              </a:rPr>
              <a:t> Connects prediction, reasoning, evidence and LLM services</a:t>
            </a:r>
          </a:p>
          <a:p>
            <a:pPr marL="114300" indent="0">
              <a:buNone/>
            </a:pPr>
            <a:r>
              <a:rPr lang="en-IN" b="1" dirty="0">
                <a:latin typeface="Times New Roman" panose="02020603050405020304" pitchFamily="18" charset="0"/>
                <a:cs typeface="Times New Roman" panose="02020603050405020304" pitchFamily="18" charset="0"/>
              </a:rPr>
              <a:t>Data Retrieval:</a:t>
            </a:r>
            <a:r>
              <a:rPr lang="en-IN" dirty="0">
                <a:latin typeface="Times New Roman" panose="02020603050405020304" pitchFamily="18" charset="0"/>
                <a:cs typeface="Times New Roman" panose="02020603050405020304" pitchFamily="18" charset="0"/>
              </a:rPr>
              <a:t> Provides required information to the investigation and reporting components</a:t>
            </a:r>
          </a:p>
          <a:p>
            <a:pPr marL="114300" indent="0">
              <a:buNone/>
            </a:pPr>
            <a:endParaRPr lang="en-IN" b="1" dirty="0">
              <a:latin typeface="Times New Roman" panose="02020603050405020304" pitchFamily="18" charset="0"/>
              <a:cs typeface="Times New Roman" panose="02020603050405020304" pitchFamily="18" charset="0"/>
            </a:endParaRPr>
          </a:p>
          <a:p>
            <a:pPr marL="114300" indent="0">
              <a:buNone/>
            </a:pPr>
            <a:r>
              <a:rPr lang="en-IN" b="1" dirty="0">
                <a:latin typeface="Times New Roman" panose="02020603050405020304" pitchFamily="18" charset="0"/>
                <a:cs typeface="Times New Roman" panose="02020603050405020304" pitchFamily="18" charset="0"/>
              </a:rPr>
              <a:t>6. Engineer Dashboard Layer</a:t>
            </a:r>
          </a:p>
          <a:p>
            <a:pPr marL="114300" indent="0">
              <a:buNone/>
            </a:pPr>
            <a:r>
              <a:rPr lang="en-IN" b="1" dirty="0">
                <a:latin typeface="Times New Roman" panose="02020603050405020304" pitchFamily="18" charset="0"/>
                <a:cs typeface="Times New Roman" panose="02020603050405020304" pitchFamily="18" charset="0"/>
              </a:rPr>
              <a:t>Health Overview:</a:t>
            </a:r>
            <a:r>
              <a:rPr lang="en-IN" dirty="0">
                <a:latin typeface="Times New Roman" panose="02020603050405020304" pitchFamily="18" charset="0"/>
                <a:cs typeface="Times New Roman" panose="02020603050405020304" pitchFamily="18" charset="0"/>
              </a:rPr>
              <a:t> Displays aircraft and component health status</a:t>
            </a:r>
          </a:p>
          <a:p>
            <a:pPr marL="114300" indent="0">
              <a:buNone/>
            </a:pPr>
            <a:r>
              <a:rPr lang="en-IN" b="1" dirty="0">
                <a:latin typeface="Times New Roman" panose="02020603050405020304" pitchFamily="18" charset="0"/>
                <a:cs typeface="Times New Roman" panose="02020603050405020304" pitchFamily="18" charset="0"/>
              </a:rPr>
              <a:t>Failure Prediction:</a:t>
            </a:r>
            <a:r>
              <a:rPr lang="en-IN" dirty="0">
                <a:latin typeface="Times New Roman" panose="02020603050405020304" pitchFamily="18" charset="0"/>
                <a:cs typeface="Times New Roman" panose="02020603050405020304" pitchFamily="18" charset="0"/>
              </a:rPr>
              <a:t> Shows predicted failures, anomaly scores and RUL</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Root Cause:</a:t>
            </a:r>
            <a:r>
              <a:rPr lang="en-IN" dirty="0">
                <a:latin typeface="Times New Roman" panose="02020603050405020304" pitchFamily="18" charset="0"/>
                <a:cs typeface="Times New Roman" panose="02020603050405020304" pitchFamily="18" charset="0"/>
              </a:rPr>
              <a:t> Displays the identified cause and causal relationships</a:t>
            </a:r>
          </a:p>
          <a:p>
            <a:pPr marL="114300" indent="0">
              <a:buNone/>
            </a:pPr>
            <a:r>
              <a:rPr lang="en-IN" b="1" dirty="0">
                <a:latin typeface="Times New Roman" panose="02020603050405020304" pitchFamily="18" charset="0"/>
                <a:cs typeface="Times New Roman" panose="02020603050405020304" pitchFamily="18" charset="0"/>
              </a:rPr>
              <a:t>Evidence:</a:t>
            </a:r>
            <a:r>
              <a:rPr lang="en-IN" dirty="0">
                <a:latin typeface="Times New Roman" panose="02020603050405020304" pitchFamily="18" charset="0"/>
                <a:cs typeface="Times New Roman" panose="02020603050405020304" pitchFamily="18" charset="0"/>
              </a:rPr>
              <a:t> Presents supporting evidence and confidence scores</a:t>
            </a:r>
          </a:p>
          <a:p>
            <a:pPr marL="114300" indent="0">
              <a:buNone/>
            </a:pPr>
            <a:r>
              <a:rPr lang="en-IN" b="1" dirty="0">
                <a:latin typeface="Times New Roman" panose="02020603050405020304" pitchFamily="18" charset="0"/>
                <a:cs typeface="Times New Roman" panose="02020603050405020304" pitchFamily="18" charset="0"/>
              </a:rPr>
              <a:t>Recommendations:</a:t>
            </a:r>
            <a:r>
              <a:rPr lang="en-IN" dirty="0">
                <a:latin typeface="Times New Roman" panose="02020603050405020304" pitchFamily="18" charset="0"/>
                <a:cs typeface="Times New Roman" panose="02020603050405020304" pitchFamily="18" charset="0"/>
              </a:rPr>
              <a:t> Shows suggested maintenance actions</a:t>
            </a:r>
          </a:p>
          <a:p>
            <a:pPr marL="114300" indent="0">
              <a:buNone/>
            </a:pPr>
            <a:r>
              <a:rPr lang="en-IN" b="1" dirty="0">
                <a:latin typeface="Times New Roman" panose="02020603050405020304" pitchFamily="18" charset="0"/>
                <a:cs typeface="Times New Roman" panose="02020603050405020304" pitchFamily="18" charset="0"/>
              </a:rPr>
              <a:t>Investigation Report:</a:t>
            </a:r>
            <a:r>
              <a:rPr lang="en-IN" dirty="0">
                <a:latin typeface="Times New Roman" panose="02020603050405020304" pitchFamily="18" charset="0"/>
                <a:cs typeface="Times New Roman" panose="02020603050405020304" pitchFamily="18" charset="0"/>
              </a:rPr>
              <a:t> Provides the generated report for engineer review</a:t>
            </a:r>
          </a:p>
          <a:p>
            <a:pPr marL="114300" indent="0">
              <a:buNone/>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6F7678C-305C-DC69-0E15-9CD22D75F477}"/>
              </a:ext>
            </a:extLst>
          </p:cNvPr>
          <p:cNvSpPr>
            <a:spLocks noGrp="1"/>
          </p:cNvSpPr>
          <p:nvPr>
            <p:ph type="dt" idx="10"/>
          </p:nvPr>
        </p:nvSpPr>
        <p:spPr/>
        <p:txBody>
          <a:bodyPr/>
          <a:lstStyle/>
          <a:p>
            <a:r>
              <a:rPr lang="en-US" dirty="0"/>
              <a:t>11/08/2026</a:t>
            </a:r>
          </a:p>
        </p:txBody>
      </p:sp>
      <p:sp>
        <p:nvSpPr>
          <p:cNvPr id="5" name="Footer Placeholder 4">
            <a:extLst>
              <a:ext uri="{FF2B5EF4-FFF2-40B4-BE49-F238E27FC236}">
                <a16:creationId xmlns:a16="http://schemas.microsoft.com/office/drawing/2014/main" id="{7A960713-4FFF-4427-6337-D0D473E43DC5}"/>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A1225961-D2CE-C006-D852-A86BB990DFB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Tree>
    <p:extLst>
      <p:ext uri="{BB962C8B-B14F-4D97-AF65-F5344CB8AC3E}">
        <p14:creationId xmlns:p14="http://schemas.microsoft.com/office/powerpoint/2010/main" val="1082636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1C1A1-62FD-E6FF-7DF2-E2DC1E4289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20827-7E90-4CDA-6051-9337E006BD3E}"/>
              </a:ext>
            </a:extLst>
          </p:cNvPr>
          <p:cNvSpPr>
            <a:spLocks noGrp="1"/>
          </p:cNvSpPr>
          <p:nvPr>
            <p:ph type="title"/>
          </p:nvPr>
        </p:nvSpPr>
        <p:spPr>
          <a:xfrm>
            <a:off x="457200" y="136525"/>
            <a:ext cx="8229600" cy="1143000"/>
          </a:xfrm>
        </p:spPr>
        <p:txBody>
          <a:bodyPr>
            <a:normAutofit fontScale="90000"/>
          </a:bodyPr>
          <a:lstStyle/>
          <a:p>
            <a:r>
              <a:rPr lang="en-IN" dirty="0"/>
              <a:t>SYSTEM ARCHITECTURE DESCRIPTION</a:t>
            </a:r>
          </a:p>
        </p:txBody>
      </p:sp>
      <p:sp>
        <p:nvSpPr>
          <p:cNvPr id="3" name="Text Placeholder 2">
            <a:extLst>
              <a:ext uri="{FF2B5EF4-FFF2-40B4-BE49-F238E27FC236}">
                <a16:creationId xmlns:a16="http://schemas.microsoft.com/office/drawing/2014/main" id="{C390FCD9-9683-1806-331B-31CA6935EB84}"/>
              </a:ext>
            </a:extLst>
          </p:cNvPr>
          <p:cNvSpPr>
            <a:spLocks noGrp="1"/>
          </p:cNvSpPr>
          <p:nvPr>
            <p:ph type="body" idx="1"/>
          </p:nvPr>
        </p:nvSpPr>
        <p:spPr>
          <a:xfrm>
            <a:off x="457200" y="1159745"/>
            <a:ext cx="8229600" cy="5384287"/>
          </a:xfrm>
        </p:spPr>
        <p:txBody>
          <a:bodyPr>
            <a:normAutofit fontScale="55000" lnSpcReduction="20000"/>
          </a:bodyPr>
          <a:lstStyle/>
          <a:p>
            <a:pPr marL="114300" indent="0">
              <a:buNone/>
            </a:pPr>
            <a:r>
              <a:rPr lang="en-IN" b="1" dirty="0"/>
              <a:t>7</a:t>
            </a:r>
            <a:r>
              <a:rPr lang="en-IN" sz="3400" b="1" dirty="0"/>
              <a:t>. System Output Layer</a:t>
            </a:r>
          </a:p>
          <a:p>
            <a:pPr marL="114300" indent="0">
              <a:buNone/>
            </a:pPr>
            <a:r>
              <a:rPr lang="en-IN" sz="3400" b="1" dirty="0"/>
              <a:t>Failure Alert:</a:t>
            </a:r>
            <a:r>
              <a:rPr lang="en-IN" sz="3400" dirty="0"/>
              <a:t> Highlights detected anomalies and potential component failures</a:t>
            </a:r>
          </a:p>
          <a:p>
            <a:pPr marL="114300" indent="0">
              <a:buNone/>
            </a:pPr>
            <a:r>
              <a:rPr lang="en-IN" sz="3400" b="1" dirty="0"/>
              <a:t>Root Cause Explanation:</a:t>
            </a:r>
            <a:r>
              <a:rPr lang="en-IN" sz="3400" dirty="0"/>
              <a:t> Presents the most probable cause with supporting relationships</a:t>
            </a:r>
          </a:p>
          <a:p>
            <a:pPr marL="114300" indent="0">
              <a:buNone/>
            </a:pPr>
            <a:r>
              <a:rPr lang="en-IN" sz="3400" b="1" dirty="0"/>
              <a:t>Evidence Summary:</a:t>
            </a:r>
            <a:r>
              <a:rPr lang="en-IN" sz="3400" dirty="0"/>
              <a:t> Displays the key evidence contributing to the conclusion</a:t>
            </a:r>
          </a:p>
          <a:p>
            <a:pPr marL="114300" indent="0">
              <a:buNone/>
            </a:pPr>
            <a:r>
              <a:rPr lang="en-IN" sz="3400" b="1" dirty="0"/>
              <a:t>Confidence Score:</a:t>
            </a:r>
            <a:r>
              <a:rPr lang="en-IN" sz="3400" dirty="0"/>
              <a:t> Indicates the confidence of the investigation result</a:t>
            </a:r>
          </a:p>
          <a:p>
            <a:pPr marL="114300" indent="0">
              <a:buNone/>
            </a:pPr>
            <a:r>
              <a:rPr lang="en-IN" sz="3400" b="1" dirty="0"/>
              <a:t>Maintenance Action:</a:t>
            </a:r>
            <a:r>
              <a:rPr lang="en-IN" sz="3400" dirty="0"/>
              <a:t> Provides the recommended inspection, repair or replacement action</a:t>
            </a:r>
          </a:p>
          <a:p>
            <a:pPr marL="114300" indent="0">
              <a:buNone/>
            </a:pPr>
            <a:r>
              <a:rPr lang="en-IN" sz="3400" b="1" dirty="0"/>
              <a:t>Investigation Report:</a:t>
            </a:r>
            <a:r>
              <a:rPr lang="en-IN" sz="3400" dirty="0"/>
              <a:t> Generates a consolidated report for maintenance engineers</a:t>
            </a:r>
          </a:p>
          <a:p>
            <a:pPr marL="114300" indent="0">
              <a:buNone/>
            </a:pPr>
            <a:endParaRPr lang="en-IN" sz="3400" b="1" dirty="0"/>
          </a:p>
          <a:p>
            <a:pPr marL="114300" indent="0">
              <a:buNone/>
            </a:pPr>
            <a:r>
              <a:rPr lang="en-IN" sz="3400" b="1" dirty="0"/>
              <a:t>8. Continuous Learning &amp; Improvement Layer</a:t>
            </a:r>
          </a:p>
          <a:p>
            <a:pPr marL="114300" indent="0">
              <a:buNone/>
            </a:pPr>
            <a:r>
              <a:rPr lang="en-IN" sz="3400" b="1" dirty="0"/>
              <a:t>Flight Updates:</a:t>
            </a:r>
            <a:r>
              <a:rPr lang="en-IN" sz="3400" dirty="0"/>
              <a:t> Incorporates data from newly completed flights</a:t>
            </a:r>
          </a:p>
          <a:p>
            <a:pPr marL="114300" indent="0">
              <a:buNone/>
            </a:pPr>
            <a:r>
              <a:rPr lang="en-IN" sz="3400" b="1" dirty="0"/>
              <a:t>Model Monitoring:</a:t>
            </a:r>
            <a:r>
              <a:rPr lang="en-IN" sz="3400" dirty="0"/>
              <a:t> Tracks prediction and anomaly-detection performance</a:t>
            </a:r>
          </a:p>
          <a:p>
            <a:pPr marL="114300" indent="0">
              <a:buNone/>
            </a:pPr>
            <a:r>
              <a:rPr lang="en-IN" sz="3400" b="1" dirty="0"/>
              <a:t>Knowledge Updates:</a:t>
            </a:r>
            <a:r>
              <a:rPr lang="en-IN" sz="3400" dirty="0"/>
              <a:t> Updates the Knowledge Graph with new aircraft events and relationships</a:t>
            </a:r>
          </a:p>
          <a:p>
            <a:pPr marL="114300" indent="0">
              <a:buNone/>
            </a:pPr>
            <a:r>
              <a:rPr lang="en-IN" sz="3400" b="1" dirty="0"/>
              <a:t>Feedback Integration:</a:t>
            </a:r>
            <a:r>
              <a:rPr lang="en-IN" sz="3400" dirty="0"/>
              <a:t> Uses engineer feedback to improve investigation results</a:t>
            </a:r>
          </a:p>
          <a:p>
            <a:pPr marL="114300" indent="0">
              <a:buNone/>
            </a:pPr>
            <a:r>
              <a:rPr lang="en-IN" sz="3400" b="1" dirty="0"/>
              <a:t>Continuous Improvement:</a:t>
            </a:r>
            <a:r>
              <a:rPr lang="en-IN" sz="3400" dirty="0"/>
              <a:t> Refines prediction, reasoning and recommendation performance over time</a:t>
            </a:r>
          </a:p>
          <a:p>
            <a:pPr marL="114300" indent="0">
              <a:buNone/>
            </a:pPr>
            <a:endParaRPr lang="en-IN" dirty="0"/>
          </a:p>
          <a:p>
            <a:pPr marL="114300" indent="0">
              <a:buNone/>
            </a:pPr>
            <a:endParaRPr lang="en-IN" dirty="0">
              <a:latin typeface="Times New Roman" panose="02020603050405020304" pitchFamily="18" charset="0"/>
              <a:cs typeface="Times New Roman" panose="02020603050405020304" pitchFamily="18" charset="0"/>
            </a:endParaRPr>
          </a:p>
          <a:p>
            <a:pPr marL="114300" indent="0">
              <a:buNone/>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11EEFF5-EF7F-CF3D-A131-23B5AB511177}"/>
              </a:ext>
            </a:extLst>
          </p:cNvPr>
          <p:cNvSpPr>
            <a:spLocks noGrp="1"/>
          </p:cNvSpPr>
          <p:nvPr>
            <p:ph type="dt" idx="10"/>
          </p:nvPr>
        </p:nvSpPr>
        <p:spPr/>
        <p:txBody>
          <a:bodyPr/>
          <a:lstStyle/>
          <a:p>
            <a:r>
              <a:rPr lang="en-US" dirty="0"/>
              <a:t>11/08/2026</a:t>
            </a:r>
          </a:p>
        </p:txBody>
      </p:sp>
      <p:sp>
        <p:nvSpPr>
          <p:cNvPr id="5" name="Footer Placeholder 4">
            <a:extLst>
              <a:ext uri="{FF2B5EF4-FFF2-40B4-BE49-F238E27FC236}">
                <a16:creationId xmlns:a16="http://schemas.microsoft.com/office/drawing/2014/main" id="{DEF1FB68-9FE9-D209-35E8-CE47AC2B9C2C}"/>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546E6696-FA96-C4DC-B2A5-6249031FD77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Tree>
    <p:extLst>
      <p:ext uri="{BB962C8B-B14F-4D97-AF65-F5344CB8AC3E}">
        <p14:creationId xmlns:p14="http://schemas.microsoft.com/office/powerpoint/2010/main" val="37990063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B3DEC-5D56-1F8D-F7EC-877EE500C917}"/>
              </a:ext>
            </a:extLst>
          </p:cNvPr>
          <p:cNvSpPr>
            <a:spLocks noGrp="1"/>
          </p:cNvSpPr>
          <p:nvPr>
            <p:ph type="title"/>
          </p:nvPr>
        </p:nvSpPr>
        <p:spPr>
          <a:xfrm>
            <a:off x="457200" y="11719"/>
            <a:ext cx="8229600" cy="846239"/>
          </a:xfrm>
        </p:spPr>
        <p:txBody>
          <a:bodyPr/>
          <a:lstStyle/>
          <a:p>
            <a:r>
              <a:rPr lang="en-IN" dirty="0"/>
              <a:t>DATASET USED</a:t>
            </a:r>
          </a:p>
        </p:txBody>
      </p:sp>
      <p:sp>
        <p:nvSpPr>
          <p:cNvPr id="7" name="Slide Number Placeholder 6">
            <a:extLst>
              <a:ext uri="{FF2B5EF4-FFF2-40B4-BE49-F238E27FC236}">
                <a16:creationId xmlns:a16="http://schemas.microsoft.com/office/drawing/2014/main" id="{A45C52D3-CC4C-1615-2477-5680245288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graphicFrame>
        <p:nvGraphicFramePr>
          <p:cNvPr id="10" name="Table 9">
            <a:extLst>
              <a:ext uri="{FF2B5EF4-FFF2-40B4-BE49-F238E27FC236}">
                <a16:creationId xmlns:a16="http://schemas.microsoft.com/office/drawing/2014/main" id="{8F3C90BD-2904-13BD-B015-80E0BB30CDD4}"/>
              </a:ext>
            </a:extLst>
          </p:cNvPr>
          <p:cNvGraphicFramePr>
            <a:graphicFrameLocks noGrp="1"/>
          </p:cNvGraphicFramePr>
          <p:nvPr>
            <p:extLst>
              <p:ext uri="{D42A27DB-BD31-4B8C-83A1-F6EECF244321}">
                <p14:modId xmlns:p14="http://schemas.microsoft.com/office/powerpoint/2010/main" val="2253963453"/>
              </p:ext>
            </p:extLst>
          </p:nvPr>
        </p:nvGraphicFramePr>
        <p:xfrm>
          <a:off x="614516" y="961071"/>
          <a:ext cx="8072284" cy="5712016"/>
        </p:xfrm>
        <a:graphic>
          <a:graphicData uri="http://schemas.openxmlformats.org/drawingml/2006/table">
            <a:tbl>
              <a:tblPr firstRow="1" bandRow="1">
                <a:tableStyleId>{47879F58-94FC-4AB5-AACA-6E85711E4052}</a:tableStyleId>
              </a:tblPr>
              <a:tblGrid>
                <a:gridCol w="2018071">
                  <a:extLst>
                    <a:ext uri="{9D8B030D-6E8A-4147-A177-3AD203B41FA5}">
                      <a16:colId xmlns:a16="http://schemas.microsoft.com/office/drawing/2014/main" val="1719257519"/>
                    </a:ext>
                  </a:extLst>
                </a:gridCol>
                <a:gridCol w="2018071">
                  <a:extLst>
                    <a:ext uri="{9D8B030D-6E8A-4147-A177-3AD203B41FA5}">
                      <a16:colId xmlns:a16="http://schemas.microsoft.com/office/drawing/2014/main" val="3783693501"/>
                    </a:ext>
                  </a:extLst>
                </a:gridCol>
                <a:gridCol w="2018071">
                  <a:extLst>
                    <a:ext uri="{9D8B030D-6E8A-4147-A177-3AD203B41FA5}">
                      <a16:colId xmlns:a16="http://schemas.microsoft.com/office/drawing/2014/main" val="3551716320"/>
                    </a:ext>
                  </a:extLst>
                </a:gridCol>
                <a:gridCol w="2018071">
                  <a:extLst>
                    <a:ext uri="{9D8B030D-6E8A-4147-A177-3AD203B41FA5}">
                      <a16:colId xmlns:a16="http://schemas.microsoft.com/office/drawing/2014/main" val="4205463055"/>
                    </a:ext>
                  </a:extLst>
                </a:gridCol>
              </a:tblGrid>
              <a:tr h="681509">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Dataset</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IN"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dirty="0">
                          <a:latin typeface="Times New Roman" panose="02020603050405020304" pitchFamily="18" charset="0"/>
                          <a:cs typeface="Times New Roman" panose="02020603050405020304" pitchFamily="18" charset="0"/>
                        </a:rPr>
                        <a:t>Collected On / Domain</a:t>
                      </a:r>
                    </a:p>
                    <a:p>
                      <a:pPr>
                        <a:buNone/>
                      </a:pPr>
                      <a:endParaRPr lang="en-IN"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Source</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Used For</a:t>
                      </a:r>
                    </a:p>
                  </a:txBody>
                  <a:tcPr anchor="ctr"/>
                </a:tc>
                <a:extLst>
                  <a:ext uri="{0D108BD9-81ED-4DB2-BD59-A6C34878D82A}">
                    <a16:rowId xmlns:a16="http://schemas.microsoft.com/office/drawing/2014/main" val="598200717"/>
                  </a:ext>
                </a:extLst>
              </a:tr>
              <a:tr h="1277829">
                <a:tc>
                  <a:txBody>
                    <a:bodyPr/>
                    <a:lstStyle/>
                    <a:p>
                      <a:r>
                        <a:rPr lang="en-IN" dirty="0">
                          <a:latin typeface="Times New Roman" panose="02020603050405020304" pitchFamily="18" charset="0"/>
                          <a:cs typeface="Times New Roman" panose="02020603050405020304" pitchFamily="18" charset="0"/>
                        </a:rPr>
                        <a:t>NASA C-MAPSS / N-CMAPSS</a:t>
                      </a:r>
                    </a:p>
                  </a:txBody>
                  <a:tcPr/>
                </a:tc>
                <a:tc>
                  <a:txBody>
                    <a:bodyPr/>
                    <a:lstStyle/>
                    <a:p>
                      <a:r>
                        <a:rPr lang="en-IN" dirty="0">
                          <a:latin typeface="Times New Roman" panose="02020603050405020304" pitchFamily="18" charset="0"/>
                          <a:cs typeface="Times New Roman" panose="02020603050405020304" pitchFamily="18" charset="0"/>
                        </a:rPr>
                        <a:t>Simulated aircraft turbofan engine sensor readings (temperature, pressure, speed, vibration across multiple flight cycles)</a:t>
                      </a:r>
                    </a:p>
                  </a:txBody>
                  <a:tcPr/>
                </a:tc>
                <a:tc>
                  <a:txBody>
                    <a:bodyPr/>
                    <a:lstStyle/>
                    <a:p>
                      <a:r>
                        <a:rPr lang="en-IN" dirty="0">
                          <a:latin typeface="Times New Roman" panose="02020603050405020304" pitchFamily="18" charset="0"/>
                          <a:cs typeface="Times New Roman" panose="02020603050405020304" pitchFamily="18" charset="0"/>
                        </a:rPr>
                        <a:t>NASA Prognostics </a:t>
                      </a:r>
                      <a:r>
                        <a:rPr lang="en-IN" dirty="0" err="1">
                          <a:latin typeface="Times New Roman" panose="02020603050405020304" pitchFamily="18" charset="0"/>
                          <a:cs typeface="Times New Roman" panose="02020603050405020304" pitchFamily="18" charset="0"/>
                        </a:rPr>
                        <a:t>Center</a:t>
                      </a:r>
                      <a:r>
                        <a:rPr lang="en-IN" dirty="0">
                          <a:latin typeface="Times New Roman" panose="02020603050405020304" pitchFamily="18" charset="0"/>
                          <a:cs typeface="Times New Roman" panose="02020603050405020304" pitchFamily="18" charset="0"/>
                        </a:rPr>
                        <a:t> of Excellence</a:t>
                      </a:r>
                    </a:p>
                  </a:txBody>
                  <a:tcPr/>
                </a:tc>
                <a:tc>
                  <a:txBody>
                    <a:bodyPr/>
                    <a:lstStyle/>
                    <a:p>
                      <a:r>
                        <a:rPr lang="en-IN" dirty="0">
                          <a:latin typeface="Times New Roman" panose="02020603050405020304" pitchFamily="18" charset="0"/>
                          <a:cs typeface="Times New Roman" panose="02020603050405020304" pitchFamily="18" charset="0"/>
                        </a:rPr>
                        <a:t>Training the Time-Series Transformer to predict Remaining Useful Life (RUL) and detect anomalies</a:t>
                      </a:r>
                    </a:p>
                  </a:txBody>
                  <a:tcPr/>
                </a:tc>
                <a:extLst>
                  <a:ext uri="{0D108BD9-81ED-4DB2-BD59-A6C34878D82A}">
                    <a16:rowId xmlns:a16="http://schemas.microsoft.com/office/drawing/2014/main" val="2579686480"/>
                  </a:ext>
                </a:extLst>
              </a:tr>
              <a:tr h="1079056">
                <a:tc>
                  <a:txBody>
                    <a:bodyPr/>
                    <a:lstStyle/>
                    <a:p>
                      <a:r>
                        <a:rPr lang="en-IN" b="1" dirty="0">
                          <a:latin typeface="Times New Roman" panose="02020603050405020304" pitchFamily="18" charset="0"/>
                          <a:cs typeface="Times New Roman" panose="02020603050405020304" pitchFamily="18" charset="0"/>
                        </a:rPr>
                        <a:t>NGAFID</a:t>
                      </a:r>
                      <a:r>
                        <a:rPr lang="en-IN" dirty="0">
                          <a:latin typeface="Times New Roman" panose="02020603050405020304" pitchFamily="18" charset="0"/>
                          <a:cs typeface="Times New Roman" panose="02020603050405020304" pitchFamily="18" charset="0"/>
                        </a:rPr>
                        <a:t> (National General Aviation Flight Information Database</a:t>
                      </a:r>
                    </a:p>
                  </a:txBody>
                  <a:tcPr/>
                </a:tc>
                <a:tc>
                  <a:txBody>
                    <a:bodyPr/>
                    <a:lstStyle/>
                    <a:p>
                      <a:r>
                        <a:rPr lang="en-IN" dirty="0">
                          <a:latin typeface="Times New Roman" panose="02020603050405020304" pitchFamily="18" charset="0"/>
                          <a:cs typeface="Times New Roman" panose="02020603050405020304" pitchFamily="18" charset="0"/>
                        </a:rPr>
                        <a:t>Real flight data and maintenance event logs from general aviation aircraft</a:t>
                      </a:r>
                    </a:p>
                  </a:txBody>
                  <a:tcPr/>
                </a:tc>
                <a:tc>
                  <a:txBody>
                    <a:bodyPr/>
                    <a:lstStyle/>
                    <a:p>
                      <a:r>
                        <a:rPr lang="en-IN" dirty="0">
                          <a:latin typeface="Times New Roman" panose="02020603050405020304" pitchFamily="18" charset="0"/>
                          <a:cs typeface="Times New Roman" panose="02020603050405020304" pitchFamily="18" charset="0"/>
                        </a:rPr>
                        <a:t>NGAFID (University of North Dakota / FAA-supported)</a:t>
                      </a:r>
                    </a:p>
                  </a:txBody>
                  <a:tcPr/>
                </a:tc>
                <a:tc>
                  <a:txBody>
                    <a:bodyPr/>
                    <a:lstStyle/>
                    <a:p>
                      <a:r>
                        <a:rPr lang="en-IN" dirty="0">
                          <a:latin typeface="Times New Roman" panose="02020603050405020304" pitchFamily="18" charset="0"/>
                          <a:cs typeface="Times New Roman" panose="02020603050405020304" pitchFamily="18" charset="0"/>
                        </a:rPr>
                        <a:t>Building maintenance history context and correlating flight patterns with failure events</a:t>
                      </a:r>
                    </a:p>
                  </a:txBody>
                  <a:tcPr/>
                </a:tc>
                <a:extLst>
                  <a:ext uri="{0D108BD9-81ED-4DB2-BD59-A6C34878D82A}">
                    <a16:rowId xmlns:a16="http://schemas.microsoft.com/office/drawing/2014/main" val="2273734026"/>
                  </a:ext>
                </a:extLst>
              </a:tr>
              <a:tr h="880282">
                <a:tc>
                  <a:txBody>
                    <a:bodyPr/>
                    <a:lstStyle/>
                    <a:p>
                      <a:r>
                        <a:rPr lang="en-IN" b="1" dirty="0">
                          <a:latin typeface="Times New Roman" panose="02020603050405020304" pitchFamily="18" charset="0"/>
                          <a:cs typeface="Times New Roman" panose="02020603050405020304" pitchFamily="18" charset="0"/>
                        </a:rPr>
                        <a:t>FAA SDR</a:t>
                      </a:r>
                      <a:r>
                        <a:rPr lang="en-IN" dirty="0">
                          <a:latin typeface="Times New Roman" panose="02020603050405020304" pitchFamily="18" charset="0"/>
                          <a:cs typeface="Times New Roman" panose="02020603050405020304" pitchFamily="18" charset="0"/>
                        </a:rPr>
                        <a:t> (Service Difficulty Reports)</a:t>
                      </a:r>
                    </a:p>
                  </a:txBody>
                  <a:tcPr/>
                </a:tc>
                <a:tc>
                  <a:txBody>
                    <a:bodyPr/>
                    <a:lstStyle/>
                    <a:p>
                      <a:r>
                        <a:rPr lang="en-IN" dirty="0">
                          <a:latin typeface="Times New Roman" panose="02020603050405020304" pitchFamily="18" charset="0"/>
                          <a:cs typeface="Times New Roman" panose="02020603050405020304" pitchFamily="18" charset="0"/>
                        </a:rPr>
                        <a:t>Real-world aircraft failure and malfunction reports submitted by operators/mechanics</a:t>
                      </a:r>
                    </a:p>
                  </a:txBody>
                  <a:tcPr/>
                </a:tc>
                <a:tc>
                  <a:txBody>
                    <a:bodyPr/>
                    <a:lstStyle/>
                    <a:p>
                      <a:r>
                        <a:rPr lang="en-IN" dirty="0">
                          <a:latin typeface="Times New Roman" panose="02020603050405020304" pitchFamily="18" charset="0"/>
                          <a:cs typeface="Times New Roman" panose="02020603050405020304" pitchFamily="18" charset="0"/>
                        </a:rPr>
                        <a:t>Federal Aviation Administration (FAA)</a:t>
                      </a:r>
                    </a:p>
                  </a:txBody>
                  <a:tcPr/>
                </a:tc>
                <a:tc>
                  <a:txBody>
                    <a:bodyPr/>
                    <a:lstStyle/>
                    <a:p>
                      <a:r>
                        <a:rPr lang="en-IN" dirty="0">
                          <a:latin typeface="Times New Roman" panose="02020603050405020304" pitchFamily="18" charset="0"/>
                          <a:cs typeface="Times New Roman" panose="02020603050405020304" pitchFamily="18" charset="0"/>
                        </a:rPr>
                        <a:t>Root cause investigation and validating real failure patterns against predictions</a:t>
                      </a:r>
                    </a:p>
                  </a:txBody>
                  <a:tcPr/>
                </a:tc>
                <a:extLst>
                  <a:ext uri="{0D108BD9-81ED-4DB2-BD59-A6C34878D82A}">
                    <a16:rowId xmlns:a16="http://schemas.microsoft.com/office/drawing/2014/main" val="2711003634"/>
                  </a:ext>
                </a:extLst>
              </a:tr>
              <a:tr h="1476603">
                <a:tc>
                  <a:txBody>
                    <a:bodyPr/>
                    <a:lstStyle/>
                    <a:p>
                      <a:r>
                        <a:rPr lang="en-IN" dirty="0">
                          <a:latin typeface="Times New Roman" panose="02020603050405020304" pitchFamily="18" charset="0"/>
                          <a:cs typeface="Times New Roman" panose="02020603050405020304" pitchFamily="18" charset="0"/>
                        </a:rPr>
                        <a:t>Aircraft Maintenance Manuals (PDFs)</a:t>
                      </a:r>
                    </a:p>
                  </a:txBody>
                  <a:tcPr/>
                </a:tc>
                <a:tc>
                  <a:txBody>
                    <a:bodyPr/>
                    <a:lstStyle/>
                    <a:p>
                      <a:r>
                        <a:rPr lang="en-IN" dirty="0">
                          <a:latin typeface="Times New Roman" panose="02020603050405020304" pitchFamily="18" charset="0"/>
                          <a:cs typeface="Times New Roman" panose="02020603050405020304" pitchFamily="18" charset="0"/>
                        </a:rPr>
                        <a:t>Technical maintenance procedures, component specifications, and troubleshooting guides</a:t>
                      </a:r>
                    </a:p>
                  </a:txBody>
                  <a:tcPr/>
                </a:tc>
                <a:tc>
                  <a:txBody>
                    <a:bodyPr/>
                    <a:lstStyle/>
                    <a:p>
                      <a:r>
                        <a:rPr lang="en-IN" dirty="0">
                          <a:latin typeface="Times New Roman" panose="02020603050405020304" pitchFamily="18" charset="0"/>
                          <a:cs typeface="Times New Roman" panose="02020603050405020304" pitchFamily="18" charset="0"/>
                        </a:rPr>
                        <a:t>e.g., </a:t>
                      </a:r>
                      <a:r>
                        <a:rPr lang="en-IN" dirty="0" err="1">
                          <a:latin typeface="Times New Roman" panose="02020603050405020304" pitchFamily="18" charset="0"/>
                          <a:cs typeface="Times New Roman" panose="02020603050405020304" pitchFamily="18" charset="0"/>
                        </a:rPr>
                        <a:t>Aerospool</a:t>
                      </a:r>
                      <a:r>
                        <a:rPr lang="en-IN" dirty="0">
                          <a:latin typeface="Times New Roman" panose="02020603050405020304" pitchFamily="18" charset="0"/>
                          <a:cs typeface="Times New Roman" panose="02020603050405020304" pitchFamily="18" charset="0"/>
                        </a:rPr>
                        <a:t> WT9 Dynamic AMM (AS-AMM-01-000, aerospool.sk)</a:t>
                      </a:r>
                    </a:p>
                  </a:txBody>
                  <a:tcPr/>
                </a:tc>
                <a:tc>
                  <a:txBody>
                    <a:bodyPr/>
                    <a:lstStyle/>
                    <a:p>
                      <a:r>
                        <a:rPr lang="en-IN" dirty="0">
                          <a:latin typeface="Times New Roman" panose="02020603050405020304" pitchFamily="18" charset="0"/>
                          <a:cs typeface="Times New Roman" panose="02020603050405020304" pitchFamily="18" charset="0"/>
                        </a:rPr>
                        <a:t>RAG pipeline (</a:t>
                      </a:r>
                      <a:r>
                        <a:rPr lang="en-IN" dirty="0" err="1">
                          <a:latin typeface="Times New Roman" panose="02020603050405020304" pitchFamily="18" charset="0"/>
                          <a:cs typeface="Times New Roman" panose="02020603050405020304" pitchFamily="18" charset="0"/>
                        </a:rPr>
                        <a:t>LangChain</a:t>
                      </a:r>
                      <a:r>
                        <a:rPr lang="en-IN" dirty="0">
                          <a:latin typeface="Times New Roman" panose="02020603050405020304" pitchFamily="18" charset="0"/>
                          <a:cs typeface="Times New Roman" panose="02020603050405020304" pitchFamily="18" charset="0"/>
                        </a:rPr>
                        <a:t> + FAISS) — retrieves relevant manual sections/procedures to ground the LLM's investigation report in official documentation</a:t>
                      </a:r>
                    </a:p>
                  </a:txBody>
                  <a:tcPr/>
                </a:tc>
                <a:extLst>
                  <a:ext uri="{0D108BD9-81ED-4DB2-BD59-A6C34878D82A}">
                    <a16:rowId xmlns:a16="http://schemas.microsoft.com/office/drawing/2014/main" val="3095313825"/>
                  </a:ext>
                </a:extLst>
              </a:tr>
            </a:tbl>
          </a:graphicData>
        </a:graphic>
      </p:graphicFrame>
    </p:spTree>
    <p:extLst>
      <p:ext uri="{BB962C8B-B14F-4D97-AF65-F5344CB8AC3E}">
        <p14:creationId xmlns:p14="http://schemas.microsoft.com/office/powerpoint/2010/main" val="2319161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98B0AF1F-1C88-5415-AC7F-25560B5C26D3}"/>
            </a:ext>
          </a:extLst>
        </p:cNvPr>
        <p:cNvGrpSpPr/>
        <p:nvPr/>
      </p:nvGrpSpPr>
      <p:grpSpPr>
        <a:xfrm>
          <a:off x="0" y="0"/>
          <a:ext cx="0" cy="0"/>
          <a:chOff x="0" y="0"/>
          <a:chExt cx="0" cy="0"/>
        </a:xfrm>
      </p:grpSpPr>
      <p:sp>
        <p:nvSpPr>
          <p:cNvPr id="196" name="Google Shape;196;p12">
            <a:extLst>
              <a:ext uri="{FF2B5EF4-FFF2-40B4-BE49-F238E27FC236}">
                <a16:creationId xmlns:a16="http://schemas.microsoft.com/office/drawing/2014/main" id="{FEC7737E-B127-4D7D-3679-167FA5FD7C62}"/>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11/08/2026</a:t>
            </a:r>
            <a:endParaRPr dirty="0"/>
          </a:p>
        </p:txBody>
      </p:sp>
      <p:sp>
        <p:nvSpPr>
          <p:cNvPr id="197" name="Google Shape;197;p12">
            <a:extLst>
              <a:ext uri="{FF2B5EF4-FFF2-40B4-BE49-F238E27FC236}">
                <a16:creationId xmlns:a16="http://schemas.microsoft.com/office/drawing/2014/main" id="{D5C97499-B50E-CA2E-1BF9-3003CD7E64E5}"/>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26</a:t>
            </a:fld>
            <a:endParaRPr/>
          </a:p>
        </p:txBody>
      </p:sp>
      <p:sp>
        <p:nvSpPr>
          <p:cNvPr id="2" name="Footer Placeholder 1">
            <a:extLst>
              <a:ext uri="{FF2B5EF4-FFF2-40B4-BE49-F238E27FC236}">
                <a16:creationId xmlns:a16="http://schemas.microsoft.com/office/drawing/2014/main" id="{765AE5DA-D552-DB75-98D0-0754F042C207}"/>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pic>
        <p:nvPicPr>
          <p:cNvPr id="4" name="Picture 3">
            <a:extLst>
              <a:ext uri="{FF2B5EF4-FFF2-40B4-BE49-F238E27FC236}">
                <a16:creationId xmlns:a16="http://schemas.microsoft.com/office/drawing/2014/main" id="{70546981-35EC-9335-DC41-7CAA0D8A3DE8}"/>
              </a:ext>
            </a:extLst>
          </p:cNvPr>
          <p:cNvPicPr>
            <a:picLocks noChangeAspect="1"/>
          </p:cNvPicPr>
          <p:nvPr/>
        </p:nvPicPr>
        <p:blipFill>
          <a:blip r:embed="rId3"/>
          <a:srcRect l="26559" t="24925" r="18172" b="7979"/>
          <a:stretch>
            <a:fillRect/>
          </a:stretch>
        </p:blipFill>
        <p:spPr>
          <a:xfrm>
            <a:off x="-34413" y="0"/>
            <a:ext cx="9212826" cy="6990278"/>
          </a:xfrm>
          <a:prstGeom prst="rect">
            <a:avLst/>
          </a:prstGeom>
        </p:spPr>
      </p:pic>
    </p:spTree>
    <p:extLst>
      <p:ext uri="{BB962C8B-B14F-4D97-AF65-F5344CB8AC3E}">
        <p14:creationId xmlns:p14="http://schemas.microsoft.com/office/powerpoint/2010/main" val="32097911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Modules</a:t>
            </a:r>
            <a:endParaRPr b="1" dirty="0">
              <a:latin typeface="Times New Roman" panose="02020603050405020304" pitchFamily="18" charset="0"/>
              <a:cs typeface="Times New Roman" panose="02020603050405020304" pitchFamily="18" charset="0"/>
            </a:endParaRPr>
          </a:p>
        </p:txBody>
      </p:sp>
      <p:sp>
        <p:nvSpPr>
          <p:cNvPr id="194" name="Google Shape;194;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571500" indent="-457200">
              <a:buFont typeface="+mj-lt"/>
              <a:buAutoNum type="arabicPeriod"/>
            </a:pPr>
            <a:r>
              <a:rPr lang="en-IN" sz="2400" b="1" dirty="0">
                <a:latin typeface="Times New Roman" panose="02020603050405020304" pitchFamily="18" charset="0"/>
                <a:cs typeface="Times New Roman" panose="02020603050405020304" pitchFamily="18" charset="0"/>
              </a:rPr>
              <a:t>MODULE 1 </a:t>
            </a:r>
            <a:r>
              <a:rPr lang="en-IN" sz="2400" dirty="0">
                <a:latin typeface="Times New Roman" panose="02020603050405020304" pitchFamily="18" charset="0"/>
                <a:cs typeface="Times New Roman" panose="02020603050405020304" pitchFamily="18" charset="0"/>
              </a:rPr>
              <a:t>— DATA ACQUISITION &amp; INTEGRATION</a:t>
            </a:r>
          </a:p>
          <a:p>
            <a:pPr marL="571500" indent="-457200">
              <a:buFont typeface="+mj-lt"/>
              <a:buAutoNum type="arabicPeriod"/>
            </a:pPr>
            <a:r>
              <a:rPr lang="en-IN" sz="2400" b="1" dirty="0">
                <a:latin typeface="Times New Roman" panose="02020603050405020304" pitchFamily="18" charset="0"/>
                <a:cs typeface="Times New Roman" panose="02020603050405020304" pitchFamily="18" charset="0"/>
              </a:rPr>
              <a:t>MODULE 2</a:t>
            </a:r>
            <a:r>
              <a:rPr lang="en-IN" sz="2400" dirty="0">
                <a:latin typeface="Times New Roman" panose="02020603050405020304" pitchFamily="18" charset="0"/>
                <a:cs typeface="Times New Roman" panose="02020603050405020304" pitchFamily="18" charset="0"/>
              </a:rPr>
              <a:t> — AIRCRAFT HEALTH &amp; FAILURE PREDICTION</a:t>
            </a:r>
          </a:p>
          <a:p>
            <a:pPr marL="571500" indent="-457200">
              <a:buFont typeface="+mj-lt"/>
              <a:buAutoNum type="arabicPeriod"/>
            </a:pPr>
            <a:r>
              <a:rPr lang="en-IN" sz="2400" b="1" dirty="0">
                <a:latin typeface="Times New Roman" panose="02020603050405020304" pitchFamily="18" charset="0"/>
                <a:cs typeface="Times New Roman" panose="02020603050405020304" pitchFamily="18" charset="0"/>
              </a:rPr>
              <a:t>MODULE 3</a:t>
            </a:r>
            <a:r>
              <a:rPr lang="en-IN" sz="2400" dirty="0">
                <a:latin typeface="Times New Roman" panose="02020603050405020304" pitchFamily="18" charset="0"/>
                <a:cs typeface="Times New Roman" panose="02020603050405020304" pitchFamily="18" charset="0"/>
              </a:rPr>
              <a:t> — EVIDENCE-DRIVEN INVESTIGATION</a:t>
            </a:r>
          </a:p>
          <a:p>
            <a:pPr marL="571500" indent="-457200">
              <a:buFont typeface="+mj-lt"/>
              <a:buAutoNum type="arabicPeriod"/>
            </a:pPr>
            <a:r>
              <a:rPr lang="en-IN" sz="2400" b="1" dirty="0">
                <a:latin typeface="Times New Roman" panose="02020603050405020304" pitchFamily="18" charset="0"/>
                <a:cs typeface="Times New Roman" panose="02020603050405020304" pitchFamily="18" charset="0"/>
              </a:rPr>
              <a:t>MODULE 4</a:t>
            </a:r>
            <a:r>
              <a:rPr lang="en-IN" sz="2400" dirty="0">
                <a:latin typeface="Times New Roman" panose="02020603050405020304" pitchFamily="18" charset="0"/>
                <a:cs typeface="Times New Roman" panose="02020603050405020304" pitchFamily="18" charset="0"/>
              </a:rPr>
              <a:t> — EVIDENCE FUSION &amp; EXPLAINABILITY</a:t>
            </a:r>
          </a:p>
          <a:p>
            <a:pPr marL="571500" indent="-457200">
              <a:buFont typeface="+mj-lt"/>
              <a:buAutoNum type="arabicPeriod"/>
            </a:pPr>
            <a:r>
              <a:rPr lang="en-IN" sz="2400" b="1" dirty="0">
                <a:latin typeface="Times New Roman" panose="02020603050405020304" pitchFamily="18" charset="0"/>
                <a:cs typeface="Times New Roman" panose="02020603050405020304" pitchFamily="18" charset="0"/>
              </a:rPr>
              <a:t>MODULE 5</a:t>
            </a:r>
            <a:r>
              <a:rPr lang="en-IN" sz="2400" dirty="0">
                <a:latin typeface="Times New Roman" panose="02020603050405020304" pitchFamily="18" charset="0"/>
                <a:cs typeface="Times New Roman" panose="02020603050405020304" pitchFamily="18" charset="0"/>
              </a:rPr>
              <a:t> — KNOWLEDGE-GUIDED RECOMMENDATION &amp; REPORTING</a:t>
            </a:r>
          </a:p>
          <a:p>
            <a:pPr marL="571500" indent="-457200">
              <a:buFont typeface="+mj-lt"/>
              <a:buAutoNum type="arabicPeriod"/>
            </a:pPr>
            <a:r>
              <a:rPr lang="en-IN" sz="2400" b="1" dirty="0">
                <a:latin typeface="Times New Roman" panose="02020603050405020304" pitchFamily="18" charset="0"/>
                <a:cs typeface="Times New Roman" panose="02020603050405020304" pitchFamily="18" charset="0"/>
              </a:rPr>
              <a:t>MODULE 6</a:t>
            </a:r>
            <a:r>
              <a:rPr lang="en-IN" sz="2400" dirty="0">
                <a:latin typeface="Times New Roman" panose="02020603050405020304" pitchFamily="18" charset="0"/>
                <a:cs typeface="Times New Roman" panose="02020603050405020304" pitchFamily="18" charset="0"/>
              </a:rPr>
              <a:t> — ENGINEER INTERACTION &amp; VISUALIZATION</a:t>
            </a:r>
          </a:p>
          <a:p>
            <a:pPr marL="114300" lvl="0" indent="0">
              <a:buNone/>
            </a:pPr>
            <a:endParaRPr sz="2400" dirty="0">
              <a:latin typeface="Times New Roman" panose="02020603050405020304" pitchFamily="18" charset="0"/>
              <a:cs typeface="Times New Roman" panose="02020603050405020304" pitchFamily="18" charset="0"/>
            </a:endParaRPr>
          </a:p>
        </p:txBody>
      </p:sp>
      <p:sp>
        <p:nvSpPr>
          <p:cNvPr id="196" name="Google Shape;196;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11/08/2026</a:t>
            </a:r>
            <a:endParaRPr dirty="0"/>
          </a:p>
        </p:txBody>
      </p:sp>
      <p:sp>
        <p:nvSpPr>
          <p:cNvPr id="197" name="Google Shape;197;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27</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3"/>
          <p:cNvSpPr txBox="1">
            <a:spLocks noGrp="1"/>
          </p:cNvSpPr>
          <p:nvPr>
            <p:ph type="title"/>
          </p:nvPr>
        </p:nvSpPr>
        <p:spPr>
          <a:xfrm>
            <a:off x="388374" y="24765"/>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Proposed-Module Description</a:t>
            </a:r>
            <a:endParaRPr b="1" dirty="0">
              <a:latin typeface="Times New Roman" panose="02020603050405020304" pitchFamily="18" charset="0"/>
              <a:cs typeface="Times New Roman" panose="02020603050405020304" pitchFamily="18" charset="0"/>
            </a:endParaRPr>
          </a:p>
        </p:txBody>
      </p:sp>
      <p:sp>
        <p:nvSpPr>
          <p:cNvPr id="203" name="Google Shape;203;p13"/>
          <p:cNvSpPr txBox="1">
            <a:spLocks noGrp="1"/>
          </p:cNvSpPr>
          <p:nvPr>
            <p:ph type="body" idx="1"/>
          </p:nvPr>
        </p:nvSpPr>
        <p:spPr>
          <a:xfrm>
            <a:off x="526026" y="1167765"/>
            <a:ext cx="8229600" cy="5056054"/>
          </a:xfrm>
          <a:prstGeom prst="rect">
            <a:avLst/>
          </a:prstGeom>
          <a:noFill/>
          <a:ln>
            <a:noFill/>
          </a:ln>
        </p:spPr>
        <p:txBody>
          <a:bodyPr spcFirstLastPara="1" wrap="square" lIns="91425" tIns="45700" rIns="91425" bIns="45700" anchor="t" anchorCtr="0">
            <a:normAutofit fontScale="97500"/>
          </a:bodyPr>
          <a:lstStyle/>
          <a:p>
            <a:pPr marL="114300" indent="0">
              <a:buNone/>
            </a:pPr>
            <a:r>
              <a:rPr lang="en-IN" sz="1800" b="1" dirty="0">
                <a:latin typeface="Times New Roman" panose="02020603050405020304" pitchFamily="18" charset="0"/>
                <a:cs typeface="Times New Roman" panose="02020603050405020304" pitchFamily="18" charset="0"/>
              </a:rPr>
              <a:t>MODULE 1 — DATA ACQUISITION &amp; INTEGRATION</a:t>
            </a:r>
          </a:p>
          <a:p>
            <a:pPr marL="114300" indent="0">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Collect and unify aircraft information from multiple sources.</a:t>
            </a:r>
          </a:p>
          <a:p>
            <a:pPr lvl="0"/>
            <a:r>
              <a:rPr lang="en-IN" sz="1800" dirty="0">
                <a:latin typeface="Times New Roman" panose="02020603050405020304" pitchFamily="18" charset="0"/>
                <a:cs typeface="Times New Roman" panose="02020603050405020304" pitchFamily="18" charset="0"/>
              </a:rPr>
              <a:t>Aircraft sensor and operational data </a:t>
            </a:r>
          </a:p>
          <a:p>
            <a:pPr lvl="0"/>
            <a:r>
              <a:rPr lang="en-IN" sz="1800" dirty="0">
                <a:latin typeface="Times New Roman" panose="02020603050405020304" pitchFamily="18" charset="0"/>
                <a:cs typeface="Times New Roman" panose="02020603050405020304" pitchFamily="18" charset="0"/>
              </a:rPr>
              <a:t>Maintenance and failure records </a:t>
            </a:r>
          </a:p>
          <a:p>
            <a:pPr lvl="0"/>
            <a:r>
              <a:rPr lang="en-IN" sz="1800" dirty="0">
                <a:latin typeface="Times New Roman" panose="02020603050405020304" pitchFamily="18" charset="0"/>
                <a:cs typeface="Times New Roman" panose="02020603050405020304" pitchFamily="18" charset="0"/>
              </a:rPr>
              <a:t>Historical flight information </a:t>
            </a:r>
          </a:p>
          <a:p>
            <a:pPr lvl="0"/>
            <a:r>
              <a:rPr lang="en-IN" sz="1800" dirty="0">
                <a:latin typeface="Times New Roman" panose="02020603050405020304" pitchFamily="18" charset="0"/>
                <a:cs typeface="Times New Roman" panose="02020603050405020304" pitchFamily="18" charset="0"/>
              </a:rPr>
              <a:t>Technical and maintenance documents </a:t>
            </a:r>
          </a:p>
          <a:p>
            <a:pPr marL="114300" lvl="0" indent="0">
              <a:buNone/>
            </a:pPr>
            <a:r>
              <a:rPr lang="en-IN" sz="1800" b="1" dirty="0">
                <a:latin typeface="Times New Roman" panose="02020603050405020304" pitchFamily="18" charset="0"/>
                <a:cs typeface="Times New Roman" panose="02020603050405020304" pitchFamily="18" charset="0"/>
              </a:rPr>
              <a:t>Output:</a:t>
            </a:r>
            <a:r>
              <a:rPr lang="en-IN" sz="1800" dirty="0">
                <a:latin typeface="Times New Roman" panose="02020603050405020304" pitchFamily="18" charset="0"/>
                <a:cs typeface="Times New Roman" panose="02020603050405020304" pitchFamily="18" charset="0"/>
              </a:rPr>
              <a:t> A unified aircraft data repository for analysis.</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pPr marL="114300" indent="0">
              <a:buNone/>
            </a:pPr>
            <a:r>
              <a:rPr lang="en-IN" sz="1800" b="1" dirty="0">
                <a:latin typeface="Times New Roman" panose="02020603050405020304" pitchFamily="18" charset="0"/>
                <a:cs typeface="Times New Roman" panose="02020603050405020304" pitchFamily="18" charset="0"/>
              </a:rPr>
              <a:t>MODULE 2 — AIRCRAFT HEALTH &amp; FAILURE PREDICTION</a:t>
            </a:r>
          </a:p>
          <a:p>
            <a:pPr marL="114300" indent="0">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Detect degradation and predict potential component failures.</a:t>
            </a:r>
          </a:p>
          <a:p>
            <a:pPr lvl="0"/>
            <a:r>
              <a:rPr lang="en-IN" sz="1800" dirty="0" err="1">
                <a:latin typeface="Times New Roman" panose="02020603050405020304" pitchFamily="18" charset="0"/>
                <a:cs typeface="Times New Roman" panose="02020603050405020304" pitchFamily="18" charset="0"/>
              </a:rPr>
              <a:t>Analyze</a:t>
            </a:r>
            <a:r>
              <a:rPr lang="en-IN" sz="1800" dirty="0">
                <a:latin typeface="Times New Roman" panose="02020603050405020304" pitchFamily="18" charset="0"/>
                <a:cs typeface="Times New Roman" panose="02020603050405020304" pitchFamily="18" charset="0"/>
              </a:rPr>
              <a:t> time-series sensor patterns </a:t>
            </a:r>
          </a:p>
          <a:p>
            <a:pPr lvl="0"/>
            <a:r>
              <a:rPr lang="en-IN" sz="1800" dirty="0">
                <a:latin typeface="Times New Roman" panose="02020603050405020304" pitchFamily="18" charset="0"/>
                <a:cs typeface="Times New Roman" panose="02020603050405020304" pitchFamily="18" charset="0"/>
              </a:rPr>
              <a:t>Detect abnormal aircraft behaviour </a:t>
            </a:r>
          </a:p>
          <a:p>
            <a:pPr lvl="0"/>
            <a:r>
              <a:rPr lang="en-IN" sz="1800" dirty="0">
                <a:latin typeface="Times New Roman" panose="02020603050405020304" pitchFamily="18" charset="0"/>
                <a:cs typeface="Times New Roman" panose="02020603050405020304" pitchFamily="18" charset="0"/>
              </a:rPr>
              <a:t>Estimate component failure probability </a:t>
            </a:r>
          </a:p>
          <a:p>
            <a:pPr lvl="0"/>
            <a:r>
              <a:rPr lang="en-IN" sz="1800" dirty="0">
                <a:latin typeface="Times New Roman" panose="02020603050405020304" pitchFamily="18" charset="0"/>
                <a:cs typeface="Times New Roman" panose="02020603050405020304" pitchFamily="18" charset="0"/>
              </a:rPr>
              <a:t>Predict Remaining Useful Life (RUL) </a:t>
            </a:r>
          </a:p>
          <a:p>
            <a:pPr marL="114300" indent="0">
              <a:buNone/>
            </a:pPr>
            <a:r>
              <a:rPr lang="en-IN" sz="1800" b="1" dirty="0">
                <a:latin typeface="Times New Roman" panose="02020603050405020304" pitchFamily="18" charset="0"/>
                <a:cs typeface="Times New Roman" panose="02020603050405020304" pitchFamily="18" charset="0"/>
              </a:rPr>
              <a:t>Output:</a:t>
            </a:r>
            <a:r>
              <a:rPr lang="en-IN" sz="1800" dirty="0">
                <a:latin typeface="Times New Roman" panose="02020603050405020304" pitchFamily="18" charset="0"/>
                <a:cs typeface="Times New Roman" panose="02020603050405020304" pitchFamily="18" charset="0"/>
              </a:rPr>
              <a:t> Predicted failure, risk level and estimated time to failure.</a:t>
            </a:r>
          </a:p>
          <a:p>
            <a:pPr marL="114300" lvl="0" indent="0" algn="just">
              <a:buSzPct val="100000"/>
              <a:buNone/>
            </a:pPr>
            <a:endParaRPr lang="en-US" sz="1800" dirty="0">
              <a:latin typeface="Times New Roman" panose="02020603050405020304" pitchFamily="18" charset="0"/>
              <a:ea typeface="Times New Roman"/>
              <a:cs typeface="Times New Roman" panose="02020603050405020304" pitchFamily="18" charset="0"/>
              <a:sym typeface="Times New Roman"/>
            </a:endParaRPr>
          </a:p>
        </p:txBody>
      </p:sp>
      <p:sp>
        <p:nvSpPr>
          <p:cNvPr id="205" name="Google Shape;205;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11/08/2026</a:t>
            </a:r>
            <a:endParaRPr dirty="0"/>
          </a:p>
        </p:txBody>
      </p:sp>
      <p:sp>
        <p:nvSpPr>
          <p:cNvPr id="206" name="Google Shape;206;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28</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A1860253-5E18-2B56-DCF6-0AC1DDB0D51A}"/>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2E010CC9-EE33-B376-5014-B82F6E876C93}"/>
              </a:ext>
            </a:extLst>
          </p:cNvPr>
          <p:cNvSpPr txBox="1">
            <a:spLocks noGrp="1"/>
          </p:cNvSpPr>
          <p:nvPr>
            <p:ph type="title"/>
          </p:nvPr>
        </p:nvSpPr>
        <p:spPr>
          <a:xfrm>
            <a:off x="388374" y="24765"/>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Proposed-Module Description</a:t>
            </a:r>
            <a:endParaRPr b="1" dirty="0">
              <a:latin typeface="Times New Roman" panose="02020603050405020304" pitchFamily="18" charset="0"/>
              <a:cs typeface="Times New Roman" panose="02020603050405020304" pitchFamily="18" charset="0"/>
            </a:endParaRPr>
          </a:p>
        </p:txBody>
      </p:sp>
      <p:sp>
        <p:nvSpPr>
          <p:cNvPr id="203" name="Google Shape;203;p13">
            <a:extLst>
              <a:ext uri="{FF2B5EF4-FFF2-40B4-BE49-F238E27FC236}">
                <a16:creationId xmlns:a16="http://schemas.microsoft.com/office/drawing/2014/main" id="{0082D201-0FEE-6D33-1B1F-33FB9BFEE07F}"/>
              </a:ext>
            </a:extLst>
          </p:cNvPr>
          <p:cNvSpPr txBox="1">
            <a:spLocks noGrp="1"/>
          </p:cNvSpPr>
          <p:nvPr>
            <p:ph type="body" idx="1"/>
          </p:nvPr>
        </p:nvSpPr>
        <p:spPr>
          <a:xfrm>
            <a:off x="526026" y="1167764"/>
            <a:ext cx="8229600" cy="5188585"/>
          </a:xfrm>
          <a:prstGeom prst="rect">
            <a:avLst/>
          </a:prstGeom>
          <a:noFill/>
          <a:ln>
            <a:noFill/>
          </a:ln>
        </p:spPr>
        <p:txBody>
          <a:bodyPr spcFirstLastPara="1" wrap="square" lIns="91425" tIns="45700" rIns="91425" bIns="45700" anchor="t" anchorCtr="0">
            <a:normAutofit fontScale="97500" lnSpcReduction="10000"/>
          </a:bodyPr>
          <a:lstStyle/>
          <a:p>
            <a:pPr marL="114300" indent="0">
              <a:buNone/>
            </a:pPr>
            <a:r>
              <a:rPr lang="en-IN" sz="1800" b="1" dirty="0">
                <a:latin typeface="Times New Roman" panose="02020603050405020304" pitchFamily="18" charset="0"/>
                <a:cs typeface="Times New Roman" panose="02020603050405020304" pitchFamily="18" charset="0"/>
              </a:rPr>
              <a:t>MODULE 3 — EVIDENCE-DRIVEN INVESTIGATION</a:t>
            </a:r>
          </a:p>
          <a:p>
            <a:pPr marL="114300" indent="0">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Identify the likely root cause behind a predicted failure.</a:t>
            </a:r>
          </a:p>
          <a:p>
            <a:pPr lvl="0"/>
            <a:r>
              <a:rPr lang="en-IN" sz="1800" dirty="0" err="1">
                <a:latin typeface="Times New Roman" panose="02020603050405020304" pitchFamily="18" charset="0"/>
                <a:cs typeface="Times New Roman" panose="02020603050405020304" pitchFamily="18" charset="0"/>
              </a:rPr>
              <a:t>Analyze</a:t>
            </a:r>
            <a:r>
              <a:rPr lang="en-IN" sz="1800" dirty="0">
                <a:latin typeface="Times New Roman" panose="02020603050405020304" pitchFamily="18" charset="0"/>
                <a:cs typeface="Times New Roman" panose="02020603050405020304" pitchFamily="18" charset="0"/>
              </a:rPr>
              <a:t> sensor and operational patterns</a:t>
            </a:r>
          </a:p>
          <a:p>
            <a:pPr lvl="0"/>
            <a:r>
              <a:rPr lang="en-IN" sz="1800" dirty="0">
                <a:latin typeface="Times New Roman" panose="02020603050405020304" pitchFamily="18" charset="0"/>
                <a:cs typeface="Times New Roman" panose="02020603050405020304" pitchFamily="18" charset="0"/>
              </a:rPr>
              <a:t>Examine maintenance history</a:t>
            </a:r>
          </a:p>
          <a:p>
            <a:pPr lvl="0"/>
            <a:r>
              <a:rPr lang="en-IN" sz="1800" dirty="0">
                <a:latin typeface="Times New Roman" panose="02020603050405020304" pitchFamily="18" charset="0"/>
                <a:cs typeface="Times New Roman" panose="02020603050405020304" pitchFamily="18" charset="0"/>
              </a:rPr>
              <a:t>Connect related components and events</a:t>
            </a:r>
          </a:p>
          <a:p>
            <a:pPr lvl="0"/>
            <a:r>
              <a:rPr lang="en-IN" sz="1800" dirty="0">
                <a:latin typeface="Times New Roman" panose="02020603050405020304" pitchFamily="18" charset="0"/>
                <a:cs typeface="Times New Roman" panose="02020603050405020304" pitchFamily="18" charset="0"/>
              </a:rPr>
              <a:t>Trace causal relationships</a:t>
            </a:r>
          </a:p>
          <a:p>
            <a:pPr lvl="0"/>
            <a:r>
              <a:rPr lang="en-IN" sz="1800" dirty="0">
                <a:latin typeface="Times New Roman" panose="02020603050405020304" pitchFamily="18" charset="0"/>
                <a:cs typeface="Times New Roman" panose="02020603050405020304" pitchFamily="18" charset="0"/>
              </a:rPr>
              <a:t>Compare with historical failure cases</a:t>
            </a:r>
          </a:p>
          <a:p>
            <a:pPr marL="114300" indent="0">
              <a:buNone/>
            </a:pPr>
            <a:r>
              <a:rPr lang="en-IN" sz="1800" b="1" dirty="0">
                <a:latin typeface="Times New Roman" panose="02020603050405020304" pitchFamily="18" charset="0"/>
                <a:cs typeface="Times New Roman" panose="02020603050405020304" pitchFamily="18" charset="0"/>
              </a:rPr>
              <a:t>Output:</a:t>
            </a:r>
            <a:r>
              <a:rPr lang="en-IN" sz="1800" dirty="0">
                <a:latin typeface="Times New Roman" panose="02020603050405020304" pitchFamily="18" charset="0"/>
                <a:cs typeface="Times New Roman" panose="02020603050405020304" pitchFamily="18" charset="0"/>
              </a:rPr>
              <a:t> Likely root cause with supporting evidence.</a:t>
            </a:r>
          </a:p>
          <a:p>
            <a:pPr marL="114300" indent="0">
              <a:buNone/>
            </a:pPr>
            <a:endParaRPr lang="en-IN" sz="1800" dirty="0">
              <a:latin typeface="Times New Roman" panose="02020603050405020304" pitchFamily="18" charset="0"/>
              <a:cs typeface="Times New Roman" panose="02020603050405020304" pitchFamily="18" charset="0"/>
            </a:endParaRPr>
          </a:p>
          <a:p>
            <a:pPr marL="114300" indent="0">
              <a:buNone/>
            </a:pPr>
            <a:r>
              <a:rPr lang="en-IN" sz="1800" b="1" dirty="0">
                <a:latin typeface="Times New Roman" panose="02020603050405020304" pitchFamily="18" charset="0"/>
                <a:cs typeface="Times New Roman" panose="02020603050405020304" pitchFamily="18" charset="0"/>
              </a:rPr>
              <a:t>MODULE 4 — EVIDENCE FUSION &amp; EXPLAINABILITY</a:t>
            </a:r>
          </a:p>
          <a:p>
            <a:pPr marL="114300" indent="0">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Combine evidence from different sources and make the prediction understandable.</a:t>
            </a:r>
          </a:p>
          <a:p>
            <a:pPr lvl="0"/>
            <a:r>
              <a:rPr lang="en-IN" sz="1800" dirty="0">
                <a:latin typeface="Times New Roman" panose="02020603050405020304" pitchFamily="18" charset="0"/>
                <a:cs typeface="Times New Roman" panose="02020603050405020304" pitchFamily="18" charset="0"/>
              </a:rPr>
              <a:t>Fuse multi-source evidence</a:t>
            </a:r>
          </a:p>
          <a:p>
            <a:pPr lvl="0"/>
            <a:r>
              <a:rPr lang="en-IN" sz="1800" dirty="0">
                <a:latin typeface="Times New Roman" panose="02020603050405020304" pitchFamily="18" charset="0"/>
                <a:cs typeface="Times New Roman" panose="02020603050405020304" pitchFamily="18" charset="0"/>
              </a:rPr>
              <a:t>Rank important contributing factors</a:t>
            </a:r>
          </a:p>
          <a:p>
            <a:pPr lvl="0"/>
            <a:r>
              <a:rPr lang="en-IN" sz="1800" dirty="0">
                <a:latin typeface="Times New Roman" panose="02020603050405020304" pitchFamily="18" charset="0"/>
                <a:cs typeface="Times New Roman" panose="02020603050405020304" pitchFamily="18" charset="0"/>
              </a:rPr>
              <a:t>Explain model predictions using SHAP</a:t>
            </a:r>
          </a:p>
          <a:p>
            <a:pPr lvl="0"/>
            <a:r>
              <a:rPr lang="en-IN" sz="1800" dirty="0">
                <a:latin typeface="Times New Roman" panose="02020603050405020304" pitchFamily="18" charset="0"/>
                <a:cs typeface="Times New Roman" panose="02020603050405020304" pitchFamily="18" charset="0"/>
              </a:rPr>
              <a:t>Assign confidence to the investigation result</a:t>
            </a:r>
          </a:p>
          <a:p>
            <a:pPr marL="114300" indent="0">
              <a:buNone/>
            </a:pPr>
            <a:r>
              <a:rPr lang="en-IN" sz="1800" b="1" dirty="0">
                <a:latin typeface="Times New Roman" panose="02020603050405020304" pitchFamily="18" charset="0"/>
                <a:cs typeface="Times New Roman" panose="02020603050405020304" pitchFamily="18" charset="0"/>
              </a:rPr>
              <a:t>Output:</a:t>
            </a:r>
            <a:r>
              <a:rPr lang="en-IN" sz="1800" dirty="0">
                <a:latin typeface="Times New Roman" panose="02020603050405020304" pitchFamily="18" charset="0"/>
                <a:cs typeface="Times New Roman" panose="02020603050405020304" pitchFamily="18" charset="0"/>
              </a:rPr>
              <a:t> Evidence-backed root cause with confidence and feature contributions.</a:t>
            </a:r>
          </a:p>
          <a:p>
            <a:pPr marL="114300" lvl="0" indent="0" algn="just">
              <a:buSzPct val="100000"/>
              <a:buNone/>
            </a:pPr>
            <a:endParaRPr lang="en-US" sz="1800" dirty="0">
              <a:latin typeface="Times New Roman" panose="02020603050405020304" pitchFamily="18" charset="0"/>
              <a:ea typeface="Times New Roman"/>
              <a:cs typeface="Times New Roman" panose="02020603050405020304" pitchFamily="18" charset="0"/>
              <a:sym typeface="Times New Roman"/>
            </a:endParaRPr>
          </a:p>
        </p:txBody>
      </p:sp>
      <p:sp>
        <p:nvSpPr>
          <p:cNvPr id="205" name="Google Shape;205;p13">
            <a:extLst>
              <a:ext uri="{FF2B5EF4-FFF2-40B4-BE49-F238E27FC236}">
                <a16:creationId xmlns:a16="http://schemas.microsoft.com/office/drawing/2014/main" id="{D005EE35-92CF-4246-C63E-72160025643C}"/>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11/08/2026</a:t>
            </a:r>
            <a:endParaRPr dirty="0"/>
          </a:p>
        </p:txBody>
      </p:sp>
      <p:sp>
        <p:nvSpPr>
          <p:cNvPr id="206" name="Google Shape;206;p13">
            <a:extLst>
              <a:ext uri="{FF2B5EF4-FFF2-40B4-BE49-F238E27FC236}">
                <a16:creationId xmlns:a16="http://schemas.microsoft.com/office/drawing/2014/main" id="{CEED4140-08F3-D369-C418-75EBE54F5965}"/>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29</a:t>
            </a:fld>
            <a:endParaRPr/>
          </a:p>
        </p:txBody>
      </p:sp>
      <p:sp>
        <p:nvSpPr>
          <p:cNvPr id="2" name="Footer Placeholder 1">
            <a:extLst>
              <a:ext uri="{FF2B5EF4-FFF2-40B4-BE49-F238E27FC236}">
                <a16:creationId xmlns:a16="http://schemas.microsoft.com/office/drawing/2014/main" id="{68745F74-5CAF-EA50-17F0-BD5A397811C7}"/>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extLst>
      <p:ext uri="{BB962C8B-B14F-4D97-AF65-F5344CB8AC3E}">
        <p14:creationId xmlns:p14="http://schemas.microsoft.com/office/powerpoint/2010/main" val="31992524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8252B06E-A136-04E2-B88E-C2B004329522}"/>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66691F22-8DDF-4699-CF86-FA2C41CC1213}"/>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Proposed-Module Description</a:t>
            </a:r>
            <a:endParaRPr b="1" dirty="0">
              <a:latin typeface="Times New Roman" panose="02020603050405020304" pitchFamily="18" charset="0"/>
              <a:cs typeface="Times New Roman" panose="02020603050405020304" pitchFamily="18" charset="0"/>
            </a:endParaRPr>
          </a:p>
        </p:txBody>
      </p:sp>
      <p:sp>
        <p:nvSpPr>
          <p:cNvPr id="203" name="Google Shape;203;p13">
            <a:extLst>
              <a:ext uri="{FF2B5EF4-FFF2-40B4-BE49-F238E27FC236}">
                <a16:creationId xmlns:a16="http://schemas.microsoft.com/office/drawing/2014/main" id="{3C87BD1B-0E93-4234-D5F6-65FA982F7C18}"/>
              </a:ext>
            </a:extLst>
          </p:cNvPr>
          <p:cNvSpPr txBox="1">
            <a:spLocks noGrp="1"/>
          </p:cNvSpPr>
          <p:nvPr>
            <p:ph type="body" idx="1"/>
          </p:nvPr>
        </p:nvSpPr>
        <p:spPr>
          <a:xfrm>
            <a:off x="526026" y="1012723"/>
            <a:ext cx="8229600" cy="5456903"/>
          </a:xfrm>
          <a:prstGeom prst="rect">
            <a:avLst/>
          </a:prstGeom>
          <a:noFill/>
          <a:ln>
            <a:noFill/>
          </a:ln>
        </p:spPr>
        <p:txBody>
          <a:bodyPr spcFirstLastPara="1" wrap="square" lIns="91425" tIns="45700" rIns="91425" bIns="45700" anchor="t" anchorCtr="0">
            <a:normAutofit fontScale="90000"/>
          </a:bodyPr>
          <a:lstStyle/>
          <a:p>
            <a:pPr marL="114300" indent="0">
              <a:buNone/>
            </a:pPr>
            <a:r>
              <a:rPr lang="en-IN" sz="1800" b="1" dirty="0">
                <a:latin typeface="Times New Roman" panose="02020603050405020304" pitchFamily="18" charset="0"/>
                <a:cs typeface="Times New Roman" panose="02020603050405020304" pitchFamily="18" charset="0"/>
              </a:rPr>
              <a:t>MODULE 5 — KNOWLEDGE-GUIDED RECOMMENDATION &amp; REPORTING</a:t>
            </a:r>
          </a:p>
          <a:p>
            <a:pPr marL="114300" indent="0">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Convert investigation results into actionable maintenance guidance.</a:t>
            </a:r>
          </a:p>
          <a:p>
            <a:pPr lvl="0"/>
            <a:r>
              <a:rPr lang="en-IN" sz="1800" dirty="0">
                <a:latin typeface="Times New Roman" panose="02020603050405020304" pitchFamily="18" charset="0"/>
                <a:cs typeface="Times New Roman" panose="02020603050405020304" pitchFamily="18" charset="0"/>
              </a:rPr>
              <a:t>Retrieve relevant maintenance information using RAG</a:t>
            </a:r>
          </a:p>
          <a:p>
            <a:pPr lvl="0"/>
            <a:r>
              <a:rPr lang="en-IN" sz="1800" dirty="0">
                <a:latin typeface="Times New Roman" panose="02020603050405020304" pitchFamily="18" charset="0"/>
                <a:cs typeface="Times New Roman" panose="02020603050405020304" pitchFamily="18" charset="0"/>
              </a:rPr>
              <a:t>Generate evidence-based explanations using LLM</a:t>
            </a:r>
          </a:p>
          <a:p>
            <a:pPr lvl="0"/>
            <a:r>
              <a:rPr lang="en-IN" sz="1800" dirty="0">
                <a:latin typeface="Times New Roman" panose="02020603050405020304" pitchFamily="18" charset="0"/>
                <a:cs typeface="Times New Roman" panose="02020603050405020304" pitchFamily="18" charset="0"/>
              </a:rPr>
              <a:t>Suggest appropriate maintenance actions</a:t>
            </a:r>
          </a:p>
          <a:p>
            <a:pPr lvl="0"/>
            <a:r>
              <a:rPr lang="en-IN" sz="1800" dirty="0">
                <a:latin typeface="Times New Roman" panose="02020603050405020304" pitchFamily="18" charset="0"/>
                <a:cs typeface="Times New Roman" panose="02020603050405020304" pitchFamily="18" charset="0"/>
              </a:rPr>
              <a:t>Generate an investigation report</a:t>
            </a:r>
          </a:p>
          <a:p>
            <a:pPr lvl="0"/>
            <a:r>
              <a:rPr lang="en-IN" sz="1800" dirty="0">
                <a:latin typeface="Times New Roman" panose="02020603050405020304" pitchFamily="18" charset="0"/>
                <a:cs typeface="Times New Roman" panose="02020603050405020304" pitchFamily="18" charset="0"/>
              </a:rPr>
              <a:t>Provide supporting references from technical documents</a:t>
            </a:r>
          </a:p>
          <a:p>
            <a:pPr marL="114300" indent="0">
              <a:buNone/>
            </a:pPr>
            <a:r>
              <a:rPr lang="en-IN" sz="1800" b="1" dirty="0">
                <a:latin typeface="Times New Roman" panose="02020603050405020304" pitchFamily="18" charset="0"/>
                <a:cs typeface="Times New Roman" panose="02020603050405020304" pitchFamily="18" charset="0"/>
              </a:rPr>
              <a:t>Output:</a:t>
            </a:r>
            <a:r>
              <a:rPr lang="en-IN" sz="1800" dirty="0">
                <a:latin typeface="Times New Roman" panose="02020603050405020304" pitchFamily="18" charset="0"/>
                <a:cs typeface="Times New Roman" panose="02020603050405020304" pitchFamily="18" charset="0"/>
              </a:rPr>
              <a:t> Explainable maintenance recommendation and investigation report.</a:t>
            </a:r>
          </a:p>
          <a:p>
            <a:pPr marL="114300" indent="0">
              <a:buNone/>
            </a:pPr>
            <a:endParaRPr lang="en-IN" sz="1800" b="1" dirty="0">
              <a:latin typeface="Times New Roman" panose="02020603050405020304" pitchFamily="18" charset="0"/>
              <a:cs typeface="Times New Roman" panose="02020603050405020304" pitchFamily="18" charset="0"/>
            </a:endParaRPr>
          </a:p>
          <a:p>
            <a:pPr marL="114300" indent="0">
              <a:buNone/>
            </a:pPr>
            <a:r>
              <a:rPr lang="en-IN" sz="1800" b="1" dirty="0">
                <a:latin typeface="Times New Roman" panose="02020603050405020304" pitchFamily="18" charset="0"/>
                <a:cs typeface="Times New Roman" panose="02020603050405020304" pitchFamily="18" charset="0"/>
              </a:rPr>
              <a:t>MODULE 6 — ENGINEER INTERACTION &amp; VISUALIZATION</a:t>
            </a:r>
          </a:p>
          <a:p>
            <a:pPr marL="114300" indent="0">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Provide engineers with a clear interface to monitor aircraft health and investigate potential failures.</a:t>
            </a:r>
          </a:p>
          <a:p>
            <a:pPr lvl="0"/>
            <a:r>
              <a:rPr lang="en-IN" sz="1800" dirty="0">
                <a:latin typeface="Times New Roman" panose="02020603050405020304" pitchFamily="18" charset="0"/>
                <a:cs typeface="Times New Roman" panose="02020603050405020304" pitchFamily="18" charset="0"/>
              </a:rPr>
              <a:t>View aircraft and component health status</a:t>
            </a:r>
          </a:p>
          <a:p>
            <a:pPr lvl="0"/>
            <a:r>
              <a:rPr lang="en-IN" sz="1800" dirty="0">
                <a:latin typeface="Times New Roman" panose="02020603050405020304" pitchFamily="18" charset="0"/>
                <a:cs typeface="Times New Roman" panose="02020603050405020304" pitchFamily="18" charset="0"/>
              </a:rPr>
              <a:t>Display failure predictions and RUL</a:t>
            </a:r>
          </a:p>
          <a:p>
            <a:pPr lvl="0"/>
            <a:r>
              <a:rPr lang="en-IN" sz="1800" dirty="0">
                <a:latin typeface="Times New Roman" panose="02020603050405020304" pitchFamily="18" charset="0"/>
                <a:cs typeface="Times New Roman" panose="02020603050405020304" pitchFamily="18" charset="0"/>
              </a:rPr>
              <a:t>Visualize root causes and supporting evidence</a:t>
            </a:r>
          </a:p>
          <a:p>
            <a:pPr lvl="0"/>
            <a:r>
              <a:rPr lang="en-IN" sz="1800" dirty="0">
                <a:latin typeface="Times New Roman" panose="02020603050405020304" pitchFamily="18" charset="0"/>
                <a:cs typeface="Times New Roman" panose="02020603050405020304" pitchFamily="18" charset="0"/>
              </a:rPr>
              <a:t>View maintenance recommendations</a:t>
            </a:r>
          </a:p>
          <a:p>
            <a:pPr lvl="0"/>
            <a:r>
              <a:rPr lang="en-IN" sz="1800" dirty="0">
                <a:latin typeface="Times New Roman" panose="02020603050405020304" pitchFamily="18" charset="0"/>
                <a:cs typeface="Times New Roman" panose="02020603050405020304" pitchFamily="18" charset="0"/>
              </a:rPr>
              <a:t>Access generated investigation reports</a:t>
            </a:r>
          </a:p>
          <a:p>
            <a:pPr marL="114300" indent="0">
              <a:buNone/>
            </a:pPr>
            <a:r>
              <a:rPr lang="en-IN" sz="1800" b="1" dirty="0">
                <a:latin typeface="Times New Roman" panose="02020603050405020304" pitchFamily="18" charset="0"/>
                <a:cs typeface="Times New Roman" panose="02020603050405020304" pitchFamily="18" charset="0"/>
              </a:rPr>
              <a:t>Output:</a:t>
            </a:r>
            <a:r>
              <a:rPr lang="en-IN" sz="1800" dirty="0">
                <a:latin typeface="Times New Roman" panose="02020603050405020304" pitchFamily="18" charset="0"/>
                <a:cs typeface="Times New Roman" panose="02020603050405020304" pitchFamily="18" charset="0"/>
              </a:rPr>
              <a:t> An interactive dashboard for aircraft investigation and maintenance decision-making.</a:t>
            </a:r>
          </a:p>
          <a:p>
            <a:pPr marL="114300" lvl="0" indent="0" algn="just">
              <a:buSzPct val="100000"/>
              <a:buNone/>
            </a:pPr>
            <a:endParaRPr lang="en-US" sz="1800" dirty="0">
              <a:latin typeface="Times New Roman" panose="02020603050405020304" pitchFamily="18" charset="0"/>
              <a:ea typeface="Times New Roman"/>
              <a:cs typeface="Times New Roman" panose="02020603050405020304" pitchFamily="18" charset="0"/>
              <a:sym typeface="Times New Roman"/>
            </a:endParaRPr>
          </a:p>
        </p:txBody>
      </p:sp>
      <p:sp>
        <p:nvSpPr>
          <p:cNvPr id="205" name="Google Shape;205;p13">
            <a:extLst>
              <a:ext uri="{FF2B5EF4-FFF2-40B4-BE49-F238E27FC236}">
                <a16:creationId xmlns:a16="http://schemas.microsoft.com/office/drawing/2014/main" id="{D2878D36-4CBA-FE00-0AC9-31507DF3741B}"/>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11/08/2026</a:t>
            </a:r>
            <a:endParaRPr dirty="0"/>
          </a:p>
        </p:txBody>
      </p:sp>
      <p:sp>
        <p:nvSpPr>
          <p:cNvPr id="206" name="Google Shape;206;p13">
            <a:extLst>
              <a:ext uri="{FF2B5EF4-FFF2-40B4-BE49-F238E27FC236}">
                <a16:creationId xmlns:a16="http://schemas.microsoft.com/office/drawing/2014/main" id="{30354401-60D1-12AE-952B-A30A85337C56}"/>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30</a:t>
            </a:fld>
            <a:endParaRPr/>
          </a:p>
        </p:txBody>
      </p:sp>
      <p:sp>
        <p:nvSpPr>
          <p:cNvPr id="2" name="Footer Placeholder 1">
            <a:extLst>
              <a:ext uri="{FF2B5EF4-FFF2-40B4-BE49-F238E27FC236}">
                <a16:creationId xmlns:a16="http://schemas.microsoft.com/office/drawing/2014/main" id="{70C8EBA3-0444-613F-983F-CDD90DB44084}"/>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extLst>
      <p:ext uri="{BB962C8B-B14F-4D97-AF65-F5344CB8AC3E}">
        <p14:creationId xmlns:p14="http://schemas.microsoft.com/office/powerpoint/2010/main" val="1408016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D5ADB18C-478F-615C-F572-5033830648D0}"/>
            </a:ext>
          </a:extLst>
        </p:cNvPr>
        <p:cNvGrpSpPr/>
        <p:nvPr/>
      </p:nvGrpSpPr>
      <p:grpSpPr>
        <a:xfrm>
          <a:off x="0" y="0"/>
          <a:ext cx="0" cy="0"/>
          <a:chOff x="0" y="0"/>
          <a:chExt cx="0" cy="0"/>
        </a:xfrm>
      </p:grpSpPr>
      <p:sp>
        <p:nvSpPr>
          <p:cNvPr id="94" name="Google Shape;94;p1">
            <a:extLst>
              <a:ext uri="{FF2B5EF4-FFF2-40B4-BE49-F238E27FC236}">
                <a16:creationId xmlns:a16="http://schemas.microsoft.com/office/drawing/2014/main" id="{059C9F17-E7EF-F659-E6B1-FECF4AF86518}"/>
              </a:ext>
            </a:extLst>
          </p:cNvPr>
          <p:cNvSpPr txBox="1">
            <a:spLocks noGrp="1"/>
          </p:cNvSpPr>
          <p:nvPr>
            <p:ph type="ctrTitle"/>
          </p:nvPr>
        </p:nvSpPr>
        <p:spPr>
          <a:xfrm>
            <a:off x="645160" y="373380"/>
            <a:ext cx="7219950" cy="13303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000"/>
              <a:buFont typeface="Times New Roman"/>
              <a:buNone/>
            </a:pPr>
            <a:r>
              <a:rPr lang="en-US" sz="2200" b="1">
                <a:latin typeface="Times New Roman"/>
                <a:ea typeface="Times New Roman"/>
                <a:cs typeface="Times New Roman"/>
                <a:sym typeface="Times New Roman"/>
              </a:rPr>
              <a:t>S.A. ENGINEERING COLLEGE- CHENNAI-77</a:t>
            </a:r>
            <a:br>
              <a:rPr lang="en-US" sz="2200" b="1">
                <a:latin typeface="Times New Roman"/>
                <a:ea typeface="Times New Roman"/>
                <a:cs typeface="Times New Roman"/>
                <a:sym typeface="Times New Roman"/>
              </a:rPr>
            </a:br>
            <a:r>
              <a:rPr lang="en-US" sz="1600" b="1">
                <a:latin typeface="Times New Roman"/>
                <a:ea typeface="Times New Roman"/>
                <a:cs typeface="Times New Roman"/>
                <a:sym typeface="Times New Roman"/>
              </a:rPr>
              <a:t>(Autonomous- Institute Level Research Centre, Affiliated to Anna University)</a:t>
            </a:r>
            <a:br>
              <a:rPr lang="en-US" sz="1800" b="1">
                <a:latin typeface="Times New Roman"/>
                <a:ea typeface="Times New Roman"/>
                <a:cs typeface="Times New Roman"/>
                <a:sym typeface="Times New Roman"/>
              </a:rPr>
            </a:br>
            <a:r>
              <a:rPr lang="en-US" sz="1700" b="1">
                <a:latin typeface="Times New Roman"/>
                <a:ea typeface="Times New Roman"/>
                <a:cs typeface="Times New Roman"/>
                <a:sym typeface="Times New Roman"/>
              </a:rPr>
              <a:t>DEPARTMENT OF ARTIFICIAL INTELLIGENCE &amp; DATA SCIENCE</a:t>
            </a:r>
            <a:endParaRPr sz="1700" b="1">
              <a:latin typeface="Times New Roman"/>
              <a:ea typeface="Times New Roman"/>
              <a:cs typeface="Times New Roman"/>
              <a:sym typeface="Times New Roman"/>
            </a:endParaRPr>
          </a:p>
        </p:txBody>
      </p:sp>
      <p:sp>
        <p:nvSpPr>
          <p:cNvPr id="95" name="Google Shape;95;p1">
            <a:extLst>
              <a:ext uri="{FF2B5EF4-FFF2-40B4-BE49-F238E27FC236}">
                <a16:creationId xmlns:a16="http://schemas.microsoft.com/office/drawing/2014/main" id="{00A32E3A-923B-864D-5CC4-8B5ADA051F44}"/>
              </a:ext>
            </a:extLst>
          </p:cNvPr>
          <p:cNvSpPr txBox="1">
            <a:spLocks noGrp="1"/>
          </p:cNvSpPr>
          <p:nvPr>
            <p:ph type="subTitle" idx="1"/>
          </p:nvPr>
        </p:nvSpPr>
        <p:spPr>
          <a:xfrm>
            <a:off x="508000" y="1757892"/>
            <a:ext cx="8077200" cy="9144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1800"/>
              <a:buNone/>
            </a:pPr>
            <a:r>
              <a:rPr lang="en-US" sz="2200" b="1" dirty="0">
                <a:solidFill>
                  <a:schemeClr val="dk1"/>
                </a:solidFill>
                <a:latin typeface="Times New Roman"/>
                <a:ea typeface="Times New Roman"/>
                <a:cs typeface="Times New Roman"/>
                <a:sym typeface="Times New Roman"/>
              </a:rPr>
              <a:t>AD1703A -  Project Phase-1</a:t>
            </a:r>
            <a:endParaRPr sz="2200" b="1" dirty="0">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ts val="1800"/>
              <a:buNone/>
            </a:pPr>
            <a:r>
              <a:rPr lang="en-US" sz="2200" b="1" dirty="0">
                <a:solidFill>
                  <a:schemeClr val="dk1"/>
                </a:solidFill>
                <a:latin typeface="Times New Roman"/>
                <a:ea typeface="Times New Roman"/>
                <a:cs typeface="Times New Roman"/>
                <a:sym typeface="Times New Roman"/>
              </a:rPr>
              <a:t>SECOND REVIEW</a:t>
            </a:r>
            <a:endParaRPr sz="2200" b="1" dirty="0">
              <a:solidFill>
                <a:schemeClr val="dk1"/>
              </a:solidFill>
              <a:latin typeface="Times New Roman"/>
              <a:ea typeface="Times New Roman"/>
              <a:cs typeface="Times New Roman"/>
              <a:sym typeface="Times New Roman"/>
            </a:endParaRPr>
          </a:p>
          <a:p>
            <a:pPr marL="0" lvl="0" indent="0" algn="ctr" rtl="0">
              <a:lnSpc>
                <a:spcPct val="100000"/>
              </a:lnSpc>
              <a:spcBef>
                <a:spcPts val="360"/>
              </a:spcBef>
              <a:spcAft>
                <a:spcPts val="0"/>
              </a:spcAft>
              <a:buClr>
                <a:schemeClr val="dk1"/>
              </a:buClr>
              <a:buSzPts val="1800"/>
              <a:buNone/>
            </a:pPr>
            <a:endParaRPr sz="1800" dirty="0">
              <a:solidFill>
                <a:schemeClr val="dk1"/>
              </a:solidFill>
              <a:latin typeface="Times New Roman"/>
              <a:ea typeface="Times New Roman"/>
              <a:cs typeface="Times New Roman"/>
              <a:sym typeface="Times New Roman"/>
            </a:endParaRPr>
          </a:p>
          <a:p>
            <a:pPr marL="0" lvl="0" indent="0" algn="ctr" rtl="0">
              <a:lnSpc>
                <a:spcPct val="100000"/>
              </a:lnSpc>
              <a:spcBef>
                <a:spcPts val="480"/>
              </a:spcBef>
              <a:spcAft>
                <a:spcPts val="0"/>
              </a:spcAft>
              <a:buClr>
                <a:srgbClr val="888888"/>
              </a:buClr>
              <a:buSzPts val="2400"/>
              <a:buNone/>
            </a:pPr>
            <a:endParaRPr sz="2400" dirty="0">
              <a:solidFill>
                <a:schemeClr val="dk1"/>
              </a:solidFill>
              <a:latin typeface="Times New Roman"/>
              <a:ea typeface="Times New Roman"/>
              <a:cs typeface="Times New Roman"/>
              <a:sym typeface="Times New Roman"/>
            </a:endParaRPr>
          </a:p>
          <a:p>
            <a:r>
              <a:rPr lang="en-US" sz="2200" dirty="0">
                <a:solidFill>
                  <a:srgbClr val="000000"/>
                </a:solidFill>
                <a:latin typeface="Times New Roman"/>
                <a:ea typeface="Times New Roman"/>
                <a:cs typeface="Times New Roman"/>
                <a:sym typeface="Times New Roman"/>
              </a:rPr>
              <a:t>TITLE : </a:t>
            </a:r>
            <a:r>
              <a:rPr lang="en-IN" sz="2000" dirty="0">
                <a:solidFill>
                  <a:schemeClr val="tx1">
                    <a:lumMod val="95000"/>
                    <a:lumOff val="5000"/>
                  </a:schemeClr>
                </a:solidFill>
                <a:latin typeface="Times New Roman" panose="02020603050405020304" pitchFamily="18" charset="0"/>
                <a:cs typeface="Times New Roman" panose="02020603050405020304" pitchFamily="18" charset="0"/>
              </a:rPr>
              <a:t>AERIS</a:t>
            </a:r>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 </a:t>
            </a:r>
          </a:p>
          <a:p>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An Explainable Reasoning and Investigation System for Intelligent Aerospace Maintenance</a:t>
            </a:r>
          </a:p>
          <a:p>
            <a:pPr marL="0" lvl="0" indent="0" algn="ctr" rtl="0">
              <a:lnSpc>
                <a:spcPct val="100000"/>
              </a:lnSpc>
              <a:spcBef>
                <a:spcPts val="360"/>
              </a:spcBef>
              <a:spcAft>
                <a:spcPts val="0"/>
              </a:spcAft>
              <a:buClr>
                <a:srgbClr val="000000"/>
              </a:buClr>
              <a:buSzPts val="1800"/>
              <a:buNone/>
            </a:pPr>
            <a:endParaRPr sz="2200" b="0" i="0" u="none" strike="noStrike" dirty="0">
              <a:solidFill>
                <a:srgbClr val="000000"/>
              </a:solidFill>
              <a:latin typeface="Times New Roman"/>
              <a:ea typeface="Times New Roman"/>
              <a:cs typeface="Times New Roman"/>
              <a:sym typeface="Times New Roman"/>
            </a:endParaRPr>
          </a:p>
          <a:p>
            <a:pPr marL="0" lvl="0" indent="0" algn="ctr" rtl="0">
              <a:lnSpc>
                <a:spcPct val="100000"/>
              </a:lnSpc>
              <a:spcBef>
                <a:spcPts val="360"/>
              </a:spcBef>
              <a:spcAft>
                <a:spcPts val="0"/>
              </a:spcAft>
              <a:buClr>
                <a:srgbClr val="000000"/>
              </a:buClr>
              <a:buSzPts val="1800"/>
              <a:buNone/>
            </a:pPr>
            <a:endParaRPr sz="2200" b="0" i="0" u="none" strike="noStrike" dirty="0">
              <a:solidFill>
                <a:srgbClr val="000000"/>
              </a:solidFill>
              <a:latin typeface="Times New Roman"/>
              <a:ea typeface="Times New Roman"/>
              <a:cs typeface="Times New Roman"/>
              <a:sym typeface="Times New Roman"/>
            </a:endParaRPr>
          </a:p>
        </p:txBody>
      </p:sp>
      <p:sp>
        <p:nvSpPr>
          <p:cNvPr id="96" name="Google Shape;96;p1">
            <a:extLst>
              <a:ext uri="{FF2B5EF4-FFF2-40B4-BE49-F238E27FC236}">
                <a16:creationId xmlns:a16="http://schemas.microsoft.com/office/drawing/2014/main" id="{5802CA31-C151-ACC9-81A4-79B4C9FC374D}"/>
              </a:ext>
            </a:extLst>
          </p:cNvPr>
          <p:cNvSpPr txBox="1"/>
          <p:nvPr/>
        </p:nvSpPr>
        <p:spPr>
          <a:xfrm>
            <a:off x="1858536" y="2672295"/>
            <a:ext cx="5562600" cy="390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3200"/>
              <a:buFont typeface="Arial"/>
              <a:buNone/>
            </a:pPr>
            <a:r>
              <a:rPr lang="en-US" sz="2200" b="0" i="0" u="none" strike="noStrike" cap="none" dirty="0">
                <a:solidFill>
                  <a:schemeClr val="dk1"/>
                </a:solidFill>
                <a:latin typeface="Times New Roman"/>
                <a:ea typeface="Times New Roman"/>
                <a:cs typeface="Times New Roman"/>
                <a:sym typeface="Times New Roman"/>
              </a:rPr>
              <a:t>BATCH NUMBER :</a:t>
            </a:r>
            <a:r>
              <a:rPr lang="en-US" sz="2200" dirty="0">
                <a:solidFill>
                  <a:schemeClr val="dk1"/>
                </a:solidFill>
                <a:latin typeface="Times New Roman"/>
                <a:ea typeface="Times New Roman"/>
                <a:cs typeface="Times New Roman"/>
                <a:sym typeface="Times New Roman"/>
              </a:rPr>
              <a:t> 13</a:t>
            </a:r>
            <a:endParaRPr sz="2200" b="0" i="0" u="none" strike="noStrike" cap="none" dirty="0">
              <a:solidFill>
                <a:schemeClr val="dk1"/>
              </a:solidFill>
              <a:latin typeface="Times New Roman"/>
              <a:ea typeface="Times New Roman"/>
              <a:cs typeface="Times New Roman"/>
              <a:sym typeface="Times New Roman"/>
            </a:endParaRPr>
          </a:p>
        </p:txBody>
      </p:sp>
      <p:graphicFrame>
        <p:nvGraphicFramePr>
          <p:cNvPr id="97" name="Google Shape;97;p1">
            <a:extLst>
              <a:ext uri="{FF2B5EF4-FFF2-40B4-BE49-F238E27FC236}">
                <a16:creationId xmlns:a16="http://schemas.microsoft.com/office/drawing/2014/main" id="{8F5C38D8-EEF8-C9A8-447C-4571F3AD66C1}"/>
              </a:ext>
            </a:extLst>
          </p:cNvPr>
          <p:cNvGraphicFramePr/>
          <p:nvPr/>
        </p:nvGraphicFramePr>
        <p:xfrm>
          <a:off x="398780" y="4185920"/>
          <a:ext cx="8135625" cy="2228870"/>
        </p:xfrm>
        <a:graphic>
          <a:graphicData uri="http://schemas.openxmlformats.org/drawingml/2006/table">
            <a:tbl>
              <a:tblPr firstRow="1" bandRow="1">
                <a:noFill/>
                <a:tableStyleId>{47879F58-94FC-4AB5-AACA-6E85711E4052}</a:tableStyleId>
              </a:tblPr>
              <a:tblGrid>
                <a:gridCol w="4425950">
                  <a:extLst>
                    <a:ext uri="{9D8B030D-6E8A-4147-A177-3AD203B41FA5}">
                      <a16:colId xmlns:a16="http://schemas.microsoft.com/office/drawing/2014/main" val="20000"/>
                    </a:ext>
                  </a:extLst>
                </a:gridCol>
                <a:gridCol w="3709675">
                  <a:extLst>
                    <a:ext uri="{9D8B030D-6E8A-4147-A177-3AD203B41FA5}">
                      <a16:colId xmlns:a16="http://schemas.microsoft.com/office/drawing/2014/main" val="20001"/>
                    </a:ext>
                  </a:extLst>
                </a:gridCol>
              </a:tblGrid>
              <a:tr h="3657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latin typeface="Times New Roman"/>
                          <a:ea typeface="Times New Roman"/>
                          <a:cs typeface="Times New Roman"/>
                          <a:sym typeface="Times New Roman"/>
                        </a:rPr>
                        <a:t>TEAM MEMBERS </a:t>
                      </a: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dirty="0">
                          <a:latin typeface="Times New Roman"/>
                          <a:ea typeface="Times New Roman"/>
                          <a:cs typeface="Times New Roman"/>
                          <a:sym typeface="Times New Roman"/>
                        </a:rPr>
                        <a:t>SUPERVISOR</a:t>
                      </a:r>
                    </a:p>
                  </a:txBody>
                  <a:tcPr marL="91450" marR="91450" marT="45725" marB="45725"/>
                </a:tc>
                <a:extLst>
                  <a:ext uri="{0D108BD9-81ED-4DB2-BD59-A6C34878D82A}">
                    <a16:rowId xmlns:a16="http://schemas.microsoft.com/office/drawing/2014/main" val="10000"/>
                  </a:ext>
                </a:extLst>
              </a:tr>
              <a:tr h="1863100">
                <a:tc>
                  <a:txBody>
                    <a:bodyPr/>
                    <a:lstStyle/>
                    <a:p>
                      <a:pPr marL="0" marR="0" lvl="0" indent="0" algn="l" rtl="0">
                        <a:lnSpc>
                          <a:spcPct val="100000"/>
                        </a:lnSpc>
                        <a:spcBef>
                          <a:spcPts val="0"/>
                        </a:spcBef>
                        <a:spcAft>
                          <a:spcPts val="0"/>
                        </a:spcAft>
                        <a:buClr>
                          <a:srgbClr val="000000"/>
                        </a:buClr>
                        <a:buSzPts val="1800"/>
                        <a:buFont typeface="Calibri"/>
                        <a:buNone/>
                      </a:pPr>
                      <a:r>
                        <a:rPr lang="en-US" sz="1800" u="sng" dirty="0">
                          <a:solidFill>
                            <a:schemeClr val="hlink"/>
                          </a:solidFill>
                          <a:latin typeface="Times New Roman"/>
                          <a:ea typeface="Times New Roman"/>
                          <a:cs typeface="Times New Roman"/>
                          <a:sym typeface="Times New Roman"/>
                        </a:rPr>
                        <a:t>111923AI01003</a:t>
                      </a:r>
                      <a:r>
                        <a:rPr lang="en-US" sz="1800" dirty="0">
                          <a:latin typeface="Times New Roman"/>
                          <a:ea typeface="Times New Roman"/>
                          <a:cs typeface="Times New Roman"/>
                          <a:sym typeface="Times New Roman"/>
                        </a:rPr>
                        <a:t> – ABIRAMI M</a:t>
                      </a:r>
                    </a:p>
                    <a:p>
                      <a:pPr marL="0" marR="0" lvl="0" indent="0" algn="l" rtl="0">
                        <a:lnSpc>
                          <a:spcPct val="100000"/>
                        </a:lnSpc>
                        <a:spcBef>
                          <a:spcPts val="0"/>
                        </a:spcBef>
                        <a:spcAft>
                          <a:spcPts val="0"/>
                        </a:spcAft>
                        <a:buClr>
                          <a:srgbClr val="000000"/>
                        </a:buClr>
                        <a:buSzPts val="1800"/>
                        <a:buFont typeface="Calibri"/>
                        <a:buNone/>
                      </a:pPr>
                      <a:endParaRPr lang="en-US" sz="1800" u="none" strike="noStrike" cap="none" dirty="0">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alibri"/>
                        <a:buNone/>
                        <a:tabLst/>
                        <a:defRPr/>
                      </a:pPr>
                      <a:r>
                        <a:rPr lang="en-US" sz="1800" u="sng" dirty="0">
                          <a:solidFill>
                            <a:schemeClr val="hlink"/>
                          </a:solidFill>
                          <a:latin typeface="Times New Roman"/>
                          <a:ea typeface="Times New Roman"/>
                          <a:cs typeface="Times New Roman"/>
                          <a:sym typeface="Times New Roman"/>
                        </a:rPr>
                        <a:t>111923AI01022</a:t>
                      </a:r>
                      <a:r>
                        <a:rPr lang="en-US" sz="1800" dirty="0">
                          <a:latin typeface="Times New Roman"/>
                          <a:ea typeface="Times New Roman"/>
                          <a:cs typeface="Times New Roman"/>
                          <a:sym typeface="Times New Roman"/>
                        </a:rPr>
                        <a:t> – DEVISHRI S</a:t>
                      </a:r>
                      <a:endParaRPr sz="18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Mrs. NATHIYA M,</a:t>
                      </a:r>
                    </a:p>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Assistant Professor,</a:t>
                      </a:r>
                    </a:p>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Department of AI&amp;DS</a:t>
                      </a:r>
                    </a:p>
                  </a:txBody>
                  <a:tcPr marL="91450" marR="91450" marT="45725" marB="45725"/>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1910393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EB3DF-44FB-366F-CDA3-26B1DDDEA1AF}"/>
              </a:ext>
            </a:extLst>
          </p:cNvPr>
          <p:cNvSpPr>
            <a:spLocks noGrp="1"/>
          </p:cNvSpPr>
          <p:nvPr>
            <p:ph type="title"/>
          </p:nvPr>
        </p:nvSpPr>
        <p:spPr>
          <a:xfrm>
            <a:off x="457200" y="274638"/>
            <a:ext cx="8229600" cy="616051"/>
          </a:xfrm>
        </p:spPr>
        <p:txBody>
          <a:bodyPr>
            <a:normAutofit fontScale="90000"/>
          </a:bodyPr>
          <a:lstStyle/>
          <a:p>
            <a:r>
              <a:rPr lang="en-IN" dirty="0"/>
              <a:t>OVERALL ARCHITECTURE</a:t>
            </a:r>
          </a:p>
        </p:txBody>
      </p:sp>
      <p:sp>
        <p:nvSpPr>
          <p:cNvPr id="3" name="Text Placeholder 2">
            <a:extLst>
              <a:ext uri="{FF2B5EF4-FFF2-40B4-BE49-F238E27FC236}">
                <a16:creationId xmlns:a16="http://schemas.microsoft.com/office/drawing/2014/main" id="{FA2AE532-DBB0-3E26-3858-7D6053E1F6E9}"/>
              </a:ext>
            </a:extLst>
          </p:cNvPr>
          <p:cNvSpPr>
            <a:spLocks noGrp="1"/>
          </p:cNvSpPr>
          <p:nvPr>
            <p:ph type="body" idx="1"/>
          </p:nvPr>
        </p:nvSpPr>
        <p:spPr/>
        <p:txBody>
          <a:bodyPr/>
          <a:lstStyle/>
          <a:p>
            <a:endParaRPr lang="en-IN" dirty="0"/>
          </a:p>
        </p:txBody>
      </p:sp>
      <p:sp>
        <p:nvSpPr>
          <p:cNvPr id="4" name="Date Placeholder 3">
            <a:extLst>
              <a:ext uri="{FF2B5EF4-FFF2-40B4-BE49-F238E27FC236}">
                <a16:creationId xmlns:a16="http://schemas.microsoft.com/office/drawing/2014/main" id="{B8A14920-42E6-6601-1C64-9208B1B0B7EE}"/>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E3D01CFA-D339-87F2-6782-A9B0FDB979FA}"/>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6821336B-8BC8-EADE-8C03-1A514DAFD2C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pic>
        <p:nvPicPr>
          <p:cNvPr id="8" name="Picture 7">
            <a:extLst>
              <a:ext uri="{FF2B5EF4-FFF2-40B4-BE49-F238E27FC236}">
                <a16:creationId xmlns:a16="http://schemas.microsoft.com/office/drawing/2014/main" id="{8D485BD7-D14E-2936-5AB8-FBE91D506107}"/>
              </a:ext>
            </a:extLst>
          </p:cNvPr>
          <p:cNvPicPr>
            <a:picLocks noChangeAspect="1"/>
          </p:cNvPicPr>
          <p:nvPr/>
        </p:nvPicPr>
        <p:blipFill>
          <a:blip r:embed="rId2"/>
          <a:stretch>
            <a:fillRect/>
          </a:stretch>
        </p:blipFill>
        <p:spPr>
          <a:xfrm>
            <a:off x="196645" y="1120876"/>
            <a:ext cx="8780208" cy="5235474"/>
          </a:xfrm>
          <a:prstGeom prst="rect">
            <a:avLst/>
          </a:prstGeom>
        </p:spPr>
      </p:pic>
    </p:spTree>
    <p:extLst>
      <p:ext uri="{BB962C8B-B14F-4D97-AF65-F5344CB8AC3E}">
        <p14:creationId xmlns:p14="http://schemas.microsoft.com/office/powerpoint/2010/main" val="507891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BDACC-DB9C-D1EC-B6C7-0FFB95E4E5BE}"/>
              </a:ext>
            </a:extLst>
          </p:cNvPr>
          <p:cNvSpPr>
            <a:spLocks noGrp="1"/>
          </p:cNvSpPr>
          <p:nvPr>
            <p:ph type="title"/>
          </p:nvPr>
        </p:nvSpPr>
        <p:spPr>
          <a:xfrm>
            <a:off x="457200" y="274638"/>
            <a:ext cx="7762568" cy="757749"/>
          </a:xfrm>
        </p:spPr>
        <p:txBody>
          <a:bodyPr>
            <a:normAutofit fontScale="90000"/>
          </a:bodyPr>
          <a:lstStyle/>
          <a:p>
            <a:r>
              <a:rPr lang="en-IN" dirty="0"/>
              <a:t>PROJECT PHASES </a:t>
            </a:r>
          </a:p>
        </p:txBody>
      </p:sp>
      <p:sp>
        <p:nvSpPr>
          <p:cNvPr id="4" name="Date Placeholder 3">
            <a:extLst>
              <a:ext uri="{FF2B5EF4-FFF2-40B4-BE49-F238E27FC236}">
                <a16:creationId xmlns:a16="http://schemas.microsoft.com/office/drawing/2014/main" id="{C4AB8FC3-7460-4532-7502-B4BDA97DF3E7}"/>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1995FC6B-C6E0-1059-AAF4-FE9A06DFB6A1}"/>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3BCA9C59-0CEC-43D0-5B3A-DE9DA1CAA99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pic>
        <p:nvPicPr>
          <p:cNvPr id="8" name="Picture 7">
            <a:extLst>
              <a:ext uri="{FF2B5EF4-FFF2-40B4-BE49-F238E27FC236}">
                <a16:creationId xmlns:a16="http://schemas.microsoft.com/office/drawing/2014/main" id="{AD7B2742-DBAE-17D1-634A-00B0EF27F1C6}"/>
              </a:ext>
            </a:extLst>
          </p:cNvPr>
          <p:cNvPicPr>
            <a:picLocks noChangeAspect="1"/>
          </p:cNvPicPr>
          <p:nvPr/>
        </p:nvPicPr>
        <p:blipFill>
          <a:blip r:embed="rId2"/>
          <a:stretch>
            <a:fillRect/>
          </a:stretch>
        </p:blipFill>
        <p:spPr>
          <a:xfrm>
            <a:off x="353960" y="1130710"/>
            <a:ext cx="8622891" cy="5590765"/>
          </a:xfrm>
          <a:prstGeom prst="rect">
            <a:avLst/>
          </a:prstGeom>
        </p:spPr>
      </p:pic>
    </p:spTree>
    <p:extLst>
      <p:ext uri="{BB962C8B-B14F-4D97-AF65-F5344CB8AC3E}">
        <p14:creationId xmlns:p14="http://schemas.microsoft.com/office/powerpoint/2010/main" val="42168215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65BD1-D8FF-2332-F4CE-E7C60236E916}"/>
              </a:ext>
            </a:extLst>
          </p:cNvPr>
          <p:cNvSpPr>
            <a:spLocks noGrp="1"/>
          </p:cNvSpPr>
          <p:nvPr>
            <p:ph type="title"/>
          </p:nvPr>
        </p:nvSpPr>
        <p:spPr>
          <a:xfrm>
            <a:off x="457200" y="274638"/>
            <a:ext cx="8229600" cy="883602"/>
          </a:xfrm>
        </p:spPr>
        <p:txBody>
          <a:bodyPr/>
          <a:lstStyle/>
          <a:p>
            <a:r>
              <a:rPr lang="en-IN" dirty="0">
                <a:latin typeface="Times New Roman" panose="02020603050405020304" pitchFamily="18" charset="0"/>
                <a:cs typeface="Times New Roman" panose="02020603050405020304" pitchFamily="18" charset="0"/>
              </a:rPr>
              <a:t>CMAPSS – DATASET</a:t>
            </a:r>
          </a:p>
        </p:txBody>
      </p:sp>
      <p:sp>
        <p:nvSpPr>
          <p:cNvPr id="3" name="Text Placeholder 2">
            <a:extLst>
              <a:ext uri="{FF2B5EF4-FFF2-40B4-BE49-F238E27FC236}">
                <a16:creationId xmlns:a16="http://schemas.microsoft.com/office/drawing/2014/main" id="{C825A9CC-28C5-3C94-0E19-062D6B0A3155}"/>
              </a:ext>
            </a:extLst>
          </p:cNvPr>
          <p:cNvSpPr>
            <a:spLocks noGrp="1"/>
          </p:cNvSpPr>
          <p:nvPr>
            <p:ph type="body" idx="1"/>
          </p:nvPr>
        </p:nvSpPr>
        <p:spPr>
          <a:xfrm>
            <a:off x="457200" y="1158240"/>
            <a:ext cx="8229600" cy="4967923"/>
          </a:xfrm>
        </p:spPr>
        <p:txBody>
          <a:bodyPr>
            <a:normAutofit/>
          </a:bodyPr>
          <a:lstStyle/>
          <a:p>
            <a:pPr marL="114300" lvl="0" indent="0" algn="just">
              <a:buNone/>
            </a:pPr>
            <a:r>
              <a:rPr lang="en-IN" sz="1800" b="1" dirty="0">
                <a:latin typeface="Times New Roman" panose="02020603050405020304" pitchFamily="18" charset="0"/>
                <a:cs typeface="Times New Roman" panose="02020603050405020304" pitchFamily="18" charset="0"/>
              </a:rPr>
              <a:t>DATASET OVERVIEW: </a:t>
            </a:r>
          </a:p>
          <a:p>
            <a:pPr lvl="0" algn="just"/>
            <a:r>
              <a:rPr lang="en-IN" sz="1900" dirty="0">
                <a:latin typeface="Times New Roman" panose="02020603050405020304" pitchFamily="18" charset="0"/>
                <a:cs typeface="Times New Roman" panose="02020603050405020304" pitchFamily="18" charset="0"/>
              </a:rPr>
              <a:t>Dataset: NASA C-MAPSS (FD001 subset)</a:t>
            </a:r>
          </a:p>
          <a:p>
            <a:pPr lvl="0" algn="just"/>
            <a:r>
              <a:rPr lang="en-IN" sz="1900" dirty="0">
                <a:latin typeface="Times New Roman" panose="02020603050405020304" pitchFamily="18" charset="0"/>
                <a:cs typeface="Times New Roman" panose="02020603050405020304" pitchFamily="18" charset="0"/>
              </a:rPr>
              <a:t>Simulated turbofan jet engine degradation data</a:t>
            </a:r>
          </a:p>
          <a:p>
            <a:pPr lvl="0" algn="just"/>
            <a:r>
              <a:rPr lang="en-IN" sz="1900" dirty="0">
                <a:latin typeface="Times New Roman" panose="02020603050405020304" pitchFamily="18" charset="0"/>
                <a:cs typeface="Times New Roman" panose="02020603050405020304" pitchFamily="18" charset="0"/>
              </a:rPr>
              <a:t>Multiple engines, each run until failure across several operational cycles</a:t>
            </a:r>
          </a:p>
          <a:p>
            <a:pPr lvl="0" algn="just"/>
            <a:r>
              <a:rPr lang="en-IN" sz="1900" dirty="0">
                <a:latin typeface="Times New Roman" panose="02020603050405020304" pitchFamily="18" charset="0"/>
                <a:cs typeface="Times New Roman" panose="02020603050405020304" pitchFamily="18" charset="0"/>
              </a:rPr>
              <a:t>Multivariate time-series sensor readings recorded per cycle</a:t>
            </a:r>
          </a:p>
          <a:p>
            <a:pPr lvl="0" algn="just"/>
            <a:r>
              <a:rPr lang="en-IN" sz="1900" dirty="0">
                <a:latin typeface="Times New Roman" panose="02020603050405020304" pitchFamily="18" charset="0"/>
                <a:cs typeface="Times New Roman" panose="02020603050405020304" pitchFamily="18" charset="0"/>
              </a:rPr>
              <a:t>Goal: Predict Remaining Useful Life (RUL) of each engine</a:t>
            </a:r>
          </a:p>
          <a:p>
            <a:pPr lvl="0" algn="just"/>
            <a:r>
              <a:rPr lang="en-IN" sz="1900" dirty="0">
                <a:latin typeface="Times New Roman" panose="02020603050405020304" pitchFamily="18" charset="0"/>
                <a:cs typeface="Times New Roman" panose="02020603050405020304" pitchFamily="18" charset="0"/>
              </a:rPr>
              <a:t>Forms the numeric/sensor-based prediction component of AERIS</a:t>
            </a:r>
          </a:p>
          <a:p>
            <a:pPr marL="114300" indent="0" algn="just">
              <a:buNone/>
            </a:pPr>
            <a:endParaRPr lang="en-IN" dirty="0">
              <a:latin typeface="Times New Roman" panose="02020603050405020304" pitchFamily="18" charset="0"/>
              <a:cs typeface="Times New Roman" panose="02020603050405020304" pitchFamily="18" charset="0"/>
            </a:endParaRPr>
          </a:p>
          <a:p>
            <a:pPr marL="114300" indent="0" algn="just">
              <a:buNone/>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2A8C28A-064A-26B7-D1EB-84D309E21118}"/>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B632AE8A-86FD-1AD6-E0CD-F7795C7106D8}"/>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DC3CF78E-7F3A-443A-CF39-215F4E838B7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
        <p:nvSpPr>
          <p:cNvPr id="8" name="Rectangle 7">
            <a:extLst>
              <a:ext uri="{FF2B5EF4-FFF2-40B4-BE49-F238E27FC236}">
                <a16:creationId xmlns:a16="http://schemas.microsoft.com/office/drawing/2014/main" id="{EEC49476-A876-099E-AEDF-998646C50C6B}"/>
              </a:ext>
            </a:extLst>
          </p:cNvPr>
          <p:cNvSpPr/>
          <p:nvPr/>
        </p:nvSpPr>
        <p:spPr>
          <a:xfrm>
            <a:off x="659152" y="3755136"/>
            <a:ext cx="3729967" cy="2783776"/>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IN" sz="1800" b="1" dirty="0">
                <a:solidFill>
                  <a:schemeClr val="tx1"/>
                </a:solidFill>
                <a:latin typeface="Times New Roman" panose="02020603050405020304" pitchFamily="18" charset="0"/>
                <a:cs typeface="Times New Roman" panose="02020603050405020304" pitchFamily="18" charset="0"/>
              </a:rPr>
              <a:t>Completed Tasks</a:t>
            </a:r>
          </a:p>
          <a:p>
            <a:pPr marL="285750" indent="-285750" algn="just">
              <a:buFont typeface="Wingdings" panose="05000000000000000000" pitchFamily="2" charset="2"/>
              <a:buChar char="q"/>
            </a:pPr>
            <a:r>
              <a:rPr lang="en-IN" sz="1800" dirty="0">
                <a:solidFill>
                  <a:schemeClr val="tx1"/>
                </a:solidFill>
                <a:latin typeface="Times New Roman" panose="02020603050405020304" pitchFamily="18" charset="0"/>
                <a:cs typeface="Times New Roman" panose="02020603050405020304" pitchFamily="18" charset="0"/>
              </a:rPr>
              <a:t> Dataset Collection (NASA C-MAPSS FD001)</a:t>
            </a:r>
          </a:p>
          <a:p>
            <a:pPr marL="285750" indent="-285750" algn="just">
              <a:buFont typeface="Wingdings" panose="05000000000000000000" pitchFamily="2" charset="2"/>
              <a:buChar char="q"/>
            </a:pPr>
            <a:r>
              <a:rPr lang="en-IN" sz="1800" dirty="0">
                <a:solidFill>
                  <a:schemeClr val="tx1"/>
                </a:solidFill>
                <a:latin typeface="Times New Roman" panose="02020603050405020304" pitchFamily="18" charset="0"/>
                <a:cs typeface="Times New Roman" panose="02020603050405020304" pitchFamily="18" charset="0"/>
              </a:rPr>
              <a:t>Exploratory Data Analysis (EDA)</a:t>
            </a:r>
          </a:p>
          <a:p>
            <a:pPr marL="285750" indent="-285750" algn="just">
              <a:buFont typeface="Wingdings" panose="05000000000000000000" pitchFamily="2" charset="2"/>
              <a:buChar char="q"/>
            </a:pPr>
            <a:r>
              <a:rPr lang="en-IN" sz="1800" dirty="0">
                <a:solidFill>
                  <a:schemeClr val="tx1"/>
                </a:solidFill>
                <a:latin typeface="Times New Roman" panose="02020603050405020304" pitchFamily="18" charset="0"/>
                <a:cs typeface="Times New Roman" panose="02020603050405020304" pitchFamily="18" charset="0"/>
              </a:rPr>
              <a:t> Data Cleaning &amp; Preprocessing </a:t>
            </a:r>
          </a:p>
          <a:p>
            <a:pPr marL="285750" indent="-285750" algn="just">
              <a:buFont typeface="Wingdings" panose="05000000000000000000" pitchFamily="2" charset="2"/>
              <a:buChar char="q"/>
            </a:pPr>
            <a:r>
              <a:rPr lang="en-IN" sz="1800" dirty="0">
                <a:solidFill>
                  <a:schemeClr val="tx1"/>
                </a:solidFill>
                <a:latin typeface="Times New Roman" panose="02020603050405020304" pitchFamily="18" charset="0"/>
                <a:cs typeface="Times New Roman" panose="02020603050405020304" pitchFamily="18" charset="0"/>
              </a:rPr>
              <a:t>Baseline – LSTM </a:t>
            </a:r>
          </a:p>
          <a:p>
            <a:pPr marL="285750" indent="-285750" algn="just">
              <a:buFont typeface="Wingdings" panose="05000000000000000000" pitchFamily="2" charset="2"/>
              <a:buChar char="q"/>
            </a:pPr>
            <a:r>
              <a:rPr lang="en-IN" sz="1800" dirty="0">
                <a:solidFill>
                  <a:schemeClr val="tx1"/>
                </a:solidFill>
                <a:latin typeface="Times New Roman" panose="02020603050405020304" pitchFamily="18" charset="0"/>
                <a:cs typeface="Times New Roman" panose="02020603050405020304" pitchFamily="18" charset="0"/>
              </a:rPr>
              <a:t>Feature Engineering</a:t>
            </a:r>
          </a:p>
          <a:p>
            <a:pPr marL="285750" indent="-285750" algn="just">
              <a:buFont typeface="Wingdings" panose="05000000000000000000" pitchFamily="2" charset="2"/>
              <a:buChar char="q"/>
            </a:pPr>
            <a:r>
              <a:rPr lang="en-IN" sz="1800" dirty="0">
                <a:solidFill>
                  <a:schemeClr val="tx1"/>
                </a:solidFill>
                <a:latin typeface="Times New Roman" panose="02020603050405020304" pitchFamily="18" charset="0"/>
                <a:cs typeface="Times New Roman" panose="02020603050405020304" pitchFamily="18" charset="0"/>
              </a:rPr>
              <a:t> Time-Series Transformer Model</a:t>
            </a:r>
          </a:p>
        </p:txBody>
      </p:sp>
      <p:sp>
        <p:nvSpPr>
          <p:cNvPr id="10" name="Rectangle 9">
            <a:extLst>
              <a:ext uri="{FF2B5EF4-FFF2-40B4-BE49-F238E27FC236}">
                <a16:creationId xmlns:a16="http://schemas.microsoft.com/office/drawing/2014/main" id="{F4EC3AB7-D00C-9AFE-1B95-A15AB0803B68}"/>
              </a:ext>
            </a:extLst>
          </p:cNvPr>
          <p:cNvSpPr/>
          <p:nvPr/>
        </p:nvSpPr>
        <p:spPr>
          <a:xfrm>
            <a:off x="4758813" y="3755136"/>
            <a:ext cx="3588774" cy="2783776"/>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IN" sz="1800" b="1" dirty="0">
                <a:solidFill>
                  <a:schemeClr val="tx1"/>
                </a:solidFill>
                <a:latin typeface="Times New Roman" panose="02020603050405020304" pitchFamily="18" charset="0"/>
                <a:cs typeface="Times New Roman" panose="02020603050405020304" pitchFamily="18" charset="0"/>
              </a:rPr>
              <a:t>Current Output</a:t>
            </a:r>
          </a:p>
          <a:p>
            <a:pPr marL="285750" lvl="0" indent="-285750" algn="just">
              <a:buFont typeface="Wingdings" panose="05000000000000000000" pitchFamily="2" charset="2"/>
              <a:buChar char="q"/>
            </a:pPr>
            <a:r>
              <a:rPr lang="en-IN" sz="1800" dirty="0">
                <a:solidFill>
                  <a:schemeClr val="tx1"/>
                </a:solidFill>
                <a:latin typeface="Times New Roman" panose="02020603050405020304" pitchFamily="18" charset="0"/>
                <a:cs typeface="Times New Roman" panose="02020603050405020304" pitchFamily="18" charset="0"/>
              </a:rPr>
              <a:t>Predicted Remaining Useful Life (RUL) </a:t>
            </a:r>
          </a:p>
          <a:p>
            <a:pPr marL="285750" lvl="0" indent="-285750" algn="just">
              <a:buFont typeface="Wingdings" panose="05000000000000000000" pitchFamily="2" charset="2"/>
              <a:buChar char="q"/>
            </a:pPr>
            <a:r>
              <a:rPr lang="en-IN" sz="1800" dirty="0">
                <a:solidFill>
                  <a:schemeClr val="tx1"/>
                </a:solidFill>
                <a:latin typeface="Times New Roman" panose="02020603050405020304" pitchFamily="18" charset="0"/>
                <a:cs typeface="Times New Roman" panose="02020603050405020304" pitchFamily="18" charset="0"/>
              </a:rPr>
              <a:t>Prediction Error (MAE / RMSE) </a:t>
            </a:r>
          </a:p>
          <a:p>
            <a:pPr marL="285750" lvl="0" indent="-285750" algn="just">
              <a:buFont typeface="Wingdings" panose="05000000000000000000" pitchFamily="2" charset="2"/>
              <a:buChar char="q"/>
            </a:pPr>
            <a:r>
              <a:rPr lang="en-IN" sz="1800" dirty="0">
                <a:solidFill>
                  <a:schemeClr val="tx1"/>
                </a:solidFill>
                <a:latin typeface="Times New Roman" panose="02020603050405020304" pitchFamily="18" charset="0"/>
                <a:cs typeface="Times New Roman" panose="02020603050405020304" pitchFamily="18" charset="0"/>
              </a:rPr>
              <a:t>Model Confidence </a:t>
            </a:r>
          </a:p>
          <a:p>
            <a:pPr marL="285750" lvl="0" indent="-285750" algn="just">
              <a:buFont typeface="Wingdings" panose="05000000000000000000" pitchFamily="2" charset="2"/>
              <a:buChar char="q"/>
            </a:pPr>
            <a:r>
              <a:rPr lang="en-IN" sz="1800" dirty="0">
                <a:solidFill>
                  <a:schemeClr val="tx1"/>
                </a:solidFill>
                <a:latin typeface="Times New Roman" panose="02020603050405020304" pitchFamily="18" charset="0"/>
                <a:cs typeface="Times New Roman" panose="02020603050405020304" pitchFamily="18" charset="0"/>
              </a:rPr>
              <a:t>Engine Health Prediction</a:t>
            </a:r>
          </a:p>
        </p:txBody>
      </p:sp>
    </p:spTree>
    <p:extLst>
      <p:ext uri="{BB962C8B-B14F-4D97-AF65-F5344CB8AC3E}">
        <p14:creationId xmlns:p14="http://schemas.microsoft.com/office/powerpoint/2010/main" val="9442558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2BE61-FE80-7B6E-4740-0684A542288D}"/>
              </a:ext>
            </a:extLst>
          </p:cNvPr>
          <p:cNvSpPr>
            <a:spLocks noGrp="1"/>
          </p:cNvSpPr>
          <p:nvPr>
            <p:ph type="title"/>
          </p:nvPr>
        </p:nvSpPr>
        <p:spPr>
          <a:xfrm>
            <a:off x="457200" y="274638"/>
            <a:ext cx="8229600" cy="718420"/>
          </a:xfrm>
        </p:spPr>
        <p:txBody>
          <a:bodyPr>
            <a:normAutofit fontScale="90000"/>
          </a:bodyPr>
          <a:lstStyle/>
          <a:p>
            <a:r>
              <a:rPr lang="en-IN" dirty="0">
                <a:latin typeface="Times New Roman" panose="02020603050405020304" pitchFamily="18" charset="0"/>
                <a:cs typeface="Times New Roman" panose="02020603050405020304" pitchFamily="18" charset="0"/>
              </a:rPr>
              <a:t>CMAPSS Work Completed</a:t>
            </a:r>
          </a:p>
        </p:txBody>
      </p:sp>
      <p:sp>
        <p:nvSpPr>
          <p:cNvPr id="3" name="Text Placeholder 2">
            <a:extLst>
              <a:ext uri="{FF2B5EF4-FFF2-40B4-BE49-F238E27FC236}">
                <a16:creationId xmlns:a16="http://schemas.microsoft.com/office/drawing/2014/main" id="{65E0CB56-02F6-756F-610E-286064E4B116}"/>
              </a:ext>
            </a:extLst>
          </p:cNvPr>
          <p:cNvSpPr>
            <a:spLocks noGrp="1"/>
          </p:cNvSpPr>
          <p:nvPr>
            <p:ph type="body" idx="1"/>
          </p:nvPr>
        </p:nvSpPr>
        <p:spPr/>
        <p:txBody>
          <a:bodyPr>
            <a:normAutofit lnSpcReduction="10000"/>
          </a:bodyPr>
          <a:lstStyle/>
          <a:p>
            <a:pPr lvl="0" algn="just"/>
            <a:r>
              <a:rPr lang="en-IN" sz="2200" dirty="0">
                <a:latin typeface="Times New Roman" panose="02020603050405020304" pitchFamily="18" charset="0"/>
                <a:cs typeface="Times New Roman" panose="02020603050405020304" pitchFamily="18" charset="0"/>
              </a:rPr>
              <a:t>Dataset: NASA C-MAPSS (FD001) – turbofan engine sensor data</a:t>
            </a:r>
          </a:p>
          <a:p>
            <a:pPr lvl="0" algn="just"/>
            <a:r>
              <a:rPr lang="en-IN" sz="2200" dirty="0">
                <a:latin typeface="Times New Roman" panose="02020603050405020304" pitchFamily="18" charset="0"/>
                <a:cs typeface="Times New Roman" panose="02020603050405020304" pitchFamily="18" charset="0"/>
              </a:rPr>
              <a:t>Preprocessing: </a:t>
            </a:r>
          </a:p>
          <a:p>
            <a:pPr lvl="1" algn="just">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Cleaned dataset: 20,631 rows, 17 real features (2 operational settings + 15 sensors)</a:t>
            </a:r>
          </a:p>
          <a:p>
            <a:pPr lvl="1" algn="just">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RUL (Remaining Useful Life) computed and capped at 125 cycles (standard practice)</a:t>
            </a:r>
          </a:p>
          <a:p>
            <a:pPr lvl="1" algn="just">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Engine-wise train/test split (80/20) — prevents data leakage between cycles of the same engine</a:t>
            </a:r>
          </a:p>
          <a:p>
            <a:pPr lvl="1" algn="just">
              <a:buFont typeface="Wingdings" panose="05000000000000000000" pitchFamily="2" charset="2"/>
              <a:buChar char="Ø"/>
            </a:pPr>
            <a:r>
              <a:rPr lang="en-IN" sz="2200" dirty="0" err="1">
                <a:latin typeface="Times New Roman" panose="02020603050405020304" pitchFamily="18" charset="0"/>
                <a:cs typeface="Times New Roman" panose="02020603050405020304" pitchFamily="18" charset="0"/>
              </a:rPr>
              <a:t>MinMax</a:t>
            </a:r>
            <a:r>
              <a:rPr lang="en-IN" sz="2200" dirty="0">
                <a:latin typeface="Times New Roman" panose="02020603050405020304" pitchFamily="18" charset="0"/>
                <a:cs typeface="Times New Roman" panose="02020603050405020304" pitchFamily="18" charset="0"/>
              </a:rPr>
              <a:t> scaling fit only on training engine, then applied to test set.</a:t>
            </a:r>
          </a:p>
          <a:p>
            <a:pPr lvl="1" algn="just">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Sliding window sequences (window size = 30) with padding + attention masks.</a:t>
            </a:r>
          </a:p>
          <a:p>
            <a:pPr lvl="1" algn="just">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Output saved as structured .</a:t>
            </a:r>
            <a:r>
              <a:rPr lang="en-IN" sz="2200" dirty="0" err="1">
                <a:latin typeface="Times New Roman" panose="02020603050405020304" pitchFamily="18" charset="0"/>
                <a:cs typeface="Times New Roman" panose="02020603050405020304" pitchFamily="18" charset="0"/>
              </a:rPr>
              <a:t>npz</a:t>
            </a:r>
            <a:r>
              <a:rPr lang="en-IN" sz="2200" dirty="0">
                <a:latin typeface="Times New Roman" panose="02020603050405020304" pitchFamily="18" charset="0"/>
                <a:cs typeface="Times New Roman" panose="02020603050405020304" pitchFamily="18" charset="0"/>
              </a:rPr>
              <a:t> file for model training</a:t>
            </a:r>
          </a:p>
          <a:p>
            <a:pPr lvl="1" algn="just">
              <a:buFont typeface="Wingdings" panose="05000000000000000000" pitchFamily="2" charset="2"/>
              <a:buChar char="Ø"/>
            </a:pPr>
            <a:endParaRPr lang="en-IN" sz="2200" dirty="0">
              <a:latin typeface="Times New Roman" panose="02020603050405020304" pitchFamily="18" charset="0"/>
              <a:cs typeface="Times New Roman" panose="02020603050405020304" pitchFamily="18" charset="0"/>
            </a:endParaRPr>
          </a:p>
          <a:p>
            <a:pPr marL="571500" lvl="1" indent="0" algn="just">
              <a:buNone/>
            </a:pPr>
            <a:endParaRPr lang="en-IN" sz="2200"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A5C1DCE-0763-1A9B-C171-F27B971C87BA}"/>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E15C0375-74EC-A753-A82D-6EA7DB8B04CA}"/>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BBF4B639-293C-02CC-29E3-5413E55FC06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spTree>
    <p:extLst>
      <p:ext uri="{BB962C8B-B14F-4D97-AF65-F5344CB8AC3E}">
        <p14:creationId xmlns:p14="http://schemas.microsoft.com/office/powerpoint/2010/main" val="16412776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ED132-3F64-0E47-6EF1-82ED12560FBA}"/>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CMAPSS – Baseline &amp; LSTM Results</a:t>
            </a:r>
          </a:p>
        </p:txBody>
      </p:sp>
      <p:sp>
        <p:nvSpPr>
          <p:cNvPr id="3" name="Text Placeholder 2">
            <a:extLst>
              <a:ext uri="{FF2B5EF4-FFF2-40B4-BE49-F238E27FC236}">
                <a16:creationId xmlns:a16="http://schemas.microsoft.com/office/drawing/2014/main" id="{D4891719-8DE7-9DBF-3292-ADC47288DAF8}"/>
              </a:ext>
            </a:extLst>
          </p:cNvPr>
          <p:cNvSpPr>
            <a:spLocks noGrp="1"/>
          </p:cNvSpPr>
          <p:nvPr>
            <p:ph type="body" idx="1"/>
          </p:nvPr>
        </p:nvSpPr>
        <p:spPr/>
        <p:txBody>
          <a:bodyPr>
            <a:normAutofit/>
          </a:bodyPr>
          <a:lstStyle/>
          <a:p>
            <a:pPr lvl="0" algn="just"/>
            <a:r>
              <a:rPr lang="en-IN" dirty="0">
                <a:latin typeface="Times New Roman" panose="02020603050405020304" pitchFamily="18" charset="0"/>
                <a:cs typeface="Times New Roman" panose="02020603050405020304" pitchFamily="18" charset="0"/>
              </a:rPr>
              <a:t>Linear Regression used as baseline model </a:t>
            </a:r>
          </a:p>
          <a:p>
            <a:pPr lvl="1"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MAE: 13.025 | RMSE: 15.761</a:t>
            </a:r>
          </a:p>
          <a:p>
            <a:pPr lvl="0" algn="just"/>
            <a:r>
              <a:rPr lang="en-IN" dirty="0">
                <a:latin typeface="Times New Roman" panose="02020603050405020304" pitchFamily="18" charset="0"/>
                <a:cs typeface="Times New Roman" panose="02020603050405020304" pitchFamily="18" charset="0"/>
              </a:rPr>
              <a:t>LSTM model (2-layer, hidden size = 64) </a:t>
            </a:r>
          </a:p>
          <a:p>
            <a:pPr lvl="1"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Target-scaled outputs, gradient clipping applied</a:t>
            </a:r>
          </a:p>
          <a:p>
            <a:pPr lvl="1"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MAE: 8.818 | RMSE: 13.081</a:t>
            </a:r>
          </a:p>
          <a:p>
            <a:pPr lvl="0" algn="just"/>
            <a:r>
              <a:rPr lang="en-IN" dirty="0">
                <a:latin typeface="Times New Roman" panose="02020603050405020304" pitchFamily="18" charset="0"/>
                <a:cs typeface="Times New Roman" panose="02020603050405020304" pitchFamily="18" charset="0"/>
              </a:rPr>
              <a:t>LSTM shows clear improvement over baseline    	</a:t>
            </a:r>
            <a:r>
              <a:rPr lang="en-IN" sz="2800" dirty="0">
                <a:latin typeface="Times New Roman" panose="02020603050405020304" pitchFamily="18" charset="0"/>
                <a:cs typeface="Times New Roman" panose="02020603050405020304" pitchFamily="18" charset="0"/>
              </a:rPr>
              <a:t>Confirms sequence models capture degradation patterns better than static regression</a:t>
            </a:r>
          </a:p>
          <a:p>
            <a:pPr algn="just"/>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9385260-8E8C-209F-2FB7-06AE2D1ED02C}"/>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FCCF12BC-4BA7-6A20-DC48-0C6F0650025E}"/>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4627B237-DE5B-CDE3-911E-225BD1B4943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spTree>
    <p:extLst>
      <p:ext uri="{BB962C8B-B14F-4D97-AF65-F5344CB8AC3E}">
        <p14:creationId xmlns:p14="http://schemas.microsoft.com/office/powerpoint/2010/main" val="27134009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0B0C2-6923-2132-8991-07F3F9309A7A}"/>
              </a:ext>
            </a:extLst>
          </p:cNvPr>
          <p:cNvSpPr>
            <a:spLocks noGrp="1"/>
          </p:cNvSpPr>
          <p:nvPr>
            <p:ph type="title"/>
          </p:nvPr>
        </p:nvSpPr>
        <p:spPr>
          <a:xfrm>
            <a:off x="270388" y="313633"/>
            <a:ext cx="8077200" cy="836407"/>
          </a:xfrm>
        </p:spPr>
        <p:txBody>
          <a:bodyPr>
            <a:normAutofit fontScale="90000"/>
          </a:bodyPr>
          <a:lstStyle/>
          <a:p>
            <a:r>
              <a:rPr lang="en-IN" dirty="0">
                <a:latin typeface="Times New Roman" panose="02020603050405020304" pitchFamily="18" charset="0"/>
                <a:cs typeface="Times New Roman" panose="02020603050405020304" pitchFamily="18" charset="0"/>
              </a:rPr>
              <a:t>Transformer Model for RUL Prediction</a:t>
            </a:r>
          </a:p>
        </p:txBody>
      </p:sp>
      <p:sp>
        <p:nvSpPr>
          <p:cNvPr id="3" name="Text Placeholder 2">
            <a:extLst>
              <a:ext uri="{FF2B5EF4-FFF2-40B4-BE49-F238E27FC236}">
                <a16:creationId xmlns:a16="http://schemas.microsoft.com/office/drawing/2014/main" id="{B56AE086-C113-A6FC-19AA-45B3015AC7C8}"/>
              </a:ext>
            </a:extLst>
          </p:cNvPr>
          <p:cNvSpPr>
            <a:spLocks noGrp="1"/>
          </p:cNvSpPr>
          <p:nvPr>
            <p:ph type="body" idx="1"/>
          </p:nvPr>
        </p:nvSpPr>
        <p:spPr/>
        <p:txBody>
          <a:bodyPr/>
          <a:lstStyle/>
          <a:p>
            <a:pPr marL="114300" indent="0">
              <a:buNone/>
            </a:pPr>
            <a:r>
              <a:rPr lang="en-IN" sz="2000" b="1" dirty="0">
                <a:latin typeface="Times New Roman" panose="02020603050405020304" pitchFamily="18" charset="0"/>
                <a:cs typeface="Times New Roman" panose="02020603050405020304" pitchFamily="18" charset="0"/>
              </a:rPr>
              <a:t>Purpose of Transformer Model</a:t>
            </a:r>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Predict the </a:t>
            </a:r>
            <a:r>
              <a:rPr lang="en-IN" sz="2000" b="1" dirty="0">
                <a:latin typeface="Times New Roman" panose="02020603050405020304" pitchFamily="18" charset="0"/>
                <a:cs typeface="Times New Roman" panose="02020603050405020304" pitchFamily="18" charset="0"/>
              </a:rPr>
              <a:t>Remaining Useful Life (RUL)</a:t>
            </a:r>
            <a:r>
              <a:rPr lang="en-IN" sz="2000" dirty="0">
                <a:latin typeface="Times New Roman" panose="02020603050405020304" pitchFamily="18" charset="0"/>
                <a:cs typeface="Times New Roman" panose="02020603050405020304" pitchFamily="18" charset="0"/>
              </a:rPr>
              <a:t> of aircraft engines from multivariate sensor time-series data. </a:t>
            </a:r>
          </a:p>
          <a:p>
            <a:pPr lvl="0"/>
            <a:r>
              <a:rPr lang="en-IN" sz="2000" dirty="0">
                <a:latin typeface="Times New Roman" panose="02020603050405020304" pitchFamily="18" charset="0"/>
                <a:cs typeface="Times New Roman" panose="02020603050405020304" pitchFamily="18" charset="0"/>
              </a:rPr>
              <a:t>Learn degradation patterns and estimate engine health before failure.</a:t>
            </a:r>
          </a:p>
          <a:p>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47E4829-C776-2D6E-459E-5FAF7F132911}"/>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A7F22F78-1723-A811-8D2C-6F7FDF73728C}"/>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FC5B6419-8223-AEFA-45FA-3D735A9E96D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sp>
        <p:nvSpPr>
          <p:cNvPr id="9" name="Rectangle: Rounded Corners 8">
            <a:extLst>
              <a:ext uri="{FF2B5EF4-FFF2-40B4-BE49-F238E27FC236}">
                <a16:creationId xmlns:a16="http://schemas.microsoft.com/office/drawing/2014/main" id="{C0D81C2B-2987-7788-F780-B4AED7A60006}"/>
              </a:ext>
            </a:extLst>
          </p:cNvPr>
          <p:cNvSpPr/>
          <p:nvPr/>
        </p:nvSpPr>
        <p:spPr>
          <a:xfrm>
            <a:off x="658762" y="3264310"/>
            <a:ext cx="3726426" cy="2989006"/>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500" b="1" dirty="0">
                <a:solidFill>
                  <a:schemeClr val="tx1"/>
                </a:solidFill>
                <a:latin typeface="Times New Roman" panose="02020603050405020304" pitchFamily="18" charset="0"/>
                <a:cs typeface="Times New Roman" panose="02020603050405020304" pitchFamily="18" charset="0"/>
              </a:rPr>
              <a:t>How it Works</a:t>
            </a:r>
            <a:endParaRPr lang="en-IN" sz="1500" dirty="0">
              <a:solidFill>
                <a:schemeClr val="tx1"/>
              </a:solidFill>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Takes </a:t>
            </a:r>
            <a:r>
              <a:rPr lang="en-IN" sz="1500" b="1" dirty="0">
                <a:solidFill>
                  <a:schemeClr val="tx1"/>
                </a:solidFill>
                <a:latin typeface="Times New Roman" panose="02020603050405020304" pitchFamily="18" charset="0"/>
                <a:cs typeface="Times New Roman" panose="02020603050405020304" pitchFamily="18" charset="0"/>
              </a:rPr>
              <a:t>30-cycle sensor windows</a:t>
            </a:r>
            <a:r>
              <a:rPr lang="en-IN" sz="1500" dirty="0">
                <a:solidFill>
                  <a:schemeClr val="tx1"/>
                </a:solidFill>
                <a:latin typeface="Times New Roman" panose="02020603050405020304" pitchFamily="18" charset="0"/>
                <a:cs typeface="Times New Roman" panose="02020603050405020304" pitchFamily="18" charset="0"/>
              </a:rPr>
              <a:t> as input. </a:t>
            </a: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Uses </a:t>
            </a:r>
            <a:r>
              <a:rPr lang="en-IN" sz="1500" b="1" dirty="0">
                <a:solidFill>
                  <a:schemeClr val="tx1"/>
                </a:solidFill>
                <a:latin typeface="Times New Roman" panose="02020603050405020304" pitchFamily="18" charset="0"/>
                <a:cs typeface="Times New Roman" panose="02020603050405020304" pitchFamily="18" charset="0"/>
              </a:rPr>
              <a:t>Multi-Head Self-Attention</a:t>
            </a:r>
            <a:r>
              <a:rPr lang="en-IN" sz="1500" dirty="0">
                <a:solidFill>
                  <a:schemeClr val="tx1"/>
                </a:solidFill>
                <a:latin typeface="Times New Roman" panose="02020603050405020304" pitchFamily="18" charset="0"/>
                <a:cs typeface="Times New Roman" panose="02020603050405020304" pitchFamily="18" charset="0"/>
              </a:rPr>
              <a:t> to identify important sensor relationships. </a:t>
            </a:r>
          </a:p>
          <a:p>
            <a:pPr marL="285750" lvl="0" indent="-285750">
              <a:buFont typeface="Arial" panose="020B0604020202020204" pitchFamily="34" charset="0"/>
              <a:buChar char="•"/>
            </a:pPr>
            <a:r>
              <a:rPr lang="en-IN" sz="1500" b="1" dirty="0">
                <a:solidFill>
                  <a:schemeClr val="tx1"/>
                </a:solidFill>
                <a:latin typeface="Times New Roman" panose="02020603050405020304" pitchFamily="18" charset="0"/>
                <a:cs typeface="Times New Roman" panose="02020603050405020304" pitchFamily="18" charset="0"/>
              </a:rPr>
              <a:t>Positional Encoding</a:t>
            </a:r>
            <a:r>
              <a:rPr lang="en-IN" sz="1500" dirty="0">
                <a:solidFill>
                  <a:schemeClr val="tx1"/>
                </a:solidFill>
                <a:latin typeface="Times New Roman" panose="02020603050405020304" pitchFamily="18" charset="0"/>
                <a:cs typeface="Times New Roman" panose="02020603050405020304" pitchFamily="18" charset="0"/>
              </a:rPr>
              <a:t> preserves the sequence order of engine cycles. </a:t>
            </a: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Feed Forward Networks generate the final RUL prediction.</a:t>
            </a:r>
          </a:p>
        </p:txBody>
      </p:sp>
      <p:sp>
        <p:nvSpPr>
          <p:cNvPr id="15" name="Rectangle: Rounded Corners 14">
            <a:extLst>
              <a:ext uri="{FF2B5EF4-FFF2-40B4-BE49-F238E27FC236}">
                <a16:creationId xmlns:a16="http://schemas.microsoft.com/office/drawing/2014/main" id="{4925524B-2ACF-ED58-564B-B0AA1AF7A66A}"/>
              </a:ext>
            </a:extLst>
          </p:cNvPr>
          <p:cNvSpPr/>
          <p:nvPr/>
        </p:nvSpPr>
        <p:spPr>
          <a:xfrm>
            <a:off x="4758812" y="3264310"/>
            <a:ext cx="3726426" cy="2964887"/>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500" b="1" dirty="0">
                <a:solidFill>
                  <a:schemeClr val="tx1"/>
                </a:solidFill>
                <a:latin typeface="Times New Roman" panose="02020603050405020304" pitchFamily="18" charset="0"/>
                <a:cs typeface="Times New Roman" panose="02020603050405020304" pitchFamily="18" charset="0"/>
              </a:rPr>
              <a:t>Role in AERIS</a:t>
            </a: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Generates the </a:t>
            </a:r>
            <a:r>
              <a:rPr lang="en-IN" sz="1500" b="1" dirty="0">
                <a:solidFill>
                  <a:schemeClr val="tx1"/>
                </a:solidFill>
                <a:latin typeface="Times New Roman" panose="02020603050405020304" pitchFamily="18" charset="0"/>
                <a:cs typeface="Times New Roman" panose="02020603050405020304" pitchFamily="18" charset="0"/>
              </a:rPr>
              <a:t>health status and RUL prediction</a:t>
            </a:r>
            <a:r>
              <a:rPr lang="en-IN" sz="1500" dirty="0">
                <a:solidFill>
                  <a:schemeClr val="tx1"/>
                </a:solidFill>
                <a:latin typeface="Times New Roman" panose="02020603050405020304" pitchFamily="18" charset="0"/>
                <a:cs typeface="Times New Roman" panose="02020603050405020304" pitchFamily="18" charset="0"/>
              </a:rPr>
              <a:t> for each engine. </a:t>
            </a: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Produces the primary </a:t>
            </a:r>
            <a:r>
              <a:rPr lang="en-IN" sz="1500" b="1" dirty="0">
                <a:solidFill>
                  <a:schemeClr val="tx1"/>
                </a:solidFill>
                <a:latin typeface="Times New Roman" panose="02020603050405020304" pitchFamily="18" charset="0"/>
                <a:cs typeface="Times New Roman" panose="02020603050405020304" pitchFamily="18" charset="0"/>
              </a:rPr>
              <a:t>predictive evidence</a:t>
            </a:r>
            <a:r>
              <a:rPr lang="en-IN" sz="1500" dirty="0">
                <a:solidFill>
                  <a:schemeClr val="tx1"/>
                </a:solidFill>
                <a:latin typeface="Times New Roman" panose="02020603050405020304" pitchFamily="18" charset="0"/>
                <a:cs typeface="Times New Roman" panose="02020603050405020304" pitchFamily="18" charset="0"/>
              </a:rPr>
              <a:t> used by the AERIS framework. </a:t>
            </a: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Sends prediction results to the </a:t>
            </a:r>
            <a:r>
              <a:rPr lang="en-IN" sz="1500" b="1" dirty="0">
                <a:solidFill>
                  <a:schemeClr val="tx1"/>
                </a:solidFill>
                <a:latin typeface="Times New Roman" panose="02020603050405020304" pitchFamily="18" charset="0"/>
                <a:cs typeface="Times New Roman" panose="02020603050405020304" pitchFamily="18" charset="0"/>
              </a:rPr>
              <a:t>Evidence Fusion (Dempster–Shafer)</a:t>
            </a:r>
            <a:r>
              <a:rPr lang="en-IN" sz="1500" dirty="0">
                <a:solidFill>
                  <a:schemeClr val="tx1"/>
                </a:solidFill>
                <a:latin typeface="Times New Roman" panose="02020603050405020304" pitchFamily="18" charset="0"/>
                <a:cs typeface="Times New Roman" panose="02020603050405020304" pitchFamily="18" charset="0"/>
              </a:rPr>
              <a:t> module, where they are combined with maintenance records, accident reports, and knowledge graph reasoning.</a:t>
            </a:r>
          </a:p>
        </p:txBody>
      </p:sp>
    </p:spTree>
    <p:extLst>
      <p:ext uri="{BB962C8B-B14F-4D97-AF65-F5344CB8AC3E}">
        <p14:creationId xmlns:p14="http://schemas.microsoft.com/office/powerpoint/2010/main" val="19957787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D17F6-E0B4-BDC2-D673-5399B81833DF}"/>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CMAPSS – Transformer Model Development</a:t>
            </a:r>
          </a:p>
        </p:txBody>
      </p:sp>
      <p:sp>
        <p:nvSpPr>
          <p:cNvPr id="3" name="Text Placeholder 2">
            <a:extLst>
              <a:ext uri="{FF2B5EF4-FFF2-40B4-BE49-F238E27FC236}">
                <a16:creationId xmlns:a16="http://schemas.microsoft.com/office/drawing/2014/main" id="{BA975F64-DEF3-F37D-CA53-D6CF8BE401CD}"/>
              </a:ext>
            </a:extLst>
          </p:cNvPr>
          <p:cNvSpPr>
            <a:spLocks noGrp="1"/>
          </p:cNvSpPr>
          <p:nvPr>
            <p:ph type="body" idx="1"/>
          </p:nvPr>
        </p:nvSpPr>
        <p:spPr/>
        <p:txBody>
          <a:bodyPr>
            <a:normAutofit fontScale="77500" lnSpcReduction="20000"/>
          </a:bodyPr>
          <a:lstStyle/>
          <a:p>
            <a:pPr lvl="0" algn="just"/>
            <a:r>
              <a:rPr lang="en-IN" dirty="0">
                <a:latin typeface="Times New Roman" panose="02020603050405020304" pitchFamily="18" charset="0"/>
                <a:cs typeface="Times New Roman" panose="02020603050405020304" pitchFamily="18" charset="0"/>
              </a:rPr>
              <a:t>First attempt: naive Transformer (D_MODEL=64, dropout=0.1) </a:t>
            </a:r>
          </a:p>
          <a:p>
            <a:pPr lvl="1"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Result: overfit, underperformed LSTM</a:t>
            </a:r>
          </a:p>
          <a:p>
            <a:pPr lvl="1"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MAE: 9.066 | RMSE: 13.924</a:t>
            </a:r>
          </a:p>
          <a:p>
            <a:pPr lvl="0" algn="just"/>
            <a:r>
              <a:rPr lang="en-IN" dirty="0">
                <a:latin typeface="Times New Roman" panose="02020603050405020304" pitchFamily="18" charset="0"/>
                <a:cs typeface="Times New Roman" panose="02020603050405020304" pitchFamily="18" charset="0"/>
              </a:rPr>
              <a:t>Root cause: model too large/complex for dataset size, no proper validation control</a:t>
            </a:r>
          </a:p>
          <a:p>
            <a:pPr lvl="0" algn="just"/>
            <a:r>
              <a:rPr lang="en-IN" dirty="0">
                <a:latin typeface="Times New Roman" panose="02020603050405020304" pitchFamily="18" charset="0"/>
                <a:cs typeface="Times New Roman" panose="02020603050405020304" pitchFamily="18" charset="0"/>
              </a:rPr>
              <a:t>Fix applied: </a:t>
            </a:r>
          </a:p>
          <a:p>
            <a:pPr lvl="1"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Reduced model size (D_MODEL=32, N_HEADS=4, N_LAYERS=2)</a:t>
            </a:r>
          </a:p>
          <a:p>
            <a:pPr lvl="1"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Increased dropout (0.3) + weight decay (1e-4)</a:t>
            </a:r>
          </a:p>
          <a:p>
            <a:pPr lvl="1"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Added engine-window-level train/validation split</a:t>
            </a:r>
          </a:p>
          <a:p>
            <a:pPr lvl="1"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Early stopping (patience = 8) + </a:t>
            </a:r>
            <a:r>
              <a:rPr lang="en-IN" dirty="0" err="1">
                <a:latin typeface="Times New Roman" panose="02020603050405020304" pitchFamily="18" charset="0"/>
                <a:cs typeface="Times New Roman" panose="02020603050405020304" pitchFamily="18" charset="0"/>
              </a:rPr>
              <a:t>ReduceLROnPlateau</a:t>
            </a:r>
            <a:r>
              <a:rPr lang="en-IN" dirty="0">
                <a:latin typeface="Times New Roman" panose="02020603050405020304" pitchFamily="18" charset="0"/>
                <a:cs typeface="Times New Roman" panose="02020603050405020304" pitchFamily="18" charset="0"/>
              </a:rPr>
              <a:t> scheduler</a:t>
            </a:r>
          </a:p>
          <a:p>
            <a:pPr algn="just"/>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BE8673F-989D-C400-C6DE-E62B8741E809}"/>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FAE18A14-14CD-0A40-28CB-8E5978CA4065}"/>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926BD34B-801D-A573-B988-8796D59D707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Tree>
    <p:extLst>
      <p:ext uri="{BB962C8B-B14F-4D97-AF65-F5344CB8AC3E}">
        <p14:creationId xmlns:p14="http://schemas.microsoft.com/office/powerpoint/2010/main" val="26142308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0151E-BE88-F16E-AF43-0198218B2CCD}"/>
              </a:ext>
            </a:extLst>
          </p:cNvPr>
          <p:cNvSpPr>
            <a:spLocks noGrp="1"/>
          </p:cNvSpPr>
          <p:nvPr>
            <p:ph type="title"/>
          </p:nvPr>
        </p:nvSpPr>
        <p:spPr>
          <a:xfrm>
            <a:off x="457200" y="274638"/>
            <a:ext cx="8229600" cy="856072"/>
          </a:xfrm>
        </p:spPr>
        <p:txBody>
          <a:bodyPr>
            <a:normAutofit fontScale="90000"/>
          </a:bodyPr>
          <a:lstStyle/>
          <a:p>
            <a:r>
              <a:rPr lang="en-IN" dirty="0">
                <a:latin typeface="Times New Roman" panose="02020603050405020304" pitchFamily="18" charset="0"/>
                <a:cs typeface="Times New Roman" panose="02020603050405020304" pitchFamily="18" charset="0"/>
              </a:rPr>
              <a:t>CMAPSS – Final Transformer Results</a:t>
            </a:r>
          </a:p>
        </p:txBody>
      </p:sp>
      <p:sp>
        <p:nvSpPr>
          <p:cNvPr id="3" name="Text Placeholder 2">
            <a:extLst>
              <a:ext uri="{FF2B5EF4-FFF2-40B4-BE49-F238E27FC236}">
                <a16:creationId xmlns:a16="http://schemas.microsoft.com/office/drawing/2014/main" id="{588FA572-B687-BD28-5FC8-BAF2343730B8}"/>
              </a:ext>
            </a:extLst>
          </p:cNvPr>
          <p:cNvSpPr>
            <a:spLocks noGrp="1"/>
          </p:cNvSpPr>
          <p:nvPr>
            <p:ph type="body" idx="1"/>
          </p:nvPr>
        </p:nvSpPr>
        <p:spPr/>
        <p:txBody>
          <a:bodyPr>
            <a:normAutofit fontScale="77500" lnSpcReduction="20000"/>
          </a:bodyPr>
          <a:lstStyle/>
          <a:p>
            <a:pPr lvl="0"/>
            <a:r>
              <a:rPr lang="en-IN" dirty="0">
                <a:latin typeface="Times New Roman" panose="02020603050405020304" pitchFamily="18" charset="0"/>
                <a:cs typeface="Times New Roman" panose="02020603050405020304" pitchFamily="18" charset="0"/>
              </a:rPr>
              <a:t>Final regularized Transformer outperforms both baseline and LSTM </a:t>
            </a:r>
          </a:p>
          <a:p>
            <a:pPr lvl="1"/>
            <a:r>
              <a:rPr lang="en-IN" b="1" dirty="0">
                <a:latin typeface="Times New Roman" panose="02020603050405020304" pitchFamily="18" charset="0"/>
                <a:cs typeface="Times New Roman" panose="02020603050405020304" pitchFamily="18" charset="0"/>
              </a:rPr>
              <a:t>MAE: 8.644 | RMSE: 12.222</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Best-performing model selected for CMAPSS RUL prediction</a:t>
            </a:r>
          </a:p>
          <a:p>
            <a:pPr lvl="0"/>
            <a:r>
              <a:rPr lang="en-IN" dirty="0">
                <a:latin typeface="Times New Roman" panose="02020603050405020304" pitchFamily="18" charset="0"/>
                <a:cs typeface="Times New Roman" panose="02020603050405020304" pitchFamily="18" charset="0"/>
              </a:rPr>
              <a:t>Model saved as cmapss_transformer_rul_v2.pt</a:t>
            </a:r>
          </a:p>
          <a:p>
            <a:pPr lvl="0"/>
            <a:r>
              <a:rPr lang="en-IN" dirty="0">
                <a:latin typeface="Times New Roman" panose="02020603050405020304" pitchFamily="18" charset="0"/>
                <a:cs typeface="Times New Roman" panose="02020603050405020304" pitchFamily="18" charset="0"/>
              </a:rPr>
              <a:t>Ready for next steps: SHAP explainability + evidence object packaging for Dempster-Shafer fusion</a:t>
            </a:r>
          </a:p>
          <a:p>
            <a:endParaRPr lang="en-IN"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9A10BD43-42FF-24DD-8880-AD80014EF285}"/>
              </a:ext>
            </a:extLst>
          </p:cNvPr>
          <p:cNvSpPr>
            <a:spLocks noGrp="1"/>
          </p:cNvSpPr>
          <p:nvPr>
            <p:ph type="body" idx="2"/>
          </p:nvPr>
        </p:nvSpPr>
        <p:spPr/>
        <p:txBody>
          <a:bodyPr/>
          <a:lstStyle/>
          <a:p>
            <a:endParaRPr lang="en-IN" dirty="0"/>
          </a:p>
        </p:txBody>
      </p:sp>
      <p:sp>
        <p:nvSpPr>
          <p:cNvPr id="5" name="Date Placeholder 4">
            <a:extLst>
              <a:ext uri="{FF2B5EF4-FFF2-40B4-BE49-F238E27FC236}">
                <a16:creationId xmlns:a16="http://schemas.microsoft.com/office/drawing/2014/main" id="{4140D3F7-0EFC-97FE-D13C-838632DDC83F}"/>
              </a:ext>
            </a:extLst>
          </p:cNvPr>
          <p:cNvSpPr>
            <a:spLocks noGrp="1"/>
          </p:cNvSpPr>
          <p:nvPr>
            <p:ph type="dt" idx="10"/>
          </p:nvPr>
        </p:nvSpPr>
        <p:spPr/>
        <p:txBody>
          <a:bodyPr/>
          <a:lstStyle/>
          <a:p>
            <a:r>
              <a:rPr lang="en-US"/>
              <a:t>20/07/2026</a:t>
            </a:r>
          </a:p>
        </p:txBody>
      </p:sp>
      <p:sp>
        <p:nvSpPr>
          <p:cNvPr id="6" name="Footer Placeholder 5">
            <a:extLst>
              <a:ext uri="{FF2B5EF4-FFF2-40B4-BE49-F238E27FC236}">
                <a16:creationId xmlns:a16="http://schemas.microsoft.com/office/drawing/2014/main" id="{9E8B302F-1EBA-A91D-7FB9-0746BC6D875C}"/>
              </a:ext>
            </a:extLst>
          </p:cNvPr>
          <p:cNvSpPr>
            <a:spLocks noGrp="1"/>
          </p:cNvSpPr>
          <p:nvPr>
            <p:ph type="ftr" idx="11"/>
          </p:nvPr>
        </p:nvSpPr>
        <p:spPr/>
        <p:txBody>
          <a:bodyPr/>
          <a:lstStyle/>
          <a:p>
            <a:r>
              <a:rPr lang="en-US"/>
              <a:t>DEPT OF AI&amp;DS, SAEC</a:t>
            </a:r>
          </a:p>
        </p:txBody>
      </p:sp>
      <p:sp>
        <p:nvSpPr>
          <p:cNvPr id="7" name="Slide Number Placeholder 6">
            <a:extLst>
              <a:ext uri="{FF2B5EF4-FFF2-40B4-BE49-F238E27FC236}">
                <a16:creationId xmlns:a16="http://schemas.microsoft.com/office/drawing/2014/main" id="{91B0BE1C-7FF4-0C15-9C43-4B655370E7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pic>
        <p:nvPicPr>
          <p:cNvPr id="9" name="Picture 8">
            <a:extLst>
              <a:ext uri="{FF2B5EF4-FFF2-40B4-BE49-F238E27FC236}">
                <a16:creationId xmlns:a16="http://schemas.microsoft.com/office/drawing/2014/main" id="{0CEF5652-C1DB-17DF-7896-985ACCCC990D}"/>
              </a:ext>
            </a:extLst>
          </p:cNvPr>
          <p:cNvPicPr>
            <a:picLocks noChangeAspect="1"/>
          </p:cNvPicPr>
          <p:nvPr/>
        </p:nvPicPr>
        <p:blipFill>
          <a:blip r:embed="rId2"/>
          <a:stretch>
            <a:fillRect/>
          </a:stretch>
        </p:blipFill>
        <p:spPr>
          <a:xfrm>
            <a:off x="4572000" y="1600200"/>
            <a:ext cx="4139380" cy="4525963"/>
          </a:xfrm>
          <a:prstGeom prst="rect">
            <a:avLst/>
          </a:prstGeom>
        </p:spPr>
      </p:pic>
    </p:spTree>
    <p:extLst>
      <p:ext uri="{BB962C8B-B14F-4D97-AF65-F5344CB8AC3E}">
        <p14:creationId xmlns:p14="http://schemas.microsoft.com/office/powerpoint/2010/main" val="34102256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38B9E-5C7A-589E-88C3-1334A91DFAE0}"/>
              </a:ext>
            </a:extLst>
          </p:cNvPr>
          <p:cNvSpPr>
            <a:spLocks noGrp="1"/>
          </p:cNvSpPr>
          <p:nvPr>
            <p:ph type="title"/>
          </p:nvPr>
        </p:nvSpPr>
        <p:spPr>
          <a:xfrm>
            <a:off x="457200" y="274638"/>
            <a:ext cx="8229600" cy="767581"/>
          </a:xfrm>
        </p:spPr>
        <p:txBody>
          <a:bodyPr/>
          <a:lstStyle/>
          <a:p>
            <a:r>
              <a:rPr lang="en-IN" dirty="0">
                <a:latin typeface="Times New Roman" panose="02020603050405020304" pitchFamily="18" charset="0"/>
                <a:cs typeface="Times New Roman" panose="02020603050405020304" pitchFamily="18" charset="0"/>
              </a:rPr>
              <a:t> Output Continuation….</a:t>
            </a:r>
          </a:p>
        </p:txBody>
      </p:sp>
      <p:sp>
        <p:nvSpPr>
          <p:cNvPr id="4" name="Date Placeholder 3">
            <a:extLst>
              <a:ext uri="{FF2B5EF4-FFF2-40B4-BE49-F238E27FC236}">
                <a16:creationId xmlns:a16="http://schemas.microsoft.com/office/drawing/2014/main" id="{0A0F56C2-68D2-B8AA-1846-BE4FC16BA0EA}"/>
              </a:ext>
            </a:extLst>
          </p:cNvPr>
          <p:cNvSpPr>
            <a:spLocks noGrp="1"/>
          </p:cNvSpPr>
          <p:nvPr>
            <p:ph type="dt" idx="10"/>
          </p:nvPr>
        </p:nvSpPr>
        <p:spPr/>
        <p:txBody>
          <a:bodyPr/>
          <a:lstStyle/>
          <a:p>
            <a:r>
              <a:rPr lang="en-US" dirty="0"/>
              <a:t>07/09/2026</a:t>
            </a:r>
          </a:p>
        </p:txBody>
      </p:sp>
      <p:sp>
        <p:nvSpPr>
          <p:cNvPr id="5" name="Footer Placeholder 4">
            <a:extLst>
              <a:ext uri="{FF2B5EF4-FFF2-40B4-BE49-F238E27FC236}">
                <a16:creationId xmlns:a16="http://schemas.microsoft.com/office/drawing/2014/main" id="{9EFD57D5-8413-297F-538C-6486FA9D2D28}"/>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6A72531E-B3E1-2EB1-D3A7-C341A74D31E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a:p>
        </p:txBody>
      </p:sp>
      <p:pic>
        <p:nvPicPr>
          <p:cNvPr id="8" name="Picture 7">
            <a:extLst>
              <a:ext uri="{FF2B5EF4-FFF2-40B4-BE49-F238E27FC236}">
                <a16:creationId xmlns:a16="http://schemas.microsoft.com/office/drawing/2014/main" id="{A8ADC9F7-8CE6-558F-6AA0-B1B8B91CCD6F}"/>
              </a:ext>
            </a:extLst>
          </p:cNvPr>
          <p:cNvPicPr>
            <a:picLocks noChangeAspect="1"/>
          </p:cNvPicPr>
          <p:nvPr/>
        </p:nvPicPr>
        <p:blipFill>
          <a:blip r:embed="rId2"/>
          <a:stretch>
            <a:fillRect/>
          </a:stretch>
        </p:blipFill>
        <p:spPr>
          <a:xfrm>
            <a:off x="457200" y="1294889"/>
            <a:ext cx="8323006" cy="4884685"/>
          </a:xfrm>
          <a:prstGeom prst="rect">
            <a:avLst/>
          </a:prstGeom>
        </p:spPr>
      </p:pic>
    </p:spTree>
    <p:extLst>
      <p:ext uri="{BB962C8B-B14F-4D97-AF65-F5344CB8AC3E}">
        <p14:creationId xmlns:p14="http://schemas.microsoft.com/office/powerpoint/2010/main" val="15782990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29AB2-6243-1E7B-796D-EC24D879FF58}"/>
              </a:ext>
            </a:extLst>
          </p:cNvPr>
          <p:cNvSpPr>
            <a:spLocks noGrp="1"/>
          </p:cNvSpPr>
          <p:nvPr>
            <p:ph type="title"/>
          </p:nvPr>
        </p:nvSpPr>
        <p:spPr>
          <a:xfrm>
            <a:off x="378542" y="224120"/>
            <a:ext cx="7978877" cy="788603"/>
          </a:xfrm>
        </p:spPr>
        <p:txBody>
          <a:bodyPr>
            <a:normAutofit fontScale="90000"/>
          </a:bodyPr>
          <a:lstStyle/>
          <a:p>
            <a:r>
              <a:rPr lang="en-IN" dirty="0">
                <a:latin typeface="Times New Roman" panose="02020603050405020304" pitchFamily="18" charset="0"/>
                <a:cs typeface="Times New Roman" panose="02020603050405020304" pitchFamily="18" charset="0"/>
              </a:rPr>
              <a:t>UPCOMING IMPLEMENTATION </a:t>
            </a:r>
          </a:p>
        </p:txBody>
      </p:sp>
      <p:sp>
        <p:nvSpPr>
          <p:cNvPr id="4" name="Date Placeholder 3">
            <a:extLst>
              <a:ext uri="{FF2B5EF4-FFF2-40B4-BE49-F238E27FC236}">
                <a16:creationId xmlns:a16="http://schemas.microsoft.com/office/drawing/2014/main" id="{58BEA151-5A9B-9EA8-E0CC-7D55873C39D3}"/>
              </a:ext>
            </a:extLst>
          </p:cNvPr>
          <p:cNvSpPr>
            <a:spLocks noGrp="1"/>
          </p:cNvSpPr>
          <p:nvPr>
            <p:ph type="dt" idx="10"/>
          </p:nvPr>
        </p:nvSpPr>
        <p:spPr/>
        <p:txBody>
          <a:bodyPr/>
          <a:lstStyle/>
          <a:p>
            <a:r>
              <a:rPr lang="en-US" dirty="0"/>
              <a:t>07/09/2026</a:t>
            </a:r>
          </a:p>
        </p:txBody>
      </p:sp>
      <p:sp>
        <p:nvSpPr>
          <p:cNvPr id="5" name="Footer Placeholder 4">
            <a:extLst>
              <a:ext uri="{FF2B5EF4-FFF2-40B4-BE49-F238E27FC236}">
                <a16:creationId xmlns:a16="http://schemas.microsoft.com/office/drawing/2014/main" id="{C7DA3E62-41AD-37B7-5AD1-34CCBE5647F2}"/>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52867780-9C68-D49E-4547-E1FFD86C96E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41</a:t>
            </a:fld>
            <a:endParaRPr lang="en-US"/>
          </a:p>
        </p:txBody>
      </p:sp>
      <p:sp>
        <p:nvSpPr>
          <p:cNvPr id="7" name="Rectangle 6">
            <a:extLst>
              <a:ext uri="{FF2B5EF4-FFF2-40B4-BE49-F238E27FC236}">
                <a16:creationId xmlns:a16="http://schemas.microsoft.com/office/drawing/2014/main" id="{6A8F8D7B-1DFD-B695-E8A9-659813F089F5}"/>
              </a:ext>
            </a:extLst>
          </p:cNvPr>
          <p:cNvSpPr/>
          <p:nvPr/>
        </p:nvSpPr>
        <p:spPr>
          <a:xfrm>
            <a:off x="762000" y="1208792"/>
            <a:ext cx="3500284" cy="1880853"/>
          </a:xfrm>
          <a:prstGeom prst="rect">
            <a:avLst/>
          </a:prstGeom>
          <a:solidFill>
            <a:schemeClr val="accent3">
              <a:lumMod val="60000"/>
              <a:lumOff val="4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800" b="1" dirty="0">
                <a:solidFill>
                  <a:schemeClr val="tx1"/>
                </a:solidFill>
                <a:latin typeface="Times New Roman" panose="02020603050405020304" pitchFamily="18" charset="0"/>
                <a:cs typeface="Times New Roman" panose="02020603050405020304" pitchFamily="18" charset="0"/>
              </a:rPr>
              <a:t>1.</a:t>
            </a:r>
            <a:r>
              <a:rPr lang="en-IN" sz="1700" b="1" dirty="0">
                <a:solidFill>
                  <a:schemeClr val="tx1"/>
                </a:solidFill>
                <a:latin typeface="Times New Roman" panose="02020603050405020304" pitchFamily="18" charset="0"/>
                <a:cs typeface="Times New Roman" panose="02020603050405020304" pitchFamily="18" charset="0"/>
              </a:rPr>
              <a:t>SHAP Explainability</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Identify important engine sensors influencing prediction </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Explain model decisions </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Generate feature importance scores</a:t>
            </a:r>
          </a:p>
          <a:p>
            <a:pPr algn="ctr"/>
            <a:endParaRPr lang="en-IN" dirty="0">
              <a:solidFill>
                <a:schemeClr val="tx1"/>
              </a:solidFill>
              <a:latin typeface="Times New Roman" panose="02020603050405020304" pitchFamily="18"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51D5C011-E516-1ABA-82EF-06BBEC8F9B7E}"/>
              </a:ext>
            </a:extLst>
          </p:cNvPr>
          <p:cNvSpPr>
            <a:spLocks noGrp="1"/>
          </p:cNvSpPr>
          <p:nvPr>
            <p:ph type="body" idx="1"/>
          </p:nvPr>
        </p:nvSpPr>
        <p:spPr>
          <a:xfrm>
            <a:off x="2728451" y="3429000"/>
            <a:ext cx="3500284" cy="1880852"/>
          </a:xfrm>
          <a:prstGeom prst="rect">
            <a:avLst/>
          </a:prstGeom>
          <a:solidFill>
            <a:schemeClr val="accent3">
              <a:lumMod val="60000"/>
              <a:lumOff val="4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47500" lnSpcReduction="20000"/>
          </a:bodyPr>
          <a:lstStyle/>
          <a:p>
            <a:pPr marL="114300" indent="0">
              <a:buNone/>
            </a:pPr>
            <a:r>
              <a:rPr lang="en-IN" sz="3800" b="1" dirty="0">
                <a:latin typeface="Times New Roman" panose="02020603050405020304" pitchFamily="18" charset="0"/>
                <a:cs typeface="Times New Roman" panose="02020603050405020304" pitchFamily="18" charset="0"/>
              </a:rPr>
              <a:t>3. Dempster-Shafer Theory</a:t>
            </a:r>
          </a:p>
          <a:p>
            <a:pPr lvl="0"/>
            <a:r>
              <a:rPr lang="en-IN" sz="2900" dirty="0">
                <a:latin typeface="Times New Roman" panose="02020603050405020304" pitchFamily="18" charset="0"/>
                <a:cs typeface="Times New Roman" panose="02020603050405020304" pitchFamily="18" charset="0"/>
              </a:rPr>
              <a:t>Combine evidence from multiple datasets </a:t>
            </a:r>
          </a:p>
          <a:p>
            <a:pPr lvl="0"/>
            <a:r>
              <a:rPr lang="en-IN" sz="2900" dirty="0">
                <a:latin typeface="Times New Roman" panose="02020603050405020304" pitchFamily="18" charset="0"/>
                <a:cs typeface="Times New Roman" panose="02020603050405020304" pitchFamily="18" charset="0"/>
              </a:rPr>
              <a:t>Resolve uncertainty </a:t>
            </a:r>
          </a:p>
          <a:p>
            <a:pPr lvl="0"/>
            <a:r>
              <a:rPr lang="en-IN" sz="2900" dirty="0">
                <a:latin typeface="Times New Roman" panose="02020603050405020304" pitchFamily="18" charset="0"/>
                <a:cs typeface="Times New Roman" panose="02020603050405020304" pitchFamily="18" charset="0"/>
              </a:rPr>
              <a:t>Produce a unified confidence score </a:t>
            </a:r>
          </a:p>
          <a:p>
            <a:pPr lvl="0"/>
            <a:r>
              <a:rPr lang="en-IN" sz="2900" dirty="0">
                <a:latin typeface="Times New Roman" panose="02020603050405020304" pitchFamily="18" charset="0"/>
                <a:cs typeface="Times New Roman" panose="02020603050405020304" pitchFamily="18" charset="0"/>
              </a:rPr>
              <a:t>Improve reliability of maintenance decisions</a:t>
            </a:r>
          </a:p>
          <a:p>
            <a:pPr algn="ctr"/>
            <a:endParaRPr lang="en-IN" dirty="0">
              <a:solidFill>
                <a:schemeClr val="tx1"/>
              </a:solidFill>
              <a:latin typeface="Times New Roman" panose="02020603050405020304" pitchFamily="18" charset="0"/>
              <a:cs typeface="Times New Roman" panose="02020603050405020304" pitchFamily="18" charset="0"/>
            </a:endParaRPr>
          </a:p>
        </p:txBody>
      </p:sp>
      <p:sp>
        <p:nvSpPr>
          <p:cNvPr id="13" name="Text Placeholder 11">
            <a:extLst>
              <a:ext uri="{FF2B5EF4-FFF2-40B4-BE49-F238E27FC236}">
                <a16:creationId xmlns:a16="http://schemas.microsoft.com/office/drawing/2014/main" id="{ACE7EDFD-AE69-28F8-A654-7DF20C8B1143}"/>
              </a:ext>
            </a:extLst>
          </p:cNvPr>
          <p:cNvSpPr txBox="1">
            <a:spLocks/>
          </p:cNvSpPr>
          <p:nvPr/>
        </p:nvSpPr>
        <p:spPr>
          <a:xfrm>
            <a:off x="4955459" y="1174593"/>
            <a:ext cx="3500284" cy="1949249"/>
          </a:xfrm>
          <a:prstGeom prst="rect">
            <a:avLst/>
          </a:prstGeom>
          <a:solidFill>
            <a:schemeClr val="accent3">
              <a:lumMod val="60000"/>
              <a:lumOff val="40000"/>
            </a:schemeClr>
          </a:solidFill>
          <a:ln w="25400" cap="flat" cmpd="sng" algn="ctr">
            <a:solidFill>
              <a:schemeClr val="bg2">
                <a:lumMod val="20000"/>
                <a:lumOff val="8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spcFirstLastPara="1" wrap="square" lIns="91425" tIns="45700" rIns="91425" bIns="45700" rtlCol="0" anchor="ctr" anchorCtr="0">
            <a:normAutofit fontScale="40000" lnSpcReduction="20000"/>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114300" indent="0">
              <a:buNone/>
            </a:pPr>
            <a:r>
              <a:rPr lang="en-IN" sz="4500" b="1" dirty="0">
                <a:latin typeface="Times New Roman" panose="02020603050405020304" pitchFamily="18" charset="0"/>
                <a:cs typeface="Times New Roman" panose="02020603050405020304" pitchFamily="18" charset="0"/>
              </a:rPr>
              <a:t>2. Evidence Object Generation</a:t>
            </a:r>
          </a:p>
          <a:p>
            <a:pPr marL="114300" indent="0">
              <a:buNone/>
            </a:pPr>
            <a:r>
              <a:rPr lang="en-IN" sz="3500" dirty="0">
                <a:latin typeface="Times New Roman" panose="02020603050405020304" pitchFamily="18" charset="0"/>
                <a:cs typeface="Times New Roman" panose="02020603050405020304" pitchFamily="18" charset="0"/>
              </a:rPr>
              <a:t>Convert model outputs into structured evidence containing:</a:t>
            </a:r>
          </a:p>
          <a:p>
            <a:pPr lvl="0"/>
            <a:r>
              <a:rPr lang="en-IN" sz="3500" dirty="0">
                <a:latin typeface="Times New Roman" panose="02020603050405020304" pitchFamily="18" charset="0"/>
                <a:cs typeface="Times New Roman" panose="02020603050405020304" pitchFamily="18" charset="0"/>
              </a:rPr>
              <a:t>Predicted RUL </a:t>
            </a:r>
          </a:p>
          <a:p>
            <a:pPr lvl="0"/>
            <a:r>
              <a:rPr lang="en-IN" sz="3500" dirty="0">
                <a:latin typeface="Times New Roman" panose="02020603050405020304" pitchFamily="18" charset="0"/>
                <a:cs typeface="Times New Roman" panose="02020603050405020304" pitchFamily="18" charset="0"/>
              </a:rPr>
              <a:t>Confidence Score </a:t>
            </a:r>
          </a:p>
          <a:p>
            <a:pPr lvl="0"/>
            <a:r>
              <a:rPr lang="en-IN" sz="3500" dirty="0">
                <a:latin typeface="Times New Roman" panose="02020603050405020304" pitchFamily="18" charset="0"/>
                <a:cs typeface="Times New Roman" panose="02020603050405020304" pitchFamily="18" charset="0"/>
              </a:rPr>
              <a:t>Important Sensors </a:t>
            </a:r>
          </a:p>
          <a:p>
            <a:pPr lvl="0"/>
            <a:r>
              <a:rPr lang="en-IN" sz="3500" dirty="0">
                <a:latin typeface="Times New Roman" panose="02020603050405020304" pitchFamily="18" charset="0"/>
                <a:cs typeface="Times New Roman" panose="02020603050405020304" pitchFamily="18" charset="0"/>
              </a:rPr>
              <a:t>Timestamp </a:t>
            </a:r>
          </a:p>
          <a:p>
            <a:pPr marL="114300" indent="0" algn="ctr">
              <a:buNone/>
            </a:pPr>
            <a:endParaRPr lang="en-IN" dirty="0">
              <a:solidFill>
                <a:schemeClr val="tx1"/>
              </a:solidFill>
              <a:latin typeface="Times New Roman" panose="02020603050405020304" pitchFamily="18" charset="0"/>
              <a:cs typeface="Times New Roman" panose="02020603050405020304" pitchFamily="18" charset="0"/>
            </a:endParaRPr>
          </a:p>
        </p:txBody>
      </p:sp>
      <p:sp>
        <p:nvSpPr>
          <p:cNvPr id="14" name="Rectangle: Rounded Corners 13">
            <a:extLst>
              <a:ext uri="{FF2B5EF4-FFF2-40B4-BE49-F238E27FC236}">
                <a16:creationId xmlns:a16="http://schemas.microsoft.com/office/drawing/2014/main" id="{557E65D8-8BFB-22DE-8AAB-AA6C41CF9C4E}"/>
              </a:ext>
            </a:extLst>
          </p:cNvPr>
          <p:cNvSpPr/>
          <p:nvPr/>
        </p:nvSpPr>
        <p:spPr>
          <a:xfrm>
            <a:off x="1646904" y="5533550"/>
            <a:ext cx="6046838" cy="788603"/>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Phase 1 Expected Output</a:t>
            </a:r>
          </a:p>
          <a:p>
            <a:pPr algn="ctr"/>
            <a:r>
              <a:rPr lang="en-IN" sz="1800" b="1" dirty="0">
                <a:solidFill>
                  <a:schemeClr val="tx1"/>
                </a:solidFill>
                <a:latin typeface="Times New Roman" panose="02020603050405020304" pitchFamily="18" charset="0"/>
                <a:cs typeface="Times New Roman" panose="02020603050405020304" pitchFamily="18" charset="0"/>
              </a:rPr>
              <a:t>Evidence-Based Engine Health Assessment</a:t>
            </a:r>
            <a:endParaRPr lang="en-IN" sz="1800"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22103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20D3A-3E3D-F69A-47F4-5945E4849F9B}"/>
              </a:ext>
            </a:extLst>
          </p:cNvPr>
          <p:cNvSpPr>
            <a:spLocks noGrp="1"/>
          </p:cNvSpPr>
          <p:nvPr>
            <p:ph type="title"/>
          </p:nvPr>
        </p:nvSpPr>
        <p:spPr>
          <a:xfrm>
            <a:off x="457200" y="274638"/>
            <a:ext cx="8229600" cy="806910"/>
          </a:xfrm>
        </p:spPr>
        <p:txBody>
          <a:bodyPr/>
          <a:lstStyle/>
          <a:p>
            <a:r>
              <a:rPr lang="en-IN" dirty="0">
                <a:latin typeface="Times New Roman" panose="02020603050405020304" pitchFamily="18" charset="0"/>
                <a:cs typeface="Times New Roman" panose="02020603050405020304" pitchFamily="18" charset="0"/>
              </a:rPr>
              <a:t>NTSB Dataset</a:t>
            </a:r>
          </a:p>
        </p:txBody>
      </p:sp>
      <p:sp>
        <p:nvSpPr>
          <p:cNvPr id="3" name="Text Placeholder 2">
            <a:extLst>
              <a:ext uri="{FF2B5EF4-FFF2-40B4-BE49-F238E27FC236}">
                <a16:creationId xmlns:a16="http://schemas.microsoft.com/office/drawing/2014/main" id="{C89E0637-9B0E-C7C8-8F07-B1FE7E23FE3B}"/>
              </a:ext>
            </a:extLst>
          </p:cNvPr>
          <p:cNvSpPr>
            <a:spLocks noGrp="1"/>
          </p:cNvSpPr>
          <p:nvPr>
            <p:ph type="body" idx="1"/>
          </p:nvPr>
        </p:nvSpPr>
        <p:spPr>
          <a:xfrm>
            <a:off x="457200" y="1105258"/>
            <a:ext cx="8229600" cy="5020906"/>
          </a:xfrm>
        </p:spPr>
        <p:txBody>
          <a:bodyPr>
            <a:normAutofit fontScale="47500" lnSpcReduction="20000"/>
          </a:bodyPr>
          <a:lstStyle/>
          <a:p>
            <a:pPr marL="114300" indent="0">
              <a:buNone/>
            </a:pPr>
            <a:r>
              <a:rPr lang="en-IN" sz="3800" b="1" dirty="0">
                <a:latin typeface="Times New Roman" panose="02020603050405020304" pitchFamily="18" charset="0"/>
                <a:cs typeface="Times New Roman" panose="02020603050405020304" pitchFamily="18" charset="0"/>
              </a:rPr>
              <a:t>DATASET OVERVIEW </a:t>
            </a:r>
          </a:p>
          <a:p>
            <a:pPr lvl="0"/>
            <a:r>
              <a:rPr lang="en-IN" dirty="0">
                <a:latin typeface="Times New Roman" panose="02020603050405020304" pitchFamily="18" charset="0"/>
                <a:cs typeface="Times New Roman" panose="02020603050405020304" pitchFamily="18" charset="0"/>
              </a:rPr>
              <a:t>Dataset: NTSB Aviation Accident &amp; Incident Final Reports (2016–2023)</a:t>
            </a:r>
          </a:p>
          <a:p>
            <a:pPr lvl="0"/>
            <a:r>
              <a:rPr lang="en-IN" dirty="0">
                <a:latin typeface="Times New Roman" panose="02020603050405020304" pitchFamily="18" charset="0"/>
                <a:cs typeface="Times New Roman" panose="02020603050405020304" pitchFamily="18" charset="0"/>
              </a:rPr>
              <a:t>Source: </a:t>
            </a:r>
            <a:r>
              <a:rPr lang="en-IN" dirty="0" err="1">
                <a:latin typeface="Times New Roman" panose="02020603050405020304" pitchFamily="18" charset="0"/>
                <a:cs typeface="Times New Roman" panose="02020603050405020304" pitchFamily="18" charset="0"/>
              </a:rPr>
              <a:t>Zenodo</a:t>
            </a:r>
            <a:r>
              <a:rPr lang="en-IN" dirty="0">
                <a:latin typeface="Times New Roman" panose="02020603050405020304" pitchFamily="18" charset="0"/>
                <a:cs typeface="Times New Roman" panose="02020603050405020304" pitchFamily="18" charset="0"/>
              </a:rPr>
              <a:t> repository</a:t>
            </a:r>
          </a:p>
          <a:p>
            <a:pPr lvl="0"/>
            <a:r>
              <a:rPr lang="en-IN" dirty="0">
                <a:latin typeface="Times New Roman" panose="02020603050405020304" pitchFamily="18" charset="0"/>
                <a:cs typeface="Times New Roman" panose="02020603050405020304" pitchFamily="18" charset="0"/>
              </a:rPr>
              <a:t>Replaces originally planned FAA SDR dataset</a:t>
            </a:r>
          </a:p>
          <a:p>
            <a:pPr lvl="0"/>
            <a:r>
              <a:rPr lang="en-IN" dirty="0">
                <a:latin typeface="Times New Roman" panose="02020603050405020304" pitchFamily="18" charset="0"/>
                <a:cs typeface="Times New Roman" panose="02020603050405020304" pitchFamily="18" charset="0"/>
              </a:rPr>
              <a:t>Key fields available: </a:t>
            </a:r>
          </a:p>
          <a:p>
            <a:pPr lvl="1"/>
            <a:r>
              <a:rPr lang="en-IN" dirty="0" err="1">
                <a:latin typeface="Times New Roman" panose="02020603050405020304" pitchFamily="18" charset="0"/>
                <a:cs typeface="Times New Roman" panose="02020603050405020304" pitchFamily="18" charset="0"/>
              </a:rPr>
              <a:t>ProbableCause</a:t>
            </a:r>
            <a:endParaRPr lang="en-IN"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Findings</a:t>
            </a:r>
          </a:p>
          <a:p>
            <a:pPr lvl="1"/>
            <a:r>
              <a:rPr lang="en-IN" dirty="0">
                <a:latin typeface="Times New Roman" panose="02020603050405020304" pitchFamily="18" charset="0"/>
                <a:cs typeface="Times New Roman" panose="02020603050405020304" pitchFamily="18" charset="0"/>
              </a:rPr>
              <a:t>Full report text (</a:t>
            </a:r>
            <a:r>
              <a:rPr lang="en-IN" dirty="0" err="1">
                <a:latin typeface="Times New Roman" panose="02020603050405020304" pitchFamily="18" charset="0"/>
                <a:cs typeface="Times New Roman" panose="02020603050405020304" pitchFamily="18" charset="0"/>
              </a:rPr>
              <a:t>rep_text</a:t>
            </a:r>
            <a:r>
              <a:rPr lang="en-IN" dirty="0">
                <a:latin typeface="Times New Roman" panose="02020603050405020304" pitchFamily="18" charset="0"/>
                <a:cs typeface="Times New Roman" panose="02020603050405020304" pitchFamily="18" charset="0"/>
              </a:rPr>
              <a:t>)</a:t>
            </a:r>
          </a:p>
          <a:p>
            <a:pPr lvl="1"/>
            <a:r>
              <a:rPr lang="en-IN" dirty="0">
                <a:latin typeface="Times New Roman" panose="02020603050405020304" pitchFamily="18" charset="0"/>
                <a:cs typeface="Times New Roman" panose="02020603050405020304" pitchFamily="18" charset="0"/>
              </a:rPr>
              <a:t>Aircraft details</a:t>
            </a:r>
          </a:p>
          <a:p>
            <a:pPr lvl="1"/>
            <a:r>
              <a:rPr lang="en-IN" dirty="0">
                <a:latin typeface="Times New Roman" panose="02020603050405020304" pitchFamily="18" charset="0"/>
                <a:cs typeface="Times New Roman" panose="02020603050405020304" pitchFamily="18" charset="0"/>
              </a:rPr>
              <a:t>Weather context at time of incident</a:t>
            </a:r>
          </a:p>
          <a:p>
            <a:pPr lvl="0"/>
            <a:r>
              <a:rPr lang="en-IN" dirty="0">
                <a:latin typeface="Times New Roman" panose="02020603050405020304" pitchFamily="18" charset="0"/>
                <a:cs typeface="Times New Roman" panose="02020603050405020304" pitchFamily="18" charset="0"/>
              </a:rPr>
              <a:t>Adds root-cause narrative data needed for AERIS's explainability goals</a:t>
            </a:r>
          </a:p>
          <a:p>
            <a:pPr marL="114300" indent="0">
              <a:buNone/>
            </a:pPr>
            <a:endParaRPr lang="en-IN" sz="3800" b="1" dirty="0">
              <a:latin typeface="Times New Roman" panose="02020603050405020304" pitchFamily="18" charset="0"/>
              <a:cs typeface="Times New Roman" panose="02020603050405020304" pitchFamily="18" charset="0"/>
            </a:endParaRPr>
          </a:p>
          <a:p>
            <a:pPr marL="114300" indent="0">
              <a:buNone/>
            </a:pPr>
            <a:r>
              <a:rPr lang="en-IN" sz="3800" b="1" dirty="0">
                <a:latin typeface="Times New Roman" panose="02020603050405020304" pitchFamily="18" charset="0"/>
                <a:cs typeface="Times New Roman" panose="02020603050405020304" pitchFamily="18" charset="0"/>
              </a:rPr>
              <a:t>Why NTSB Was Chosen</a:t>
            </a:r>
          </a:p>
          <a:p>
            <a:r>
              <a:rPr lang="en-IN" b="1" dirty="0">
                <a:latin typeface="Times New Roman" panose="02020603050405020304" pitchFamily="18" charset="0"/>
                <a:cs typeface="Times New Roman" panose="02020603050405020304" pitchFamily="18" charset="0"/>
              </a:rPr>
              <a:t>Title:</a:t>
            </a:r>
            <a:r>
              <a:rPr lang="en-IN" dirty="0">
                <a:latin typeface="Times New Roman" panose="02020603050405020304" pitchFamily="18" charset="0"/>
                <a:cs typeface="Times New Roman" panose="02020603050405020304" pitchFamily="18" charset="0"/>
              </a:rPr>
              <a:t> NTSB – Dataset Selection Rationale</a:t>
            </a:r>
          </a:p>
          <a:p>
            <a:r>
              <a:rPr lang="en-IN" b="1" dirty="0">
                <a:latin typeface="Times New Roman" panose="02020603050405020304" pitchFamily="18" charset="0"/>
                <a:cs typeface="Times New Roman" panose="02020603050405020304" pitchFamily="18" charset="0"/>
              </a:rPr>
              <a:t>Bullets:</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FAA SDR dropped: too many missing values in critical fields, no root-cause narrative text</a:t>
            </a:r>
          </a:p>
          <a:p>
            <a:pPr lvl="0"/>
            <a:r>
              <a:rPr lang="en-IN" dirty="0">
                <a:latin typeface="Times New Roman" panose="02020603050405020304" pitchFamily="18" charset="0"/>
                <a:cs typeface="Times New Roman" panose="02020603050405020304" pitchFamily="18" charset="0"/>
              </a:rPr>
              <a:t>Kaggle "Civil Aviation Accidents" (ASN) dataset considered and rejected: </a:t>
            </a:r>
          </a:p>
          <a:p>
            <a:pPr lvl="1"/>
            <a:r>
              <a:rPr lang="en-IN" dirty="0">
                <a:latin typeface="Times New Roman" panose="02020603050405020304" pitchFamily="18" charset="0"/>
                <a:cs typeface="Times New Roman" panose="02020603050405020304" pitchFamily="18" charset="0"/>
              </a:rPr>
              <a:t>Only 9 shallow columns (date, type, registration, operator, fatalities, location, country, category, year)</a:t>
            </a:r>
          </a:p>
          <a:p>
            <a:pPr lvl="1"/>
            <a:r>
              <a:rPr lang="en-IN" dirty="0">
                <a:latin typeface="Times New Roman" panose="02020603050405020304" pitchFamily="18" charset="0"/>
                <a:cs typeface="Times New Roman" panose="02020603050405020304" pitchFamily="18" charset="0"/>
              </a:rPr>
              <a:t>Sufficient only for basic statistics, not root-cause </a:t>
            </a:r>
            <a:r>
              <a:rPr lang="en-IN" dirty="0" err="1">
                <a:latin typeface="Times New Roman" panose="02020603050405020304" pitchFamily="18" charset="0"/>
                <a:cs typeface="Times New Roman" panose="02020603050405020304" pitchFamily="18" charset="0"/>
              </a:rPr>
              <a:t>modeling</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NTSB selected for its rich narrative text (</a:t>
            </a:r>
            <a:r>
              <a:rPr lang="en-IN" dirty="0" err="1">
                <a:latin typeface="Times New Roman" panose="02020603050405020304" pitchFamily="18" charset="0"/>
                <a:cs typeface="Times New Roman" panose="02020603050405020304" pitchFamily="18" charset="0"/>
              </a:rPr>
              <a:t>ProbableCause</a:t>
            </a:r>
            <a:r>
              <a:rPr lang="en-IN" dirty="0">
                <a:latin typeface="Times New Roman" panose="02020603050405020304" pitchFamily="18" charset="0"/>
                <a:cs typeface="Times New Roman" panose="02020603050405020304" pitchFamily="18" charset="0"/>
              </a:rPr>
              <a:t>, Findings, </a:t>
            </a:r>
            <a:r>
              <a:rPr lang="en-IN" dirty="0" err="1">
                <a:latin typeface="Times New Roman" panose="02020603050405020304" pitchFamily="18" charset="0"/>
                <a:cs typeface="Times New Roman" panose="02020603050405020304" pitchFamily="18" charset="0"/>
              </a:rPr>
              <a:t>rep_text</a:t>
            </a:r>
            <a:r>
              <a:rPr lang="en-IN" dirty="0">
                <a:latin typeface="Times New Roman" panose="02020603050405020304" pitchFamily="18" charset="0"/>
                <a:cs typeface="Times New Roman" panose="02020603050405020304" pitchFamily="18" charset="0"/>
              </a:rPr>
              <a:t>)</a:t>
            </a:r>
          </a:p>
          <a:p>
            <a:pPr lvl="0"/>
            <a:r>
              <a:rPr lang="en-IN" dirty="0">
                <a:latin typeface="Times New Roman" panose="02020603050405020304" pitchFamily="18" charset="0"/>
                <a:cs typeface="Times New Roman" panose="02020603050405020304" pitchFamily="18" charset="0"/>
              </a:rPr>
              <a:t>Directly supports later Causal AI and RAG modules in AERIS</a:t>
            </a:r>
          </a:p>
          <a:p>
            <a:pPr marL="114300" indent="0">
              <a:buNone/>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DACB20B-E981-70AF-9D9A-344AA68A4068}"/>
              </a:ext>
            </a:extLst>
          </p:cNvPr>
          <p:cNvSpPr>
            <a:spLocks noGrp="1"/>
          </p:cNvSpPr>
          <p:nvPr>
            <p:ph type="dt" idx="10"/>
          </p:nvPr>
        </p:nvSpPr>
        <p:spPr/>
        <p:txBody>
          <a:bodyPr/>
          <a:lstStyle/>
          <a:p>
            <a:r>
              <a:rPr lang="en-US" dirty="0"/>
              <a:t>/09/2026</a:t>
            </a:r>
          </a:p>
        </p:txBody>
      </p:sp>
      <p:sp>
        <p:nvSpPr>
          <p:cNvPr id="5" name="Footer Placeholder 4">
            <a:extLst>
              <a:ext uri="{FF2B5EF4-FFF2-40B4-BE49-F238E27FC236}">
                <a16:creationId xmlns:a16="http://schemas.microsoft.com/office/drawing/2014/main" id="{C6411F51-711C-374C-EA59-EFB2FE0182E9}"/>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BE039435-001B-05D3-DB71-20D3F697667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spTree>
    <p:extLst>
      <p:ext uri="{BB962C8B-B14F-4D97-AF65-F5344CB8AC3E}">
        <p14:creationId xmlns:p14="http://schemas.microsoft.com/office/powerpoint/2010/main" val="29516074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BD6E9-9FB0-CED9-C6B7-462FA166667B}"/>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NTSB – Data Processing &amp; Metadata Generation</a:t>
            </a:r>
          </a:p>
        </p:txBody>
      </p:sp>
      <p:sp>
        <p:nvSpPr>
          <p:cNvPr id="3" name="Text Placeholder 2">
            <a:extLst>
              <a:ext uri="{FF2B5EF4-FFF2-40B4-BE49-F238E27FC236}">
                <a16:creationId xmlns:a16="http://schemas.microsoft.com/office/drawing/2014/main" id="{170C1AB5-B7F9-0E6E-61AD-1279B792C6E3}"/>
              </a:ext>
            </a:extLst>
          </p:cNvPr>
          <p:cNvSpPr>
            <a:spLocks noGrp="1"/>
          </p:cNvSpPr>
          <p:nvPr>
            <p:ph type="body" idx="1"/>
          </p:nvPr>
        </p:nvSpPr>
        <p:spPr/>
        <p:txBody>
          <a:bodyPr>
            <a:normAutofit fontScale="70000" lnSpcReduction="20000"/>
          </a:bodyPr>
          <a:lstStyle/>
          <a:p>
            <a:pPr lvl="0"/>
            <a:r>
              <a:rPr lang="en-IN" dirty="0">
                <a:latin typeface="Times New Roman" panose="02020603050405020304" pitchFamily="18" charset="0"/>
                <a:cs typeface="Times New Roman" panose="02020603050405020304" pitchFamily="18" charset="0"/>
              </a:rPr>
              <a:t>Resolved CSV parsing issues; data now loads cleanly for processing</a:t>
            </a:r>
          </a:p>
          <a:p>
            <a:pPr lvl="0"/>
            <a:r>
              <a:rPr lang="en-IN" dirty="0">
                <a:latin typeface="Times New Roman" panose="02020603050405020304" pitchFamily="18" charset="0"/>
                <a:cs typeface="Times New Roman" panose="02020603050405020304" pitchFamily="18" charset="0"/>
              </a:rPr>
              <a:t>Cleaned and </a:t>
            </a:r>
            <a:r>
              <a:rPr lang="en-IN" dirty="0" err="1">
                <a:latin typeface="Times New Roman" panose="02020603050405020304" pitchFamily="18" charset="0"/>
                <a:cs typeface="Times New Roman" panose="02020603050405020304" pitchFamily="18" charset="0"/>
              </a:rPr>
              <a:t>preprocessed</a:t>
            </a:r>
            <a:r>
              <a:rPr lang="en-IN" dirty="0">
                <a:latin typeface="Times New Roman" panose="02020603050405020304" pitchFamily="18" charset="0"/>
                <a:cs typeface="Times New Roman" panose="02020603050405020304" pitchFamily="18" charset="0"/>
              </a:rPr>
              <a:t> accident reports: </a:t>
            </a:r>
          </a:p>
          <a:p>
            <a:pPr lvl="1"/>
            <a:r>
              <a:rPr lang="en-IN" dirty="0">
                <a:latin typeface="Times New Roman" panose="02020603050405020304" pitchFamily="18" charset="0"/>
                <a:cs typeface="Times New Roman" panose="02020603050405020304" pitchFamily="18" charset="0"/>
              </a:rPr>
              <a:t>Handled missing values</a:t>
            </a:r>
          </a:p>
          <a:p>
            <a:pPr lvl="1"/>
            <a:r>
              <a:rPr lang="en-IN" dirty="0">
                <a:latin typeface="Times New Roman" panose="02020603050405020304" pitchFamily="18" charset="0"/>
                <a:cs typeface="Times New Roman" panose="02020603050405020304" pitchFamily="18" charset="0"/>
              </a:rPr>
              <a:t>Removed unnecessary/redundant fields</a:t>
            </a:r>
          </a:p>
          <a:p>
            <a:pPr lvl="0"/>
            <a:r>
              <a:rPr lang="en-IN" dirty="0">
                <a:latin typeface="Times New Roman" panose="02020603050405020304" pitchFamily="18" charset="0"/>
                <a:cs typeface="Times New Roman" panose="02020603050405020304" pitchFamily="18" charset="0"/>
              </a:rPr>
              <a:t>Extracted structured metadata from reports: </a:t>
            </a:r>
          </a:p>
          <a:p>
            <a:pPr lvl="1"/>
            <a:r>
              <a:rPr lang="en-IN" dirty="0">
                <a:latin typeface="Times New Roman" panose="02020603050405020304" pitchFamily="18" charset="0"/>
                <a:cs typeface="Times New Roman" panose="02020603050405020304" pitchFamily="18" charset="0"/>
              </a:rPr>
              <a:t>Aircraft details</a:t>
            </a:r>
          </a:p>
          <a:p>
            <a:pPr lvl="1"/>
            <a:r>
              <a:rPr lang="en-IN" dirty="0">
                <a:latin typeface="Times New Roman" panose="02020603050405020304" pitchFamily="18" charset="0"/>
                <a:cs typeface="Times New Roman" panose="02020603050405020304" pitchFamily="18" charset="0"/>
              </a:rPr>
              <a:t>Weather conditions</a:t>
            </a:r>
          </a:p>
          <a:p>
            <a:pPr lvl="1"/>
            <a:r>
              <a:rPr lang="en-IN" dirty="0">
                <a:latin typeface="Times New Roman" panose="02020603050405020304" pitchFamily="18" charset="0"/>
                <a:cs typeface="Times New Roman" panose="02020603050405020304" pitchFamily="18" charset="0"/>
              </a:rPr>
              <a:t>Flight phase</a:t>
            </a:r>
          </a:p>
          <a:p>
            <a:pPr lvl="1"/>
            <a:r>
              <a:rPr lang="en-IN" dirty="0">
                <a:latin typeface="Times New Roman" panose="02020603050405020304" pitchFamily="18" charset="0"/>
                <a:cs typeface="Times New Roman" panose="02020603050405020304" pitchFamily="18" charset="0"/>
              </a:rPr>
              <a:t>Location</a:t>
            </a:r>
          </a:p>
          <a:p>
            <a:pPr lvl="1"/>
            <a:r>
              <a:rPr lang="en-IN" dirty="0">
                <a:latin typeface="Times New Roman" panose="02020603050405020304" pitchFamily="18" charset="0"/>
                <a:cs typeface="Times New Roman" panose="02020603050405020304" pitchFamily="18" charset="0"/>
              </a:rPr>
              <a:t>Injuries</a:t>
            </a:r>
          </a:p>
          <a:p>
            <a:pPr lvl="1"/>
            <a:r>
              <a:rPr lang="en-IN" dirty="0">
                <a:latin typeface="Times New Roman" panose="02020603050405020304" pitchFamily="18" charset="0"/>
                <a:cs typeface="Times New Roman" panose="02020603050405020304" pitchFamily="18" charset="0"/>
              </a:rPr>
              <a:t>Probable cause</a:t>
            </a:r>
          </a:p>
          <a:p>
            <a:pPr lvl="0"/>
            <a:r>
              <a:rPr lang="en-IN" dirty="0">
                <a:latin typeface="Times New Roman" panose="02020603050405020304" pitchFamily="18" charset="0"/>
                <a:cs typeface="Times New Roman" panose="02020603050405020304" pitchFamily="18" charset="0"/>
              </a:rPr>
              <a:t>Generated metadata files to support downstream embedding &amp; retrieval (RAG pipeline)</a:t>
            </a:r>
          </a:p>
          <a:p>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7580C90-F995-5705-C6D5-A6781AAED260}"/>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37389236-B41D-3BFB-8AFF-A8872128F02F}"/>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4BFC1CB6-9B36-EE02-743F-3EF06A5ABBC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spTree>
    <p:extLst>
      <p:ext uri="{BB962C8B-B14F-4D97-AF65-F5344CB8AC3E}">
        <p14:creationId xmlns:p14="http://schemas.microsoft.com/office/powerpoint/2010/main" val="38202682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D6241-46E9-C848-A3E0-542E68FB0738}"/>
              </a:ext>
            </a:extLst>
          </p:cNvPr>
          <p:cNvSpPr>
            <a:spLocks noGrp="1"/>
          </p:cNvSpPr>
          <p:nvPr>
            <p:ph type="title"/>
          </p:nvPr>
        </p:nvSpPr>
        <p:spPr/>
        <p:txBody>
          <a:bodyPr>
            <a:normAutofit/>
          </a:bodyPr>
          <a:lstStyle/>
          <a:p>
            <a:r>
              <a:rPr lang="en-IN" dirty="0">
                <a:latin typeface="Times New Roman" panose="02020603050405020304" pitchFamily="18" charset="0"/>
                <a:cs typeface="Times New Roman" panose="02020603050405020304" pitchFamily="18" charset="0"/>
              </a:rPr>
              <a:t>NTSB – Next Steps</a:t>
            </a:r>
          </a:p>
        </p:txBody>
      </p:sp>
      <p:sp>
        <p:nvSpPr>
          <p:cNvPr id="4" name="Date Placeholder 3">
            <a:extLst>
              <a:ext uri="{FF2B5EF4-FFF2-40B4-BE49-F238E27FC236}">
                <a16:creationId xmlns:a16="http://schemas.microsoft.com/office/drawing/2014/main" id="{4DE6D02D-CFFA-BBDA-A2F6-7988CEE356D2}"/>
              </a:ext>
            </a:extLst>
          </p:cNvPr>
          <p:cNvSpPr>
            <a:spLocks noGrp="1"/>
          </p:cNvSpPr>
          <p:nvPr>
            <p:ph type="dt" idx="10"/>
          </p:nvPr>
        </p:nvSpPr>
        <p:spPr/>
        <p:txBody>
          <a:bodyPr/>
          <a:lstStyle/>
          <a:p>
            <a:r>
              <a:rPr lang="en-US"/>
              <a:t>20/07/2026</a:t>
            </a:r>
          </a:p>
        </p:txBody>
      </p:sp>
      <p:sp>
        <p:nvSpPr>
          <p:cNvPr id="5" name="Footer Placeholder 4">
            <a:extLst>
              <a:ext uri="{FF2B5EF4-FFF2-40B4-BE49-F238E27FC236}">
                <a16:creationId xmlns:a16="http://schemas.microsoft.com/office/drawing/2014/main" id="{77F14C77-E478-6C4B-B430-D4CC7FE13D0D}"/>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856C75EB-F6FA-8929-97EF-3089A1E94D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44</a:t>
            </a:fld>
            <a:endParaRPr lang="en-US"/>
          </a:p>
        </p:txBody>
      </p:sp>
      <p:sp>
        <p:nvSpPr>
          <p:cNvPr id="8" name="Flowchart: Alternate Process 7">
            <a:extLst>
              <a:ext uri="{FF2B5EF4-FFF2-40B4-BE49-F238E27FC236}">
                <a16:creationId xmlns:a16="http://schemas.microsoft.com/office/drawing/2014/main" id="{CE16B9A0-66EE-8369-9E16-373F841AB821}"/>
              </a:ext>
            </a:extLst>
          </p:cNvPr>
          <p:cNvSpPr/>
          <p:nvPr/>
        </p:nvSpPr>
        <p:spPr>
          <a:xfrm>
            <a:off x="573958" y="3335390"/>
            <a:ext cx="3817374" cy="2814484"/>
          </a:xfrm>
          <a:prstGeom prst="flowChartAlternateProcess">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IN" b="1" dirty="0">
                <a:solidFill>
                  <a:schemeClr val="tx1"/>
                </a:solidFill>
                <a:latin typeface="Times New Roman" panose="02020603050405020304" pitchFamily="18" charset="0"/>
                <a:cs typeface="Times New Roman" panose="02020603050405020304" pitchFamily="18" charset="0"/>
              </a:rPr>
              <a:t>WHAT WE DID </a:t>
            </a: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Cleaned and </a:t>
            </a:r>
            <a:r>
              <a:rPr lang="en-IN" sz="1500" dirty="0" err="1">
                <a:solidFill>
                  <a:schemeClr val="tx1"/>
                </a:solidFill>
                <a:latin typeface="Times New Roman" panose="02020603050405020304" pitchFamily="18" charset="0"/>
                <a:cs typeface="Times New Roman" panose="02020603050405020304" pitchFamily="18" charset="0"/>
              </a:rPr>
              <a:t>preprocessed</a:t>
            </a:r>
            <a:r>
              <a:rPr lang="en-IN" sz="1500" dirty="0">
                <a:solidFill>
                  <a:schemeClr val="tx1"/>
                </a:solidFill>
                <a:latin typeface="Times New Roman" panose="02020603050405020304" pitchFamily="18" charset="0"/>
                <a:cs typeface="Times New Roman" panose="02020603050405020304" pitchFamily="18" charset="0"/>
              </a:rPr>
              <a:t> accident reports by handling missing values and removing unnecessary fields. </a:t>
            </a: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Extracted structured metadata (aircraft, weather, flight phase, location, injuries, probable cause). </a:t>
            </a: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Generated metadata files for downstream embedding and retrieval.</a:t>
            </a:r>
          </a:p>
        </p:txBody>
      </p:sp>
      <p:sp>
        <p:nvSpPr>
          <p:cNvPr id="10" name="Flowchart: Alternate Process 9">
            <a:extLst>
              <a:ext uri="{FF2B5EF4-FFF2-40B4-BE49-F238E27FC236}">
                <a16:creationId xmlns:a16="http://schemas.microsoft.com/office/drawing/2014/main" id="{A3AD2EFB-3AED-619A-27F9-D2FEFD3165B5}"/>
              </a:ext>
            </a:extLst>
          </p:cNvPr>
          <p:cNvSpPr/>
          <p:nvPr/>
        </p:nvSpPr>
        <p:spPr>
          <a:xfrm>
            <a:off x="4752668" y="3311680"/>
            <a:ext cx="3817374" cy="2814484"/>
          </a:xfrm>
          <a:prstGeom prst="flowChartAlternateProcess">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500" b="1" dirty="0">
                <a:solidFill>
                  <a:schemeClr val="tx1"/>
                </a:solidFill>
                <a:latin typeface="Times New Roman" panose="02020603050405020304" pitchFamily="18" charset="0"/>
                <a:cs typeface="Times New Roman" panose="02020603050405020304" pitchFamily="18" charset="0"/>
              </a:rPr>
              <a:t>ROLE IN AERIS</a:t>
            </a: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Provides </a:t>
            </a:r>
            <a:r>
              <a:rPr lang="en-IN" sz="1500" b="1" dirty="0">
                <a:solidFill>
                  <a:schemeClr val="tx1"/>
                </a:solidFill>
                <a:latin typeface="Times New Roman" panose="02020603050405020304" pitchFamily="18" charset="0"/>
                <a:cs typeface="Times New Roman" panose="02020603050405020304" pitchFamily="18" charset="0"/>
              </a:rPr>
              <a:t>maintenance knowledge and failure context</a:t>
            </a:r>
            <a:r>
              <a:rPr lang="en-IN" sz="1500" dirty="0">
                <a:solidFill>
                  <a:schemeClr val="tx1"/>
                </a:solidFill>
                <a:latin typeface="Times New Roman" panose="02020603050405020304" pitchFamily="18" charset="0"/>
                <a:cs typeface="Times New Roman" panose="02020603050405020304" pitchFamily="18" charset="0"/>
              </a:rPr>
              <a:t> unavailable in sensor data. </a:t>
            </a: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Supports </a:t>
            </a:r>
            <a:r>
              <a:rPr lang="en-IN" sz="1500" b="1" dirty="0">
                <a:solidFill>
                  <a:schemeClr val="tx1"/>
                </a:solidFill>
                <a:latin typeface="Times New Roman" panose="02020603050405020304" pitchFamily="18" charset="0"/>
                <a:cs typeface="Times New Roman" panose="02020603050405020304" pitchFamily="18" charset="0"/>
              </a:rPr>
              <a:t>Knowledge Graph</a:t>
            </a:r>
            <a:r>
              <a:rPr lang="en-IN" sz="1500" dirty="0">
                <a:solidFill>
                  <a:schemeClr val="tx1"/>
                </a:solidFill>
                <a:latin typeface="Times New Roman" panose="02020603050405020304" pitchFamily="18" charset="0"/>
                <a:cs typeface="Times New Roman" panose="02020603050405020304" pitchFamily="18" charset="0"/>
              </a:rPr>
              <a:t>, </a:t>
            </a:r>
            <a:r>
              <a:rPr lang="en-IN" sz="1500" b="1" dirty="0">
                <a:solidFill>
                  <a:schemeClr val="tx1"/>
                </a:solidFill>
                <a:latin typeface="Times New Roman" panose="02020603050405020304" pitchFamily="18" charset="0"/>
                <a:cs typeface="Times New Roman" panose="02020603050405020304" pitchFamily="18" charset="0"/>
              </a:rPr>
              <a:t>RAG</a:t>
            </a:r>
            <a:r>
              <a:rPr lang="en-IN" sz="1500" dirty="0">
                <a:solidFill>
                  <a:schemeClr val="tx1"/>
                </a:solidFill>
                <a:latin typeface="Times New Roman" panose="02020603050405020304" pitchFamily="18" charset="0"/>
                <a:cs typeface="Times New Roman" panose="02020603050405020304" pitchFamily="18" charset="0"/>
              </a:rPr>
              <a:t>, and </a:t>
            </a:r>
            <a:r>
              <a:rPr lang="en-IN" sz="1500" b="1" dirty="0">
                <a:solidFill>
                  <a:schemeClr val="tx1"/>
                </a:solidFill>
                <a:latin typeface="Times New Roman" panose="02020603050405020304" pitchFamily="18" charset="0"/>
                <a:cs typeface="Times New Roman" panose="02020603050405020304" pitchFamily="18" charset="0"/>
              </a:rPr>
              <a:t>LLM-based reasoning</a:t>
            </a:r>
            <a:r>
              <a:rPr lang="en-IN" sz="1500" dirty="0">
                <a:solidFill>
                  <a:schemeClr val="tx1"/>
                </a:solidFill>
                <a:latin typeface="Times New Roman" panose="02020603050405020304" pitchFamily="18" charset="0"/>
                <a:cs typeface="Times New Roman" panose="02020603050405020304" pitchFamily="18" charset="0"/>
              </a:rPr>
              <a:t> for explainable fault investigation. </a:t>
            </a:r>
          </a:p>
          <a:p>
            <a:pPr marL="285750" lvl="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Contributes evidence to the </a:t>
            </a:r>
            <a:r>
              <a:rPr lang="en-IN" sz="1500" b="1" dirty="0">
                <a:solidFill>
                  <a:schemeClr val="tx1"/>
                </a:solidFill>
                <a:latin typeface="Times New Roman" panose="02020603050405020304" pitchFamily="18" charset="0"/>
                <a:cs typeface="Times New Roman" panose="02020603050405020304" pitchFamily="18" charset="0"/>
              </a:rPr>
              <a:t>Dempster–Shafer Fusion</a:t>
            </a:r>
            <a:r>
              <a:rPr lang="en-IN" sz="1500" dirty="0">
                <a:solidFill>
                  <a:schemeClr val="tx1"/>
                </a:solidFill>
                <a:latin typeface="Times New Roman" panose="02020603050405020304" pitchFamily="18" charset="0"/>
                <a:cs typeface="Times New Roman" panose="02020603050405020304" pitchFamily="18" charset="0"/>
              </a:rPr>
              <a:t> module for final decision making.</a:t>
            </a:r>
          </a:p>
        </p:txBody>
      </p:sp>
      <p:sp>
        <p:nvSpPr>
          <p:cNvPr id="12" name="TextBox 11">
            <a:extLst>
              <a:ext uri="{FF2B5EF4-FFF2-40B4-BE49-F238E27FC236}">
                <a16:creationId xmlns:a16="http://schemas.microsoft.com/office/drawing/2014/main" id="{F6CEAC96-081D-5630-78A4-9E53F257696C}"/>
              </a:ext>
            </a:extLst>
          </p:cNvPr>
          <p:cNvSpPr txBox="1"/>
          <p:nvPr/>
        </p:nvSpPr>
        <p:spPr>
          <a:xfrm>
            <a:off x="855406" y="1417638"/>
            <a:ext cx="7831394" cy="1477328"/>
          </a:xfrm>
          <a:prstGeom prst="rect">
            <a:avLst/>
          </a:prstGeom>
          <a:noFill/>
        </p:spPr>
        <p:txBody>
          <a:bodyPr wrap="square" rtlCol="0">
            <a:spAutoFit/>
          </a:bodyPr>
          <a:lstStyle/>
          <a:p>
            <a:pPr marL="285750" lvl="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Generate text embeddings from cleaned report text (</a:t>
            </a:r>
            <a:r>
              <a:rPr lang="en-IN" sz="1800" dirty="0" err="1">
                <a:latin typeface="Times New Roman" panose="02020603050405020304" pitchFamily="18" charset="0"/>
                <a:cs typeface="Times New Roman" panose="02020603050405020304" pitchFamily="18" charset="0"/>
              </a:rPr>
              <a:t>rep_text</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ProbableCause</a:t>
            </a:r>
            <a:r>
              <a:rPr lang="en-IN" sz="1800" dirty="0">
                <a:latin typeface="Times New Roman" panose="02020603050405020304" pitchFamily="18" charset="0"/>
                <a:cs typeface="Times New Roman" panose="02020603050405020304" pitchFamily="18" charset="0"/>
              </a:rPr>
              <a:t>, Findings)</a:t>
            </a:r>
          </a:p>
          <a:p>
            <a:pPr marL="285750" lvl="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Build retrieval pipeline (FAISS) using extracted metadata for filtering/context</a:t>
            </a:r>
          </a:p>
          <a:p>
            <a:pPr marL="285750" lvl="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Design NLP-based </a:t>
            </a:r>
            <a:r>
              <a:rPr lang="en-IN" sz="1800" dirty="0" err="1">
                <a:latin typeface="Times New Roman" panose="02020603050405020304" pitchFamily="18" charset="0"/>
                <a:cs typeface="Times New Roman" panose="02020603050405020304" pitchFamily="18" charset="0"/>
              </a:rPr>
              <a:t>modeling</a:t>
            </a:r>
            <a:r>
              <a:rPr lang="en-IN" sz="1800" dirty="0">
                <a:latin typeface="Times New Roman" panose="02020603050405020304" pitchFamily="18" charset="0"/>
                <a:cs typeface="Times New Roman" panose="02020603050405020304" pitchFamily="18" charset="0"/>
              </a:rPr>
              <a:t> approach (classification/retrieval) for root-cause signals</a:t>
            </a:r>
          </a:p>
        </p:txBody>
      </p:sp>
    </p:spTree>
    <p:extLst>
      <p:ext uri="{BB962C8B-B14F-4D97-AF65-F5344CB8AC3E}">
        <p14:creationId xmlns:p14="http://schemas.microsoft.com/office/powerpoint/2010/main" val="27422977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5D6F0-6FAF-D2B9-1D2A-2B4898B4A52E}"/>
              </a:ext>
            </a:extLst>
          </p:cNvPr>
          <p:cNvSpPr>
            <a:spLocks noGrp="1"/>
          </p:cNvSpPr>
          <p:nvPr>
            <p:ph type="title"/>
          </p:nvPr>
        </p:nvSpPr>
        <p:spPr>
          <a:xfrm>
            <a:off x="457200" y="274638"/>
            <a:ext cx="8229600" cy="915065"/>
          </a:xfrm>
        </p:spPr>
        <p:txBody>
          <a:bodyPr>
            <a:normAutofit fontScale="90000"/>
          </a:bodyPr>
          <a:lstStyle/>
          <a:p>
            <a:r>
              <a:rPr lang="en-IN" dirty="0">
                <a:latin typeface="Times New Roman" panose="02020603050405020304" pitchFamily="18" charset="0"/>
                <a:cs typeface="Times New Roman" panose="02020603050405020304" pitchFamily="18" charset="0"/>
              </a:rPr>
              <a:t>UPCOMING IMPLEMENTATION </a:t>
            </a:r>
          </a:p>
        </p:txBody>
      </p:sp>
      <p:sp>
        <p:nvSpPr>
          <p:cNvPr id="4" name="Date Placeholder 3">
            <a:extLst>
              <a:ext uri="{FF2B5EF4-FFF2-40B4-BE49-F238E27FC236}">
                <a16:creationId xmlns:a16="http://schemas.microsoft.com/office/drawing/2014/main" id="{5AA589BE-56EA-C8A8-B5E6-0379BC2938D8}"/>
              </a:ext>
            </a:extLst>
          </p:cNvPr>
          <p:cNvSpPr>
            <a:spLocks noGrp="1"/>
          </p:cNvSpPr>
          <p:nvPr>
            <p:ph type="dt" idx="10"/>
          </p:nvPr>
        </p:nvSpPr>
        <p:spPr/>
        <p:txBody>
          <a:bodyPr/>
          <a:lstStyle/>
          <a:p>
            <a:r>
              <a:rPr lang="en-US" dirty="0"/>
              <a:t>07/09/2026</a:t>
            </a:r>
          </a:p>
        </p:txBody>
      </p:sp>
      <p:sp>
        <p:nvSpPr>
          <p:cNvPr id="5" name="Footer Placeholder 4">
            <a:extLst>
              <a:ext uri="{FF2B5EF4-FFF2-40B4-BE49-F238E27FC236}">
                <a16:creationId xmlns:a16="http://schemas.microsoft.com/office/drawing/2014/main" id="{49503B5F-DDCA-F02C-C018-342DB9EE7443}"/>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D966AE3F-90E7-D621-B74E-6FF3638BFC8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
        <p:nvSpPr>
          <p:cNvPr id="9" name="Rectangle: Rounded Corners 8">
            <a:extLst>
              <a:ext uri="{FF2B5EF4-FFF2-40B4-BE49-F238E27FC236}">
                <a16:creationId xmlns:a16="http://schemas.microsoft.com/office/drawing/2014/main" id="{FBD348BE-6BFC-CA09-2463-0E55531F60C3}"/>
              </a:ext>
            </a:extLst>
          </p:cNvPr>
          <p:cNvSpPr/>
          <p:nvPr/>
        </p:nvSpPr>
        <p:spPr>
          <a:xfrm>
            <a:off x="457200" y="1553699"/>
            <a:ext cx="3814916" cy="2271252"/>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600" b="1" dirty="0">
                <a:solidFill>
                  <a:schemeClr val="tx1"/>
                </a:solidFill>
                <a:latin typeface="Times New Roman" panose="02020603050405020304" pitchFamily="18" charset="0"/>
                <a:cs typeface="Times New Roman" panose="02020603050405020304" pitchFamily="18" charset="0"/>
              </a:rPr>
              <a:t>1. Evidence Object Generation</a:t>
            </a:r>
          </a:p>
          <a:p>
            <a:r>
              <a:rPr lang="en-IN" dirty="0">
                <a:solidFill>
                  <a:schemeClr val="tx1"/>
                </a:solidFill>
                <a:latin typeface="Times New Roman" panose="02020603050405020304" pitchFamily="18" charset="0"/>
                <a:cs typeface="Times New Roman" panose="02020603050405020304" pitchFamily="18" charset="0"/>
              </a:rPr>
              <a:t>Convert processed NTSB information into standardized evidence objects containing:</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Aircraft information </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Failure category </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Weather conditions </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Flight phase </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Investigation confidence </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Text embeddings</a:t>
            </a:r>
          </a:p>
          <a:p>
            <a:pPr algn="ctr"/>
            <a:endParaRPr lang="en-IN" dirty="0">
              <a:solidFill>
                <a:schemeClr val="tx1"/>
              </a:solidFill>
              <a:latin typeface="Times New Roman" panose="02020603050405020304" pitchFamily="18" charset="0"/>
              <a:cs typeface="Times New Roman" panose="02020603050405020304" pitchFamily="18" charset="0"/>
            </a:endParaRPr>
          </a:p>
        </p:txBody>
      </p:sp>
      <p:sp>
        <p:nvSpPr>
          <p:cNvPr id="11" name="Rectangle: Rounded Corners 10">
            <a:extLst>
              <a:ext uri="{FF2B5EF4-FFF2-40B4-BE49-F238E27FC236}">
                <a16:creationId xmlns:a16="http://schemas.microsoft.com/office/drawing/2014/main" id="{9D03978C-17DB-12CC-F82A-FEE5B1E5141C}"/>
              </a:ext>
            </a:extLst>
          </p:cNvPr>
          <p:cNvSpPr/>
          <p:nvPr/>
        </p:nvSpPr>
        <p:spPr>
          <a:xfrm>
            <a:off x="2290915" y="4355689"/>
            <a:ext cx="5201265" cy="1469923"/>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700" b="1" dirty="0">
                <a:solidFill>
                  <a:schemeClr val="tx1"/>
                </a:solidFill>
                <a:latin typeface="Times New Roman" panose="02020603050405020304" pitchFamily="18" charset="0"/>
                <a:cs typeface="Times New Roman" panose="02020603050405020304" pitchFamily="18" charset="0"/>
              </a:rPr>
              <a:t>    Expected Output</a:t>
            </a:r>
          </a:p>
          <a:p>
            <a:pPr algn="ctr"/>
            <a:r>
              <a:rPr lang="en-IN" dirty="0">
                <a:solidFill>
                  <a:schemeClr val="tx1"/>
                </a:solidFill>
                <a:latin typeface="Times New Roman" panose="02020603050405020304" pitchFamily="18" charset="0"/>
                <a:cs typeface="Times New Roman" panose="02020603050405020304" pitchFamily="18" charset="0"/>
              </a:rPr>
              <a:t>Structured investigation evidence </a:t>
            </a:r>
          </a:p>
          <a:p>
            <a:pPr lvl="0" algn="ctr"/>
            <a:r>
              <a:rPr lang="en-IN" dirty="0">
                <a:solidFill>
                  <a:schemeClr val="tx1"/>
                </a:solidFill>
                <a:latin typeface="Times New Roman" panose="02020603050405020304" pitchFamily="18" charset="0"/>
                <a:cs typeface="Times New Roman" panose="02020603050405020304" pitchFamily="18" charset="0"/>
              </a:rPr>
              <a:t>      Unified confidence through evidence fusion </a:t>
            </a:r>
          </a:p>
          <a:p>
            <a:pPr lvl="0" algn="ctr"/>
            <a:r>
              <a:rPr lang="en-IN" dirty="0">
                <a:solidFill>
                  <a:schemeClr val="tx1"/>
                </a:solidFill>
                <a:latin typeface="Times New Roman" panose="02020603050405020304" pitchFamily="18" charset="0"/>
                <a:cs typeface="Times New Roman" panose="02020603050405020304" pitchFamily="18" charset="0"/>
              </a:rPr>
              <a:t>           Historical context for intelligent failure analysis </a:t>
            </a:r>
          </a:p>
          <a:p>
            <a:pPr lvl="2" algn="ctr"/>
            <a:r>
              <a:rPr lang="en-IN" dirty="0">
                <a:solidFill>
                  <a:schemeClr val="tx1"/>
                </a:solidFill>
                <a:latin typeface="Times New Roman" panose="02020603050405020304" pitchFamily="18" charset="0"/>
                <a:cs typeface="Times New Roman" panose="02020603050405020304" pitchFamily="18" charset="0"/>
              </a:rPr>
              <a:t>      Foundation for Phase 2 reasoning modules </a:t>
            </a:r>
          </a:p>
          <a:p>
            <a:pPr algn="ctr"/>
            <a:endParaRPr lang="en-IN" dirty="0">
              <a:solidFill>
                <a:schemeClr val="tx1"/>
              </a:solidFill>
              <a:latin typeface="Times New Roman" panose="02020603050405020304" pitchFamily="18" charset="0"/>
              <a:cs typeface="Times New Roman" panose="02020603050405020304" pitchFamily="18" charset="0"/>
            </a:endParaRPr>
          </a:p>
        </p:txBody>
      </p:sp>
      <p:sp>
        <p:nvSpPr>
          <p:cNvPr id="13" name="Rectangle: Rounded Corners 12">
            <a:extLst>
              <a:ext uri="{FF2B5EF4-FFF2-40B4-BE49-F238E27FC236}">
                <a16:creationId xmlns:a16="http://schemas.microsoft.com/office/drawing/2014/main" id="{6B10B809-BAB6-DEDC-CB04-99EBD60673D8}"/>
              </a:ext>
            </a:extLst>
          </p:cNvPr>
          <p:cNvSpPr/>
          <p:nvPr/>
        </p:nvSpPr>
        <p:spPr>
          <a:xfrm>
            <a:off x="4778478" y="1553699"/>
            <a:ext cx="3814916" cy="2271252"/>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600" b="1" dirty="0">
                <a:solidFill>
                  <a:schemeClr val="tx1"/>
                </a:solidFill>
                <a:latin typeface="Times New Roman" panose="02020603050405020304" pitchFamily="18" charset="0"/>
                <a:cs typeface="Times New Roman" panose="02020603050405020304" pitchFamily="18" charset="0"/>
              </a:rPr>
              <a:t>2. Dempster–Shafer Evidence Fusion</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Combine NTSB evidence with C-MAPSS and NGAFID outputs </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Handle uncertainty between multiple evidence sources </a:t>
            </a:r>
          </a:p>
          <a:p>
            <a:pPr marL="285750" lvl="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Generate a unified confidence score for aircraft health assessment</a:t>
            </a:r>
          </a:p>
          <a:p>
            <a:pPr algn="ct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87319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21C0C278-C356-CA58-BFB7-41DBFB1A24F1}"/>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7A17B36D-0537-5812-020F-DC038FEE5655}"/>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NGAFID Branch</a:t>
            </a:r>
            <a:endParaRPr b="1" dirty="0">
              <a:latin typeface="Times New Roman" panose="02020603050405020304" pitchFamily="18" charset="0"/>
              <a:cs typeface="Times New Roman" panose="02020603050405020304" pitchFamily="18" charset="0"/>
            </a:endParaRPr>
          </a:p>
        </p:txBody>
      </p:sp>
      <p:sp>
        <p:nvSpPr>
          <p:cNvPr id="203" name="Google Shape;203;p13">
            <a:extLst>
              <a:ext uri="{FF2B5EF4-FFF2-40B4-BE49-F238E27FC236}">
                <a16:creationId xmlns:a16="http://schemas.microsoft.com/office/drawing/2014/main" id="{52620C57-1597-50C8-C866-228D622F685B}"/>
              </a:ext>
            </a:extLst>
          </p:cNvPr>
          <p:cNvSpPr txBox="1">
            <a:spLocks noGrp="1"/>
          </p:cNvSpPr>
          <p:nvPr>
            <p:ph type="body" idx="1"/>
          </p:nvPr>
        </p:nvSpPr>
        <p:spPr>
          <a:xfrm>
            <a:off x="526026" y="1012723"/>
            <a:ext cx="8229600" cy="5456903"/>
          </a:xfrm>
          <a:prstGeom prst="rect">
            <a:avLst/>
          </a:prstGeom>
          <a:noFill/>
          <a:ln>
            <a:noFill/>
          </a:ln>
        </p:spPr>
        <p:txBody>
          <a:bodyPr spcFirstLastPara="1" wrap="square" lIns="91425" tIns="45700" rIns="91425" bIns="45700" anchor="t" anchorCtr="0">
            <a:normAutofit fontScale="90000" lnSpcReduction="20000"/>
          </a:bodyPr>
          <a:lstStyle/>
          <a:p>
            <a:pPr marL="114300" indent="0">
              <a:buNone/>
            </a:pPr>
            <a:r>
              <a:rPr lang="en-IN" sz="2000" b="1" dirty="0">
                <a:latin typeface="Times New Roman" panose="02020603050405020304" pitchFamily="18" charset="0"/>
                <a:cs typeface="Times New Roman" panose="02020603050405020304" pitchFamily="18" charset="0"/>
              </a:rPr>
              <a:t>Transformer-Based Aircraft Fault Detection</a:t>
            </a:r>
            <a:endParaRPr lang="en-IN" sz="2000" dirty="0">
              <a:latin typeface="Times New Roman" panose="02020603050405020304" pitchFamily="18" charset="0"/>
              <a:cs typeface="Times New Roman" panose="02020603050405020304" pitchFamily="18" charset="0"/>
            </a:endParaRPr>
          </a:p>
          <a:p>
            <a:pPr lvl="0"/>
            <a:r>
              <a:rPr lang="en-IN" sz="1800" dirty="0">
                <a:latin typeface="Times New Roman" panose="02020603050405020304" pitchFamily="18" charset="0"/>
                <a:cs typeface="Times New Roman" panose="02020603050405020304" pitchFamily="18" charset="0"/>
              </a:rPr>
              <a:t>NGAFID flight sensor time-series </a:t>
            </a:r>
          </a:p>
          <a:p>
            <a:pPr lvl="0"/>
            <a:r>
              <a:rPr lang="en-IN" sz="1800" dirty="0">
                <a:latin typeface="Times New Roman" panose="02020603050405020304" pitchFamily="18" charset="0"/>
                <a:cs typeface="Times New Roman" panose="02020603050405020304" pitchFamily="18" charset="0"/>
              </a:rPr>
              <a:t>Binary classification: </a:t>
            </a:r>
            <a:r>
              <a:rPr lang="en-IN" sz="1800" b="1" dirty="0">
                <a:latin typeface="Times New Roman" panose="02020603050405020304" pitchFamily="18" charset="0"/>
                <a:cs typeface="Times New Roman" panose="02020603050405020304" pitchFamily="18" charset="0"/>
              </a:rPr>
              <a:t>Normal vs Fault</a:t>
            </a:r>
            <a:r>
              <a:rPr lang="en-IN" sz="1800" dirty="0">
                <a:latin typeface="Times New Roman" panose="02020603050405020304" pitchFamily="18" charset="0"/>
                <a:cs typeface="Times New Roman" panose="02020603050405020304" pitchFamily="18" charset="0"/>
              </a:rPr>
              <a:t> </a:t>
            </a:r>
          </a:p>
          <a:p>
            <a:pPr lvl="0"/>
            <a:r>
              <a:rPr lang="en-IN" sz="1800" dirty="0">
                <a:latin typeface="Times New Roman" panose="02020603050405020304" pitchFamily="18" charset="0"/>
                <a:cs typeface="Times New Roman" panose="02020603050405020304" pitchFamily="18" charset="0"/>
              </a:rPr>
              <a:t>Current stage: </a:t>
            </a:r>
            <a:r>
              <a:rPr lang="en-IN" sz="1800" b="1" dirty="0">
                <a:latin typeface="Times New Roman" panose="02020603050405020304" pitchFamily="18" charset="0"/>
                <a:cs typeface="Times New Roman" panose="02020603050405020304" pitchFamily="18" charset="0"/>
              </a:rPr>
              <a:t>Baseline model completed</a:t>
            </a:r>
          </a:p>
          <a:p>
            <a:pPr lvl="0"/>
            <a:endParaRPr lang="en-IN" sz="1800" dirty="0">
              <a:latin typeface="Times New Roman" panose="02020603050405020304" pitchFamily="18" charset="0"/>
              <a:cs typeface="Times New Roman" panose="02020603050405020304" pitchFamily="18" charset="0"/>
            </a:endParaRPr>
          </a:p>
          <a:p>
            <a:pPr marL="114300" indent="0">
              <a:buNone/>
            </a:pPr>
            <a:r>
              <a:rPr lang="en-IN" sz="2000" b="1" dirty="0">
                <a:latin typeface="Times New Roman" panose="02020603050405020304" pitchFamily="18" charset="0"/>
                <a:cs typeface="Times New Roman" panose="02020603050405020304" pitchFamily="18" charset="0"/>
              </a:rPr>
              <a:t>Dataset &amp; Input</a:t>
            </a:r>
          </a:p>
          <a:p>
            <a:pPr lvl="0"/>
            <a:r>
              <a:rPr lang="en-IN" sz="1800" b="1" dirty="0">
                <a:latin typeface="Times New Roman" panose="02020603050405020304" pitchFamily="18" charset="0"/>
                <a:cs typeface="Times New Roman" panose="02020603050405020304" pitchFamily="18" charset="0"/>
              </a:rPr>
              <a:t>40 / 401</a:t>
            </a:r>
            <a:r>
              <a:rPr lang="en-IN" sz="1800" dirty="0">
                <a:latin typeface="Times New Roman" panose="02020603050405020304" pitchFamily="18" charset="0"/>
                <a:cs typeface="Times New Roman" panose="02020603050405020304" pitchFamily="18" charset="0"/>
              </a:rPr>
              <a:t> parquet files loaded </a:t>
            </a:r>
          </a:p>
          <a:p>
            <a:pPr lvl="0"/>
            <a:r>
              <a:rPr lang="en-IN" sz="1800" b="1" dirty="0">
                <a:latin typeface="Times New Roman" panose="02020603050405020304" pitchFamily="18" charset="0"/>
                <a:cs typeface="Times New Roman" panose="02020603050405020304" pitchFamily="18" charset="0"/>
              </a:rPr>
              <a:t>9.6M</a:t>
            </a:r>
            <a:r>
              <a:rPr lang="en-IN" sz="1800" dirty="0">
                <a:latin typeface="Times New Roman" panose="02020603050405020304" pitchFamily="18" charset="0"/>
                <a:cs typeface="Times New Roman" panose="02020603050405020304" pitchFamily="18" charset="0"/>
              </a:rPr>
              <a:t> sensor rows </a:t>
            </a:r>
          </a:p>
          <a:p>
            <a:pPr lvl="0"/>
            <a:r>
              <a:rPr lang="en-IN" sz="1800" b="1" dirty="0">
                <a:latin typeface="Times New Roman" panose="02020603050405020304" pitchFamily="18" charset="0"/>
                <a:cs typeface="Times New Roman" panose="02020603050405020304" pitchFamily="18" charset="0"/>
              </a:rPr>
              <a:t>2,070</a:t>
            </a:r>
            <a:r>
              <a:rPr lang="en-IN" sz="1800" dirty="0">
                <a:latin typeface="Times New Roman" panose="02020603050405020304" pitchFamily="18" charset="0"/>
                <a:cs typeface="Times New Roman" panose="02020603050405020304" pitchFamily="18" charset="0"/>
              </a:rPr>
              <a:t> usable flights </a:t>
            </a:r>
          </a:p>
          <a:p>
            <a:pPr lvl="0"/>
            <a:r>
              <a:rPr lang="en-IN" sz="1800" dirty="0">
                <a:latin typeface="Times New Roman" panose="02020603050405020304" pitchFamily="18" charset="0"/>
                <a:cs typeface="Times New Roman" panose="02020603050405020304" pitchFamily="18" charset="0"/>
              </a:rPr>
              <a:t>Per-second flight sensor readings </a:t>
            </a:r>
          </a:p>
          <a:p>
            <a:pPr lvl="0"/>
            <a:r>
              <a:rPr lang="en-IN" sz="1800" dirty="0">
                <a:latin typeface="Times New Roman" panose="02020603050405020304" pitchFamily="18" charset="0"/>
                <a:cs typeface="Times New Roman" panose="02020603050405020304" pitchFamily="18" charset="0"/>
              </a:rPr>
              <a:t>Target: flight occurring </a:t>
            </a:r>
            <a:r>
              <a:rPr lang="en-IN" sz="1800" b="1" dirty="0">
                <a:latin typeface="Times New Roman" panose="02020603050405020304" pitchFamily="18" charset="0"/>
                <a:cs typeface="Times New Roman" panose="02020603050405020304" pitchFamily="18" charset="0"/>
              </a:rPr>
              <a:t>1–2 days before an unplanned maintenance event</a:t>
            </a:r>
            <a:r>
              <a:rPr lang="en-IN" sz="1800" dirty="0">
                <a:latin typeface="Times New Roman" panose="02020603050405020304" pitchFamily="18" charset="0"/>
                <a:cs typeface="Times New Roman" panose="02020603050405020304" pitchFamily="18" charset="0"/>
              </a:rPr>
              <a:t> </a:t>
            </a:r>
          </a:p>
          <a:p>
            <a:pPr lvl="0"/>
            <a:r>
              <a:rPr lang="en-IN" sz="1800" dirty="0">
                <a:latin typeface="Times New Roman" panose="02020603050405020304" pitchFamily="18" charset="0"/>
                <a:cs typeface="Times New Roman" panose="02020603050405020304" pitchFamily="18" charset="0"/>
              </a:rPr>
              <a:t>Same-day maintenance flights excluded to prevent </a:t>
            </a:r>
            <a:r>
              <a:rPr lang="en-IN" sz="1800" b="1" dirty="0">
                <a:latin typeface="Times New Roman" panose="02020603050405020304" pitchFamily="18" charset="0"/>
                <a:cs typeface="Times New Roman" panose="02020603050405020304" pitchFamily="18" charset="0"/>
              </a:rPr>
              <a:t>post-event leakage</a:t>
            </a:r>
          </a:p>
          <a:p>
            <a:pPr lvl="0"/>
            <a:endParaRPr lang="en-IN" sz="1800" b="1" dirty="0">
              <a:latin typeface="Times New Roman" panose="02020603050405020304" pitchFamily="18" charset="0"/>
              <a:cs typeface="Times New Roman" panose="02020603050405020304" pitchFamily="18" charset="0"/>
            </a:endParaRPr>
          </a:p>
          <a:p>
            <a:pPr marL="114300" lvl="0" indent="0">
              <a:buNone/>
            </a:pPr>
            <a:r>
              <a:rPr lang="en-IN" sz="2000" b="1" dirty="0">
                <a:latin typeface="Times New Roman" panose="02020603050405020304" pitchFamily="18" charset="0"/>
                <a:cs typeface="Times New Roman" panose="02020603050405020304" pitchFamily="18" charset="0"/>
              </a:rPr>
              <a:t>Flight-Level</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Split</a:t>
            </a:r>
          </a:p>
          <a:p>
            <a:pPr lvl="0"/>
            <a:r>
              <a:rPr lang="en-IN" sz="1800" b="1" dirty="0">
                <a:latin typeface="Times New Roman" panose="02020603050405020304" pitchFamily="18" charset="0"/>
                <a:cs typeface="Times New Roman" panose="02020603050405020304" pitchFamily="18" charset="0"/>
              </a:rPr>
              <a:t>1,449</a:t>
            </a:r>
            <a:r>
              <a:rPr lang="en-IN" sz="1800" dirty="0">
                <a:latin typeface="Times New Roman" panose="02020603050405020304" pitchFamily="18" charset="0"/>
                <a:cs typeface="Times New Roman" panose="02020603050405020304" pitchFamily="18" charset="0"/>
              </a:rPr>
              <a:t> independent training flights </a:t>
            </a:r>
          </a:p>
          <a:p>
            <a:pPr lvl="0"/>
            <a:r>
              <a:rPr lang="en-IN" sz="1800" b="1" dirty="0">
                <a:latin typeface="Times New Roman" panose="02020603050405020304" pitchFamily="18" charset="0"/>
                <a:cs typeface="Times New Roman" panose="02020603050405020304" pitchFamily="18" charset="0"/>
              </a:rPr>
              <a:t>310</a:t>
            </a:r>
            <a:r>
              <a:rPr lang="en-IN" sz="1800" dirty="0">
                <a:latin typeface="Times New Roman" panose="02020603050405020304" pitchFamily="18" charset="0"/>
                <a:cs typeface="Times New Roman" panose="02020603050405020304" pitchFamily="18" charset="0"/>
              </a:rPr>
              <a:t> validation flights </a:t>
            </a:r>
          </a:p>
          <a:p>
            <a:pPr lvl="0"/>
            <a:r>
              <a:rPr lang="en-IN" sz="1800" b="1" dirty="0">
                <a:latin typeface="Times New Roman" panose="02020603050405020304" pitchFamily="18" charset="0"/>
                <a:cs typeface="Times New Roman" panose="02020603050405020304" pitchFamily="18" charset="0"/>
              </a:rPr>
              <a:t>311</a:t>
            </a:r>
            <a:r>
              <a:rPr lang="en-IN" sz="1800" dirty="0">
                <a:latin typeface="Times New Roman" panose="02020603050405020304" pitchFamily="18" charset="0"/>
                <a:cs typeface="Times New Roman" panose="02020603050405020304" pitchFamily="18" charset="0"/>
              </a:rPr>
              <a:t> independent test flights </a:t>
            </a:r>
          </a:p>
          <a:p>
            <a:pPr lvl="0"/>
            <a:r>
              <a:rPr lang="en-IN" sz="1800" b="1" dirty="0">
                <a:latin typeface="Times New Roman" panose="02020603050405020304" pitchFamily="18" charset="0"/>
                <a:cs typeface="Times New Roman" panose="02020603050405020304" pitchFamily="18" charset="0"/>
              </a:rPr>
              <a:t>46 features per timestep</a:t>
            </a:r>
            <a:r>
              <a:rPr lang="en-IN" sz="1800" dirty="0">
                <a:latin typeface="Times New Roman" panose="02020603050405020304" pitchFamily="18" charset="0"/>
                <a:cs typeface="Times New Roman" panose="02020603050405020304" pitchFamily="18" charset="0"/>
              </a:rPr>
              <a:t> </a:t>
            </a:r>
          </a:p>
          <a:p>
            <a:pPr lvl="0"/>
            <a:r>
              <a:rPr lang="en-IN" sz="1800" b="1" dirty="0">
                <a:latin typeface="Times New Roman" panose="02020603050405020304" pitchFamily="18" charset="0"/>
                <a:cs typeface="Times New Roman" panose="02020603050405020304" pitchFamily="18" charset="0"/>
              </a:rPr>
              <a:t>300 timesteps per input window</a:t>
            </a:r>
            <a:r>
              <a:rPr lang="en-IN" sz="1800" dirty="0">
                <a:latin typeface="Times New Roman" panose="02020603050405020304" pitchFamily="18" charset="0"/>
                <a:cs typeface="Times New Roman" panose="02020603050405020304" pitchFamily="18" charset="0"/>
              </a:rPr>
              <a:t> </a:t>
            </a:r>
          </a:p>
          <a:p>
            <a:r>
              <a:rPr lang="en-IN" sz="1800" dirty="0">
                <a:latin typeface="Times New Roman" panose="02020603050405020304" pitchFamily="18" charset="0"/>
                <a:cs typeface="Times New Roman" panose="02020603050405020304" pitchFamily="18" charset="0"/>
              </a:rPr>
              <a:t>Input = 300 × 46</a:t>
            </a:r>
          </a:p>
          <a:p>
            <a:pPr marL="114300" lvl="0" indent="0" algn="just">
              <a:buSzPct val="100000"/>
              <a:buNone/>
            </a:pPr>
            <a:endParaRPr lang="en-US" sz="1800" dirty="0">
              <a:latin typeface="Times New Roman" panose="02020603050405020304" pitchFamily="18" charset="0"/>
              <a:ea typeface="Times New Roman"/>
              <a:cs typeface="Times New Roman" panose="02020603050405020304" pitchFamily="18" charset="0"/>
              <a:sym typeface="Times New Roman"/>
            </a:endParaRPr>
          </a:p>
        </p:txBody>
      </p:sp>
      <p:sp>
        <p:nvSpPr>
          <p:cNvPr id="205" name="Google Shape;205;p13">
            <a:extLst>
              <a:ext uri="{FF2B5EF4-FFF2-40B4-BE49-F238E27FC236}">
                <a16:creationId xmlns:a16="http://schemas.microsoft.com/office/drawing/2014/main" id="{A6127745-C877-82CF-0647-24BA073D8CC4}"/>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07/09/2026</a:t>
            </a:r>
            <a:endParaRPr dirty="0"/>
          </a:p>
        </p:txBody>
      </p:sp>
      <p:sp>
        <p:nvSpPr>
          <p:cNvPr id="206" name="Google Shape;206;p13">
            <a:extLst>
              <a:ext uri="{FF2B5EF4-FFF2-40B4-BE49-F238E27FC236}">
                <a16:creationId xmlns:a16="http://schemas.microsoft.com/office/drawing/2014/main" id="{9826BF0E-04EF-21D0-5557-56277999BB61}"/>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46</a:t>
            </a:fld>
            <a:endParaRPr/>
          </a:p>
        </p:txBody>
      </p:sp>
      <p:sp>
        <p:nvSpPr>
          <p:cNvPr id="2" name="Footer Placeholder 1">
            <a:extLst>
              <a:ext uri="{FF2B5EF4-FFF2-40B4-BE49-F238E27FC236}">
                <a16:creationId xmlns:a16="http://schemas.microsoft.com/office/drawing/2014/main" id="{816D2C8C-84BB-643B-739F-996D921D1164}"/>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extLst>
      <p:ext uri="{BB962C8B-B14F-4D97-AF65-F5344CB8AC3E}">
        <p14:creationId xmlns:p14="http://schemas.microsoft.com/office/powerpoint/2010/main" val="8181016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7EA10B72-4CC5-AAC8-FDC2-A88EE1299CC3}"/>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A37BC7E3-0824-AE3A-F55A-8209470FBAE4}"/>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NGAFID Branch</a:t>
            </a:r>
            <a:endParaRPr b="1" dirty="0">
              <a:latin typeface="Times New Roman" panose="02020603050405020304" pitchFamily="18" charset="0"/>
              <a:cs typeface="Times New Roman" panose="02020603050405020304" pitchFamily="18" charset="0"/>
            </a:endParaRPr>
          </a:p>
        </p:txBody>
      </p:sp>
      <p:sp>
        <p:nvSpPr>
          <p:cNvPr id="203" name="Google Shape;203;p13">
            <a:extLst>
              <a:ext uri="{FF2B5EF4-FFF2-40B4-BE49-F238E27FC236}">
                <a16:creationId xmlns:a16="http://schemas.microsoft.com/office/drawing/2014/main" id="{D02C68AC-8AD6-65FB-46ED-91E5231D5669}"/>
              </a:ext>
            </a:extLst>
          </p:cNvPr>
          <p:cNvSpPr txBox="1">
            <a:spLocks noGrp="1"/>
          </p:cNvSpPr>
          <p:nvPr>
            <p:ph type="body" idx="1"/>
          </p:nvPr>
        </p:nvSpPr>
        <p:spPr>
          <a:xfrm>
            <a:off x="526026" y="829056"/>
            <a:ext cx="8229600" cy="5892419"/>
          </a:xfrm>
          <a:prstGeom prst="rect">
            <a:avLst/>
          </a:prstGeom>
          <a:noFill/>
          <a:ln>
            <a:noFill/>
          </a:ln>
        </p:spPr>
        <p:txBody>
          <a:bodyPr spcFirstLastPara="1" wrap="square" lIns="91425" tIns="45700" rIns="91425" bIns="45700" anchor="t" anchorCtr="0">
            <a:normAutofit fontScale="90000" lnSpcReduction="20000"/>
          </a:bodyPr>
          <a:lstStyle/>
          <a:p>
            <a:pPr marL="114300" indent="0">
              <a:buNone/>
            </a:pPr>
            <a:r>
              <a:rPr lang="en-IN" sz="1800" b="1" dirty="0">
                <a:latin typeface="Times New Roman" panose="02020603050405020304" pitchFamily="18" charset="0"/>
                <a:cs typeface="Times New Roman" panose="02020603050405020304" pitchFamily="18" charset="0"/>
              </a:rPr>
              <a:t>What we did </a:t>
            </a:r>
          </a:p>
          <a:p>
            <a:pPr marL="114300" indent="0">
              <a:buNone/>
            </a:pPr>
            <a:br>
              <a:rPr lang="en-IN" sz="1800" b="1"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Raw NGAFID Flight Data</a:t>
            </a:r>
          </a:p>
          <a:p>
            <a:pPr marL="114300" indent="0">
              <a:buNone/>
            </a:pPr>
            <a:r>
              <a:rPr lang="en-IN" sz="1600" dirty="0">
                <a:latin typeface="Times New Roman" panose="02020603050405020304" pitchFamily="18" charset="0"/>
                <a:cs typeface="Times New Roman" panose="02020603050405020304" pitchFamily="18" charset="0"/>
              </a:rPr>
              <a:t>        ↓</a:t>
            </a:r>
          </a:p>
          <a:p>
            <a:pPr marL="114300" indent="0">
              <a:buNone/>
            </a:pPr>
            <a:r>
              <a:rPr lang="en-IN" sz="1600" dirty="0">
                <a:latin typeface="Times New Roman" panose="02020603050405020304" pitchFamily="18" charset="0"/>
                <a:cs typeface="Times New Roman" panose="02020603050405020304" pitchFamily="18" charset="0"/>
              </a:rPr>
              <a:t>Validation &amp; Preprocessing</a:t>
            </a:r>
          </a:p>
          <a:p>
            <a:pPr marL="114300" indent="0">
              <a:buNone/>
            </a:pPr>
            <a:r>
              <a:rPr lang="en-IN" sz="1600" dirty="0">
                <a:latin typeface="Times New Roman" panose="02020603050405020304" pitchFamily="18" charset="0"/>
                <a:cs typeface="Times New Roman" panose="02020603050405020304" pitchFamily="18" charset="0"/>
              </a:rPr>
              <a:t>        ↓</a:t>
            </a:r>
          </a:p>
          <a:p>
            <a:pPr marL="114300" indent="0">
              <a:buNone/>
            </a:pPr>
            <a:r>
              <a:rPr lang="en-IN" sz="1600" dirty="0">
                <a:latin typeface="Times New Roman" panose="02020603050405020304" pitchFamily="18" charset="0"/>
                <a:cs typeface="Times New Roman" panose="02020603050405020304" pitchFamily="18" charset="0"/>
              </a:rPr>
              <a:t>46 Features </a:t>
            </a:r>
          </a:p>
          <a:p>
            <a:pPr marL="114300" indent="0">
              <a:buNone/>
            </a:pPr>
            <a:r>
              <a:rPr lang="en-IN" sz="1600" dirty="0">
                <a:latin typeface="Times New Roman" panose="02020603050405020304" pitchFamily="18" charset="0"/>
                <a:cs typeface="Times New Roman" panose="02020603050405020304" pitchFamily="18" charset="0"/>
              </a:rPr>
              <a:t>        ↓</a:t>
            </a:r>
          </a:p>
          <a:p>
            <a:pPr marL="114300" indent="0">
              <a:buNone/>
            </a:pPr>
            <a:r>
              <a:rPr lang="en-IN" sz="1600" dirty="0">
                <a:latin typeface="Times New Roman" panose="02020603050405020304" pitchFamily="18" charset="0"/>
                <a:cs typeface="Times New Roman" panose="02020603050405020304" pitchFamily="18" charset="0"/>
              </a:rPr>
              <a:t>300-Timestep Windows</a:t>
            </a:r>
          </a:p>
          <a:p>
            <a:pPr marL="114300" indent="0">
              <a:buNone/>
            </a:pPr>
            <a:r>
              <a:rPr lang="en-IN" sz="1600" dirty="0">
                <a:latin typeface="Times New Roman" panose="02020603050405020304" pitchFamily="18" charset="0"/>
                <a:cs typeface="Times New Roman" panose="02020603050405020304" pitchFamily="18" charset="0"/>
              </a:rPr>
              <a:t>        ↓</a:t>
            </a:r>
          </a:p>
          <a:p>
            <a:pPr marL="114300" indent="0">
              <a:buNone/>
            </a:pPr>
            <a:r>
              <a:rPr lang="en-IN" sz="1600" dirty="0">
                <a:latin typeface="Times New Roman" panose="02020603050405020304" pitchFamily="18" charset="0"/>
                <a:cs typeface="Times New Roman" panose="02020603050405020304" pitchFamily="18" charset="0"/>
              </a:rPr>
              <a:t>Transformer</a:t>
            </a:r>
          </a:p>
          <a:p>
            <a:pPr marL="114300" indent="0">
              <a:buNone/>
            </a:pPr>
            <a:r>
              <a:rPr lang="en-IN" sz="1600" dirty="0">
                <a:latin typeface="Times New Roman" panose="02020603050405020304" pitchFamily="18" charset="0"/>
                <a:cs typeface="Times New Roman" panose="02020603050405020304" pitchFamily="18" charset="0"/>
              </a:rPr>
              <a:t>        ↓</a:t>
            </a:r>
          </a:p>
          <a:p>
            <a:pPr marL="114300" indent="0">
              <a:buNone/>
            </a:pPr>
            <a:r>
              <a:rPr lang="en-IN" sz="1600" dirty="0">
                <a:latin typeface="Times New Roman" panose="02020603050405020304" pitchFamily="18" charset="0"/>
                <a:cs typeface="Times New Roman" panose="02020603050405020304" pitchFamily="18" charset="0"/>
              </a:rPr>
              <a:t>Normal / Fault Prediction</a:t>
            </a:r>
          </a:p>
          <a:p>
            <a:pPr marL="114300" indent="0">
              <a:buNone/>
            </a:pPr>
            <a:r>
              <a:rPr lang="en-IN" sz="1600" dirty="0">
                <a:latin typeface="Times New Roman" panose="02020603050405020304" pitchFamily="18" charset="0"/>
                <a:cs typeface="Times New Roman" panose="02020603050405020304" pitchFamily="18" charset="0"/>
              </a:rPr>
              <a:t>        ↓</a:t>
            </a:r>
          </a:p>
          <a:p>
            <a:pPr marL="114300" indent="0">
              <a:buNone/>
            </a:pPr>
            <a:r>
              <a:rPr lang="en-IN" sz="1600" dirty="0">
                <a:latin typeface="Times New Roman" panose="02020603050405020304" pitchFamily="18" charset="0"/>
                <a:cs typeface="Times New Roman" panose="02020603050405020304" pitchFamily="18" charset="0"/>
              </a:rPr>
              <a:t>Probability + Confidence</a:t>
            </a:r>
          </a:p>
          <a:p>
            <a:pPr marL="114300" indent="0">
              <a:buNone/>
            </a:pPr>
            <a:endParaRPr lang="en-IN" sz="1600" dirty="0">
              <a:latin typeface="Times New Roman" panose="02020603050405020304" pitchFamily="18" charset="0"/>
              <a:cs typeface="Times New Roman" panose="02020603050405020304" pitchFamily="18" charset="0"/>
            </a:endParaRPr>
          </a:p>
          <a:p>
            <a:pPr marL="114300" indent="0">
              <a:buNone/>
            </a:pPr>
            <a:r>
              <a:rPr lang="en-IN" sz="1800" b="1" dirty="0">
                <a:latin typeface="Times New Roman" panose="02020603050405020304" pitchFamily="18" charset="0"/>
                <a:cs typeface="Times New Roman" panose="02020603050405020304" pitchFamily="18" charset="0"/>
              </a:rPr>
              <a:t>Current Status</a:t>
            </a:r>
            <a:endParaRPr lang="en-IN" sz="18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MVP baseline successfully trained and evaluated </a:t>
            </a:r>
          </a:p>
          <a:p>
            <a:pPr lvl="0"/>
            <a:r>
              <a:rPr lang="en-IN" sz="1600" dirty="0">
                <a:latin typeface="Times New Roman" panose="02020603050405020304" pitchFamily="18" charset="0"/>
                <a:cs typeface="Times New Roman" panose="02020603050405020304" pitchFamily="18" charset="0"/>
              </a:rPr>
              <a:t>Binary classification: </a:t>
            </a:r>
            <a:r>
              <a:rPr lang="en-IN" sz="1600" b="1" dirty="0">
                <a:latin typeface="Times New Roman" panose="02020603050405020304" pitchFamily="18" charset="0"/>
                <a:cs typeface="Times New Roman" panose="02020603050405020304" pitchFamily="18" charset="0"/>
              </a:rPr>
              <a:t>Fault Window vs. Normal</a:t>
            </a:r>
            <a:r>
              <a:rPr lang="en-IN" sz="1600" dirty="0">
                <a:latin typeface="Times New Roman" panose="02020603050405020304" pitchFamily="18" charset="0"/>
                <a:cs typeface="Times New Roman" panose="02020603050405020304" pitchFamily="18" charset="0"/>
              </a:rPr>
              <a:t> </a:t>
            </a:r>
          </a:p>
          <a:p>
            <a:pPr marL="114300" lvl="0" indent="0">
              <a:buNone/>
            </a:pPr>
            <a:endParaRPr lang="en-IN" sz="1800" dirty="0">
              <a:latin typeface="Times New Roman" panose="02020603050405020304" pitchFamily="18" charset="0"/>
              <a:cs typeface="Times New Roman" panose="02020603050405020304" pitchFamily="18" charset="0"/>
            </a:endParaRPr>
          </a:p>
          <a:p>
            <a:pPr marL="114300" indent="0">
              <a:buNone/>
            </a:pPr>
            <a:r>
              <a:rPr lang="en-IN" sz="1800" b="1" dirty="0">
                <a:latin typeface="Times New Roman" panose="02020603050405020304" pitchFamily="18" charset="0"/>
                <a:cs typeface="Times New Roman" panose="02020603050405020304" pitchFamily="18" charset="0"/>
              </a:rPr>
              <a:t>Future Integration</a:t>
            </a:r>
            <a:endParaRPr lang="en-IN" sz="18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SHAP Explainability </a:t>
            </a:r>
          </a:p>
          <a:p>
            <a:pPr lvl="0"/>
            <a:r>
              <a:rPr lang="en-IN" sz="1600" dirty="0">
                <a:latin typeface="Times New Roman" panose="02020603050405020304" pitchFamily="18" charset="0"/>
                <a:cs typeface="Times New Roman" panose="02020603050405020304" pitchFamily="18" charset="0"/>
              </a:rPr>
              <a:t>Evidence Object </a:t>
            </a:r>
          </a:p>
          <a:p>
            <a:pPr lvl="0"/>
            <a:r>
              <a:rPr lang="en-IN" sz="1600" dirty="0">
                <a:latin typeface="Times New Roman" panose="02020603050405020304" pitchFamily="18" charset="0"/>
                <a:cs typeface="Times New Roman" panose="02020603050405020304" pitchFamily="18" charset="0"/>
              </a:rPr>
              <a:t>Dempster-Shafer Fusion </a:t>
            </a:r>
          </a:p>
        </p:txBody>
      </p:sp>
      <p:sp>
        <p:nvSpPr>
          <p:cNvPr id="205" name="Google Shape;205;p13">
            <a:extLst>
              <a:ext uri="{FF2B5EF4-FFF2-40B4-BE49-F238E27FC236}">
                <a16:creationId xmlns:a16="http://schemas.microsoft.com/office/drawing/2014/main" id="{7BDC6423-8EC4-109F-4650-8C22679E8DB5}"/>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07/09/2026</a:t>
            </a:r>
            <a:endParaRPr dirty="0"/>
          </a:p>
        </p:txBody>
      </p:sp>
      <p:sp>
        <p:nvSpPr>
          <p:cNvPr id="206" name="Google Shape;206;p13">
            <a:extLst>
              <a:ext uri="{FF2B5EF4-FFF2-40B4-BE49-F238E27FC236}">
                <a16:creationId xmlns:a16="http://schemas.microsoft.com/office/drawing/2014/main" id="{C95F7660-DFE4-1793-8FE0-2BD0E4C1EA01}"/>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47</a:t>
            </a:fld>
            <a:endParaRPr/>
          </a:p>
        </p:txBody>
      </p:sp>
      <p:sp>
        <p:nvSpPr>
          <p:cNvPr id="2" name="Footer Placeholder 1">
            <a:extLst>
              <a:ext uri="{FF2B5EF4-FFF2-40B4-BE49-F238E27FC236}">
                <a16:creationId xmlns:a16="http://schemas.microsoft.com/office/drawing/2014/main" id="{26E45D1D-2DEB-83E6-B0FD-31E24982BCCF}"/>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extLst>
      <p:ext uri="{BB962C8B-B14F-4D97-AF65-F5344CB8AC3E}">
        <p14:creationId xmlns:p14="http://schemas.microsoft.com/office/powerpoint/2010/main" val="32805665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36202DBC-CF1E-5FEF-5B69-9AD152D18DCF}"/>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7B9624E7-050D-2456-74A1-2EEE6E2A432D}"/>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NGAFID Branch</a:t>
            </a:r>
            <a:endParaRPr b="1" dirty="0">
              <a:latin typeface="Times New Roman" panose="02020603050405020304" pitchFamily="18" charset="0"/>
              <a:cs typeface="Times New Roman" panose="02020603050405020304" pitchFamily="18" charset="0"/>
            </a:endParaRPr>
          </a:p>
        </p:txBody>
      </p:sp>
      <p:sp>
        <p:nvSpPr>
          <p:cNvPr id="203" name="Google Shape;203;p13">
            <a:extLst>
              <a:ext uri="{FF2B5EF4-FFF2-40B4-BE49-F238E27FC236}">
                <a16:creationId xmlns:a16="http://schemas.microsoft.com/office/drawing/2014/main" id="{4F9E7002-DAA4-C6E0-4CC7-F4BB9C4CF32E}"/>
              </a:ext>
            </a:extLst>
          </p:cNvPr>
          <p:cNvSpPr txBox="1">
            <a:spLocks noGrp="1"/>
          </p:cNvSpPr>
          <p:nvPr>
            <p:ph type="body" idx="1"/>
          </p:nvPr>
        </p:nvSpPr>
        <p:spPr>
          <a:xfrm>
            <a:off x="526026" y="1012723"/>
            <a:ext cx="8229600" cy="5456903"/>
          </a:xfrm>
          <a:prstGeom prst="rect">
            <a:avLst/>
          </a:prstGeom>
          <a:noFill/>
          <a:ln>
            <a:noFill/>
          </a:ln>
        </p:spPr>
        <p:txBody>
          <a:bodyPr spcFirstLastPara="1" wrap="square" lIns="91425" tIns="45700" rIns="91425" bIns="45700" anchor="t" anchorCtr="0">
            <a:normAutofit fontScale="97500"/>
          </a:bodyPr>
          <a:lstStyle/>
          <a:p>
            <a:pPr marL="114300" indent="0">
              <a:buNone/>
            </a:pPr>
            <a:r>
              <a:rPr lang="en-IN" sz="2100" b="1" dirty="0">
                <a:latin typeface="Times New Roman" panose="02020603050405020304" pitchFamily="18" charset="0"/>
                <a:cs typeface="Times New Roman" panose="02020603050405020304" pitchFamily="18" charset="0"/>
              </a:rPr>
              <a:t>Preprocessing and Training Pipeline</a:t>
            </a:r>
          </a:p>
          <a:p>
            <a:pPr marL="114300" indent="0">
              <a:buNone/>
            </a:pPr>
            <a:endParaRPr lang="en-IN" sz="2100" b="1" dirty="0">
              <a:latin typeface="Times New Roman" panose="02020603050405020304" pitchFamily="18" charset="0"/>
              <a:cs typeface="Times New Roman" panose="02020603050405020304" pitchFamily="18" charset="0"/>
            </a:endParaRPr>
          </a:p>
          <a:p>
            <a:pPr marL="114300" indent="0">
              <a:buNone/>
            </a:pPr>
            <a:r>
              <a:rPr lang="en-IN" sz="1600" b="1" dirty="0">
                <a:latin typeface="Times New Roman" panose="02020603050405020304" pitchFamily="18" charset="0"/>
                <a:cs typeface="Times New Roman" panose="02020603050405020304" pitchFamily="18" charset="0"/>
              </a:rPr>
              <a:t>1. Raw NGAFID</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Per-second flight sensor and maintenance data </a:t>
            </a:r>
          </a:p>
          <a:p>
            <a:pPr marL="114300" indent="0">
              <a:buNone/>
            </a:pPr>
            <a:r>
              <a:rPr lang="en-IN" sz="1600" b="1" dirty="0">
                <a:latin typeface="Times New Roman" panose="02020603050405020304" pitchFamily="18" charset="0"/>
                <a:cs typeface="Times New Roman" panose="02020603050405020304" pitchFamily="18" charset="0"/>
              </a:rPr>
              <a:t>2. Missing-Value Handling</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16 sensors with random gaps → </a:t>
            </a:r>
            <a:r>
              <a:rPr lang="en-IN" sz="1600" b="1" dirty="0">
                <a:latin typeface="Times New Roman" panose="02020603050405020304" pitchFamily="18" charset="0"/>
                <a:cs typeface="Times New Roman" panose="02020603050405020304" pitchFamily="18" charset="0"/>
              </a:rPr>
              <a:t>interpolated</a:t>
            </a:r>
            <a:r>
              <a:rPr lang="en-IN" sz="1600" dirty="0">
                <a:latin typeface="Times New Roman" panose="02020603050405020304" pitchFamily="18" charset="0"/>
                <a:cs typeface="Times New Roman" panose="02020603050405020304" pitchFamily="18" charset="0"/>
              </a:rPr>
              <a:t> </a:t>
            </a:r>
          </a:p>
          <a:p>
            <a:pPr lvl="0"/>
            <a:r>
              <a:rPr lang="en-IN" sz="1600" dirty="0">
                <a:latin typeface="Times New Roman" panose="02020603050405020304" pitchFamily="18" charset="0"/>
                <a:cs typeface="Times New Roman" panose="02020603050405020304" pitchFamily="18" charset="0"/>
              </a:rPr>
              <a:t>7 sensors with structured missingness → </a:t>
            </a:r>
            <a:r>
              <a:rPr lang="en-IN" sz="1600" b="1" dirty="0">
                <a:latin typeface="Times New Roman" panose="02020603050405020304" pitchFamily="18" charset="0"/>
                <a:cs typeface="Times New Roman" panose="02020603050405020304" pitchFamily="18" charset="0"/>
              </a:rPr>
              <a:t>preserved as </a:t>
            </a:r>
            <a:r>
              <a:rPr lang="en-IN" sz="1600" b="1" dirty="0" err="1">
                <a:latin typeface="Times New Roman" panose="02020603050405020304" pitchFamily="18" charset="0"/>
                <a:cs typeface="Times New Roman" panose="02020603050405020304" pitchFamily="18" charset="0"/>
              </a:rPr>
              <a:t>NaN</a:t>
            </a:r>
            <a:r>
              <a:rPr lang="en-IN" sz="1600" dirty="0">
                <a:latin typeface="Times New Roman" panose="02020603050405020304" pitchFamily="18" charset="0"/>
                <a:cs typeface="Times New Roman" panose="02020603050405020304" pitchFamily="18" charset="0"/>
              </a:rPr>
              <a:t> </a:t>
            </a:r>
          </a:p>
          <a:p>
            <a:pPr marL="114300" indent="0">
              <a:buNone/>
            </a:pPr>
            <a:r>
              <a:rPr lang="en-IN" sz="1600" b="1" dirty="0">
                <a:latin typeface="Times New Roman" panose="02020603050405020304" pitchFamily="18" charset="0"/>
                <a:cs typeface="Times New Roman" panose="02020603050405020304" pitchFamily="18" charset="0"/>
              </a:rPr>
              <a:t>3. Missingness Flags</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Each sensor receives a </a:t>
            </a:r>
            <a:r>
              <a:rPr lang="en-IN" sz="1600" b="1" dirty="0">
                <a:latin typeface="Times New Roman" panose="02020603050405020304" pitchFamily="18" charset="0"/>
                <a:cs typeface="Times New Roman" panose="02020603050405020304" pitchFamily="18" charset="0"/>
              </a:rPr>
              <a:t>0/1 missingness indicator</a:t>
            </a:r>
            <a:r>
              <a:rPr lang="en-IN" sz="1600" dirty="0">
                <a:latin typeface="Times New Roman" panose="02020603050405020304" pitchFamily="18" charset="0"/>
                <a:cs typeface="Times New Roman" panose="02020603050405020304" pitchFamily="18" charset="0"/>
              </a:rPr>
              <a:t> </a:t>
            </a:r>
          </a:p>
          <a:p>
            <a:pPr lvl="0"/>
            <a:r>
              <a:rPr lang="en-IN" sz="1600" dirty="0">
                <a:latin typeface="Times New Roman" panose="02020603050405020304" pitchFamily="18" charset="0"/>
                <a:cs typeface="Times New Roman" panose="02020603050405020304" pitchFamily="18" charset="0"/>
              </a:rPr>
              <a:t>Allows the model to distinguish missing from observed values </a:t>
            </a:r>
          </a:p>
          <a:p>
            <a:pPr marL="114300" indent="0">
              <a:buNone/>
            </a:pPr>
            <a:r>
              <a:rPr lang="en-IN" sz="1600" b="1" dirty="0">
                <a:latin typeface="Times New Roman" panose="02020603050405020304" pitchFamily="18" charset="0"/>
                <a:cs typeface="Times New Roman" panose="02020603050405020304" pitchFamily="18" charset="0"/>
              </a:rPr>
              <a:t>4. Windowing</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Flight data converted into temporal sequences </a:t>
            </a:r>
          </a:p>
          <a:p>
            <a:pPr lvl="0"/>
            <a:r>
              <a:rPr lang="en-IN" sz="1600" dirty="0">
                <a:latin typeface="Times New Roman" panose="02020603050405020304" pitchFamily="18" charset="0"/>
                <a:cs typeface="Times New Roman" panose="02020603050405020304" pitchFamily="18" charset="0"/>
              </a:rPr>
              <a:t>Maximum sequence length: </a:t>
            </a:r>
            <a:r>
              <a:rPr lang="en-IN" sz="1600" b="1" dirty="0">
                <a:latin typeface="Times New Roman" panose="02020603050405020304" pitchFamily="18" charset="0"/>
                <a:cs typeface="Times New Roman" panose="02020603050405020304" pitchFamily="18" charset="0"/>
              </a:rPr>
              <a:t>300 timesteps</a:t>
            </a:r>
            <a:r>
              <a:rPr lang="en-IN" sz="1600" dirty="0">
                <a:latin typeface="Times New Roman" panose="02020603050405020304" pitchFamily="18" charset="0"/>
                <a:cs typeface="Times New Roman" panose="02020603050405020304" pitchFamily="18" charset="0"/>
              </a:rPr>
              <a:t> </a:t>
            </a:r>
          </a:p>
          <a:p>
            <a:pPr marL="114300" lvl="0" indent="0" algn="just">
              <a:buSzPct val="100000"/>
              <a:buNone/>
            </a:pPr>
            <a:endParaRPr lang="en-US" sz="1600" dirty="0">
              <a:latin typeface="Times New Roman" panose="02020603050405020304" pitchFamily="18" charset="0"/>
              <a:ea typeface="Times New Roman"/>
              <a:cs typeface="Times New Roman" panose="02020603050405020304" pitchFamily="18" charset="0"/>
              <a:sym typeface="Times New Roman"/>
            </a:endParaRPr>
          </a:p>
        </p:txBody>
      </p:sp>
      <p:sp>
        <p:nvSpPr>
          <p:cNvPr id="205" name="Google Shape;205;p13">
            <a:extLst>
              <a:ext uri="{FF2B5EF4-FFF2-40B4-BE49-F238E27FC236}">
                <a16:creationId xmlns:a16="http://schemas.microsoft.com/office/drawing/2014/main" id="{32EFB627-CEC7-3F37-AE4F-BFD2CD16E8E6}"/>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07/09/2026</a:t>
            </a:r>
            <a:endParaRPr dirty="0"/>
          </a:p>
        </p:txBody>
      </p:sp>
      <p:sp>
        <p:nvSpPr>
          <p:cNvPr id="206" name="Google Shape;206;p13">
            <a:extLst>
              <a:ext uri="{FF2B5EF4-FFF2-40B4-BE49-F238E27FC236}">
                <a16:creationId xmlns:a16="http://schemas.microsoft.com/office/drawing/2014/main" id="{7401BDB0-A145-38F2-6CE6-E703F146C0C8}"/>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48</a:t>
            </a:fld>
            <a:endParaRPr/>
          </a:p>
        </p:txBody>
      </p:sp>
      <p:sp>
        <p:nvSpPr>
          <p:cNvPr id="2" name="Footer Placeholder 1">
            <a:extLst>
              <a:ext uri="{FF2B5EF4-FFF2-40B4-BE49-F238E27FC236}">
                <a16:creationId xmlns:a16="http://schemas.microsoft.com/office/drawing/2014/main" id="{27DA0F74-0FE7-7DF1-DC5A-CD17951BC150}"/>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extLst>
      <p:ext uri="{BB962C8B-B14F-4D97-AF65-F5344CB8AC3E}">
        <p14:creationId xmlns:p14="http://schemas.microsoft.com/office/powerpoint/2010/main" val="6483653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A701E6FD-3857-323F-15A4-809A15B7F389}"/>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2F37A317-AC21-DCEA-7882-689FB8852FF1}"/>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NGAFID Branch</a:t>
            </a:r>
            <a:endParaRPr b="1" dirty="0">
              <a:latin typeface="Times New Roman" panose="02020603050405020304" pitchFamily="18" charset="0"/>
              <a:cs typeface="Times New Roman" panose="02020603050405020304" pitchFamily="18" charset="0"/>
            </a:endParaRPr>
          </a:p>
        </p:txBody>
      </p:sp>
      <p:sp>
        <p:nvSpPr>
          <p:cNvPr id="203" name="Google Shape;203;p13">
            <a:extLst>
              <a:ext uri="{FF2B5EF4-FFF2-40B4-BE49-F238E27FC236}">
                <a16:creationId xmlns:a16="http://schemas.microsoft.com/office/drawing/2014/main" id="{B64A3175-33E0-E892-ECA9-4069C20F02B8}"/>
              </a:ext>
            </a:extLst>
          </p:cNvPr>
          <p:cNvSpPr txBox="1">
            <a:spLocks noGrp="1"/>
          </p:cNvSpPr>
          <p:nvPr>
            <p:ph type="body" idx="1"/>
          </p:nvPr>
        </p:nvSpPr>
        <p:spPr>
          <a:xfrm>
            <a:off x="526026" y="1012723"/>
            <a:ext cx="8229600" cy="5456903"/>
          </a:xfrm>
          <a:prstGeom prst="rect">
            <a:avLst/>
          </a:prstGeom>
          <a:noFill/>
          <a:ln>
            <a:noFill/>
          </a:ln>
        </p:spPr>
        <p:txBody>
          <a:bodyPr spcFirstLastPara="1" wrap="square" lIns="91425" tIns="45700" rIns="91425" bIns="45700" anchor="t" anchorCtr="0">
            <a:normAutofit fontScale="97500"/>
          </a:bodyPr>
          <a:lstStyle/>
          <a:p>
            <a:pPr marL="114300" indent="0">
              <a:buNone/>
            </a:pPr>
            <a:r>
              <a:rPr lang="en-IN" sz="2100" b="1" dirty="0">
                <a:latin typeface="Times New Roman" panose="02020603050405020304" pitchFamily="18" charset="0"/>
                <a:cs typeface="Times New Roman" panose="02020603050405020304" pitchFamily="18" charset="0"/>
              </a:rPr>
              <a:t>Preprocessing and </a:t>
            </a:r>
            <a:r>
              <a:rPr lang="en-IN" sz="2100" b="1" dirty="0" err="1">
                <a:latin typeface="Times New Roman" panose="02020603050405020304" pitchFamily="18" charset="0"/>
                <a:cs typeface="Times New Roman" panose="02020603050405020304" pitchFamily="18" charset="0"/>
              </a:rPr>
              <a:t>Tarining</a:t>
            </a:r>
            <a:r>
              <a:rPr lang="en-IN" sz="2100" b="1" dirty="0">
                <a:latin typeface="Times New Roman" panose="02020603050405020304" pitchFamily="18" charset="0"/>
                <a:cs typeface="Times New Roman" panose="02020603050405020304" pitchFamily="18" charset="0"/>
              </a:rPr>
              <a:t> Pipeline</a:t>
            </a:r>
          </a:p>
          <a:p>
            <a:pPr marL="114300" indent="0">
              <a:buNone/>
            </a:pPr>
            <a:endParaRPr lang="en-IN" sz="2100" b="1" dirty="0">
              <a:latin typeface="Times New Roman" panose="02020603050405020304" pitchFamily="18" charset="0"/>
              <a:cs typeface="Times New Roman" panose="02020603050405020304" pitchFamily="18" charset="0"/>
            </a:endParaRPr>
          </a:p>
          <a:p>
            <a:pPr marL="114300" indent="0">
              <a:buNone/>
            </a:pPr>
            <a:r>
              <a:rPr lang="en-IN" sz="1600" b="1" dirty="0">
                <a:latin typeface="Times New Roman" panose="02020603050405020304" pitchFamily="18" charset="0"/>
                <a:cs typeface="Times New Roman" panose="02020603050405020304" pitchFamily="18" charset="0"/>
              </a:rPr>
              <a:t>5. Padding</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Shorter sequences padded to the required length </a:t>
            </a:r>
          </a:p>
          <a:p>
            <a:pPr lvl="0"/>
            <a:r>
              <a:rPr lang="en-IN" sz="1600" dirty="0">
                <a:latin typeface="Times New Roman" panose="02020603050405020304" pitchFamily="18" charset="0"/>
                <a:cs typeface="Times New Roman" panose="02020603050405020304" pitchFamily="18" charset="0"/>
              </a:rPr>
              <a:t>No valid flight sequence discarded due to shorter length </a:t>
            </a:r>
          </a:p>
          <a:p>
            <a:pPr marL="114300" indent="0">
              <a:buNone/>
            </a:pPr>
            <a:r>
              <a:rPr lang="en-IN" sz="1600" b="1" dirty="0">
                <a:latin typeface="Times New Roman" panose="02020603050405020304" pitchFamily="18" charset="0"/>
                <a:cs typeface="Times New Roman" panose="02020603050405020304" pitchFamily="18" charset="0"/>
              </a:rPr>
              <a:t>6. Flight-Level Train / Validation / Test Split</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Windowed data split according to their </a:t>
            </a:r>
            <a:r>
              <a:rPr lang="en-IN" sz="1600" b="1" dirty="0">
                <a:latin typeface="Times New Roman" panose="02020603050405020304" pitchFamily="18" charset="0"/>
                <a:cs typeface="Times New Roman" panose="02020603050405020304" pitchFamily="18" charset="0"/>
              </a:rPr>
              <a:t>original flight</a:t>
            </a:r>
            <a:r>
              <a:rPr lang="en-IN" sz="1600" dirty="0">
                <a:latin typeface="Times New Roman" panose="02020603050405020304" pitchFamily="18" charset="0"/>
                <a:cs typeface="Times New Roman" panose="02020603050405020304" pitchFamily="18" charset="0"/>
              </a:rPr>
              <a:t> </a:t>
            </a:r>
          </a:p>
          <a:p>
            <a:pPr lvl="0"/>
            <a:r>
              <a:rPr lang="en-IN" sz="1600" dirty="0">
                <a:latin typeface="Times New Roman" panose="02020603050405020304" pitchFamily="18" charset="0"/>
                <a:cs typeface="Times New Roman" panose="02020603050405020304" pitchFamily="18" charset="0"/>
              </a:rPr>
              <a:t>No flight appears in more than one split </a:t>
            </a:r>
          </a:p>
          <a:p>
            <a:pPr marL="114300" indent="0">
              <a:buNone/>
            </a:pPr>
            <a:r>
              <a:rPr lang="en-IN" sz="1600" b="1" dirty="0">
                <a:latin typeface="Times New Roman" panose="02020603050405020304" pitchFamily="18" charset="0"/>
                <a:cs typeface="Times New Roman" panose="02020603050405020304" pitchFamily="18" charset="0"/>
              </a:rPr>
              <a:t>7. Padding Mask</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Identifies padded timesteps </a:t>
            </a:r>
          </a:p>
          <a:p>
            <a:pPr lvl="0"/>
            <a:r>
              <a:rPr lang="en-IN" sz="1600" dirty="0">
                <a:latin typeface="Times New Roman" panose="02020603050405020304" pitchFamily="18" charset="0"/>
                <a:cs typeface="Times New Roman" panose="02020603050405020304" pitchFamily="18" charset="0"/>
              </a:rPr>
              <a:t>Prevents padded values from affecting </a:t>
            </a:r>
            <a:r>
              <a:rPr lang="en-IN" sz="1600" b="1" dirty="0">
                <a:latin typeface="Times New Roman" panose="02020603050405020304" pitchFamily="18" charset="0"/>
                <a:cs typeface="Times New Roman" panose="02020603050405020304" pitchFamily="18" charset="0"/>
              </a:rPr>
              <a:t>Transformer attention and pooling</a:t>
            </a:r>
            <a:r>
              <a:rPr lang="en-IN" sz="1600" dirty="0">
                <a:latin typeface="Times New Roman" panose="02020603050405020304" pitchFamily="18" charset="0"/>
                <a:cs typeface="Times New Roman" panose="02020603050405020304" pitchFamily="18" charset="0"/>
              </a:rPr>
              <a:t> </a:t>
            </a:r>
          </a:p>
          <a:p>
            <a:pPr marL="114300" indent="0">
              <a:buNone/>
            </a:pPr>
            <a:r>
              <a:rPr lang="en-IN" sz="1600" b="1" dirty="0">
                <a:latin typeface="Times New Roman" panose="02020603050405020304" pitchFamily="18" charset="0"/>
                <a:cs typeface="Times New Roman" panose="02020603050405020304" pitchFamily="18" charset="0"/>
              </a:rPr>
              <a:t>8. Transformer</a:t>
            </a:r>
            <a:endParaRPr lang="en-IN" sz="1600"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Padded, masked sequences passed to the </a:t>
            </a:r>
            <a:r>
              <a:rPr lang="en-IN" sz="1600" b="1" dirty="0">
                <a:latin typeface="Times New Roman" panose="02020603050405020304" pitchFamily="18" charset="0"/>
                <a:cs typeface="Times New Roman" panose="02020603050405020304" pitchFamily="18" charset="0"/>
              </a:rPr>
              <a:t>Time-Series Transformer</a:t>
            </a:r>
            <a:r>
              <a:rPr lang="en-IN" sz="1600" dirty="0">
                <a:latin typeface="Times New Roman" panose="02020603050405020304" pitchFamily="18" charset="0"/>
                <a:cs typeface="Times New Roman" panose="02020603050405020304" pitchFamily="18" charset="0"/>
              </a:rPr>
              <a:t> </a:t>
            </a:r>
          </a:p>
          <a:p>
            <a:pPr lvl="0"/>
            <a:r>
              <a:rPr lang="en-IN" sz="1600" dirty="0">
                <a:latin typeface="Times New Roman" panose="02020603050405020304" pitchFamily="18" charset="0"/>
                <a:cs typeface="Times New Roman" panose="02020603050405020304" pitchFamily="18" charset="0"/>
              </a:rPr>
              <a:t>Produces </a:t>
            </a:r>
            <a:r>
              <a:rPr lang="en-IN" sz="1600" b="1" dirty="0">
                <a:latin typeface="Times New Roman" panose="02020603050405020304" pitchFamily="18" charset="0"/>
                <a:cs typeface="Times New Roman" panose="02020603050405020304" pitchFamily="18" charset="0"/>
              </a:rPr>
              <a:t>fault-window prediction + confidence</a:t>
            </a:r>
            <a:endParaRPr lang="en-IN" sz="1600" dirty="0">
              <a:latin typeface="Times New Roman" panose="02020603050405020304" pitchFamily="18" charset="0"/>
              <a:cs typeface="Times New Roman" panose="02020603050405020304" pitchFamily="18" charset="0"/>
            </a:endParaRPr>
          </a:p>
          <a:p>
            <a:pPr marL="114300" lvl="0" indent="0" algn="just">
              <a:buSzPct val="100000"/>
              <a:buNone/>
            </a:pPr>
            <a:endParaRPr lang="en-US" sz="1600" dirty="0">
              <a:latin typeface="Times New Roman" panose="02020603050405020304" pitchFamily="18" charset="0"/>
              <a:ea typeface="Times New Roman"/>
              <a:cs typeface="Times New Roman" panose="02020603050405020304" pitchFamily="18" charset="0"/>
              <a:sym typeface="Times New Roman"/>
            </a:endParaRPr>
          </a:p>
        </p:txBody>
      </p:sp>
      <p:sp>
        <p:nvSpPr>
          <p:cNvPr id="205" name="Google Shape;205;p13">
            <a:extLst>
              <a:ext uri="{FF2B5EF4-FFF2-40B4-BE49-F238E27FC236}">
                <a16:creationId xmlns:a16="http://schemas.microsoft.com/office/drawing/2014/main" id="{5148C403-5DA3-6837-D100-60AE3201FF88}"/>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07/09/2026</a:t>
            </a:r>
            <a:endParaRPr dirty="0"/>
          </a:p>
        </p:txBody>
      </p:sp>
      <p:sp>
        <p:nvSpPr>
          <p:cNvPr id="206" name="Google Shape;206;p13">
            <a:extLst>
              <a:ext uri="{FF2B5EF4-FFF2-40B4-BE49-F238E27FC236}">
                <a16:creationId xmlns:a16="http://schemas.microsoft.com/office/drawing/2014/main" id="{8CDA0BD3-0D9D-11D2-7A66-1A1E39788C11}"/>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49</a:t>
            </a:fld>
            <a:endParaRPr/>
          </a:p>
        </p:txBody>
      </p:sp>
      <p:sp>
        <p:nvSpPr>
          <p:cNvPr id="2" name="Footer Placeholder 1">
            <a:extLst>
              <a:ext uri="{FF2B5EF4-FFF2-40B4-BE49-F238E27FC236}">
                <a16:creationId xmlns:a16="http://schemas.microsoft.com/office/drawing/2014/main" id="{D7134A10-1FEC-2F84-4BA3-AB4ECAE34AC4}"/>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extLst>
      <p:ext uri="{BB962C8B-B14F-4D97-AF65-F5344CB8AC3E}">
        <p14:creationId xmlns:p14="http://schemas.microsoft.com/office/powerpoint/2010/main" val="34856220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AE2D6C0F-C260-61A3-59CB-50A5D4D90F1F}"/>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325DB31B-C36F-1718-6C8E-F789BA4D2CB6}"/>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NGAFID Branch</a:t>
            </a:r>
            <a:endParaRPr b="1" dirty="0">
              <a:latin typeface="Times New Roman" panose="02020603050405020304" pitchFamily="18" charset="0"/>
              <a:cs typeface="Times New Roman" panose="02020603050405020304" pitchFamily="18" charset="0"/>
            </a:endParaRPr>
          </a:p>
        </p:txBody>
      </p:sp>
      <p:sp>
        <p:nvSpPr>
          <p:cNvPr id="203" name="Google Shape;203;p13">
            <a:extLst>
              <a:ext uri="{FF2B5EF4-FFF2-40B4-BE49-F238E27FC236}">
                <a16:creationId xmlns:a16="http://schemas.microsoft.com/office/drawing/2014/main" id="{D9731F87-BD6E-BFA2-9901-693E7244CB9B}"/>
              </a:ext>
            </a:extLst>
          </p:cNvPr>
          <p:cNvSpPr txBox="1">
            <a:spLocks noGrp="1"/>
          </p:cNvSpPr>
          <p:nvPr>
            <p:ph type="body" idx="1"/>
          </p:nvPr>
        </p:nvSpPr>
        <p:spPr>
          <a:xfrm>
            <a:off x="526026" y="1255776"/>
            <a:ext cx="8229600" cy="5213850"/>
          </a:xfrm>
          <a:prstGeom prst="rect">
            <a:avLst/>
          </a:prstGeom>
          <a:noFill/>
          <a:ln>
            <a:noFill/>
          </a:ln>
        </p:spPr>
        <p:txBody>
          <a:bodyPr spcFirstLastPara="1" wrap="square" lIns="91425" tIns="45700" rIns="91425" bIns="45700" anchor="t" anchorCtr="0">
            <a:normAutofit fontScale="97500"/>
          </a:bodyPr>
          <a:lstStyle/>
          <a:p>
            <a:pPr marL="114300" indent="0">
              <a:buNone/>
            </a:pPr>
            <a:r>
              <a:rPr lang="en-IN" sz="2000" b="1" dirty="0">
                <a:latin typeface="Times New Roman" panose="02020603050405020304" pitchFamily="18" charset="0"/>
                <a:cs typeface="Times New Roman" panose="02020603050405020304" pitchFamily="18" charset="0"/>
              </a:rPr>
              <a:t>Baseline Performance</a:t>
            </a:r>
          </a:p>
          <a:p>
            <a:pPr marL="114300" indent="0">
              <a:buNone/>
            </a:pPr>
            <a:endParaRPr lang="en-IN" sz="2000" b="1" dirty="0">
              <a:latin typeface="Times New Roman" panose="02020603050405020304" pitchFamily="18" charset="0"/>
              <a:cs typeface="Times New Roman" panose="02020603050405020304" pitchFamily="18" charset="0"/>
            </a:endParaRPr>
          </a:p>
          <a:p>
            <a:pPr marL="114300" indent="0">
              <a:buNone/>
            </a:pPr>
            <a:endParaRPr lang="en-IN" sz="2000" b="1" dirty="0">
              <a:latin typeface="Times New Roman" panose="02020603050405020304" pitchFamily="18" charset="0"/>
              <a:cs typeface="Times New Roman" panose="02020603050405020304" pitchFamily="18" charset="0"/>
            </a:endParaRPr>
          </a:p>
        </p:txBody>
      </p:sp>
      <p:sp>
        <p:nvSpPr>
          <p:cNvPr id="205" name="Google Shape;205;p13">
            <a:extLst>
              <a:ext uri="{FF2B5EF4-FFF2-40B4-BE49-F238E27FC236}">
                <a16:creationId xmlns:a16="http://schemas.microsoft.com/office/drawing/2014/main" id="{D52CA035-0AB5-2E7B-F3FD-0C94631A80F8}"/>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07/09/2026</a:t>
            </a:r>
            <a:endParaRPr dirty="0"/>
          </a:p>
        </p:txBody>
      </p:sp>
      <p:sp>
        <p:nvSpPr>
          <p:cNvPr id="206" name="Google Shape;206;p13">
            <a:extLst>
              <a:ext uri="{FF2B5EF4-FFF2-40B4-BE49-F238E27FC236}">
                <a16:creationId xmlns:a16="http://schemas.microsoft.com/office/drawing/2014/main" id="{565D4240-494F-364C-39DF-C96C82DF98D1}"/>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50</a:t>
            </a:fld>
            <a:endParaRPr/>
          </a:p>
        </p:txBody>
      </p:sp>
      <p:sp>
        <p:nvSpPr>
          <p:cNvPr id="2" name="Footer Placeholder 1">
            <a:extLst>
              <a:ext uri="{FF2B5EF4-FFF2-40B4-BE49-F238E27FC236}">
                <a16:creationId xmlns:a16="http://schemas.microsoft.com/office/drawing/2014/main" id="{330C0D2E-3E9F-918B-59FA-54C8F517829A}"/>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graphicFrame>
        <p:nvGraphicFramePr>
          <p:cNvPr id="10" name="Table 9">
            <a:extLst>
              <a:ext uri="{FF2B5EF4-FFF2-40B4-BE49-F238E27FC236}">
                <a16:creationId xmlns:a16="http://schemas.microsoft.com/office/drawing/2014/main" id="{22337866-BBF6-4DC7-54E2-34F2C345A77A}"/>
              </a:ext>
            </a:extLst>
          </p:cNvPr>
          <p:cNvGraphicFramePr>
            <a:graphicFrameLocks noGrp="1"/>
          </p:cNvGraphicFramePr>
          <p:nvPr/>
        </p:nvGraphicFramePr>
        <p:xfrm>
          <a:off x="526026" y="1905000"/>
          <a:ext cx="8229600" cy="1676400"/>
        </p:xfrm>
        <a:graphic>
          <a:graphicData uri="http://schemas.openxmlformats.org/drawingml/2006/table">
            <a:tbl>
              <a:tblPr>
                <a:tableStyleId>{47879F58-94FC-4AB5-AACA-6E85711E4052}</a:tableStyleId>
              </a:tblPr>
              <a:tblGrid>
                <a:gridCol w="2743200">
                  <a:extLst>
                    <a:ext uri="{9D8B030D-6E8A-4147-A177-3AD203B41FA5}">
                      <a16:colId xmlns:a16="http://schemas.microsoft.com/office/drawing/2014/main" val="2527080452"/>
                    </a:ext>
                  </a:extLst>
                </a:gridCol>
                <a:gridCol w="2743200">
                  <a:extLst>
                    <a:ext uri="{9D8B030D-6E8A-4147-A177-3AD203B41FA5}">
                      <a16:colId xmlns:a16="http://schemas.microsoft.com/office/drawing/2014/main" val="3698640759"/>
                    </a:ext>
                  </a:extLst>
                </a:gridCol>
                <a:gridCol w="2743200">
                  <a:extLst>
                    <a:ext uri="{9D8B030D-6E8A-4147-A177-3AD203B41FA5}">
                      <a16:colId xmlns:a16="http://schemas.microsoft.com/office/drawing/2014/main" val="2185103748"/>
                    </a:ext>
                  </a:extLst>
                </a:gridCol>
              </a:tblGrid>
              <a:tr h="0">
                <a:tc>
                  <a:txBody>
                    <a:bodyPr/>
                    <a:lstStyle/>
                    <a:p>
                      <a:pPr>
                        <a:buNone/>
                      </a:pPr>
                      <a:r>
                        <a:rPr lang="en-IN" sz="1600">
                          <a:latin typeface="Times New Roman" panose="02020603050405020304" pitchFamily="18" charset="0"/>
                          <a:cs typeface="Times New Roman" panose="02020603050405020304" pitchFamily="18" charset="0"/>
                        </a:rPr>
                        <a:t>Metric</a:t>
                      </a:r>
                    </a:p>
                  </a:txBody>
                  <a:tcPr anchor="ctr"/>
                </a:tc>
                <a:tc>
                  <a:txBody>
                    <a:bodyPr/>
                    <a:lstStyle/>
                    <a:p>
                      <a:pPr algn="r">
                        <a:buNone/>
                      </a:pPr>
                      <a:r>
                        <a:rPr lang="en-IN" sz="1600">
                          <a:latin typeface="Times New Roman" panose="02020603050405020304" pitchFamily="18" charset="0"/>
                          <a:cs typeface="Times New Roman" panose="02020603050405020304" pitchFamily="18" charset="0"/>
                        </a:rPr>
                        <a:t>Validation</a:t>
                      </a:r>
                    </a:p>
                  </a:txBody>
                  <a:tcPr anchor="ctr"/>
                </a:tc>
                <a:tc>
                  <a:txBody>
                    <a:bodyPr/>
                    <a:lstStyle/>
                    <a:p>
                      <a:pPr algn="r">
                        <a:buNone/>
                      </a:pPr>
                      <a:r>
                        <a:rPr lang="en-IN" sz="1600">
                          <a:latin typeface="Times New Roman" panose="02020603050405020304" pitchFamily="18" charset="0"/>
                          <a:cs typeface="Times New Roman" panose="02020603050405020304" pitchFamily="18" charset="0"/>
                        </a:rPr>
                        <a:t>Test</a:t>
                      </a:r>
                    </a:p>
                  </a:txBody>
                  <a:tcPr anchor="ctr"/>
                </a:tc>
                <a:extLst>
                  <a:ext uri="{0D108BD9-81ED-4DB2-BD59-A6C34878D82A}">
                    <a16:rowId xmlns:a16="http://schemas.microsoft.com/office/drawing/2014/main" val="401440798"/>
                  </a:ext>
                </a:extLst>
              </a:tr>
              <a:tr h="0">
                <a:tc>
                  <a:txBody>
                    <a:bodyPr/>
                    <a:lstStyle/>
                    <a:p>
                      <a:pPr>
                        <a:buNone/>
                      </a:pPr>
                      <a:r>
                        <a:rPr lang="en-IN" sz="1600" dirty="0">
                          <a:latin typeface="Times New Roman" panose="02020603050405020304" pitchFamily="18" charset="0"/>
                          <a:cs typeface="Times New Roman" panose="02020603050405020304" pitchFamily="18" charset="0"/>
                        </a:rPr>
                        <a:t>Precision</a:t>
                      </a:r>
                    </a:p>
                  </a:txBody>
                  <a:tcPr anchor="ctr"/>
                </a:tc>
                <a:tc>
                  <a:txBody>
                    <a:bodyPr/>
                    <a:lstStyle/>
                    <a:p>
                      <a:pPr algn="r">
                        <a:buNone/>
                      </a:pPr>
                      <a:r>
                        <a:rPr lang="en-IN" sz="1600">
                          <a:latin typeface="Times New Roman" panose="02020603050405020304" pitchFamily="18" charset="0"/>
                          <a:cs typeface="Times New Roman" panose="02020603050405020304" pitchFamily="18" charset="0"/>
                        </a:rPr>
                        <a:t>0.384</a:t>
                      </a:r>
                    </a:p>
                  </a:txBody>
                  <a:tcPr anchor="ctr"/>
                </a:tc>
                <a:tc>
                  <a:txBody>
                    <a:bodyPr/>
                    <a:lstStyle/>
                    <a:p>
                      <a:pPr algn="r">
                        <a:buNone/>
                      </a:pPr>
                      <a:r>
                        <a:rPr lang="en-IN" sz="1600">
                          <a:latin typeface="Times New Roman" panose="02020603050405020304" pitchFamily="18" charset="0"/>
                          <a:cs typeface="Times New Roman" panose="02020603050405020304" pitchFamily="18" charset="0"/>
                        </a:rPr>
                        <a:t>0.358</a:t>
                      </a:r>
                    </a:p>
                  </a:txBody>
                  <a:tcPr anchor="ctr"/>
                </a:tc>
                <a:extLst>
                  <a:ext uri="{0D108BD9-81ED-4DB2-BD59-A6C34878D82A}">
                    <a16:rowId xmlns:a16="http://schemas.microsoft.com/office/drawing/2014/main" val="4095539305"/>
                  </a:ext>
                </a:extLst>
              </a:tr>
              <a:tr h="0">
                <a:tc>
                  <a:txBody>
                    <a:bodyPr/>
                    <a:lstStyle/>
                    <a:p>
                      <a:pPr>
                        <a:buNone/>
                      </a:pPr>
                      <a:r>
                        <a:rPr lang="en-IN" sz="1600">
                          <a:latin typeface="Times New Roman" panose="02020603050405020304" pitchFamily="18" charset="0"/>
                          <a:cs typeface="Times New Roman" panose="02020603050405020304" pitchFamily="18" charset="0"/>
                        </a:rPr>
                        <a:t>Recall</a:t>
                      </a:r>
                    </a:p>
                  </a:txBody>
                  <a:tcPr anchor="ctr"/>
                </a:tc>
                <a:tc>
                  <a:txBody>
                    <a:bodyPr/>
                    <a:lstStyle/>
                    <a:p>
                      <a:pPr algn="r">
                        <a:buNone/>
                      </a:pPr>
                      <a:r>
                        <a:rPr lang="en-IN" sz="1600">
                          <a:latin typeface="Times New Roman" panose="02020603050405020304" pitchFamily="18" charset="0"/>
                          <a:cs typeface="Times New Roman" panose="02020603050405020304" pitchFamily="18" charset="0"/>
                        </a:rPr>
                        <a:t>0.722</a:t>
                      </a:r>
                    </a:p>
                  </a:txBody>
                  <a:tcPr anchor="ctr"/>
                </a:tc>
                <a:tc>
                  <a:txBody>
                    <a:bodyPr/>
                    <a:lstStyle/>
                    <a:p>
                      <a:pPr algn="r">
                        <a:buNone/>
                      </a:pPr>
                      <a:r>
                        <a:rPr lang="en-IN" sz="1600">
                          <a:latin typeface="Times New Roman" panose="02020603050405020304" pitchFamily="18" charset="0"/>
                          <a:cs typeface="Times New Roman" panose="02020603050405020304" pitchFamily="18" charset="0"/>
                        </a:rPr>
                        <a:t>0.695</a:t>
                      </a:r>
                    </a:p>
                  </a:txBody>
                  <a:tcPr anchor="ctr"/>
                </a:tc>
                <a:extLst>
                  <a:ext uri="{0D108BD9-81ED-4DB2-BD59-A6C34878D82A}">
                    <a16:rowId xmlns:a16="http://schemas.microsoft.com/office/drawing/2014/main" val="3550350105"/>
                  </a:ext>
                </a:extLst>
              </a:tr>
              <a:tr h="0">
                <a:tc>
                  <a:txBody>
                    <a:bodyPr/>
                    <a:lstStyle/>
                    <a:p>
                      <a:pPr>
                        <a:buNone/>
                      </a:pPr>
                      <a:r>
                        <a:rPr lang="en-IN" sz="1600">
                          <a:latin typeface="Times New Roman" panose="02020603050405020304" pitchFamily="18" charset="0"/>
                          <a:cs typeface="Times New Roman" panose="02020603050405020304" pitchFamily="18" charset="0"/>
                        </a:rPr>
                        <a:t>F1</a:t>
                      </a:r>
                    </a:p>
                  </a:txBody>
                  <a:tcPr anchor="ctr"/>
                </a:tc>
                <a:tc>
                  <a:txBody>
                    <a:bodyPr/>
                    <a:lstStyle/>
                    <a:p>
                      <a:pPr algn="r">
                        <a:buNone/>
                      </a:pPr>
                      <a:r>
                        <a:rPr lang="en-IN" sz="1600">
                          <a:latin typeface="Times New Roman" panose="02020603050405020304" pitchFamily="18" charset="0"/>
                          <a:cs typeface="Times New Roman" panose="02020603050405020304" pitchFamily="18" charset="0"/>
                        </a:rPr>
                        <a:t>0.501</a:t>
                      </a:r>
                    </a:p>
                  </a:txBody>
                  <a:tcPr anchor="ctr"/>
                </a:tc>
                <a:tc>
                  <a:txBody>
                    <a:bodyPr/>
                    <a:lstStyle/>
                    <a:p>
                      <a:pPr algn="r">
                        <a:buNone/>
                      </a:pPr>
                      <a:r>
                        <a:rPr lang="en-IN" sz="1600">
                          <a:latin typeface="Times New Roman" panose="02020603050405020304" pitchFamily="18" charset="0"/>
                          <a:cs typeface="Times New Roman" panose="02020603050405020304" pitchFamily="18" charset="0"/>
                        </a:rPr>
                        <a:t>0.473</a:t>
                      </a:r>
                    </a:p>
                  </a:txBody>
                  <a:tcPr anchor="ctr"/>
                </a:tc>
                <a:extLst>
                  <a:ext uri="{0D108BD9-81ED-4DB2-BD59-A6C34878D82A}">
                    <a16:rowId xmlns:a16="http://schemas.microsoft.com/office/drawing/2014/main" val="1728208892"/>
                  </a:ext>
                </a:extLst>
              </a:tr>
              <a:tr h="0">
                <a:tc>
                  <a:txBody>
                    <a:bodyPr/>
                    <a:lstStyle/>
                    <a:p>
                      <a:pPr>
                        <a:buNone/>
                      </a:pPr>
                      <a:r>
                        <a:rPr lang="en-IN" sz="1600">
                          <a:latin typeface="Times New Roman" panose="02020603050405020304" pitchFamily="18" charset="0"/>
                          <a:cs typeface="Times New Roman" panose="02020603050405020304" pitchFamily="18" charset="0"/>
                        </a:rPr>
                        <a:t>ROC-AUC</a:t>
                      </a:r>
                    </a:p>
                  </a:txBody>
                  <a:tcPr anchor="ctr"/>
                </a:tc>
                <a:tc>
                  <a:txBody>
                    <a:bodyPr/>
                    <a:lstStyle/>
                    <a:p>
                      <a:pPr algn="r">
                        <a:buNone/>
                      </a:pPr>
                      <a:r>
                        <a:rPr lang="en-IN" sz="1600">
                          <a:latin typeface="Times New Roman" panose="02020603050405020304" pitchFamily="18" charset="0"/>
                          <a:cs typeface="Times New Roman" panose="02020603050405020304" pitchFamily="18" charset="0"/>
                        </a:rPr>
                        <a:t>0.624</a:t>
                      </a:r>
                    </a:p>
                  </a:txBody>
                  <a:tcPr anchor="ctr"/>
                </a:tc>
                <a:tc>
                  <a:txBody>
                    <a:bodyPr/>
                    <a:lstStyle/>
                    <a:p>
                      <a:pPr algn="r">
                        <a:buNone/>
                      </a:pPr>
                      <a:r>
                        <a:rPr lang="en-IN" sz="1600" dirty="0">
                          <a:latin typeface="Times New Roman" panose="02020603050405020304" pitchFamily="18" charset="0"/>
                          <a:cs typeface="Times New Roman" panose="02020603050405020304" pitchFamily="18" charset="0"/>
                        </a:rPr>
                        <a:t>0.604</a:t>
                      </a:r>
                    </a:p>
                  </a:txBody>
                  <a:tcPr anchor="ctr"/>
                </a:tc>
                <a:extLst>
                  <a:ext uri="{0D108BD9-81ED-4DB2-BD59-A6C34878D82A}">
                    <a16:rowId xmlns:a16="http://schemas.microsoft.com/office/drawing/2014/main" val="625268420"/>
                  </a:ext>
                </a:extLst>
              </a:tr>
            </a:tbl>
          </a:graphicData>
        </a:graphic>
      </p:graphicFrame>
      <p:sp>
        <p:nvSpPr>
          <p:cNvPr id="12" name="TextBox 11">
            <a:extLst>
              <a:ext uri="{FF2B5EF4-FFF2-40B4-BE49-F238E27FC236}">
                <a16:creationId xmlns:a16="http://schemas.microsoft.com/office/drawing/2014/main" id="{AC2C27DA-94BF-5B05-1F23-E7F4F940820C}"/>
              </a:ext>
            </a:extLst>
          </p:cNvPr>
          <p:cNvSpPr txBox="1"/>
          <p:nvPr/>
        </p:nvSpPr>
        <p:spPr>
          <a:xfrm>
            <a:off x="526026" y="3884922"/>
            <a:ext cx="6459990" cy="830997"/>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Recall = 69.5%</a:t>
            </a:r>
            <a:r>
              <a:rPr lang="en-IN" sz="1600" dirty="0">
                <a:latin typeface="Times New Roman" panose="02020603050405020304" pitchFamily="18" charset="0"/>
                <a:cs typeface="Times New Roman" panose="02020603050405020304" pitchFamily="18" charset="0"/>
              </a:rPr>
              <a:t> → detects a substantial portion of fault windows.</a:t>
            </a:r>
          </a:p>
          <a:p>
            <a:pPr>
              <a:buNone/>
            </a:pPr>
            <a:r>
              <a:rPr lang="en-IN" sz="1600" b="1" dirty="0">
                <a:latin typeface="Times New Roman" panose="02020603050405020304" pitchFamily="18" charset="0"/>
                <a:cs typeface="Times New Roman" panose="02020603050405020304" pitchFamily="18" charset="0"/>
              </a:rPr>
              <a:t>Precision = 35.8%</a:t>
            </a:r>
            <a:r>
              <a:rPr lang="en-IN" sz="1600" dirty="0">
                <a:latin typeface="Times New Roman" panose="02020603050405020304" pitchFamily="18" charset="0"/>
                <a:cs typeface="Times New Roman" panose="02020603050405020304" pitchFamily="18" charset="0"/>
              </a:rPr>
              <a:t> → produces many false alarms.</a:t>
            </a:r>
          </a:p>
          <a:p>
            <a:pPr>
              <a:buNone/>
            </a:pPr>
            <a:r>
              <a:rPr lang="en-IN" sz="1600" b="1" dirty="0">
                <a:latin typeface="Times New Roman" panose="02020603050405020304" pitchFamily="18" charset="0"/>
                <a:cs typeface="Times New Roman" panose="02020603050405020304" pitchFamily="18" charset="0"/>
              </a:rPr>
              <a:t>ROC-AUC = 0.604</a:t>
            </a:r>
            <a:r>
              <a:rPr lang="en-IN" sz="1600" dirty="0">
                <a:latin typeface="Times New Roman" panose="02020603050405020304" pitchFamily="18" charset="0"/>
                <a:cs typeface="Times New Roman" panose="02020603050405020304" pitchFamily="18" charset="0"/>
              </a:rPr>
              <a:t> → current discriminative ability is modest.</a:t>
            </a:r>
          </a:p>
        </p:txBody>
      </p:sp>
    </p:spTree>
    <p:extLst>
      <p:ext uri="{BB962C8B-B14F-4D97-AF65-F5344CB8AC3E}">
        <p14:creationId xmlns:p14="http://schemas.microsoft.com/office/powerpoint/2010/main" val="25856100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89477481-7B31-1688-B237-A81CD5DC8C2B}"/>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D9969A98-3F6A-949D-54BD-82500A924CB6}"/>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NGAFID Branch</a:t>
            </a:r>
            <a:endParaRPr b="1" dirty="0">
              <a:latin typeface="Times New Roman" panose="02020603050405020304" pitchFamily="18" charset="0"/>
              <a:cs typeface="Times New Roman" panose="02020603050405020304" pitchFamily="18" charset="0"/>
            </a:endParaRPr>
          </a:p>
        </p:txBody>
      </p:sp>
      <p:sp>
        <p:nvSpPr>
          <p:cNvPr id="203" name="Google Shape;203;p13">
            <a:extLst>
              <a:ext uri="{FF2B5EF4-FFF2-40B4-BE49-F238E27FC236}">
                <a16:creationId xmlns:a16="http://schemas.microsoft.com/office/drawing/2014/main" id="{4A92883A-F1B3-32D4-BC66-7959376D7C32}"/>
              </a:ext>
            </a:extLst>
          </p:cNvPr>
          <p:cNvSpPr txBox="1">
            <a:spLocks noGrp="1"/>
          </p:cNvSpPr>
          <p:nvPr>
            <p:ph type="body" idx="1"/>
          </p:nvPr>
        </p:nvSpPr>
        <p:spPr>
          <a:xfrm>
            <a:off x="526026" y="1255776"/>
            <a:ext cx="8229600" cy="5213850"/>
          </a:xfrm>
          <a:prstGeom prst="rect">
            <a:avLst/>
          </a:prstGeom>
          <a:noFill/>
          <a:ln>
            <a:noFill/>
          </a:ln>
        </p:spPr>
        <p:txBody>
          <a:bodyPr spcFirstLastPara="1" wrap="square" lIns="91425" tIns="45700" rIns="91425" bIns="45700" anchor="t" anchorCtr="0">
            <a:normAutofit fontScale="97500"/>
          </a:bodyPr>
          <a:lstStyle/>
          <a:p>
            <a:pPr marL="114300" indent="0">
              <a:buNone/>
            </a:pPr>
            <a:r>
              <a:rPr lang="en-IN" sz="2100" b="1" dirty="0">
                <a:latin typeface="Times New Roman" panose="02020603050405020304" pitchFamily="18" charset="0"/>
                <a:cs typeface="Times New Roman" panose="02020603050405020304" pitchFamily="18" charset="0"/>
              </a:rPr>
              <a:t>Single Input Demonstration</a:t>
            </a:r>
          </a:p>
          <a:p>
            <a:pPr marL="114300" indent="0">
              <a:buNone/>
            </a:pPr>
            <a:endParaRPr lang="en-IN" sz="2100" b="1" dirty="0">
              <a:latin typeface="Times New Roman" panose="02020603050405020304" pitchFamily="18" charset="0"/>
              <a:cs typeface="Times New Roman" panose="02020603050405020304" pitchFamily="18" charset="0"/>
            </a:endParaRPr>
          </a:p>
          <a:p>
            <a:pPr marL="114300" indent="0">
              <a:buNone/>
            </a:pPr>
            <a:r>
              <a:rPr lang="en-IN" sz="1800" b="1" dirty="0">
                <a:latin typeface="Times New Roman" panose="02020603050405020304" pitchFamily="18" charset="0"/>
                <a:cs typeface="Times New Roman" panose="02020603050405020304" pitchFamily="18" charset="0"/>
              </a:rPr>
              <a:t>Unseen test window</a:t>
            </a:r>
            <a:endParaRPr lang="en-IN" sz="18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Input Shape: 1 × 300 × 46</a:t>
            </a:r>
          </a:p>
          <a:p>
            <a:r>
              <a:rPr lang="en-IN" sz="1600" dirty="0">
                <a:latin typeface="Times New Roman" panose="02020603050405020304" pitchFamily="18" charset="0"/>
                <a:cs typeface="Times New Roman" panose="02020603050405020304" pitchFamily="18" charset="0"/>
              </a:rPr>
              <a:t>Actual: Fault</a:t>
            </a:r>
          </a:p>
          <a:p>
            <a:pPr marL="114300" indent="0">
              <a:buNone/>
            </a:pPr>
            <a:endParaRPr lang="en-IN" sz="1600" b="1" dirty="0">
              <a:latin typeface="Times New Roman" panose="02020603050405020304" pitchFamily="18" charset="0"/>
              <a:cs typeface="Times New Roman" panose="02020603050405020304" pitchFamily="18" charset="0"/>
            </a:endParaRPr>
          </a:p>
          <a:p>
            <a:pPr marL="114300" indent="0">
              <a:buNone/>
            </a:pPr>
            <a:r>
              <a:rPr lang="en-IN" sz="1600" b="1" dirty="0">
                <a:latin typeface="Times New Roman" panose="02020603050405020304" pitchFamily="18" charset="0"/>
                <a:cs typeface="Times New Roman" panose="02020603050405020304" pitchFamily="18" charset="0"/>
              </a:rPr>
              <a:t>Model output</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P(Normal) = 47.60%</a:t>
            </a:r>
          </a:p>
          <a:p>
            <a:r>
              <a:rPr lang="en-IN" sz="1600" dirty="0">
                <a:latin typeface="Times New Roman" panose="02020603050405020304" pitchFamily="18" charset="0"/>
                <a:cs typeface="Times New Roman" panose="02020603050405020304" pitchFamily="18" charset="0"/>
              </a:rPr>
              <a:t>P(Fault)  = 52.40%</a:t>
            </a:r>
          </a:p>
          <a:p>
            <a:r>
              <a:rPr lang="en-IN" sz="1600" dirty="0">
                <a:latin typeface="Times New Roman" panose="02020603050405020304" pitchFamily="18" charset="0"/>
                <a:cs typeface="Times New Roman" panose="02020603050405020304" pitchFamily="18" charset="0"/>
              </a:rPr>
              <a:t>Prediction = Fault</a:t>
            </a:r>
          </a:p>
          <a:p>
            <a:r>
              <a:rPr lang="en-IN" sz="1600" dirty="0">
                <a:latin typeface="Times New Roman" panose="02020603050405020304" pitchFamily="18" charset="0"/>
                <a:cs typeface="Times New Roman" panose="02020603050405020304" pitchFamily="18" charset="0"/>
              </a:rPr>
              <a:t>Confidence = 52.40%</a:t>
            </a:r>
          </a:p>
          <a:p>
            <a:pPr marL="114300" indent="0">
              <a:buNone/>
            </a:pPr>
            <a:r>
              <a:rPr lang="en-IN" sz="1600" b="1" dirty="0">
                <a:latin typeface="Times New Roman" panose="02020603050405020304" pitchFamily="18" charset="0"/>
                <a:cs typeface="Times New Roman" panose="02020603050405020304" pitchFamily="18" charset="0"/>
              </a:rPr>
              <a:t>Correct prediction</a:t>
            </a:r>
          </a:p>
          <a:p>
            <a:pPr marL="114300" indent="0">
              <a:buNone/>
            </a:pPr>
            <a:endParaRPr lang="en-IN" sz="1600" b="1" dirty="0">
              <a:latin typeface="Times New Roman" panose="02020603050405020304" pitchFamily="18" charset="0"/>
              <a:cs typeface="Times New Roman" panose="02020603050405020304" pitchFamily="18" charset="0"/>
            </a:endParaRPr>
          </a:p>
          <a:p>
            <a:pPr marL="114300" indent="0">
              <a:buNone/>
            </a:pPr>
            <a:r>
              <a:rPr lang="en-IN" sz="1600" dirty="0">
                <a:latin typeface="Times New Roman" panose="02020603050405020304" pitchFamily="18" charset="0"/>
                <a:cs typeface="Times New Roman" panose="02020603050405020304" pitchFamily="18" charset="0"/>
              </a:rPr>
              <a:t>This demonstrates that the trained model can perform inference and return class probabilities. The relatively low confidence also shows why further improvement is needed.</a:t>
            </a:r>
          </a:p>
        </p:txBody>
      </p:sp>
      <p:sp>
        <p:nvSpPr>
          <p:cNvPr id="205" name="Google Shape;205;p13">
            <a:extLst>
              <a:ext uri="{FF2B5EF4-FFF2-40B4-BE49-F238E27FC236}">
                <a16:creationId xmlns:a16="http://schemas.microsoft.com/office/drawing/2014/main" id="{EA72527E-0C6F-3DD3-75BB-3BD657F95E43}"/>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07/09/2026</a:t>
            </a:r>
            <a:endParaRPr dirty="0"/>
          </a:p>
        </p:txBody>
      </p:sp>
      <p:sp>
        <p:nvSpPr>
          <p:cNvPr id="206" name="Google Shape;206;p13">
            <a:extLst>
              <a:ext uri="{FF2B5EF4-FFF2-40B4-BE49-F238E27FC236}">
                <a16:creationId xmlns:a16="http://schemas.microsoft.com/office/drawing/2014/main" id="{216B8295-B75C-A640-5344-26E4951F9E01}"/>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51</a:t>
            </a:fld>
            <a:endParaRPr/>
          </a:p>
        </p:txBody>
      </p:sp>
      <p:sp>
        <p:nvSpPr>
          <p:cNvPr id="2" name="Footer Placeholder 1">
            <a:extLst>
              <a:ext uri="{FF2B5EF4-FFF2-40B4-BE49-F238E27FC236}">
                <a16:creationId xmlns:a16="http://schemas.microsoft.com/office/drawing/2014/main" id="{9961DDC2-BBEE-B2D3-2908-075C602202E6}"/>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pic>
        <p:nvPicPr>
          <p:cNvPr id="13" name="Picture 12">
            <a:extLst>
              <a:ext uri="{FF2B5EF4-FFF2-40B4-BE49-F238E27FC236}">
                <a16:creationId xmlns:a16="http://schemas.microsoft.com/office/drawing/2014/main" id="{4EBBECA9-F66C-613B-E78E-A646CBC7ED62}"/>
              </a:ext>
            </a:extLst>
          </p:cNvPr>
          <p:cNvPicPr>
            <a:picLocks noChangeAspect="1"/>
          </p:cNvPicPr>
          <p:nvPr/>
        </p:nvPicPr>
        <p:blipFill>
          <a:blip r:embed="rId3"/>
          <a:stretch>
            <a:fillRect/>
          </a:stretch>
        </p:blipFill>
        <p:spPr>
          <a:xfrm>
            <a:off x="3902379" y="1365504"/>
            <a:ext cx="4715595" cy="3587496"/>
          </a:xfrm>
          <a:prstGeom prst="rect">
            <a:avLst/>
          </a:prstGeom>
        </p:spPr>
      </p:pic>
    </p:spTree>
    <p:extLst>
      <p:ext uri="{BB962C8B-B14F-4D97-AF65-F5344CB8AC3E}">
        <p14:creationId xmlns:p14="http://schemas.microsoft.com/office/powerpoint/2010/main" val="36055094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FD3A0E77-7E9C-A7BB-DFFF-F43DBBE41AFA}"/>
            </a:ext>
          </a:extLst>
        </p:cNvPr>
        <p:cNvGrpSpPr/>
        <p:nvPr/>
      </p:nvGrpSpPr>
      <p:grpSpPr>
        <a:xfrm>
          <a:off x="0" y="0"/>
          <a:ext cx="0" cy="0"/>
          <a:chOff x="0" y="0"/>
          <a:chExt cx="0" cy="0"/>
        </a:xfrm>
      </p:grpSpPr>
      <p:sp>
        <p:nvSpPr>
          <p:cNvPr id="202" name="Google Shape;202;p13">
            <a:extLst>
              <a:ext uri="{FF2B5EF4-FFF2-40B4-BE49-F238E27FC236}">
                <a16:creationId xmlns:a16="http://schemas.microsoft.com/office/drawing/2014/main" id="{F7A4B79F-D300-DB3F-F639-DE05281D012E}"/>
              </a:ext>
            </a:extLst>
          </p:cNvPr>
          <p:cNvSpPr txBox="1">
            <a:spLocks noGrp="1"/>
          </p:cNvSpPr>
          <p:nvPr>
            <p:ph type="title"/>
          </p:nvPr>
        </p:nvSpPr>
        <p:spPr>
          <a:xfrm>
            <a:off x="388374" y="-110612"/>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IN" b="1" dirty="0">
                <a:latin typeface="Times New Roman" panose="02020603050405020304" pitchFamily="18" charset="0"/>
                <a:cs typeface="Times New Roman" panose="02020603050405020304" pitchFamily="18" charset="0"/>
              </a:rPr>
              <a:t>AERIS: NGAFID Branch</a:t>
            </a:r>
            <a:endParaRPr b="1" dirty="0">
              <a:latin typeface="Times New Roman" panose="02020603050405020304" pitchFamily="18" charset="0"/>
              <a:cs typeface="Times New Roman" panose="02020603050405020304" pitchFamily="18" charset="0"/>
            </a:endParaRPr>
          </a:p>
        </p:txBody>
      </p:sp>
      <p:sp>
        <p:nvSpPr>
          <p:cNvPr id="203" name="Google Shape;203;p13">
            <a:extLst>
              <a:ext uri="{FF2B5EF4-FFF2-40B4-BE49-F238E27FC236}">
                <a16:creationId xmlns:a16="http://schemas.microsoft.com/office/drawing/2014/main" id="{C1A9F3C5-A0F5-29D8-ECC9-F220538EFE9E}"/>
              </a:ext>
            </a:extLst>
          </p:cNvPr>
          <p:cNvSpPr txBox="1">
            <a:spLocks noGrp="1"/>
          </p:cNvSpPr>
          <p:nvPr>
            <p:ph type="body" idx="1"/>
          </p:nvPr>
        </p:nvSpPr>
        <p:spPr>
          <a:xfrm>
            <a:off x="526026" y="1255776"/>
            <a:ext cx="8229600" cy="5213850"/>
          </a:xfrm>
          <a:prstGeom prst="rect">
            <a:avLst/>
          </a:prstGeom>
          <a:noFill/>
          <a:ln>
            <a:noFill/>
          </a:ln>
        </p:spPr>
        <p:txBody>
          <a:bodyPr spcFirstLastPara="1" wrap="square" lIns="91425" tIns="45700" rIns="91425" bIns="45700" anchor="t" anchorCtr="0">
            <a:normAutofit fontScale="97500"/>
          </a:bodyPr>
          <a:lstStyle/>
          <a:p>
            <a:pPr marL="114300" indent="0">
              <a:buNone/>
            </a:pPr>
            <a:r>
              <a:rPr lang="en-IN" sz="2100" b="1" dirty="0">
                <a:latin typeface="Times New Roman" panose="02020603050405020304" pitchFamily="18" charset="0"/>
                <a:cs typeface="Times New Roman" panose="02020603050405020304" pitchFamily="18" charset="0"/>
              </a:rPr>
              <a:t>Remaining Work</a:t>
            </a:r>
          </a:p>
          <a:p>
            <a:pPr marL="114300" indent="0">
              <a:buNone/>
            </a:pPr>
            <a:endParaRPr lang="en-IN" sz="1600" b="1"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Complete NGAFID Transformer Baseline </a:t>
            </a:r>
          </a:p>
          <a:p>
            <a:pPr lvl="0"/>
            <a:r>
              <a:rPr lang="en-IN" sz="1600" dirty="0">
                <a:latin typeface="Times New Roman" panose="02020603050405020304" pitchFamily="18" charset="0"/>
                <a:cs typeface="Times New Roman" panose="02020603050405020304" pitchFamily="18" charset="0"/>
              </a:rPr>
              <a:t>Evaluate model on independent test set </a:t>
            </a:r>
          </a:p>
          <a:p>
            <a:pPr lvl="0"/>
            <a:r>
              <a:rPr lang="en-IN" sz="1600" dirty="0">
                <a:latin typeface="Times New Roman" panose="02020603050405020304" pitchFamily="18" charset="0"/>
                <a:cs typeface="Times New Roman" panose="02020603050405020304" pitchFamily="18" charset="0"/>
              </a:rPr>
              <a:t>Single-window inference &amp; prediction confidence  </a:t>
            </a:r>
          </a:p>
          <a:p>
            <a:r>
              <a:rPr lang="en-IN" sz="1600" b="1" dirty="0">
                <a:latin typeface="Times New Roman" panose="02020603050405020304" pitchFamily="18" charset="0"/>
                <a:cs typeface="Times New Roman" panose="02020603050405020304" pitchFamily="18" charset="0"/>
              </a:rPr>
              <a:t>SHAP-based model explainability</a:t>
            </a:r>
            <a:r>
              <a:rPr lang="en-IN" sz="1600" dirty="0">
                <a:latin typeface="Times New Roman" panose="02020603050405020304" pitchFamily="18" charset="0"/>
                <a:cs typeface="Times New Roman" panose="02020603050405020304" pitchFamily="18" charset="0"/>
              </a:rPr>
              <a:t> </a:t>
            </a:r>
          </a:p>
          <a:p>
            <a:pPr marL="114300" indent="0">
              <a:buNone/>
            </a:pPr>
            <a:r>
              <a:rPr lang="en-IN" sz="1600" dirty="0">
                <a:latin typeface="Times New Roman" panose="02020603050405020304" pitchFamily="18" charset="0"/>
                <a:cs typeface="Times New Roman" panose="02020603050405020304" pitchFamily="18" charset="0"/>
              </a:rPr>
              <a:t>        – Identify important sensor features</a:t>
            </a:r>
          </a:p>
          <a:p>
            <a:pPr marL="114300" indent="0">
              <a:buNone/>
            </a:pPr>
            <a:r>
              <a:rPr lang="en-IN" sz="1600" dirty="0">
                <a:latin typeface="Times New Roman" panose="02020603050405020304" pitchFamily="18" charset="0"/>
                <a:cs typeface="Times New Roman" panose="02020603050405020304" pitchFamily="18" charset="0"/>
              </a:rPr>
              <a:t>        – Explain individual predictions</a:t>
            </a:r>
          </a:p>
          <a:p>
            <a:r>
              <a:rPr lang="en-IN" sz="1600" b="1" dirty="0">
                <a:latin typeface="Times New Roman" panose="02020603050405020304" pitchFamily="18" charset="0"/>
                <a:cs typeface="Times New Roman" panose="02020603050405020304" pitchFamily="18" charset="0"/>
              </a:rPr>
              <a:t>Evidence extraction</a:t>
            </a:r>
            <a:r>
              <a:rPr lang="en-IN" sz="1600" dirty="0">
                <a:latin typeface="Times New Roman" panose="02020603050405020304" pitchFamily="18" charset="0"/>
                <a:cs typeface="Times New Roman" panose="02020603050405020304" pitchFamily="18" charset="0"/>
              </a:rPr>
              <a:t> </a:t>
            </a:r>
          </a:p>
          <a:p>
            <a:pPr marL="114300" indent="0">
              <a:buNone/>
            </a:pPr>
            <a:r>
              <a:rPr lang="en-IN" sz="1600" dirty="0">
                <a:latin typeface="Times New Roman" panose="02020603050405020304" pitchFamily="18" charset="0"/>
                <a:cs typeface="Times New Roman" panose="02020603050405020304" pitchFamily="18" charset="0"/>
              </a:rPr>
              <a:t>       – Extract predictive evidence from the Transformer</a:t>
            </a:r>
          </a:p>
          <a:p>
            <a:r>
              <a:rPr lang="en-IN" sz="1600" b="1" dirty="0">
                <a:latin typeface="Times New Roman" panose="02020603050405020304" pitchFamily="18" charset="0"/>
                <a:cs typeface="Times New Roman" panose="02020603050405020304" pitchFamily="18" charset="0"/>
              </a:rPr>
              <a:t>Dempster–Shafer evidence fusion</a:t>
            </a:r>
            <a:r>
              <a:rPr lang="en-IN" sz="1600" dirty="0">
                <a:latin typeface="Times New Roman" panose="02020603050405020304" pitchFamily="18" charset="0"/>
                <a:cs typeface="Times New Roman" panose="02020603050405020304" pitchFamily="18" charset="0"/>
              </a:rPr>
              <a:t> </a:t>
            </a:r>
          </a:p>
          <a:p>
            <a:pPr marL="114300" indent="0">
              <a:buNone/>
            </a:pPr>
            <a:r>
              <a:rPr lang="en-IN" sz="1600" dirty="0">
                <a:latin typeface="Times New Roman" panose="02020603050405020304" pitchFamily="18" charset="0"/>
                <a:cs typeface="Times New Roman" panose="02020603050405020304" pitchFamily="18" charset="0"/>
              </a:rPr>
              <a:t>       – Combine model evidence</a:t>
            </a:r>
          </a:p>
          <a:p>
            <a:pPr marL="114300" indent="0">
              <a:buNone/>
            </a:pPr>
            <a:r>
              <a:rPr lang="en-IN" sz="1600" dirty="0">
                <a:latin typeface="Times New Roman" panose="02020603050405020304" pitchFamily="18" charset="0"/>
                <a:cs typeface="Times New Roman" panose="02020603050405020304" pitchFamily="18" charset="0"/>
              </a:rPr>
              <a:t>       – Generate final fault/normal decision</a:t>
            </a:r>
          </a:p>
          <a:p>
            <a:pPr marL="114300" indent="0">
              <a:buNone/>
            </a:pPr>
            <a:endParaRPr lang="en-IN" sz="1600" dirty="0">
              <a:latin typeface="Times New Roman" panose="02020603050405020304" pitchFamily="18" charset="0"/>
              <a:cs typeface="Times New Roman" panose="02020603050405020304" pitchFamily="18" charset="0"/>
            </a:endParaRPr>
          </a:p>
        </p:txBody>
      </p:sp>
      <p:sp>
        <p:nvSpPr>
          <p:cNvPr id="205" name="Google Shape;205;p13">
            <a:extLst>
              <a:ext uri="{FF2B5EF4-FFF2-40B4-BE49-F238E27FC236}">
                <a16:creationId xmlns:a16="http://schemas.microsoft.com/office/drawing/2014/main" id="{61100469-FFFB-A7E5-F5CA-DFA93AAD9D6E}"/>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07/09/2026</a:t>
            </a:r>
            <a:endParaRPr dirty="0"/>
          </a:p>
        </p:txBody>
      </p:sp>
      <p:sp>
        <p:nvSpPr>
          <p:cNvPr id="206" name="Google Shape;206;p13">
            <a:extLst>
              <a:ext uri="{FF2B5EF4-FFF2-40B4-BE49-F238E27FC236}">
                <a16:creationId xmlns:a16="http://schemas.microsoft.com/office/drawing/2014/main" id="{20F51FF3-0EBA-A7FE-6375-1C6277B5D25A}"/>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52</a:t>
            </a:fld>
            <a:endParaRPr/>
          </a:p>
        </p:txBody>
      </p:sp>
      <p:sp>
        <p:nvSpPr>
          <p:cNvPr id="2" name="Footer Placeholder 1">
            <a:extLst>
              <a:ext uri="{FF2B5EF4-FFF2-40B4-BE49-F238E27FC236}">
                <a16:creationId xmlns:a16="http://schemas.microsoft.com/office/drawing/2014/main" id="{C65AD729-237C-E085-7576-E697B09D599E}"/>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extLst>
      <p:ext uri="{BB962C8B-B14F-4D97-AF65-F5344CB8AC3E}">
        <p14:creationId xmlns:p14="http://schemas.microsoft.com/office/powerpoint/2010/main" val="162244544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472</TotalTime>
  <Words>5122</Words>
  <Application>Microsoft Office PowerPoint</Application>
  <PresentationFormat>On-screen Show (4:3)</PresentationFormat>
  <Paragraphs>766</Paragraphs>
  <Slides>52</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Times New Roman</vt:lpstr>
      <vt:lpstr>Wingdings</vt:lpstr>
      <vt:lpstr>Office Theme</vt:lpstr>
      <vt:lpstr>S.A. ENGINEERING COLLEGE- CHENNAI-77 (Autonomous- Institute Level Research Centre, Affiliated to Anna University) DEPARTMENT OF ARTIFICIAL INTELLIGENCE &amp; DATA SCIENCE</vt:lpstr>
      <vt:lpstr>Agenda</vt:lpstr>
      <vt:lpstr>Introduction</vt:lpstr>
      <vt:lpstr>Base Paper</vt:lpstr>
      <vt:lpstr>Abstract</vt:lpstr>
      <vt:lpstr>Scope and Motivation</vt:lpstr>
      <vt:lpstr>Literature Survey</vt:lpstr>
      <vt:lpstr>Literature Survey</vt:lpstr>
      <vt:lpstr>Objectives</vt:lpstr>
      <vt:lpstr>Problem Statement</vt:lpstr>
      <vt:lpstr>Proposed Work-Block Diagram</vt:lpstr>
      <vt:lpstr>Architecture Diagram</vt:lpstr>
      <vt:lpstr>Modules</vt:lpstr>
      <vt:lpstr>Proposed-Module Description</vt:lpstr>
      <vt:lpstr>Proposed-Module Description</vt:lpstr>
      <vt:lpstr>Software Requirements</vt:lpstr>
      <vt:lpstr>References</vt:lpstr>
      <vt:lpstr>References</vt:lpstr>
      <vt:lpstr>S.A. ENGINEERING COLLEGE- CHENNAI-77 (Autonomous- Institute Level Research Centre, Affiliated to Anna University) DEPARTMENT OF ARTIFICIAL INTELLIGENCE &amp; DATA SCIENCE</vt:lpstr>
      <vt:lpstr>Architecture Diagram</vt:lpstr>
      <vt:lpstr>SYSTEM ARCHITECTURE DESCRIPTION</vt:lpstr>
      <vt:lpstr>SYSTEM ARCHITECTURE DESCRIPTION</vt:lpstr>
      <vt:lpstr>SYSTEM ARCHITECTURE DESCRIPTION</vt:lpstr>
      <vt:lpstr>SYSTEM ARCHITECTURE DESCRIPTION</vt:lpstr>
      <vt:lpstr>DATASET USED</vt:lpstr>
      <vt:lpstr>PowerPoint Presentation</vt:lpstr>
      <vt:lpstr>Modules</vt:lpstr>
      <vt:lpstr>Proposed-Module Description</vt:lpstr>
      <vt:lpstr>Proposed-Module Description</vt:lpstr>
      <vt:lpstr>Proposed-Module Description</vt:lpstr>
      <vt:lpstr>S.A. ENGINEERING COLLEGE- CHENNAI-77 (Autonomous- Institute Level Research Centre, Affiliated to Anna University) DEPARTMENT OF ARTIFICIAL INTELLIGENCE &amp; DATA SCIENCE</vt:lpstr>
      <vt:lpstr>OVERALL ARCHITECTURE</vt:lpstr>
      <vt:lpstr>PROJECT PHASES </vt:lpstr>
      <vt:lpstr>CMAPSS – DATASET</vt:lpstr>
      <vt:lpstr>CMAPSS Work Completed</vt:lpstr>
      <vt:lpstr>CMAPSS – Baseline &amp; LSTM Results</vt:lpstr>
      <vt:lpstr>Transformer Model for RUL Prediction</vt:lpstr>
      <vt:lpstr>CMAPSS – Transformer Model Development</vt:lpstr>
      <vt:lpstr>CMAPSS – Final Transformer Results</vt:lpstr>
      <vt:lpstr> Output Continuation….</vt:lpstr>
      <vt:lpstr>UPCOMING IMPLEMENTATION </vt:lpstr>
      <vt:lpstr>NTSB Dataset</vt:lpstr>
      <vt:lpstr>NTSB – Data Processing &amp; Metadata Generation</vt:lpstr>
      <vt:lpstr>NTSB – Next Steps</vt:lpstr>
      <vt:lpstr>UPCOMING IMPLEMENTATION </vt:lpstr>
      <vt:lpstr>AERIS: NGAFID Branch</vt:lpstr>
      <vt:lpstr>AERIS: NGAFID Branch</vt:lpstr>
      <vt:lpstr>AERIS: NGAFID Branch</vt:lpstr>
      <vt:lpstr>AERIS: NGAFID Branch</vt:lpstr>
      <vt:lpstr>AERIS: NGAFID Branch</vt:lpstr>
      <vt:lpstr>AERIS: NGAFID Branch</vt:lpstr>
      <vt:lpstr>AERIS: NGAFID Branch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 ENGINEERING COLLEGE- CHENNAI-77 (Autonomous- Institute Level Research Centre, Affiliated to Anna University) DEPARTMENT OF ARTIFICIAL INTELLIGENCE &amp; DATA SCIENCE</dc:title>
  <dc:creator>22101316I</dc:creator>
  <cp:lastModifiedBy>Menaka M</cp:lastModifiedBy>
  <cp:revision>18</cp:revision>
  <dcterms:created xsi:type="dcterms:W3CDTF">2025-08-02T14:18:00Z</dcterms:created>
  <dcterms:modified xsi:type="dcterms:W3CDTF">2026-09-07T03:24:37Z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5D9E7A7B5D9B44D59A24B41C6AB6D90A_13</vt:lpwstr>
  </property>
  <property fmtid="{D5CDD505-2E9C-101B-9397-08002B2CF9AE}" pid="3" name="KSOProductBuildVer">
    <vt:lpwstr>1033-12.2.0.22549</vt:lpwstr>
  </property>
</Properties>
</file>
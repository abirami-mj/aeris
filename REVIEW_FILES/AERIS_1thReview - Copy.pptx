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2" r:id="rId18"/>
    <p:sldId id="271" r:id="rId19"/>
    <p:sldId id="275" r:id="rId20"/>
    <p:sldId id="277" r:id="rId21"/>
    <p:sldId id="279" r:id="rId22"/>
    <p:sldId id="280" r:id="rId23"/>
    <p:sldId id="281"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8ZpY56QUA1/6CfgTxRwtTv1PV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879F58-94FC-4AB5-AACA-6E85711E4052}">
  <a:tblStyle styleId="{47879F58-94FC-4AB5-AACA-6E85711E4052}"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fill>
          <a:solidFill>
            <a:schemeClr val="accent5">
              <a:alpha val="20000"/>
            </a:schemeClr>
          </a:solidFill>
        </a:fill>
      </a:tcStyle>
    </a:band2H>
    <a:band1V>
      <a:tcTxStyle/>
      <a:tcStyle>
        <a:tcBdr/>
        <a:fill>
          <a:solidFill>
            <a:schemeClr val="accent5">
              <a:alpha val="20000"/>
            </a:schemeClr>
          </a:solidFill>
        </a:fill>
      </a:tcStyle>
    </a:band1V>
    <a:band2V>
      <a:tcTxStyle/>
      <a:tcStyle>
        <a:tcBdr/>
        <a:fill>
          <a:solidFill>
            <a:schemeClr val="accent5">
              <a:alpha val="20000"/>
            </a:schemeClr>
          </a:solidFill>
        </a:fill>
      </a:tcStyle>
    </a:band2V>
    <a:lastCol>
      <a:tcTxStyle b="on" i="off"/>
      <a:tcStyle>
        <a:tcBdr/>
        <a:fill>
          <a:solidFill>
            <a:schemeClr val="accent5">
              <a:alpha val="20000"/>
            </a:schemeClr>
          </a:solidFill>
        </a:fill>
      </a:tcStyle>
    </a:lastCol>
    <a:firstCol>
      <a:tcTxStyle b="on" i="off"/>
      <a:tcStyle>
        <a:tcBdr/>
        <a:fill>
          <a:solidFill>
            <a:schemeClr val="accent5">
              <a:alpha val="20000"/>
            </a:schemeClr>
          </a:solidFill>
        </a:fill>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eCell>
    <a:swCell>
      <a:tcTxStyle/>
      <a:tcStyle>
        <a:tcBdr>
          <a:top>
            <a:ln w="50800" cap="flat" cmpd="sng">
              <a:solidFill>
                <a:schemeClr val="accent5"/>
              </a:solidFill>
              <a:prstDash val="solid"/>
              <a:round/>
              <a:headEnd type="none" w="sm" len="sm"/>
              <a:tailEnd type="none" w="sm" len="sm"/>
            </a:ln>
          </a:top>
        </a:tcBdr>
        <a:fill>
          <a:solidFill>
            <a:srgbClr val="FFFFFF">
              <a:alpha val="0"/>
            </a:srgbClr>
          </a:solidFill>
        </a:fill>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eCell>
    <a:nwCell>
      <a:tcTxStyle/>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nwCell>
  </a:tblStyle>
  <a:tblStyle styleId="{6EB1FC0C-1D29-42B7-B8E6-0F5DF3C737FC}"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fill>
          <a:solidFill>
            <a:srgbClr val="CFD7E7"/>
          </a:solidFill>
        </a:fill>
      </a:tcStyle>
    </a:band2H>
    <a:band1V>
      <a:tcTxStyle/>
      <a:tcStyle>
        <a:tcBdr/>
        <a:fill>
          <a:solidFill>
            <a:srgbClr val="CFD7E7"/>
          </a:solidFill>
        </a:fill>
      </a:tcStyle>
    </a:band1V>
    <a:band2V>
      <a:tcTxStyle/>
      <a:tcStyle>
        <a:tcBdr/>
        <a:fill>
          <a:solidFill>
            <a:srgbClr val="CFD7E7"/>
          </a:solidFill>
        </a:fill>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op>
            <a:ln w="38100" cap="flat" cmpd="sng">
              <a:solidFill>
                <a:schemeClr val="lt1"/>
              </a:solidFill>
              <a:prstDash val="solid"/>
              <a:round/>
              <a:headEnd type="none" w="sm" len="sm"/>
              <a:tailEnd type="none" w="sm" len="sm"/>
            </a:ln>
          </a:top>
        </a:tcBdr>
        <a:fill>
          <a:solidFill>
            <a:schemeClr val="accent1"/>
          </a:solidFill>
        </a:fill>
      </a:tcStyle>
    </a:seCell>
    <a:swCell>
      <a:tcTxStyle/>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5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9" name="Google Shape;10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f4fb01c2d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f4fb01c2df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f4fb01c2df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22D0E7DF-7534-0CF1-09E0-3C9AA8E40604}"/>
            </a:ext>
          </a:extLst>
        </p:cNvPr>
        <p:cNvGrpSpPr/>
        <p:nvPr/>
      </p:nvGrpSpPr>
      <p:grpSpPr>
        <a:xfrm>
          <a:off x="0" y="0"/>
          <a:ext cx="0" cy="0"/>
          <a:chOff x="0" y="0"/>
          <a:chExt cx="0" cy="0"/>
        </a:xfrm>
      </p:grpSpPr>
      <p:sp>
        <p:nvSpPr>
          <p:cNvPr id="144" name="Google Shape;144;p6:notes">
            <a:extLst>
              <a:ext uri="{FF2B5EF4-FFF2-40B4-BE49-F238E27FC236}">
                <a16:creationId xmlns:a16="http://schemas.microsoft.com/office/drawing/2014/main" id="{4AE045E0-6DD4-00F4-109B-A4A8BC54AD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6:notes">
            <a:extLst>
              <a:ext uri="{FF2B5EF4-FFF2-40B4-BE49-F238E27FC236}">
                <a16:creationId xmlns:a16="http://schemas.microsoft.com/office/drawing/2014/main" id="{E0FF730A-050D-CFBE-2B1C-74474669131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0632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3" name="Google Shape;15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2" name="Google Shape;16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91" name="Google Shape;19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0" name="Google Shape;2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18" name="Google Shape;2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36" name="Google Shape;23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27" name="Google Shape;22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19" name="Google Shape;1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0" name="Google Shape;2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25" name="Google Shape;25;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26" name="Google Shape;2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38" name="Google Shape;3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39" name="Google Shape;3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47" name="Google Shape;4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48" name="Google Shape;4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2" name="Google Shape;5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3" name="Google Shape;5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56" name="Google Shape;5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57" name="Google Shape;5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63" name="Google Shape;6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64" name="Google Shape;6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9"/>
          <p:cNvSpPr>
            <a:spLocks noGrp="1"/>
          </p:cNvSpPr>
          <p:nvPr>
            <p:ph type="pic" idx="2"/>
          </p:nvPr>
        </p:nvSpPr>
        <p:spPr>
          <a:xfrm>
            <a:off x="1792288" y="612775"/>
            <a:ext cx="5486400" cy="4114800"/>
          </a:xfrm>
          <a:prstGeom prst="rect">
            <a:avLst/>
          </a:prstGeom>
          <a:noFill/>
          <a:ln>
            <a:noFill/>
          </a:ln>
        </p:spPr>
      </p:sp>
      <p:sp>
        <p:nvSpPr>
          <p:cNvPr id="68" name="Google Shape;68;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0" name="Google Shape;7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1" name="Google Shape;7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84"/>
        <p:cNvGrpSpPr/>
        <p:nvPr/>
      </p:nvGrpSpPr>
      <p:grpSpPr>
        <a:xfrm>
          <a:off x="0" y="0"/>
          <a:ext cx="0" cy="0"/>
          <a:chOff x="0" y="0"/>
          <a:chExt cx="0" cy="0"/>
        </a:xfrm>
      </p:grpSpPr>
      <p:sp>
        <p:nvSpPr>
          <p:cNvPr id="85" name="Google Shape;8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87" name="Google Shape;8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20/07/2026</a:t>
            </a:r>
            <a:endParaRPr/>
          </a:p>
        </p:txBody>
      </p:sp>
      <p:sp>
        <p:nvSpPr>
          <p:cNvPr id="88" name="Google Shape;8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AI&amp;DS, SAEC</a:t>
            </a:r>
            <a:endParaRPr/>
          </a:p>
        </p:txBody>
      </p:sp>
      <p:sp>
        <p:nvSpPr>
          <p:cNvPr id="89" name="Google Shape;8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20/07/2026</a:t>
            </a:r>
            <a:endParaRPr/>
          </a:p>
        </p:txBody>
      </p:sp>
      <p:sp>
        <p:nvSpPr>
          <p:cNvPr id="13" name="Google Shape;13;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DEPT OF AI&amp;DS, SAEC</a:t>
            </a:r>
            <a:endParaRPr/>
          </a:p>
        </p:txBody>
      </p:sp>
      <p:sp>
        <p:nvSpPr>
          <p:cNvPr id="14" name="Google Shape;14;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645160" y="373380"/>
            <a:ext cx="7219950" cy="13303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000"/>
              <a:buFont typeface="Times New Roman"/>
              <a:buNone/>
            </a:pPr>
            <a:r>
              <a:rPr lang="en-US" sz="2200" b="1">
                <a:latin typeface="Times New Roman"/>
                <a:ea typeface="Times New Roman"/>
                <a:cs typeface="Times New Roman"/>
                <a:sym typeface="Times New Roman"/>
              </a:rPr>
              <a:t>S.A. ENGINEERING COLLEGE- CHENNAI-77</a:t>
            </a:r>
            <a:br>
              <a:rPr lang="en-US" sz="22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(Autonomous- Institute Level Research Centre, Affiliated to Anna University)</a:t>
            </a:r>
            <a:br>
              <a:rPr lang="en-US" sz="1800" b="1">
                <a:latin typeface="Times New Roman"/>
                <a:ea typeface="Times New Roman"/>
                <a:cs typeface="Times New Roman"/>
                <a:sym typeface="Times New Roman"/>
              </a:rPr>
            </a:br>
            <a:r>
              <a:rPr lang="en-US" sz="1700" b="1">
                <a:latin typeface="Times New Roman"/>
                <a:ea typeface="Times New Roman"/>
                <a:cs typeface="Times New Roman"/>
                <a:sym typeface="Times New Roman"/>
              </a:rPr>
              <a:t>DEPARTMENT OF ARTIFICIAL INTELLIGENCE &amp; DATA SCIENCE</a:t>
            </a:r>
            <a:endParaRPr sz="1700" b="1">
              <a:latin typeface="Times New Roman"/>
              <a:ea typeface="Times New Roman"/>
              <a:cs typeface="Times New Roman"/>
              <a:sym typeface="Times New Roman"/>
            </a:endParaRPr>
          </a:p>
        </p:txBody>
      </p:sp>
      <p:sp>
        <p:nvSpPr>
          <p:cNvPr id="95" name="Google Shape;95;p1"/>
          <p:cNvSpPr txBox="1">
            <a:spLocks noGrp="1"/>
          </p:cNvSpPr>
          <p:nvPr>
            <p:ph type="subTitle" idx="1"/>
          </p:nvPr>
        </p:nvSpPr>
        <p:spPr>
          <a:xfrm>
            <a:off x="508000" y="1757892"/>
            <a:ext cx="8077200" cy="9144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AD1703A -  Project Phase-1</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dk1"/>
              </a:buClr>
              <a:buSzPts val="1800"/>
              <a:buNone/>
            </a:pPr>
            <a:r>
              <a:rPr lang="en-US" sz="2200" b="1" dirty="0">
                <a:solidFill>
                  <a:schemeClr val="dk1"/>
                </a:solidFill>
                <a:latin typeface="Times New Roman"/>
                <a:ea typeface="Times New Roman"/>
                <a:cs typeface="Times New Roman"/>
                <a:sym typeface="Times New Roman"/>
              </a:rPr>
              <a:t>ZEROTH REVIEW</a:t>
            </a:r>
            <a:endParaRPr sz="2200" b="1" dirty="0">
              <a:solidFill>
                <a:schemeClr val="dk1"/>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chemeClr val="dk1"/>
              </a:buClr>
              <a:buSzPts val="1800"/>
              <a:buNone/>
            </a:pPr>
            <a:endParaRPr sz="1800" dirty="0">
              <a:solidFill>
                <a:schemeClr val="dk1"/>
              </a:solidFill>
              <a:latin typeface="Times New Roman"/>
              <a:ea typeface="Times New Roman"/>
              <a:cs typeface="Times New Roman"/>
              <a:sym typeface="Times New Roman"/>
            </a:endParaRPr>
          </a:p>
          <a:p>
            <a:pPr marL="0" lvl="0" indent="0" algn="ctr" rtl="0">
              <a:lnSpc>
                <a:spcPct val="100000"/>
              </a:lnSpc>
              <a:spcBef>
                <a:spcPts val="480"/>
              </a:spcBef>
              <a:spcAft>
                <a:spcPts val="0"/>
              </a:spcAft>
              <a:buClr>
                <a:srgbClr val="888888"/>
              </a:buClr>
              <a:buSzPts val="2400"/>
              <a:buNone/>
            </a:pPr>
            <a:endParaRPr sz="2400" dirty="0">
              <a:solidFill>
                <a:schemeClr val="dk1"/>
              </a:solidFill>
              <a:latin typeface="Times New Roman"/>
              <a:ea typeface="Times New Roman"/>
              <a:cs typeface="Times New Roman"/>
              <a:sym typeface="Times New Roman"/>
            </a:endParaRPr>
          </a:p>
          <a:p>
            <a:r>
              <a:rPr lang="en-US" sz="2200" dirty="0">
                <a:solidFill>
                  <a:srgbClr val="000000"/>
                </a:solidFill>
                <a:latin typeface="Times New Roman"/>
                <a:ea typeface="Times New Roman"/>
                <a:cs typeface="Times New Roman"/>
                <a:sym typeface="Times New Roman"/>
              </a:rPr>
              <a:t>TITLE : </a:t>
            </a: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AERIS </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An Explainable Reasoning and Investigation System for Intelligent Aerospace Maintenance</a:t>
            </a: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a:p>
            <a:pPr marL="0" lvl="0" indent="0" algn="ctr" rtl="0">
              <a:lnSpc>
                <a:spcPct val="100000"/>
              </a:lnSpc>
              <a:spcBef>
                <a:spcPts val="360"/>
              </a:spcBef>
              <a:spcAft>
                <a:spcPts val="0"/>
              </a:spcAft>
              <a:buClr>
                <a:srgbClr val="000000"/>
              </a:buClr>
              <a:buSzPts val="1800"/>
              <a:buNone/>
            </a:pPr>
            <a:endParaRPr sz="2200" b="0" i="0" u="none" strike="noStrike" dirty="0">
              <a:solidFill>
                <a:srgbClr val="000000"/>
              </a:solidFill>
              <a:latin typeface="Times New Roman"/>
              <a:ea typeface="Times New Roman"/>
              <a:cs typeface="Times New Roman"/>
              <a:sym typeface="Times New Roman"/>
            </a:endParaRPr>
          </a:p>
        </p:txBody>
      </p:sp>
      <p:sp>
        <p:nvSpPr>
          <p:cNvPr id="96" name="Google Shape;96;p1"/>
          <p:cNvSpPr txBox="1"/>
          <p:nvPr/>
        </p:nvSpPr>
        <p:spPr>
          <a:xfrm>
            <a:off x="1858536" y="2672295"/>
            <a:ext cx="5562600" cy="3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Arial"/>
              <a:buNone/>
            </a:pPr>
            <a:r>
              <a:rPr lang="en-US" sz="2200" b="0" i="0" u="none" strike="noStrike" cap="none" dirty="0">
                <a:solidFill>
                  <a:schemeClr val="dk1"/>
                </a:solidFill>
                <a:latin typeface="Times New Roman"/>
                <a:ea typeface="Times New Roman"/>
                <a:cs typeface="Times New Roman"/>
                <a:sym typeface="Times New Roman"/>
              </a:rPr>
              <a:t>BATCH NUMBER :</a:t>
            </a:r>
            <a:r>
              <a:rPr lang="en-US" sz="2200" dirty="0">
                <a:solidFill>
                  <a:schemeClr val="dk1"/>
                </a:solidFill>
                <a:latin typeface="Times New Roman"/>
                <a:ea typeface="Times New Roman"/>
                <a:cs typeface="Times New Roman"/>
                <a:sym typeface="Times New Roman"/>
              </a:rPr>
              <a:t> 02</a:t>
            </a:r>
            <a:endParaRPr sz="2200" b="0" i="0" u="none" strike="noStrike" cap="none" dirty="0">
              <a:solidFill>
                <a:schemeClr val="dk1"/>
              </a:solidFill>
              <a:latin typeface="Times New Roman"/>
              <a:ea typeface="Times New Roman"/>
              <a:cs typeface="Times New Roman"/>
              <a:sym typeface="Times New Roman"/>
            </a:endParaRPr>
          </a:p>
        </p:txBody>
      </p:sp>
      <p:graphicFrame>
        <p:nvGraphicFramePr>
          <p:cNvPr id="97" name="Google Shape;97;p1"/>
          <p:cNvGraphicFramePr/>
          <p:nvPr>
            <p:extLst>
              <p:ext uri="{D42A27DB-BD31-4B8C-83A1-F6EECF244321}">
                <p14:modId xmlns:p14="http://schemas.microsoft.com/office/powerpoint/2010/main" val="2678088885"/>
              </p:ext>
            </p:extLst>
          </p:nvPr>
        </p:nvGraphicFramePr>
        <p:xfrm>
          <a:off x="398780" y="4185920"/>
          <a:ext cx="8135625" cy="2228870"/>
        </p:xfrm>
        <a:graphic>
          <a:graphicData uri="http://schemas.openxmlformats.org/drawingml/2006/table">
            <a:tbl>
              <a:tblPr firstRow="1" bandRow="1">
                <a:noFill/>
                <a:tableStyleId>{47879F58-94FC-4AB5-AACA-6E85711E4052}</a:tableStyleId>
              </a:tblPr>
              <a:tblGrid>
                <a:gridCol w="4425950">
                  <a:extLst>
                    <a:ext uri="{9D8B030D-6E8A-4147-A177-3AD203B41FA5}">
                      <a16:colId xmlns:a16="http://schemas.microsoft.com/office/drawing/2014/main" val="20000"/>
                    </a:ext>
                  </a:extLst>
                </a:gridCol>
                <a:gridCol w="37096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Times New Roman"/>
                          <a:ea typeface="Times New Roman"/>
                          <a:cs typeface="Times New Roman"/>
                          <a:sym typeface="Times New Roman"/>
                        </a:rPr>
                        <a:t>TEAM MEMBERS </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dirty="0">
                          <a:latin typeface="Times New Roman"/>
                          <a:ea typeface="Times New Roman"/>
                          <a:cs typeface="Times New Roman"/>
                          <a:sym typeface="Times New Roman"/>
                        </a:rPr>
                        <a:t>SUPERVISOR</a:t>
                      </a:r>
                    </a:p>
                  </a:txBody>
                  <a:tcPr marL="91450" marR="91450" marT="45725" marB="45725"/>
                </a:tc>
                <a:extLst>
                  <a:ext uri="{0D108BD9-81ED-4DB2-BD59-A6C34878D82A}">
                    <a16:rowId xmlns:a16="http://schemas.microsoft.com/office/drawing/2014/main" val="10000"/>
                  </a:ext>
                </a:extLst>
              </a:tr>
              <a:tr h="1863100">
                <a:tc>
                  <a:txBody>
                    <a:bodyPr/>
                    <a:lstStyle/>
                    <a:p>
                      <a:pPr marL="0" marR="0" lvl="0" indent="0" algn="l" rtl="0">
                        <a:lnSpc>
                          <a:spcPct val="100000"/>
                        </a:lnSpc>
                        <a:spcBef>
                          <a:spcPts val="0"/>
                        </a:spcBef>
                        <a:spcAft>
                          <a:spcPts val="0"/>
                        </a:spcAft>
                        <a:buClr>
                          <a:srgbClr val="000000"/>
                        </a:buClr>
                        <a:buSzPts val="1800"/>
                        <a:buFont typeface="Calibri"/>
                        <a:buNone/>
                      </a:pPr>
                      <a:r>
                        <a:rPr lang="en-US" sz="1800" u="sng" dirty="0">
                          <a:solidFill>
                            <a:schemeClr val="hlink"/>
                          </a:solidFill>
                          <a:latin typeface="Times New Roman"/>
                          <a:ea typeface="Times New Roman"/>
                          <a:cs typeface="Times New Roman"/>
                          <a:sym typeface="Times New Roman"/>
                        </a:rPr>
                        <a:t>111923AI01003</a:t>
                      </a:r>
                      <a:r>
                        <a:rPr lang="en-US" sz="1800" dirty="0">
                          <a:latin typeface="Times New Roman"/>
                          <a:ea typeface="Times New Roman"/>
                          <a:cs typeface="Times New Roman"/>
                          <a:sym typeface="Times New Roman"/>
                        </a:rPr>
                        <a:t> – ABIRAMI M</a:t>
                      </a:r>
                    </a:p>
                    <a:p>
                      <a:pPr marL="0" marR="0" lvl="0" indent="0" algn="l" rtl="0">
                        <a:lnSpc>
                          <a:spcPct val="100000"/>
                        </a:lnSpc>
                        <a:spcBef>
                          <a:spcPts val="0"/>
                        </a:spcBef>
                        <a:spcAft>
                          <a:spcPts val="0"/>
                        </a:spcAft>
                        <a:buClr>
                          <a:srgbClr val="000000"/>
                        </a:buClr>
                        <a:buSzPts val="1800"/>
                        <a:buFont typeface="Calibri"/>
                        <a:buNone/>
                      </a:pPr>
                      <a:endParaRPr lang="en-US" sz="1800" u="none" strike="noStrike" cap="none" dirty="0">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800"/>
                        <a:buFont typeface="Calibri"/>
                        <a:buNone/>
                        <a:tabLst/>
                        <a:defRPr/>
                      </a:pPr>
                      <a:r>
                        <a:rPr lang="en-US" sz="1800" u="sng" dirty="0">
                          <a:solidFill>
                            <a:schemeClr val="hlink"/>
                          </a:solidFill>
                          <a:latin typeface="Times New Roman"/>
                          <a:ea typeface="Times New Roman"/>
                          <a:cs typeface="Times New Roman"/>
                          <a:sym typeface="Times New Roman"/>
                        </a:rPr>
                        <a:t>111923AI01022</a:t>
                      </a:r>
                      <a:r>
                        <a:rPr lang="en-US" sz="1800" dirty="0">
                          <a:latin typeface="Times New Roman"/>
                          <a:ea typeface="Times New Roman"/>
                          <a:cs typeface="Times New Roman"/>
                          <a:sym typeface="Times New Roman"/>
                        </a:rPr>
                        <a:t> – DEVISHRI S</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Mrs. NATHIYA M,</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000000"/>
                        </a:buClr>
                        <a:buSzPts val="1800"/>
                        <a:buFont typeface="Calibri"/>
                        <a:buNone/>
                      </a:pPr>
                      <a:r>
                        <a:rPr lang="en-US" sz="1800" u="none" strike="noStrike" cap="none" dirty="0">
                          <a:latin typeface="Times New Roman"/>
                          <a:ea typeface="Times New Roman"/>
                          <a:cs typeface="Times New Roman"/>
                          <a:sym typeface="Times New Roman"/>
                        </a:rPr>
                        <a:t>Department of AI&amp;DS</a:t>
                      </a: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415250" y="117338"/>
            <a:ext cx="8229600" cy="1143000"/>
          </a:xfrm>
          <a:prstGeom prst="rect">
            <a:avLst/>
          </a:prstGeom>
          <a:noFill/>
          <a:ln>
            <a:noFill/>
          </a:ln>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Agenda</a:t>
            </a:r>
            <a:endParaRPr b="1" dirty="0">
              <a:latin typeface="Times New Roman" panose="02020603050405020304" pitchFamily="18" charset="0"/>
              <a:cs typeface="Times New Roman" panose="02020603050405020304" pitchFamily="18" charset="0"/>
              <a:sym typeface="Times New Roman"/>
            </a:endParaRPr>
          </a:p>
        </p:txBody>
      </p:sp>
      <p:sp>
        <p:nvSpPr>
          <p:cNvPr id="103" name="Google Shape;103;p2"/>
          <p:cNvSpPr txBox="1">
            <a:spLocks noGrp="1"/>
          </p:cNvSpPr>
          <p:nvPr>
            <p:ph type="body" idx="1"/>
          </p:nvPr>
        </p:nvSpPr>
        <p:spPr>
          <a:xfrm>
            <a:off x="270500" y="789250"/>
            <a:ext cx="8519100" cy="5182200"/>
          </a:xfrm>
          <a:prstGeom prst="rect">
            <a:avLst/>
          </a:prstGeom>
          <a:noFill/>
          <a:ln>
            <a:noFill/>
          </a:ln>
        </p:spPr>
        <p:txBody>
          <a:bodyPr spcFirstLastPara="1" wrap="square" lIns="91425" tIns="45700" rIns="91425" bIns="45700" anchor="t" anchorCtr="0">
            <a:noAutofit/>
          </a:bodyPr>
          <a:lstStyle/>
          <a:p>
            <a:pPr marL="342900" lvl="0" indent="-342900" algn="l" rtl="0">
              <a:spcBef>
                <a:spcPts val="1000"/>
              </a:spcBef>
              <a:spcAft>
                <a:spcPts val="0"/>
              </a:spcAft>
              <a:buSzPts val="1800"/>
              <a:buFont typeface="Times New Roman"/>
              <a:buChar char="•"/>
            </a:pPr>
            <a:r>
              <a:rPr lang="en-US" sz="1800" dirty="0">
                <a:solidFill>
                  <a:srgbClr val="0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Base Paper </a:t>
            </a:r>
            <a:r>
              <a:rPr lang="en-US" sz="1600" dirty="0">
                <a:solidFill>
                  <a:srgbClr val="000000"/>
                </a:solidFill>
                <a:latin typeface="Times New Roman"/>
                <a:ea typeface="Times New Roman"/>
                <a:cs typeface="Times New Roman"/>
                <a:sym typeface="Times New Roman"/>
              </a:rPr>
              <a:t>[ IEEE Transactions, ACM, springer, etc.. </a:t>
            </a:r>
            <a:r>
              <a:rPr lang="en-US" sz="1600" dirty="0">
                <a:solidFill>
                  <a:srgbClr val="FF0000"/>
                </a:solidFill>
                <a:latin typeface="Times New Roman"/>
                <a:ea typeface="Times New Roman"/>
                <a:cs typeface="Times New Roman"/>
                <a:sym typeface="Times New Roman"/>
              </a:rPr>
              <a:t>Note: base paper should not be conference or survey paper</a:t>
            </a:r>
            <a:r>
              <a:rPr lang="en-US" sz="1600" dirty="0">
                <a:solidFill>
                  <a:srgbClr val="000000"/>
                </a:solidFill>
                <a:latin typeface="Times New Roman"/>
                <a:ea typeface="Times New Roman"/>
                <a:cs typeface="Times New Roman"/>
                <a:sym typeface="Times New Roman"/>
              </a:rPr>
              <a:t>]</a:t>
            </a:r>
            <a:endParaRPr sz="1600"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Abstract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Scope and Motivation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Literature Survey </a:t>
            </a:r>
            <a:r>
              <a:rPr lang="en-US" sz="1400" dirty="0">
                <a:solidFill>
                  <a:srgbClr val="000000"/>
                </a:solidFill>
                <a:latin typeface="Times New Roman"/>
                <a:ea typeface="Times New Roman"/>
                <a:cs typeface="Times New Roman"/>
                <a:sym typeface="Times New Roman"/>
              </a:rPr>
              <a:t>[ Authors, year, journal/conference name, findings, limitations in table - min 10 papers]</a:t>
            </a:r>
            <a:endParaRPr sz="14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Objectives / Problem Statement [</a:t>
            </a:r>
            <a:r>
              <a:rPr lang="en-US" sz="1400" dirty="0">
                <a:solidFill>
                  <a:srgbClr val="000000"/>
                </a:solidFill>
                <a:latin typeface="Times New Roman"/>
                <a:ea typeface="Times New Roman"/>
                <a:cs typeface="Times New Roman"/>
                <a:sym typeface="Times New Roman"/>
              </a:rPr>
              <a:t> Minimum 3 objectives</a:t>
            </a:r>
            <a:r>
              <a:rPr lang="en-US" sz="1800" dirty="0">
                <a:solidFill>
                  <a:srgbClr val="000000"/>
                </a:solidFill>
                <a:latin typeface="Times New Roman"/>
                <a:ea typeface="Times New Roman"/>
                <a:cs typeface="Times New Roman"/>
                <a:sym typeface="Times New Roman"/>
              </a:rPr>
              <a:t>]</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SDG Mapping and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Proposed Work</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Architecture Diagram/Flow Diagram/Block Diagram</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Modules</a:t>
            </a:r>
            <a:endParaRPr sz="1800" dirty="0">
              <a:solidFill>
                <a:srgbClr val="000000"/>
              </a:solidFill>
              <a:latin typeface="Times New Roman"/>
              <a:ea typeface="Times New Roman"/>
              <a:cs typeface="Times New Roman"/>
              <a:sym typeface="Times New Roman"/>
            </a:endParaRPr>
          </a:p>
          <a:p>
            <a:pPr marL="742950" lvl="1" indent="-3175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Module Description</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Software &amp; Hardware Requirements</a:t>
            </a:r>
            <a:endParaRPr sz="1800" dirty="0">
              <a:solidFill>
                <a:srgbClr val="000000"/>
              </a:solidFill>
              <a:latin typeface="Times New Roman"/>
              <a:ea typeface="Times New Roman"/>
              <a:cs typeface="Times New Roman"/>
              <a:sym typeface="Times New Roman"/>
            </a:endParaRPr>
          </a:p>
          <a:p>
            <a:pPr marL="342900" lvl="0" indent="-342900" algn="l" rtl="0">
              <a:lnSpc>
                <a:spcPct val="100000"/>
              </a:lnSpc>
              <a:spcBef>
                <a:spcPts val="1000"/>
              </a:spcBef>
              <a:spcAft>
                <a:spcPts val="0"/>
              </a:spcAft>
              <a:buClr>
                <a:srgbClr val="000000"/>
              </a:buClr>
              <a:buSzPts val="1800"/>
              <a:buFont typeface="Times New Roman"/>
              <a:buChar char="•"/>
            </a:pPr>
            <a:r>
              <a:rPr lang="en-US" sz="1800" dirty="0">
                <a:solidFill>
                  <a:srgbClr val="000000"/>
                </a:solidFill>
                <a:latin typeface="Times New Roman"/>
                <a:ea typeface="Times New Roman"/>
                <a:cs typeface="Times New Roman"/>
                <a:sym typeface="Times New Roman"/>
              </a:rPr>
              <a:t>References [</a:t>
            </a:r>
            <a:r>
              <a:rPr lang="en-US" sz="1400" dirty="0">
                <a:solidFill>
                  <a:srgbClr val="000000"/>
                </a:solidFill>
                <a:latin typeface="Times New Roman"/>
                <a:ea typeface="Times New Roman"/>
                <a:cs typeface="Times New Roman"/>
                <a:sym typeface="Times New Roman"/>
              </a:rPr>
              <a:t> should include 10 references and follow MLA/ IEEE format</a:t>
            </a:r>
            <a:r>
              <a:rPr lang="en-US" sz="1800" dirty="0">
                <a:solidFill>
                  <a:srgbClr val="000000"/>
                </a:solidFill>
                <a:latin typeface="Times New Roman"/>
                <a:ea typeface="Times New Roman"/>
                <a:cs typeface="Times New Roman"/>
                <a:sym typeface="Times New Roman"/>
              </a:rPr>
              <a:t> ] </a:t>
            </a:r>
            <a:endParaRPr sz="1800" dirty="0">
              <a:solidFill>
                <a:srgbClr val="000000"/>
              </a:solidFill>
              <a:latin typeface="Times New Roman"/>
              <a:ea typeface="Times New Roman"/>
              <a:cs typeface="Times New Roman"/>
              <a:sym typeface="Times New Roman"/>
            </a:endParaRPr>
          </a:p>
          <a:p>
            <a:pPr marL="342900" lvl="0" indent="0" algn="l" rtl="0">
              <a:lnSpc>
                <a:spcPct val="100000"/>
              </a:lnSpc>
              <a:spcBef>
                <a:spcPts val="1000"/>
              </a:spcBef>
              <a:spcAft>
                <a:spcPts val="0"/>
              </a:spcAft>
              <a:buSzPts val="1800"/>
              <a:buNone/>
            </a:pPr>
            <a:endParaRPr sz="1800" dirty="0">
              <a:solidFill>
                <a:srgbClr val="000000"/>
              </a:solidFill>
              <a:latin typeface="Times New Roman"/>
              <a:ea typeface="Times New Roman"/>
              <a:cs typeface="Times New Roman"/>
              <a:sym typeface="Times New Roman"/>
            </a:endParaRPr>
          </a:p>
          <a:p>
            <a:pPr marL="342900" lvl="0" indent="-154940" algn="l" rtl="0">
              <a:lnSpc>
                <a:spcPct val="100000"/>
              </a:lnSpc>
              <a:spcBef>
                <a:spcPts val="590"/>
              </a:spcBef>
              <a:spcAft>
                <a:spcPts val="0"/>
              </a:spcAft>
              <a:buClr>
                <a:schemeClr val="dk1"/>
              </a:buClr>
              <a:buSzPts val="3200"/>
              <a:buNone/>
            </a:pPr>
            <a:endParaRPr sz="1800" dirty="0">
              <a:solidFill>
                <a:srgbClr val="000000"/>
              </a:solidFill>
              <a:latin typeface="Times New Roman"/>
              <a:ea typeface="Times New Roman"/>
              <a:cs typeface="Times New Roman"/>
              <a:sym typeface="Times New Roman"/>
            </a:endParaRPr>
          </a:p>
        </p:txBody>
      </p:sp>
      <p:sp>
        <p:nvSpPr>
          <p:cNvPr id="105" name="Google Shape;105;p2"/>
          <p:cNvSpPr txBox="1">
            <a:spLocks noGrp="1"/>
          </p:cNvSpPr>
          <p:nvPr>
            <p:ph type="dt" idx="10"/>
          </p:nvPr>
        </p:nvSpPr>
        <p:spPr>
          <a:xfrm>
            <a:off x="457200" y="6386513"/>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100">
                <a:latin typeface="Times New Roman" panose="02020603050405020304" pitchFamily="18" charset="0"/>
                <a:cs typeface="Times New Roman" panose="02020603050405020304" pitchFamily="18" charset="0"/>
              </a:rPr>
              <a:t>20/07/2026</a:t>
            </a:r>
            <a:endParaRPr sz="1100" dirty="0">
              <a:latin typeface="Times New Roman" panose="02020603050405020304" pitchFamily="18" charset="0"/>
              <a:cs typeface="Times New Roman" panose="02020603050405020304" pitchFamily="18" charset="0"/>
            </a:endParaRPr>
          </a:p>
        </p:txBody>
      </p:sp>
      <p:sp>
        <p:nvSpPr>
          <p:cNvPr id="106" name="Google Shape;10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panose="02020603050405020304" pitchFamily="18" charset="0"/>
                <a:cs typeface="Times New Roman" panose="02020603050405020304" pitchFamily="18" charset="0"/>
              </a:rPr>
              <a:t>2</a:t>
            </a:fld>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US" sz="105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Introduction</a:t>
            </a:r>
            <a:endParaRPr b="1" dirty="0">
              <a:latin typeface="Times New Roman" panose="02020603050405020304" pitchFamily="18" charset="0"/>
              <a:cs typeface="Times New Roman" panose="02020603050405020304" pitchFamily="18" charset="0"/>
            </a:endParaRPr>
          </a:p>
        </p:txBody>
      </p:sp>
      <p:sp>
        <p:nvSpPr>
          <p:cNvPr id="115" name="Google Shape;115;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114300" indent="0" algn="just">
              <a:buNone/>
            </a:pPr>
            <a:r>
              <a:rPr lang="en-IN" sz="2400" dirty="0">
                <a:latin typeface="Times New Roman" panose="02020603050405020304" pitchFamily="18" charset="0"/>
                <a:cs typeface="Times New Roman" panose="02020603050405020304" pitchFamily="18" charset="0"/>
              </a:rPr>
              <a:t>Aircraft component failures pose significant challenges to aviation safety, operational reliability, and maintenance costs. AERIS is an AI-powered Evidence-Driven Investigation Platform that goes beyond conventional predictive maintenance by identifying not only what is likely to fail, but also why it is failing. By intelligently fusing aircraft sensor data, maintenance history, operational context, and engineering knowledge, the system reconstructs the most probable failure narrative and generates explainable insights with actionable maintenance recommendations, enabling engineers to make faster, more informed decisions while enhancing aircraft safety and reducing unexpected failures.</a:t>
            </a:r>
          </a:p>
        </p:txBody>
      </p:sp>
      <p:sp>
        <p:nvSpPr>
          <p:cNvPr id="2" name="Date Placeholder 1"/>
          <p:cNvSpPr>
            <a:spLocks noGrp="1"/>
          </p:cNvSpPr>
          <p:nvPr>
            <p:ph type="dt" idx="10"/>
          </p:nvPr>
        </p:nvSpPr>
        <p:spPr/>
        <p:txBody>
          <a:bodyPr/>
          <a:lstStyle/>
          <a:p>
            <a:r>
              <a:rPr lang="en-US"/>
              <a:t>20/07/2026</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f4fb01c2df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a:buSzPts val="4400"/>
            </a:pPr>
            <a:r>
              <a:rPr lang="en-US" b="1" dirty="0">
                <a:latin typeface="Times New Roman" panose="02020603050405020304" pitchFamily="18" charset="0"/>
                <a:cs typeface="Times New Roman" panose="02020603050405020304" pitchFamily="18" charset="0"/>
                <a:sym typeface="Times New Roman"/>
              </a:rPr>
              <a:t>Base Paper</a:t>
            </a:r>
            <a:endParaRPr b="1" dirty="0">
              <a:latin typeface="Times New Roman" panose="02020603050405020304" pitchFamily="18" charset="0"/>
              <a:cs typeface="Times New Roman" panose="02020603050405020304" pitchFamily="18" charset="0"/>
              <a:sym typeface="Times New Roman"/>
            </a:endParaRPr>
          </a:p>
        </p:txBody>
      </p:sp>
      <p:sp>
        <p:nvSpPr>
          <p:cNvPr id="122" name="Google Shape;122;g3f4fb01c2df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just">
              <a:buNone/>
            </a:pPr>
            <a:r>
              <a:rPr lang="en-US" sz="2400" b="1" dirty="0">
                <a:latin typeface="Times New Roman"/>
                <a:ea typeface="Times New Roman"/>
                <a:cs typeface="Times New Roman"/>
                <a:sym typeface="Times New Roman"/>
              </a:rPr>
              <a:t>TITLE </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spcBef>
                <a:spcPts val="360"/>
              </a:spcBef>
              <a:spcAft>
                <a:spcPts val="0"/>
              </a:spcAft>
              <a:buNone/>
            </a:pPr>
            <a:r>
              <a:rPr lang="en-US" sz="2400" b="1" dirty="0">
                <a:latin typeface="Times New Roman"/>
                <a:ea typeface="Times New Roman"/>
                <a:cs typeface="Times New Roman"/>
                <a:sym typeface="Times New Roman"/>
              </a:rPr>
              <a:t>YEAR</a:t>
            </a:r>
            <a:r>
              <a:rPr lang="en-US" sz="2400" dirty="0">
                <a:latin typeface="Times New Roman"/>
                <a:ea typeface="Times New Roman"/>
                <a:cs typeface="Times New Roman"/>
                <a:sym typeface="Times New Roman"/>
              </a:rPr>
              <a:t> : 2026</a:t>
            </a:r>
            <a:endParaRPr sz="2400" dirty="0">
              <a:latin typeface="Times New Roman"/>
              <a:ea typeface="Times New Roman"/>
              <a:cs typeface="Times New Roman"/>
              <a:sym typeface="Times New Roman"/>
            </a:endParaRPr>
          </a:p>
          <a:p>
            <a:pPr marL="0" lvl="0" indent="0" algn="just">
              <a:buNone/>
            </a:pPr>
            <a:r>
              <a:rPr lang="en-US" sz="2400" b="1" dirty="0">
                <a:latin typeface="Times New Roman"/>
                <a:ea typeface="Times New Roman"/>
                <a:cs typeface="Times New Roman"/>
                <a:sym typeface="Times New Roman"/>
              </a:rPr>
              <a:t>JOURNAL NAME</a:t>
            </a:r>
            <a:r>
              <a:rPr lang="en-US" sz="2400" dirty="0">
                <a:latin typeface="Times New Roman"/>
                <a:ea typeface="Times New Roman"/>
                <a:cs typeface="Times New Roman"/>
                <a:sym typeface="Times New Roman"/>
              </a:rPr>
              <a:t>: </a:t>
            </a:r>
            <a:r>
              <a:rPr lang="en-IN" sz="2400" dirty="0">
                <a:latin typeface="Times New Roman" panose="02020603050405020304" pitchFamily="18" charset="0"/>
                <a:cs typeface="Times New Roman" panose="02020603050405020304" pitchFamily="18" charset="0"/>
              </a:rPr>
              <a:t>Chinese Journal of Mechanical Engineering</a:t>
            </a:r>
            <a:endParaRPr sz="2400" dirty="0">
              <a:latin typeface="Times New Roman" panose="02020603050405020304" pitchFamily="18" charset="0"/>
              <a:ea typeface="Times New Roman"/>
              <a:cs typeface="Times New Roman" panose="02020603050405020304" pitchFamily="18" charset="0"/>
              <a:sym typeface="Times New Roman"/>
            </a:endParaRPr>
          </a:p>
          <a:p>
            <a:pPr marL="0" lvl="0" indent="0" algn="just">
              <a:buNone/>
            </a:pPr>
            <a:r>
              <a:rPr lang="en-US" sz="2400" b="1" dirty="0">
                <a:latin typeface="Times New Roman"/>
                <a:ea typeface="Times New Roman"/>
                <a:cs typeface="Times New Roman"/>
                <a:sym typeface="Times New Roman"/>
              </a:rPr>
              <a:t>ARTICLE TYPE </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IN" sz="2400" dirty="0">
                <a:latin typeface="Times New Roman" panose="02020603050405020304" pitchFamily="18" charset="0"/>
                <a:cs typeface="Times New Roman" panose="02020603050405020304" pitchFamily="18" charset="0"/>
              </a:rPr>
              <a:t>Original Research Article</a:t>
            </a:r>
          </a:p>
          <a:p>
            <a:pPr marL="0" lvl="0" indent="0" algn="just">
              <a:buNone/>
            </a:pPr>
            <a:endParaRPr lang="en-IN" sz="2400" dirty="0">
              <a:latin typeface="Times New Roman" panose="02020603050405020304" pitchFamily="18" charset="0"/>
              <a:cs typeface="Times New Roman" panose="02020603050405020304" pitchFamily="18" charset="0"/>
            </a:endParaRPr>
          </a:p>
          <a:p>
            <a:pPr marL="0" lvl="0" indent="0" algn="just">
              <a:buNone/>
            </a:pPr>
            <a:r>
              <a:rPr lang="en-IN" sz="1800" dirty="0">
                <a:latin typeface="Times New Roman" panose="02020603050405020304" pitchFamily="18" charset="0"/>
                <a:cs typeface="Times New Roman" panose="02020603050405020304" pitchFamily="18" charset="0"/>
              </a:rPr>
              <a:t>The base paper proposes a </a:t>
            </a:r>
            <a:r>
              <a:rPr lang="en-IN" sz="1800" b="1" dirty="0">
                <a:latin typeface="Times New Roman" panose="02020603050405020304" pitchFamily="18" charset="0"/>
                <a:cs typeface="Times New Roman" panose="02020603050405020304" pitchFamily="18" charset="0"/>
              </a:rPr>
              <a:t>CN-LLM-KGN</a:t>
            </a:r>
            <a:r>
              <a:rPr lang="en-IN" sz="1800" dirty="0">
                <a:latin typeface="Times New Roman" panose="02020603050405020304" pitchFamily="18" charset="0"/>
                <a:cs typeface="Times New Roman" panose="02020603050405020304" pitchFamily="18" charset="0"/>
              </a:rPr>
              <a:t> framework that integrates </a:t>
            </a:r>
            <a:r>
              <a:rPr lang="en-IN" sz="1800" b="1" dirty="0">
                <a:latin typeface="Times New Roman" panose="02020603050405020304" pitchFamily="18" charset="0"/>
                <a:cs typeface="Times New Roman" panose="02020603050405020304" pitchFamily="18" charset="0"/>
              </a:rPr>
              <a:t>Causal Networks (CN), Knowledge Graphs (KG), and Large Language Models (LLMs)</a:t>
            </a:r>
            <a:r>
              <a:rPr lang="en-IN" sz="1800" dirty="0">
                <a:latin typeface="Times New Roman" panose="02020603050405020304" pitchFamily="18" charset="0"/>
                <a:cs typeface="Times New Roman" panose="02020603050405020304" pitchFamily="18" charset="0"/>
              </a:rPr>
              <a:t> to perform </a:t>
            </a:r>
            <a:r>
              <a:rPr lang="en-IN" sz="1800" b="1" dirty="0">
                <a:latin typeface="Times New Roman" panose="02020603050405020304" pitchFamily="18" charset="0"/>
                <a:cs typeface="Times New Roman" panose="02020603050405020304" pitchFamily="18" charset="0"/>
              </a:rPr>
              <a:t>fault diagnosis and root cause localization</a:t>
            </a:r>
            <a:r>
              <a:rPr lang="en-IN" sz="1800" dirty="0">
                <a:latin typeface="Times New Roman" panose="02020603050405020304" pitchFamily="18" charset="0"/>
                <a:cs typeface="Times New Roman" panose="02020603050405020304" pitchFamily="18" charset="0"/>
              </a:rPr>
              <a:t> in rotating machinery. It improves explainability by identifying causal relationships behind equipment failures and achieved </a:t>
            </a:r>
            <a:r>
              <a:rPr lang="en-IN" sz="1800" b="1" dirty="0">
                <a:latin typeface="Times New Roman" panose="02020603050405020304" pitchFamily="18" charset="0"/>
                <a:cs typeface="Times New Roman" panose="02020603050405020304" pitchFamily="18" charset="0"/>
              </a:rPr>
              <a:t>81.12% root cause localization accuracy</a:t>
            </a:r>
            <a:r>
              <a:rPr lang="en-IN"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ea typeface="Times New Roman"/>
              <a:cs typeface="Times New Roman" panose="02020603050405020304" pitchFamily="18" charset="0"/>
              <a:sym typeface="Times New Roman"/>
            </a:endParaRPr>
          </a:p>
        </p:txBody>
      </p:sp>
      <p:sp>
        <p:nvSpPr>
          <p:cNvPr id="123" name="Google Shape;123;g3f4fb01c2df_0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2" name="Date Placeholder 1"/>
          <p:cNvSpPr>
            <a:spLocks noGrp="1"/>
          </p:cNvSpPr>
          <p:nvPr>
            <p:ph type="dt" idx="10"/>
          </p:nvPr>
        </p:nvSpPr>
        <p:spPr/>
        <p:txBody>
          <a:bodyPr/>
          <a:lstStyle/>
          <a:p>
            <a:r>
              <a:rPr lang="en-US"/>
              <a:t>20/07/2026</a:t>
            </a:r>
          </a:p>
        </p:txBody>
      </p:sp>
      <p:sp>
        <p:nvSpPr>
          <p:cNvPr id="4" name="Footer Placeholder 3"/>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129" name="Google Shape;12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latin typeface="Times New Roman" panose="02020603050405020304" pitchFamily="18" charset="0"/>
                <a:cs typeface="Times New Roman" panose="02020603050405020304" pitchFamily="18" charset="0"/>
              </a:rPr>
              <a:t>Aircraft component failure investigation is critical for ensuring aviation safety and operational reliability. AERIS is an AI-powered Evidence-Driven Aircraft Investigation Platform that predicts potential failures while identifying the underlying causes through intelligent evidence fusion. By integrating aircraft sensor data, maintenance history, operational context, and engineering knowledge, the system generates explainable root-cause analysis, evidence-backed maintenance recommendations, and comprehensive investigation reports. It is designed to support maintenance engineers with transparent, reliable, and intelligent decision-making.</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30" name="Google Shape;13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32" name="Google Shape;13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Scope and Motivation</a:t>
            </a:r>
            <a:endParaRPr b="1" dirty="0">
              <a:latin typeface="Times New Roman" panose="02020603050405020304" pitchFamily="18" charset="0"/>
              <a:cs typeface="Times New Roman" panose="02020603050405020304" pitchFamily="18" charset="0"/>
            </a:endParaRPr>
          </a:p>
        </p:txBody>
      </p:sp>
      <p:sp>
        <p:nvSpPr>
          <p:cNvPr id="139" name="Google Shape;139;p4"/>
          <p:cNvSpPr txBox="1">
            <a:spLocks noGrp="1"/>
          </p:cNvSpPr>
          <p:nvPr>
            <p:ph type="body" idx="1"/>
          </p:nvPr>
        </p:nvSpPr>
        <p:spPr>
          <a:xfrm>
            <a:off x="457200" y="1600200"/>
            <a:ext cx="8229600" cy="4853305"/>
          </a:xfrm>
          <a:prstGeom prst="rect">
            <a:avLst/>
          </a:prstGeom>
          <a:noFill/>
          <a:ln>
            <a:noFill/>
          </a:ln>
        </p:spPr>
        <p:txBody>
          <a:bodyPr spcFirstLastPara="1" wrap="square" lIns="91425" tIns="45700" rIns="91425" bIns="45700" anchor="t" anchorCtr="0">
            <a:noAutofit/>
          </a:bodyPr>
          <a:lstStyle/>
          <a:p>
            <a:pPr marL="342900" lvl="0" indent="-154940" algn="just">
              <a:lnSpc>
                <a:spcPct val="150000"/>
              </a:lnSpc>
              <a:spcBef>
                <a:spcPts val="590"/>
              </a:spcBef>
              <a:buSzPts val="2000"/>
              <a:buNone/>
            </a:pPr>
            <a:r>
              <a:rPr lang="en-US" sz="2000" b="1" dirty="0">
                <a:latin typeface="Times New Roman"/>
                <a:ea typeface="Times New Roman"/>
                <a:cs typeface="Times New Roman"/>
                <a:sym typeface="Times New Roman"/>
              </a:rPr>
              <a:t>Scope: </a:t>
            </a:r>
            <a:r>
              <a:rPr lang="en-IN" sz="2000" dirty="0">
                <a:latin typeface="Times New Roman" panose="02020603050405020304" pitchFamily="18" charset="0"/>
                <a:cs typeface="Times New Roman" panose="02020603050405020304" pitchFamily="18" charset="0"/>
              </a:rPr>
              <a:t>AERIS predicts and investigates aircraft component failures using AI by integrating sensor data, maintenance history, and operational records. It provides explainable root-cause analysis, evidence-backed recommendations, and intelligent investigation reports for maintenance engineers.</a:t>
            </a: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342900" lvl="0" indent="-154940" algn="just">
              <a:lnSpc>
                <a:spcPct val="150000"/>
              </a:lnSpc>
              <a:spcBef>
                <a:spcPts val="590"/>
              </a:spcBef>
              <a:buSzPts val="2000"/>
              <a:buNone/>
            </a:pPr>
            <a:r>
              <a:rPr lang="en-US" sz="2000" b="1" dirty="0">
                <a:latin typeface="Times New Roman"/>
                <a:ea typeface="Times New Roman"/>
                <a:cs typeface="Times New Roman"/>
                <a:sym typeface="Times New Roman"/>
              </a:rPr>
              <a:t>Motivation:</a:t>
            </a:r>
            <a:r>
              <a:rPr lang="en-US" sz="2000" dirty="0">
                <a:latin typeface="Times New Roman"/>
                <a:ea typeface="Times New Roman"/>
                <a:cs typeface="Times New Roman"/>
                <a:sym typeface="Times New Roman"/>
              </a:rPr>
              <a:t> </a:t>
            </a:r>
            <a:r>
              <a:rPr lang="en-IN" sz="2000" dirty="0">
                <a:latin typeface="Times New Roman" panose="02020603050405020304" pitchFamily="18" charset="0"/>
                <a:cs typeface="Times New Roman" panose="02020603050405020304" pitchFamily="18" charset="0"/>
              </a:rPr>
              <a:t>To improve aviation safety by developing a transparent AI system that not only predicts failures but also explains why they occur. This enables faster maintenance decisions, reduces unexpected failures, and improves aircraft reliability.</a:t>
            </a:r>
            <a:endParaRPr lang="en-US" sz="2000" dirty="0">
              <a:latin typeface="Times New Roman" panose="02020603050405020304" pitchFamily="18" charset="0"/>
              <a:ea typeface="Times New Roman"/>
              <a:cs typeface="Times New Roman" panose="02020603050405020304" pitchFamily="18" charset="0"/>
              <a:sym typeface="Times New Roman"/>
            </a:endParaRPr>
          </a:p>
        </p:txBody>
      </p:sp>
      <p:sp>
        <p:nvSpPr>
          <p:cNvPr id="141" name="Google Shape;14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42" name="Google Shape;14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p:cNvGraphicFramePr/>
          <p:nvPr>
            <p:extLst>
              <p:ext uri="{D42A27DB-BD31-4B8C-83A1-F6EECF244321}">
                <p14:modId xmlns:p14="http://schemas.microsoft.com/office/powerpoint/2010/main" val="469151307"/>
              </p:ext>
            </p:extLst>
          </p:nvPr>
        </p:nvGraphicFramePr>
        <p:xfrm>
          <a:off x="457200" y="730664"/>
          <a:ext cx="8229601" cy="5613863"/>
        </p:xfrm>
        <a:graphic>
          <a:graphicData uri="http://schemas.openxmlformats.org/drawingml/2006/table">
            <a:tbl>
              <a:tblPr firstRow="1" bandRow="1">
                <a:noFill/>
                <a:tableStyleId>{6EB1FC0C-1D29-42B7-B8E6-0F5DF3C737FC}</a:tableStyleId>
              </a:tblPr>
              <a:tblGrid>
                <a:gridCol w="289018">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729497">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1</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Fault Inference Diagnosis Based on Causal Network and Large Language Model-Enhanced Knowledge Graph Network</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Chinese Journal of Mechanical Engineering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Improved root cause localization using </a:t>
                      </a:r>
                      <a:r>
                        <a:rPr lang="en-IN" b="1" dirty="0">
                          <a:latin typeface="Times New Roman" panose="02020603050405020304" pitchFamily="18" charset="0"/>
                          <a:cs typeface="Times New Roman" panose="02020603050405020304" pitchFamily="18" charset="0"/>
                        </a:rPr>
                        <a:t>CN + LLM + Knowledge Graph</a:t>
                      </a:r>
                      <a:r>
                        <a:rPr lang="en-IN" dirty="0">
                          <a:latin typeface="Times New Roman" panose="02020603050405020304" pitchFamily="18" charset="0"/>
                          <a:cs typeface="Times New Roman" panose="02020603050405020304" pitchFamily="18" charset="0"/>
                        </a:rPr>
                        <a:t> with explainable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Limited to rotating machinery; not designed for aerospace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2</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Aircraft Engine Root Cause Analysis (Nature Paper)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2026</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Scientific Reports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Improved aircraft fault diagnosis using graph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No LLM or RAG integration.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3</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lgn="ctr">
                      <a:solidFill>
                        <a:schemeClr val="lt1"/>
                      </a:solidFill>
                      <a:prstDash val="solid"/>
                      <a:round/>
                      <a:headEnd type="none" w="sm" len="sm"/>
                      <a:tailEnd type="none" w="sm" len="sm"/>
                    </a:lnR>
                  </a:tcPr>
                </a:tc>
                <a:tc>
                  <a:txBody>
                    <a:bodyPr/>
                    <a:lstStyle/>
                    <a:p>
                      <a:pPr>
                        <a:buNone/>
                      </a:pPr>
                      <a:r>
                        <a:rPr lang="en-IN" dirty="0" err="1">
                          <a:latin typeface="Times New Roman" panose="02020603050405020304" pitchFamily="18" charset="0"/>
                          <a:cs typeface="Times New Roman" panose="02020603050405020304" pitchFamily="18" charset="0"/>
                        </a:rPr>
                        <a:t>DiagLLM</a:t>
                      </a:r>
                      <a:r>
                        <a:rPr lang="en-IN" dirty="0">
                          <a:latin typeface="Times New Roman" panose="02020603050405020304" pitchFamily="18" charset="0"/>
                          <a:cs typeface="Times New Roman" panose="02020603050405020304" pitchFamily="18" charset="0"/>
                        </a:rPr>
                        <a:t>: Multimodal Reasoning with Large Language Model for Explainable Bearing Fault Diagnosis</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Science China 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 for explainable fault diagnosis through multimodal reasoning.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only on bearing faults; lacks multi-source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a:solidFill>
                            <a:srgbClr val="000000"/>
                          </a:solidFill>
                          <a:latin typeface="Times New Roman" panose="02020603050405020304" pitchFamily="18" charset="0"/>
                          <a:cs typeface="Times New Roman" panose="02020603050405020304" pitchFamily="18" charset="0"/>
                        </a:rPr>
                        <a:t>4</a:t>
                      </a:r>
                      <a:endParaRPr sz="1400" u="none" strike="noStrike" cap="none">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Inference-Enabled Graph Neural Networks for Generalized Fault Diagnosis in Industrial IoT Systems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Information Sciences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Applies causal inference with GNNs for generalized industrial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Industrial IoT focused; no knowledge retrieval or report generation.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Footer Placeholder 2"/>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6E37BEC-6BB4-4553-46FF-E12AAE0676AA}"/>
            </a:ext>
          </a:extLst>
        </p:cNvPr>
        <p:cNvGrpSpPr/>
        <p:nvPr/>
      </p:nvGrpSpPr>
      <p:grpSpPr>
        <a:xfrm>
          <a:off x="0" y="0"/>
          <a:ext cx="0" cy="0"/>
          <a:chOff x="0" y="0"/>
          <a:chExt cx="0" cy="0"/>
        </a:xfrm>
      </p:grpSpPr>
      <p:sp>
        <p:nvSpPr>
          <p:cNvPr id="147" name="Google Shape;147;p6">
            <a:extLst>
              <a:ext uri="{FF2B5EF4-FFF2-40B4-BE49-F238E27FC236}">
                <a16:creationId xmlns:a16="http://schemas.microsoft.com/office/drawing/2014/main" id="{FB1027E5-A680-3230-0AF6-2373E59187B0}"/>
              </a:ext>
            </a:extLst>
          </p:cNvPr>
          <p:cNvSpPr txBox="1">
            <a:spLocks noGrp="1"/>
          </p:cNvSpPr>
          <p:nvPr>
            <p:ph type="title"/>
          </p:nvPr>
        </p:nvSpPr>
        <p:spPr>
          <a:xfrm>
            <a:off x="457200" y="-110887"/>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Literature Survey</a:t>
            </a:r>
            <a:endParaRPr b="1" dirty="0">
              <a:latin typeface="Times New Roman" panose="02020603050405020304" pitchFamily="18" charset="0"/>
              <a:cs typeface="Times New Roman" panose="02020603050405020304" pitchFamily="18" charset="0"/>
            </a:endParaRPr>
          </a:p>
        </p:txBody>
      </p:sp>
      <p:graphicFrame>
        <p:nvGraphicFramePr>
          <p:cNvPr id="149" name="Google Shape;149;p6">
            <a:extLst>
              <a:ext uri="{FF2B5EF4-FFF2-40B4-BE49-F238E27FC236}">
                <a16:creationId xmlns:a16="http://schemas.microsoft.com/office/drawing/2014/main" id="{4D439736-7DEF-545B-A553-9AD4599C3E10}"/>
              </a:ext>
            </a:extLst>
          </p:cNvPr>
          <p:cNvGraphicFramePr/>
          <p:nvPr>
            <p:extLst>
              <p:ext uri="{D42A27DB-BD31-4B8C-83A1-F6EECF244321}">
                <p14:modId xmlns:p14="http://schemas.microsoft.com/office/powerpoint/2010/main" val="411047869"/>
              </p:ext>
            </p:extLst>
          </p:nvPr>
        </p:nvGraphicFramePr>
        <p:xfrm>
          <a:off x="457200" y="730664"/>
          <a:ext cx="8443358" cy="5872639"/>
        </p:xfrm>
        <a:graphic>
          <a:graphicData uri="http://schemas.openxmlformats.org/drawingml/2006/table">
            <a:tbl>
              <a:tblPr firstRow="1" bandRow="1">
                <a:noFill/>
                <a:tableStyleId>{6EB1FC0C-1D29-42B7-B8E6-0F5DF3C737FC}</a:tableStyleId>
              </a:tblPr>
              <a:tblGrid>
                <a:gridCol w="502775">
                  <a:extLst>
                    <a:ext uri="{9D8B030D-6E8A-4147-A177-3AD203B41FA5}">
                      <a16:colId xmlns:a16="http://schemas.microsoft.com/office/drawing/2014/main" val="20000"/>
                    </a:ext>
                  </a:extLst>
                </a:gridCol>
                <a:gridCol w="2334333">
                  <a:extLst>
                    <a:ext uri="{9D8B030D-6E8A-4147-A177-3AD203B41FA5}">
                      <a16:colId xmlns:a16="http://schemas.microsoft.com/office/drawing/2014/main" val="20001"/>
                    </a:ext>
                  </a:extLst>
                </a:gridCol>
                <a:gridCol w="665826">
                  <a:extLst>
                    <a:ext uri="{9D8B030D-6E8A-4147-A177-3AD203B41FA5}">
                      <a16:colId xmlns:a16="http://schemas.microsoft.com/office/drawing/2014/main" val="20002"/>
                    </a:ext>
                  </a:extLst>
                </a:gridCol>
                <a:gridCol w="1171852">
                  <a:extLst>
                    <a:ext uri="{9D8B030D-6E8A-4147-A177-3AD203B41FA5}">
                      <a16:colId xmlns:a16="http://schemas.microsoft.com/office/drawing/2014/main" val="20003"/>
                    </a:ext>
                  </a:extLst>
                </a:gridCol>
                <a:gridCol w="2201662">
                  <a:extLst>
                    <a:ext uri="{9D8B030D-6E8A-4147-A177-3AD203B41FA5}">
                      <a16:colId xmlns:a16="http://schemas.microsoft.com/office/drawing/2014/main" val="20004"/>
                    </a:ext>
                  </a:extLst>
                </a:gridCol>
                <a:gridCol w="1566910">
                  <a:extLst>
                    <a:ext uri="{9D8B030D-6E8A-4147-A177-3AD203B41FA5}">
                      <a16:colId xmlns:a16="http://schemas.microsoft.com/office/drawing/2014/main" val="2874578075"/>
                    </a:ext>
                  </a:extLst>
                </a:gridCol>
              </a:tblGrid>
              <a:tr h="890872">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S no</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Title of the Paper</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Year</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Journal/</a:t>
                      </a:r>
                      <a:endParaRPr sz="1600" u="none" strike="noStrike" cap="none">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a:solidFill>
                            <a:srgbClr val="000000"/>
                          </a:solidFill>
                          <a:latin typeface="Times New Roman" panose="02020603050405020304" pitchFamily="18" charset="0"/>
                          <a:cs typeface="Times New Roman" panose="02020603050405020304" pitchFamily="18" charset="0"/>
                        </a:rPr>
                        <a:t>Conference</a:t>
                      </a:r>
                      <a:endParaRPr sz="1600" u="none" strike="noStrike" cap="none">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dirty="0">
                          <a:solidFill>
                            <a:srgbClr val="000000"/>
                          </a:solidFill>
                          <a:latin typeface="Times New Roman" panose="02020603050405020304" pitchFamily="18" charset="0"/>
                          <a:cs typeface="Times New Roman" panose="02020603050405020304" pitchFamily="18" charset="0"/>
                        </a:rPr>
                        <a:t>Inferences/Findings</a:t>
                      </a:r>
                      <a:endParaRPr sz="1600" u="none" strike="noStrike" cap="none" dirty="0">
                        <a:latin typeface="Times New Roman" panose="02020603050405020304" pitchFamily="18" charset="0"/>
                        <a:cs typeface="Times New Roman" panose="02020603050405020304" pitchFamily="18" charset="0"/>
                      </a:endParaRPr>
                    </a:p>
                  </a:txBody>
                  <a:tcPr marL="37075" marR="37075" marT="37075" marB="37075">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rPr>
                        <a:t>Limitations</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Arial"/>
                      </a:endParaRPr>
                    </a:p>
                  </a:txBody>
                  <a:tcPr marL="37075" marR="37075" marT="37075" marB="37075">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233684">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6</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Large Language Model Assisted Fine-Grained Knowledge Graph Construction for Robotic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IN" dirty="0">
                          <a:latin typeface="Times New Roman" panose="02020603050405020304" pitchFamily="18" charset="0"/>
                          <a:cs typeface="Times New Roman" panose="02020603050405020304" pitchFamily="18" charset="0"/>
                        </a:rPr>
                        <a:t>Advanced Engineering Informatics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LLMs to enhance Knowledge Graph construction for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Focused on KG construction rather than complete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65469">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7</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Causal Discovery for Rolling Bearing Fault Under Missing Data: From the Perspective of Causal Effect and Information Flow</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IEEE Transactions on Instrumentation and Measurement</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Discovers causal relationships from incomplete sensor data.</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100"/>
                        <a:buFont typeface="Arial"/>
                        <a:buNone/>
                      </a:pPr>
                      <a:r>
                        <a:rPr lang="en-IN" dirty="0">
                          <a:latin typeface="Times New Roman" panose="02020603050405020304" pitchFamily="18" charset="0"/>
                          <a:cs typeface="Times New Roman" panose="02020603050405020304" pitchFamily="18" charset="0"/>
                        </a:rPr>
                        <a:t>Limited to causal discovery; lacks recommendation and reporting.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965938">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8</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An Interpretable Integration Fusion Time-Frequency Prototype Contrastive Learning for Machine Fault Diagnosis with Limited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Samples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None/>
                      </a:pPr>
                      <a:r>
                        <a:rPr lang="en-IN" dirty="0">
                          <a:latin typeface="Times New Roman" panose="02020603050405020304" pitchFamily="18" charset="0"/>
                          <a:cs typeface="Times New Roman" panose="02020603050405020304" pitchFamily="18" charset="0"/>
                        </a:rPr>
                        <a:t>Information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Improves diagnosis accuracy using interpretable time-frequency learning.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Focuses on classification; no root cause investigation.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326973">
                <a:tc>
                  <a:txBody>
                    <a:bodyPr/>
                    <a:lstStyle/>
                    <a:p>
                      <a:pPr marL="0" marR="0" lvl="0" indent="0" algn="l" rtl="0">
                        <a:lnSpc>
                          <a:spcPct val="100000"/>
                        </a:lnSpc>
                        <a:spcBef>
                          <a:spcPts val="0"/>
                        </a:spcBef>
                        <a:spcAft>
                          <a:spcPts val="0"/>
                        </a:spcAft>
                        <a:buClr>
                          <a:srgbClr val="000000"/>
                        </a:buClr>
                        <a:buSzPts val="1700"/>
                        <a:buFont typeface="Arial"/>
                        <a:buNone/>
                      </a:pPr>
                      <a:r>
                        <a:rPr lang="en-US" sz="1400" b="0" u="none" strike="noStrike" cap="none" dirty="0">
                          <a:solidFill>
                            <a:srgbClr val="000000"/>
                          </a:solidFill>
                          <a:latin typeface="Times New Roman" panose="02020603050405020304" pitchFamily="18" charset="0"/>
                          <a:cs typeface="Times New Roman" panose="02020603050405020304" pitchFamily="18" charset="0"/>
                        </a:rPr>
                        <a:t>9</a:t>
                      </a:r>
                      <a:endParaRPr sz="1400" u="none" strike="noStrike" cap="none" dirty="0">
                        <a:latin typeface="Times New Roman" panose="02020603050405020304" pitchFamily="18" charset="0"/>
                        <a:cs typeface="Times New Roman" panose="02020603050405020304" pitchFamily="18" charset="0"/>
                      </a:endParaRPr>
                    </a:p>
                  </a:txBody>
                  <a:tcPr marL="37075" marR="37075" marT="37075" marB="37075">
                    <a:lnR w="12700" cap="flat" cmpd="sng">
                      <a:solidFill>
                        <a:schemeClr val="lt1"/>
                      </a:solidFill>
                      <a:prstDash val="solid"/>
                      <a:round/>
                      <a:headEnd type="none" w="sm" len="sm"/>
                      <a:tailEnd type="none" w="sm" len="sm"/>
                    </a:lnR>
                  </a:tcPr>
                </a:tc>
                <a:tc>
                  <a:txBody>
                    <a:bodyPr/>
                    <a:lstStyle/>
                    <a:p>
                      <a:pPr marL="127000" marR="0" lvl="0" indent="-12700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A Trustworthy Lightweight Multi-Expert Wavelet Transformer for Rotating Machinery Fault Diagnosis</a:t>
                      </a:r>
                      <a:endParaRPr lang="en-US"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2025</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127000" marR="0" lvl="0" indent="-127000" algn="just"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Mechanical Systems and Signal Processing</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Uses lightweight Transformer for accurate rotating machinery fault diagnosis.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dirty="0">
                          <a:latin typeface="Times New Roman" panose="02020603050405020304" pitchFamily="18" charset="0"/>
                          <a:cs typeface="Times New Roman" panose="02020603050405020304" pitchFamily="18" charset="0"/>
                        </a:rPr>
                        <a:t>Concentrates on prediction only; lacks explainable investigation and evidence fusion.</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075" marR="37075" marT="37075" marB="370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0" name="Google Shape;150;p6">
            <a:extLst>
              <a:ext uri="{FF2B5EF4-FFF2-40B4-BE49-F238E27FC236}">
                <a16:creationId xmlns:a16="http://schemas.microsoft.com/office/drawing/2014/main" id="{D4AB3487-5EC2-59DC-3289-E765ECDEB041}"/>
              </a:ext>
            </a:extLst>
          </p:cNvPr>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 name="Slide Number Placeholder 1">
            <a:extLst>
              <a:ext uri="{FF2B5EF4-FFF2-40B4-BE49-F238E27FC236}">
                <a16:creationId xmlns:a16="http://schemas.microsoft.com/office/drawing/2014/main" id="{351C461F-7466-15B6-7F6D-08D6BC473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Footer Placeholder 2">
            <a:extLst>
              <a:ext uri="{FF2B5EF4-FFF2-40B4-BE49-F238E27FC236}">
                <a16:creationId xmlns:a16="http://schemas.microsoft.com/office/drawing/2014/main" id="{523718D5-4135-025B-49EE-D8C16D4136FD}"/>
              </a:ext>
            </a:extLst>
          </p:cNvPr>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extLst>
      <p:ext uri="{BB962C8B-B14F-4D97-AF65-F5344CB8AC3E}">
        <p14:creationId xmlns:p14="http://schemas.microsoft.com/office/powerpoint/2010/main" val="378630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Objectives</a:t>
            </a:r>
            <a:endParaRPr b="1" dirty="0">
              <a:latin typeface="Times New Roman" panose="02020603050405020304" pitchFamily="18" charset="0"/>
              <a:cs typeface="Times New Roman" panose="02020603050405020304" pitchFamily="18" charset="0"/>
            </a:endParaRPr>
          </a:p>
        </p:txBody>
      </p:sp>
      <p:sp>
        <p:nvSpPr>
          <p:cNvPr id="156" name="Google Shape;156;p7"/>
          <p:cNvSpPr txBox="1">
            <a:spLocks noGrp="1"/>
          </p:cNvSpPr>
          <p:nvPr>
            <p:ph type="body" idx="1"/>
          </p:nvPr>
        </p:nvSpPr>
        <p:spPr>
          <a:xfrm>
            <a:off x="533400" y="1524000"/>
            <a:ext cx="8229600" cy="4411200"/>
          </a:xfrm>
          <a:prstGeom prst="rect">
            <a:avLst/>
          </a:prstGeom>
          <a:noFill/>
          <a:ln>
            <a:noFill/>
          </a:ln>
        </p:spPr>
        <p:txBody>
          <a:bodyPr spcFirstLastPara="1" wrap="square" lIns="91425" tIns="45700" rIns="91425" bIns="45700" anchor="t" anchorCtr="0">
            <a:noAutofit/>
          </a:bodyPr>
          <a:lstStyle/>
          <a:p>
            <a:pPr marL="0" lvl="0" indent="0" algn="just">
              <a:spcBef>
                <a:spcPts val="1600"/>
              </a:spcBef>
              <a:buSzPts val="2000"/>
              <a:buNone/>
            </a:pPr>
            <a:r>
              <a:rPr lang="en-IN" sz="2400" dirty="0"/>
              <a:t>The main objective of AERIS is to develop an AI-powered Aircraft Investigation Platform that predicts potential component failures and explains their root causes using evidence-driven AI. The system provides explainable insights and maintenance recommendations to support better decision-making.</a:t>
            </a: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1 : </a:t>
            </a:r>
            <a:r>
              <a:rPr lang="en-IN" sz="2400" dirty="0"/>
              <a:t>To Predict potential aircraft component failures..</a:t>
            </a:r>
            <a:endParaRPr sz="2400" dirty="0">
              <a:solidFill>
                <a:srgbClr val="FF0000"/>
              </a:solidFill>
              <a:latin typeface="Times New Roman"/>
              <a:ea typeface="Times New Roman"/>
              <a:cs typeface="Times New Roman"/>
              <a:sym typeface="Times New Roman"/>
            </a:endParaRP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2 :</a:t>
            </a:r>
            <a:r>
              <a:rPr lang="en-US" sz="2400" dirty="0">
                <a:solidFill>
                  <a:schemeClr val="tx1"/>
                </a:solidFill>
                <a:latin typeface="Times New Roman"/>
                <a:ea typeface="Times New Roman"/>
                <a:cs typeface="Times New Roman"/>
                <a:sym typeface="Times New Roman"/>
              </a:rPr>
              <a:t> To </a:t>
            </a:r>
            <a:r>
              <a:rPr lang="en-IN" sz="2400" dirty="0"/>
              <a:t>Identify the root cause using multiple evidence sources.</a:t>
            </a:r>
            <a:endParaRPr sz="2400" dirty="0">
              <a:solidFill>
                <a:srgbClr val="FF0000"/>
              </a:solidFill>
              <a:latin typeface="Times New Roman"/>
              <a:ea typeface="Times New Roman"/>
              <a:cs typeface="Times New Roman"/>
              <a:sym typeface="Times New Roman"/>
            </a:endParaRPr>
          </a:p>
          <a:p>
            <a:pPr marL="0" lvl="0" indent="0" algn="just">
              <a:spcBef>
                <a:spcPts val="1600"/>
              </a:spcBef>
              <a:buSzPts val="2000"/>
              <a:buNone/>
            </a:pPr>
            <a:r>
              <a:rPr lang="en-US" sz="2400" dirty="0">
                <a:solidFill>
                  <a:srgbClr val="FF0000"/>
                </a:solidFill>
                <a:latin typeface="Times New Roman"/>
                <a:ea typeface="Times New Roman"/>
                <a:cs typeface="Times New Roman"/>
                <a:sym typeface="Times New Roman"/>
              </a:rPr>
              <a:t>Objective 3 : </a:t>
            </a:r>
            <a:r>
              <a:rPr lang="en-US" sz="2400" dirty="0">
                <a:solidFill>
                  <a:schemeClr val="tx1"/>
                </a:solidFill>
                <a:latin typeface="Times New Roman"/>
                <a:ea typeface="Times New Roman"/>
                <a:cs typeface="Times New Roman"/>
                <a:sym typeface="Times New Roman"/>
              </a:rPr>
              <a:t>To</a:t>
            </a:r>
            <a:r>
              <a:rPr lang="en-US" sz="2400" dirty="0">
                <a:solidFill>
                  <a:srgbClr val="FF0000"/>
                </a:solidFill>
                <a:latin typeface="Times New Roman"/>
                <a:ea typeface="Times New Roman"/>
                <a:cs typeface="Times New Roman"/>
                <a:sym typeface="Times New Roman"/>
              </a:rPr>
              <a:t> </a:t>
            </a:r>
            <a:r>
              <a:rPr lang="en-IN" sz="2400" dirty="0"/>
              <a:t>Generate explainable maintenance recommendations and investigation reports.</a:t>
            </a:r>
            <a:endParaRPr sz="2400" dirty="0">
              <a:solidFill>
                <a:srgbClr val="FF0000"/>
              </a:solidFill>
              <a:latin typeface="Times New Roman"/>
              <a:ea typeface="Times New Roman"/>
              <a:cs typeface="Times New Roman"/>
              <a:sym typeface="Times New Roman"/>
            </a:endParaRPr>
          </a:p>
          <a:p>
            <a:pPr marL="0" lvl="0" indent="0" algn="just" rtl="0">
              <a:lnSpc>
                <a:spcPct val="100000"/>
              </a:lnSpc>
              <a:spcBef>
                <a:spcPts val="1600"/>
              </a:spcBef>
              <a:spcAft>
                <a:spcPts val="0"/>
              </a:spcAft>
              <a:buClr>
                <a:schemeClr val="dk1"/>
              </a:buClr>
              <a:buSzPts val="2000"/>
              <a:buNone/>
            </a:pPr>
            <a:endParaRPr sz="2400" dirty="0">
              <a:latin typeface="Times New Roman"/>
              <a:ea typeface="Times New Roman"/>
              <a:cs typeface="Times New Roman"/>
              <a:sym typeface="Times New Roman"/>
            </a:endParaRPr>
          </a:p>
        </p:txBody>
      </p:sp>
      <p:sp>
        <p:nvSpPr>
          <p:cNvPr id="158" name="Google Shape;15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59" name="Google Shape;1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Problem Statement</a:t>
            </a:r>
            <a:endParaRPr b="1" dirty="0">
              <a:latin typeface="Times New Roman" panose="02020603050405020304" pitchFamily="18" charset="0"/>
              <a:cs typeface="Times New Roman" panose="02020603050405020304" pitchFamily="18" charset="0"/>
            </a:endParaRPr>
          </a:p>
        </p:txBody>
      </p:sp>
      <p:sp>
        <p:nvSpPr>
          <p:cNvPr id="165" name="Google Shape;165;p8"/>
          <p:cNvSpPr txBox="1">
            <a:spLocks noGrp="1"/>
          </p:cNvSpPr>
          <p:nvPr>
            <p:ph type="body" idx="1"/>
          </p:nvPr>
        </p:nvSpPr>
        <p:spPr>
          <a:xfrm>
            <a:off x="457200" y="1600201"/>
            <a:ext cx="8229600" cy="3962400"/>
          </a:xfrm>
          <a:prstGeom prst="rect">
            <a:avLst/>
          </a:prstGeom>
          <a:noFill/>
          <a:ln>
            <a:noFill/>
          </a:ln>
        </p:spPr>
        <p:txBody>
          <a:bodyPr spcFirstLastPara="1" wrap="square" lIns="91425" tIns="45700" rIns="91425" bIns="45700" anchor="t" anchorCtr="0">
            <a:noAutofit/>
          </a:bodyPr>
          <a:lstStyle/>
          <a:p>
            <a:pPr marL="114300" indent="0" algn="just">
              <a:buNone/>
            </a:pPr>
            <a:r>
              <a:rPr lang="en-IN" sz="2400" dirty="0">
                <a:latin typeface="Times New Roman" panose="02020603050405020304" pitchFamily="18" charset="0"/>
                <a:cs typeface="Times New Roman" panose="02020603050405020304" pitchFamily="18" charset="0"/>
              </a:rPr>
              <a:t>Aircraft component failures can compromise aviation safety, increase maintenance costs, and cause unexpected operational delays. Existing systems mainly predict failures or detect anomalies but often fail to explain why a failure is occurring or provide evidence-backed maintenance recommendations. AERIS addresses this by delivering explainable, evidence-driven failure investigation with root-cause analysis and intelligent maintenance recommendations for engineers.</a:t>
            </a:r>
          </a:p>
        </p:txBody>
      </p:sp>
      <p:sp>
        <p:nvSpPr>
          <p:cNvPr id="167" name="Google Shape;16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68" name="Google Shape;16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457200" y="86043"/>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 Work-Block Diagram</a:t>
            </a:r>
            <a:endParaRPr b="1" dirty="0">
              <a:latin typeface="Times New Roman" panose="02020603050405020304" pitchFamily="18" charset="0"/>
              <a:cs typeface="Times New Roman" panose="02020603050405020304" pitchFamily="18" charset="0"/>
            </a:endParaRPr>
          </a:p>
        </p:txBody>
      </p:sp>
      <p:sp>
        <p:nvSpPr>
          <p:cNvPr id="175" name="Google Shape;175;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76" name="Google Shape;17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C4649AC3-FB56-5DD3-D97D-7DB75BE99B21}"/>
              </a:ext>
            </a:extLst>
          </p:cNvPr>
          <p:cNvPicPr>
            <a:picLocks noChangeAspect="1"/>
          </p:cNvPicPr>
          <p:nvPr/>
        </p:nvPicPr>
        <p:blipFill>
          <a:blip r:embed="rId3"/>
          <a:stretch>
            <a:fillRect/>
          </a:stretch>
        </p:blipFill>
        <p:spPr>
          <a:xfrm>
            <a:off x="457200" y="1573162"/>
            <a:ext cx="8226849" cy="44343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Architecture Diagram</a:t>
            </a:r>
            <a:endParaRPr b="1" dirty="0">
              <a:latin typeface="Times New Roman" panose="02020603050405020304" pitchFamily="18" charset="0"/>
              <a:cs typeface="Times New Roman" panose="02020603050405020304" pitchFamily="18" charset="0"/>
            </a:endParaRPr>
          </a:p>
        </p:txBody>
      </p:sp>
      <p:sp>
        <p:nvSpPr>
          <p:cNvPr id="185" name="Google Shape;18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86" name="Google Shape;186;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pic>
        <p:nvPicPr>
          <p:cNvPr id="3" name="Picture 2" descr="PlantUML diagram">
            <a:extLst>
              <a:ext uri="{FF2B5EF4-FFF2-40B4-BE49-F238E27FC236}">
                <a16:creationId xmlns:a16="http://schemas.microsoft.com/office/drawing/2014/main" id="{FAEF61CC-B122-E5A8-056F-8EF4C55DFE75}"/>
              </a:ext>
            </a:extLst>
          </p:cNvPr>
          <p:cNvPicPr>
            <a:picLocks noChangeAspect="1"/>
          </p:cNvPicPr>
          <p:nvPr/>
        </p:nvPicPr>
        <p:blipFill>
          <a:blip r:embed="rId3"/>
          <a:stretch>
            <a:fillRect/>
          </a:stretch>
        </p:blipFill>
        <p:spPr>
          <a:xfrm>
            <a:off x="2340078" y="1146474"/>
            <a:ext cx="4626077" cy="52098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Modules</a:t>
            </a:r>
            <a:endParaRPr b="1" dirty="0">
              <a:latin typeface="Times New Roman" panose="02020603050405020304" pitchFamily="18" charset="0"/>
              <a:cs typeface="Times New Roman" panose="02020603050405020304" pitchFamily="18" charset="0"/>
            </a:endParaRPr>
          </a:p>
        </p:txBody>
      </p:sp>
      <p:sp>
        <p:nvSpPr>
          <p:cNvPr id="194" name="Google Shape;19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114300" lvl="0" indent="0" algn="just">
              <a:buNone/>
            </a:pPr>
            <a:r>
              <a:rPr lang="en-IN" sz="2400" dirty="0"/>
              <a:t>Module 1 – Data Collection &amp; Preprocessing </a:t>
            </a:r>
          </a:p>
          <a:p>
            <a:pPr marL="114300" lvl="0" indent="0" algn="just">
              <a:buNone/>
            </a:pPr>
            <a:r>
              <a:rPr lang="en-IN" sz="2400" dirty="0"/>
              <a:t>Module 2 – Failure Prediction </a:t>
            </a:r>
          </a:p>
          <a:p>
            <a:pPr marL="114300" lvl="0" indent="0" algn="just">
              <a:buNone/>
            </a:pPr>
            <a:r>
              <a:rPr lang="en-IN" sz="2400" dirty="0"/>
              <a:t>Module 3 – Investigation &amp; Root Cause Analysis </a:t>
            </a:r>
          </a:p>
          <a:p>
            <a:pPr marL="114300" lvl="0" indent="0" algn="just">
              <a:buNone/>
            </a:pPr>
            <a:r>
              <a:rPr lang="en-IN" sz="2400" dirty="0"/>
              <a:t>Module 4 – Report Generation &amp; Maintenance                   Recommendation</a:t>
            </a:r>
            <a:endParaRPr sz="2400" dirty="0">
              <a:latin typeface="Times New Roman" panose="02020603050405020304" pitchFamily="18" charset="0"/>
              <a:cs typeface="Times New Roman" panose="02020603050405020304" pitchFamily="18" charset="0"/>
            </a:endParaRPr>
          </a:p>
        </p:txBody>
      </p:sp>
      <p:sp>
        <p:nvSpPr>
          <p:cNvPr id="196" name="Google Shape;19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197" name="Google Shape;197;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Proposed-Module Description</a:t>
            </a:r>
            <a:endParaRPr b="1" dirty="0">
              <a:latin typeface="Times New Roman" panose="02020603050405020304" pitchFamily="18" charset="0"/>
              <a:cs typeface="Times New Roman" panose="02020603050405020304" pitchFamily="18" charset="0"/>
            </a:endParaRPr>
          </a:p>
        </p:txBody>
      </p:sp>
      <p:sp>
        <p:nvSpPr>
          <p:cNvPr id="203" name="Google Shape;203;p13"/>
          <p:cNvSpPr txBox="1">
            <a:spLocks noGrp="1"/>
          </p:cNvSpPr>
          <p:nvPr>
            <p:ph type="body" idx="1"/>
          </p:nvPr>
        </p:nvSpPr>
        <p:spPr>
          <a:xfrm>
            <a:off x="457200" y="1600200"/>
            <a:ext cx="8229600" cy="4661535"/>
          </a:xfrm>
          <a:prstGeom prst="rect">
            <a:avLst/>
          </a:prstGeom>
          <a:noFill/>
          <a:ln>
            <a:noFill/>
          </a:ln>
        </p:spPr>
        <p:txBody>
          <a:bodyPr spcFirstLastPara="1" wrap="square" lIns="91425" tIns="45700" rIns="91425" bIns="45700" anchor="t" anchorCtr="0">
            <a:normAutofit fontScale="97500" lnSpcReduction="10000"/>
          </a:bodyPr>
          <a:lstStyle/>
          <a:p>
            <a:pPr algn="just">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1 – Data Collection &amp; Preprocessing</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Collect and prepare aircraft operational data.</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Integrates sensor data, maintenance records, flight logs, and weather 	 information, then cleans and transforms them into structured features.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high-quality dataset ready for AI analysis.</a:t>
            </a:r>
          </a:p>
          <a:p>
            <a:pPr marL="114300" lvl="0" indent="0" algn="just">
              <a:lnSpc>
                <a:spcPct val="150000"/>
              </a:lnSpc>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2 – Failure Prediction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Predict potential aircraft component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A Time-Series AI model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historical patterns and detects anomalies to estimate failure risk.</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Early warnings with predicted failure probability and confidence score.</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lvl="0" indent="0" algn="just">
              <a:buSzPct val="100000"/>
              <a:buNone/>
            </a:pP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05" name="Google Shape;20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06" name="Google Shape;20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Proposed-Module Description</a:t>
            </a:r>
            <a:endParaRPr dirty="0">
              <a:latin typeface="Times New Roman" panose="02020603050405020304" pitchFamily="18" charset="0"/>
              <a:cs typeface="Times New Roman" panose="02020603050405020304" pitchFamily="18" charset="0"/>
            </a:endParaRPr>
          </a:p>
        </p:txBody>
      </p:sp>
      <p:sp>
        <p:nvSpPr>
          <p:cNvPr id="212" name="Google Shape;212;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3 – Evidence-Driven Investigation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Identify the root cause behind predicted failures.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The Investigation Engine combines maintenance history, operational context, and causal relationships to reconstruct the chain of evidence.</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Explainable root cause with supporting evidence and confidence level.</a:t>
            </a:r>
          </a:p>
          <a:p>
            <a:pPr marL="114300" indent="0" algn="just">
              <a:buNone/>
            </a:pPr>
            <a:endParaRPr lang="en-IN" sz="18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b="1" dirty="0">
                <a:latin typeface="Times New Roman" panose="02020603050405020304" pitchFamily="18" charset="0"/>
                <a:cs typeface="Times New Roman" panose="02020603050405020304" pitchFamily="18" charset="0"/>
              </a:rPr>
              <a:t>Module 4 – Recommendation &amp; Report Generation</a:t>
            </a:r>
          </a:p>
          <a:p>
            <a:pPr marL="114300" indent="0" algn="just">
              <a:lnSpc>
                <a:spcPct val="150000"/>
              </a:lnSpc>
              <a:buNone/>
            </a:pPr>
            <a:r>
              <a:rPr lang="en-IN" sz="1800" b="1" dirty="0">
                <a:latin typeface="Times New Roman" panose="02020603050405020304" pitchFamily="18" charset="0"/>
                <a:cs typeface="Times New Roman" panose="02020603050405020304" pitchFamily="18" charset="0"/>
              </a:rPr>
              <a:t>Purpose:</a:t>
            </a:r>
            <a:r>
              <a:rPr lang="en-IN" sz="1800" dirty="0">
                <a:latin typeface="Times New Roman" panose="02020603050405020304" pitchFamily="18" charset="0"/>
                <a:cs typeface="Times New Roman" panose="02020603050405020304" pitchFamily="18" charset="0"/>
              </a:rPr>
              <a:t> Assist engineers in making maintenance decisions.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How it Works:</a:t>
            </a:r>
            <a:r>
              <a:rPr lang="en-IN" sz="1800" dirty="0">
                <a:latin typeface="Times New Roman" panose="02020603050405020304" pitchFamily="18" charset="0"/>
                <a:cs typeface="Times New Roman" panose="02020603050405020304" pitchFamily="18" charset="0"/>
              </a:rPr>
              <a:t> RAG and an LLM retrieve relevant technical knowledge and generate evidence-based maintenance recommendations.</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Outcome:</a:t>
            </a:r>
            <a:r>
              <a:rPr lang="en-IN" sz="1800" dirty="0">
                <a:latin typeface="Times New Roman" panose="02020603050405020304" pitchFamily="18" charset="0"/>
                <a:cs typeface="Times New Roman" panose="02020603050405020304" pitchFamily="18" charset="0"/>
              </a:rPr>
              <a:t> A clear investigation report with actionable maintenance suggestions.</a:t>
            </a:r>
          </a:p>
          <a:p>
            <a:pPr marL="114300" lvl="0" indent="0" algn="just" rtl="0">
              <a:lnSpc>
                <a:spcPct val="100000"/>
              </a:lnSpc>
              <a:spcBef>
                <a:spcPts val="360"/>
              </a:spcBef>
              <a:spcAft>
                <a:spcPts val="0"/>
              </a:spcAft>
              <a:buSzPts val="1800"/>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214" name="Google Shape;21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15" name="Google Shape;21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Software Requirements</a:t>
            </a:r>
            <a:endParaRPr b="1" dirty="0">
              <a:latin typeface="Times New Roman" panose="02020603050405020304" pitchFamily="18" charset="0"/>
              <a:cs typeface="Times New Roman" panose="02020603050405020304" pitchFamily="18" charset="0"/>
            </a:endParaRPr>
          </a:p>
        </p:txBody>
      </p:sp>
      <p:sp>
        <p:nvSpPr>
          <p:cNvPr id="221" name="Google Shape;22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Ubuntu </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3.11+ </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IDE:</a:t>
            </a:r>
            <a:r>
              <a:rPr lang="en-IN" sz="2400" dirty="0">
                <a:latin typeface="Times New Roman" panose="02020603050405020304" pitchFamily="18" charset="0"/>
                <a:cs typeface="Times New Roman" panose="02020603050405020304" pitchFamily="18" charset="0"/>
              </a:rPr>
              <a:t> Visual Studio Code / Jupyter Notebook</a:t>
            </a:r>
            <a:endParaRPr sz="2400" dirty="0">
              <a:latin typeface="Times New Roman" panose="02020603050405020304" pitchFamily="18" charset="0"/>
              <a:cs typeface="Times New Roman" panose="02020603050405020304" pitchFamily="18" charset="0"/>
            </a:endParaRP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SQLite / PostgreSQL</a:t>
            </a:r>
          </a:p>
          <a:p>
            <a:pPr marL="571500" lvl="0" algn="just">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Libraries &amp; Frameworks:</a:t>
            </a:r>
            <a:endParaRPr lang="en-IN" sz="2400" dirty="0">
              <a:latin typeface="Times New Roman" panose="02020603050405020304" pitchFamily="18" charset="0"/>
              <a:cs typeface="Times New Roman" panose="02020603050405020304" pitchFamily="18" charset="0"/>
            </a:endParaRPr>
          </a:p>
          <a:p>
            <a:pPr marL="1028700" lvl="2" indent="0" algn="just">
              <a:buNone/>
            </a:pPr>
            <a:r>
              <a:rPr lang="en-IN" sz="1900" dirty="0">
                <a:latin typeface="Times New Roman" panose="02020603050405020304" pitchFamily="18" charset="0"/>
                <a:cs typeface="Times New Roman" panose="02020603050405020304" pitchFamily="18" charset="0"/>
              </a:rPr>
              <a:t>Pandas, NumPy – Data processing </a:t>
            </a:r>
          </a:p>
          <a:p>
            <a:pPr marL="1028700" lvl="2" indent="0" algn="just">
              <a:buNone/>
            </a:pPr>
            <a:r>
              <a:rPr lang="en-IN" sz="1900" dirty="0">
                <a:latin typeface="Times New Roman" panose="02020603050405020304" pitchFamily="18" charset="0"/>
                <a:cs typeface="Times New Roman" panose="02020603050405020304" pitchFamily="18" charset="0"/>
              </a:rPr>
              <a:t>Scikit-learn – Machine Learning </a:t>
            </a:r>
          </a:p>
          <a:p>
            <a:pPr marL="1028700" lvl="2" indent="0" algn="just">
              <a:buNone/>
            </a:pPr>
            <a:r>
              <a:rPr lang="en-IN" sz="1900" dirty="0" err="1">
                <a:latin typeface="Times New Roman" panose="02020603050405020304" pitchFamily="18" charset="0"/>
                <a:cs typeface="Times New Roman" panose="02020603050405020304" pitchFamily="18" charset="0"/>
              </a:rPr>
              <a:t>PyTorch</a:t>
            </a:r>
            <a:r>
              <a:rPr lang="en-IN" sz="1900" dirty="0">
                <a:latin typeface="Times New Roman" panose="02020603050405020304" pitchFamily="18" charset="0"/>
                <a:cs typeface="Times New Roman" panose="02020603050405020304" pitchFamily="18" charset="0"/>
              </a:rPr>
              <a:t> – Time-Series Transformer </a:t>
            </a:r>
          </a:p>
          <a:p>
            <a:pPr marL="1028700" lvl="2" indent="0" algn="just">
              <a:buNone/>
            </a:pPr>
            <a:r>
              <a:rPr lang="en-IN" sz="1900" dirty="0" err="1">
                <a:latin typeface="Times New Roman" panose="02020603050405020304" pitchFamily="18" charset="0"/>
                <a:cs typeface="Times New Roman" panose="02020603050405020304" pitchFamily="18" charset="0"/>
              </a:rPr>
              <a:t>NetworkX</a:t>
            </a:r>
            <a:r>
              <a:rPr lang="en-IN" sz="1900" dirty="0">
                <a:latin typeface="Times New Roman" panose="02020603050405020304" pitchFamily="18" charset="0"/>
                <a:cs typeface="Times New Roman" panose="02020603050405020304" pitchFamily="18" charset="0"/>
              </a:rPr>
              <a:t> / Neo4j – Knowledge Graph </a:t>
            </a:r>
          </a:p>
          <a:p>
            <a:pPr marL="1028700" lvl="2" indent="0" algn="just">
              <a:buNone/>
            </a:pPr>
            <a:r>
              <a:rPr lang="en-IN" sz="1900" dirty="0" err="1">
                <a:latin typeface="Times New Roman" panose="02020603050405020304" pitchFamily="18" charset="0"/>
                <a:cs typeface="Times New Roman" panose="02020603050405020304" pitchFamily="18" charset="0"/>
              </a:rPr>
              <a:t>LangChain</a:t>
            </a:r>
            <a:r>
              <a:rPr lang="en-IN" sz="1900" dirty="0">
                <a:latin typeface="Times New Roman" panose="02020603050405020304" pitchFamily="18" charset="0"/>
                <a:cs typeface="Times New Roman" panose="02020603050405020304" pitchFamily="18" charset="0"/>
              </a:rPr>
              <a:t> – RAG Pipeline </a:t>
            </a:r>
          </a:p>
          <a:p>
            <a:pPr marL="1028700" lvl="2" indent="0" algn="just">
              <a:buNone/>
            </a:pPr>
            <a:r>
              <a:rPr lang="en-IN" sz="1900" dirty="0">
                <a:latin typeface="Times New Roman" panose="02020603050405020304" pitchFamily="18" charset="0"/>
                <a:cs typeface="Times New Roman" panose="02020603050405020304" pitchFamily="18" charset="0"/>
              </a:rPr>
              <a:t>FAISS – Vector Database </a:t>
            </a:r>
          </a:p>
          <a:p>
            <a:pPr marL="1028700" lvl="2" indent="0" algn="just">
              <a:buNone/>
            </a:pPr>
            <a:r>
              <a:rPr lang="en-IN" sz="1900" dirty="0">
                <a:latin typeface="Times New Roman" panose="02020603050405020304" pitchFamily="18" charset="0"/>
                <a:cs typeface="Times New Roman" panose="02020603050405020304" pitchFamily="18" charset="0"/>
              </a:rPr>
              <a:t>Hugging Face Transformers – LLM Integration </a:t>
            </a:r>
          </a:p>
          <a:p>
            <a:pPr marL="1028700" lvl="2" indent="0" algn="just">
              <a:buNone/>
            </a:pPr>
            <a:r>
              <a:rPr lang="en-IN" sz="1900" dirty="0">
                <a:latin typeface="Times New Roman" panose="02020603050405020304" pitchFamily="18" charset="0"/>
                <a:cs typeface="Times New Roman" panose="02020603050405020304" pitchFamily="18" charset="0"/>
              </a:rPr>
              <a:t>Matplotlib, Seaborn – Visualization </a:t>
            </a:r>
          </a:p>
          <a:p>
            <a:pPr marL="1028700" lvl="2" indent="0" algn="just">
              <a:buNone/>
            </a:pPr>
            <a:r>
              <a:rPr lang="en-IN" sz="1900" dirty="0" err="1">
                <a:latin typeface="Times New Roman" panose="02020603050405020304" pitchFamily="18" charset="0"/>
                <a:cs typeface="Times New Roman" panose="02020603050405020304" pitchFamily="18" charset="0"/>
              </a:rPr>
              <a:t>Streamlit</a:t>
            </a:r>
            <a:r>
              <a:rPr lang="en-IN" sz="1900" dirty="0">
                <a:latin typeface="Times New Roman" panose="02020603050405020304" pitchFamily="18" charset="0"/>
                <a:cs typeface="Times New Roman" panose="02020603050405020304" pitchFamily="18" charset="0"/>
              </a:rPr>
              <a:t> – Dashboard Development</a:t>
            </a:r>
          </a:p>
          <a:p>
            <a:pPr lvl="1" indent="-228600" algn="just">
              <a:buNone/>
            </a:pPr>
            <a:endParaRPr sz="2000" dirty="0">
              <a:latin typeface="Times New Roman" panose="02020603050405020304" pitchFamily="18" charset="0"/>
              <a:cs typeface="Times New Roman" panose="02020603050405020304" pitchFamily="18" charset="0"/>
            </a:endParaRPr>
          </a:p>
          <a:p>
            <a:pPr marL="457200" lvl="0" indent="-228600" algn="just" rtl="0">
              <a:lnSpc>
                <a:spcPct val="100000"/>
              </a:lnSpc>
              <a:spcBef>
                <a:spcPts val="360"/>
              </a:spcBef>
              <a:spcAft>
                <a:spcPts val="0"/>
              </a:spcAft>
              <a:buSzPts val="1800"/>
              <a:buNone/>
            </a:pPr>
            <a:endParaRPr sz="2400" dirty="0">
              <a:latin typeface="Times New Roman" panose="02020603050405020304" pitchFamily="18" charset="0"/>
              <a:cs typeface="Times New Roman" panose="02020603050405020304" pitchFamily="18" charset="0"/>
            </a:endParaRPr>
          </a:p>
          <a:p>
            <a:pPr marL="457200" lvl="0" indent="-228600" algn="just" rtl="0">
              <a:lnSpc>
                <a:spcPct val="100000"/>
              </a:lnSpc>
              <a:spcBef>
                <a:spcPts val="360"/>
              </a:spcBef>
              <a:spcAft>
                <a:spcPts val="0"/>
              </a:spcAft>
              <a:buSzPts val="1800"/>
              <a:buNone/>
            </a:pPr>
            <a:endParaRPr sz="2400" dirty="0">
              <a:latin typeface="Times New Roman" panose="02020603050405020304" pitchFamily="18" charset="0"/>
              <a:cs typeface="Times New Roman" panose="02020603050405020304" pitchFamily="18" charset="0"/>
            </a:endParaRPr>
          </a:p>
        </p:txBody>
      </p:sp>
      <p:sp>
        <p:nvSpPr>
          <p:cNvPr id="223" name="Google Shape;22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24" name="Google Shape;22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4900" b="1" dirty="0">
                <a:latin typeface="Times New Roman" panose="02020603050405020304" pitchFamily="18" charset="0"/>
                <a:cs typeface="Times New Roman" panose="02020603050405020304" pitchFamily="18" charset="0"/>
              </a:rPr>
              <a:t>References</a:t>
            </a:r>
            <a:endParaRPr b="1" dirty="0">
              <a:latin typeface="Times New Roman" panose="02020603050405020304" pitchFamily="18" charset="0"/>
              <a:cs typeface="Times New Roman" panose="02020603050405020304" pitchFamily="18" charset="0"/>
            </a:endParaRPr>
          </a:p>
        </p:txBody>
      </p:sp>
      <p:sp>
        <p:nvSpPr>
          <p:cNvPr id="239" name="Google Shape;239;p19"/>
          <p:cNvSpPr txBox="1">
            <a:spLocks noGrp="1"/>
          </p:cNvSpPr>
          <p:nvPr>
            <p:ph type="body" idx="1"/>
          </p:nvPr>
        </p:nvSpPr>
        <p:spPr>
          <a:xfrm>
            <a:off x="457200" y="990600"/>
            <a:ext cx="8229600" cy="5445125"/>
          </a:xfrm>
          <a:prstGeom prst="rect">
            <a:avLst/>
          </a:prstGeom>
          <a:noFill/>
          <a:ln>
            <a:noFill/>
          </a:ln>
        </p:spPr>
        <p:txBody>
          <a:bodyPr spcFirstLastPara="1" wrap="square" lIns="91425" tIns="45700" rIns="91425" bIns="45700" anchor="t" anchorCtr="0">
            <a:noAutofit/>
          </a:bodyPr>
          <a:lstStyle/>
          <a:p>
            <a:pPr marL="114300" indent="0" algn="just">
              <a:buNone/>
            </a:pPr>
            <a:r>
              <a:rPr lang="en-IN" sz="1600" b="1" dirty="0">
                <a:latin typeface="Times New Roman" panose="02020603050405020304" pitchFamily="18" charset="0"/>
                <a:cs typeface="Times New Roman" panose="02020603050405020304" pitchFamily="18" charset="0"/>
              </a:rPr>
              <a:t>[1] </a:t>
            </a:r>
            <a:r>
              <a:rPr lang="en-IN" sz="1600" dirty="0">
                <a:latin typeface="Times New Roman" panose="02020603050405020304" pitchFamily="18" charset="0"/>
                <a:cs typeface="Times New Roman" panose="02020603050405020304" pitchFamily="18" charset="0"/>
              </a:rPr>
              <a:t>Z. Guo, Z. Liu, E. Estupiñan, and D. Cabrera, “Fault Inference Diagnosis Based on Causal Network and Large Language Model-Enhanced Knowledge Graph Network,” </a:t>
            </a:r>
            <a:r>
              <a:rPr lang="en-IN" sz="1600" i="1" dirty="0">
                <a:latin typeface="Times New Roman" panose="02020603050405020304" pitchFamily="18" charset="0"/>
                <a:cs typeface="Times New Roman" panose="02020603050405020304" pitchFamily="18" charset="0"/>
              </a:rPr>
              <a:t>Chinese Journal of Mechanical Engineering</a:t>
            </a:r>
            <a:r>
              <a:rPr lang="en-IN" sz="1600" dirty="0">
                <a:latin typeface="Times New Roman" panose="02020603050405020304" pitchFamily="18" charset="0"/>
                <a:cs typeface="Times New Roman" panose="02020603050405020304" pitchFamily="18" charset="0"/>
              </a:rPr>
              <a:t>, vol. 39, Art. no. 100162, 2026.</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J. Wang, T. Li, Y. Yang, et al., “</a:t>
            </a:r>
            <a:r>
              <a:rPr lang="en-IN" sz="1600" dirty="0" err="1">
                <a:latin typeface="Times New Roman" panose="02020603050405020304" pitchFamily="18" charset="0"/>
                <a:cs typeface="Times New Roman" panose="02020603050405020304" pitchFamily="18" charset="0"/>
              </a:rPr>
              <a:t>DiagLLM</a:t>
            </a:r>
            <a:r>
              <a:rPr lang="en-IN" sz="1600" dirty="0">
                <a:latin typeface="Times New Roman" panose="02020603050405020304" pitchFamily="18" charset="0"/>
                <a:cs typeface="Times New Roman" panose="02020603050405020304" pitchFamily="18" charset="0"/>
              </a:rPr>
              <a:t>: Multimodal Reasoning with Large Language Model for Explainable Bearing Fault Diagnosis,” </a:t>
            </a:r>
            <a:r>
              <a:rPr lang="en-IN" sz="1600" i="1" dirty="0">
                <a:latin typeface="Times New Roman" panose="02020603050405020304" pitchFamily="18" charset="0"/>
                <a:cs typeface="Times New Roman" panose="02020603050405020304" pitchFamily="18" charset="0"/>
              </a:rPr>
              <a:t>Science China Information Sciences</a:t>
            </a:r>
            <a:r>
              <a:rPr lang="en-IN" sz="1600" dirty="0">
                <a:latin typeface="Times New Roman" panose="02020603050405020304" pitchFamily="18" charset="0"/>
                <a:cs typeface="Times New Roman" panose="02020603050405020304" pitchFamily="18" charset="0"/>
              </a:rPr>
              <a:t>, vol. 68, no. 1, 2025.</a:t>
            </a:r>
          </a:p>
          <a:p>
            <a:pPr marL="114300" indent="0" algn="just">
              <a:buNone/>
            </a:pPr>
            <a:endParaRPr lang="en-IN" sz="1600" b="1"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[3] </a:t>
            </a:r>
            <a:r>
              <a:rPr lang="en-IN" sz="1600" dirty="0">
                <a:latin typeface="Times New Roman" panose="02020603050405020304" pitchFamily="18" charset="0"/>
                <a:cs typeface="Times New Roman" panose="02020603050405020304" pitchFamily="18" charset="0"/>
              </a:rPr>
              <a:t>S. Zheng, K. Pan, J. Liu, et al., “Empirical Study on Fine-Tuning Pre-trained Large Language Models for Fault Diagnosis of Complex Systems,” </a:t>
            </a:r>
            <a:r>
              <a:rPr lang="en-IN" sz="1600" i="1" dirty="0">
                <a:latin typeface="Times New Roman" panose="02020603050405020304" pitchFamily="18" charset="0"/>
                <a:cs typeface="Times New Roman" panose="02020603050405020304" pitchFamily="18" charset="0"/>
              </a:rPr>
              <a:t>Reliability Engineering &amp; System Safety</a:t>
            </a:r>
            <a:r>
              <a:rPr lang="en-IN" sz="1600" dirty="0">
                <a:latin typeface="Times New Roman" panose="02020603050405020304" pitchFamily="18" charset="0"/>
                <a:cs typeface="Times New Roman" panose="02020603050405020304" pitchFamily="18" charset="0"/>
              </a:rPr>
              <a:t>, vol. 252, Art. no. 110382, 2024.</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[4] </a:t>
            </a:r>
            <a:r>
              <a:rPr lang="en-IN" sz="1600" dirty="0">
                <a:latin typeface="Times New Roman" panose="02020603050405020304" pitchFamily="18" charset="0"/>
                <a:cs typeface="Times New Roman" panose="02020603050405020304" pitchFamily="18" charset="0"/>
              </a:rPr>
              <a:t>Z. Zhang, Q. Li, S. Liu, et al., “Causal Inference-Enabled Graph Neural Networks for Generalized Fault Diagnosis in Industrial IoT Systems,” </a:t>
            </a:r>
            <a:r>
              <a:rPr lang="en-IN" sz="1600" i="1" dirty="0">
                <a:latin typeface="Times New Roman" panose="02020603050405020304" pitchFamily="18" charset="0"/>
                <a:cs typeface="Times New Roman" panose="02020603050405020304" pitchFamily="18" charset="0"/>
              </a:rPr>
              <a:t>Information Sciences</a:t>
            </a:r>
            <a:r>
              <a:rPr lang="en-IN" sz="1600" dirty="0">
                <a:latin typeface="Times New Roman" panose="02020603050405020304" pitchFamily="18" charset="0"/>
                <a:cs typeface="Times New Roman" panose="02020603050405020304" pitchFamily="18" charset="0"/>
              </a:rPr>
              <a:t>, vol. 694, Art. no. 121719, 2025.</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[5] </a:t>
            </a:r>
            <a:r>
              <a:rPr lang="en-IN" sz="1600" dirty="0">
                <a:latin typeface="Times New Roman" panose="02020603050405020304" pitchFamily="18" charset="0"/>
                <a:cs typeface="Times New Roman" panose="02020603050405020304" pitchFamily="18" charset="0"/>
              </a:rPr>
              <a:t>Z. Mao, H. Wang, B. Jiang, et al., “Graph Convolutional Neural Network for Intelligent Fault Diagnosis of Machines via Knowledge Graph,” </a:t>
            </a:r>
            <a:r>
              <a:rPr lang="en-IN" sz="1600" i="1" dirty="0">
                <a:latin typeface="Times New Roman" panose="02020603050405020304" pitchFamily="18" charset="0"/>
                <a:cs typeface="Times New Roman" panose="02020603050405020304" pitchFamily="18" charset="0"/>
              </a:rPr>
              <a:t>IEEE Transactions on Industrial Informatics</a:t>
            </a:r>
            <a:r>
              <a:rPr lang="en-IN" sz="1600" dirty="0">
                <a:latin typeface="Times New Roman" panose="02020603050405020304" pitchFamily="18" charset="0"/>
                <a:cs typeface="Times New Roman" panose="02020603050405020304" pitchFamily="18" charset="0"/>
              </a:rPr>
              <a:t>, vol. 20, no. 5, pp. 7862–7870, 2024.</a:t>
            </a:r>
          </a:p>
          <a:p>
            <a:pPr marL="0" lvl="0" indent="0" algn="just" rtl="0">
              <a:lnSpc>
                <a:spcPct val="100000"/>
              </a:lnSpc>
              <a:spcBef>
                <a:spcPts val="240"/>
              </a:spcBef>
              <a:spcAft>
                <a:spcPts val="0"/>
              </a:spcAft>
              <a:buSzPts val="1800"/>
              <a:buNone/>
            </a:pPr>
            <a:endParaRPr lang="en-IN" sz="1600" dirty="0">
              <a:solidFill>
                <a:srgbClr val="000000"/>
              </a:solidFill>
              <a:latin typeface="Times New Roman"/>
              <a:ea typeface="Times New Roman"/>
              <a:cs typeface="Times New Roman"/>
              <a:sym typeface="Times New Roman"/>
            </a:endParaRPr>
          </a:p>
          <a:p>
            <a:pPr marL="0" lvl="0" indent="0" algn="just" rtl="0">
              <a:lnSpc>
                <a:spcPct val="100000"/>
              </a:lnSpc>
              <a:spcBef>
                <a:spcPts val="240"/>
              </a:spcBef>
              <a:spcAft>
                <a:spcPts val="0"/>
              </a:spcAft>
              <a:buSzPts val="1800"/>
              <a:buNone/>
            </a:pPr>
            <a:endParaRPr sz="1600" dirty="0">
              <a:solidFill>
                <a:srgbClr val="000000"/>
              </a:solidFill>
              <a:latin typeface="Times New Roman"/>
              <a:ea typeface="Times New Roman"/>
              <a:cs typeface="Times New Roman"/>
              <a:sym typeface="Times New Roman"/>
            </a:endParaRPr>
          </a:p>
        </p:txBody>
      </p:sp>
      <p:sp>
        <p:nvSpPr>
          <p:cNvPr id="241" name="Google Shape;24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42" name="Google Shape;24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ct val="100000"/>
              <a:buFont typeface="Calibri"/>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30" name="Google Shape;230;p18"/>
          <p:cNvSpPr txBox="1">
            <a:spLocks noGrp="1"/>
          </p:cNvSpPr>
          <p:nvPr>
            <p:ph type="body" idx="1"/>
          </p:nvPr>
        </p:nvSpPr>
        <p:spPr>
          <a:xfrm>
            <a:off x="457200" y="899160"/>
            <a:ext cx="8229600" cy="5456555"/>
          </a:xfrm>
          <a:prstGeom prst="rect">
            <a:avLst/>
          </a:prstGeom>
          <a:noFill/>
          <a:ln>
            <a:noFill/>
          </a:ln>
        </p:spPr>
        <p:txBody>
          <a:bodyPr spcFirstLastPara="1" wrap="square" lIns="91425" tIns="45700" rIns="91425" bIns="45700" anchor="t" anchorCtr="0">
            <a:noAutofit/>
          </a:bodyPr>
          <a:lstStyle/>
          <a:p>
            <a:pPr marL="114300" indent="0" algn="just">
              <a:buNone/>
            </a:pPr>
            <a:r>
              <a:rPr lang="en-IN" sz="1600" b="1" dirty="0">
                <a:latin typeface="Times New Roman" panose="02020603050405020304" pitchFamily="18" charset="0"/>
                <a:cs typeface="Times New Roman" panose="02020603050405020304" pitchFamily="18" charset="0"/>
              </a:rPr>
              <a:t>[6] </a:t>
            </a:r>
            <a:r>
              <a:rPr lang="en-IN" sz="1600" dirty="0">
                <a:latin typeface="Times New Roman" panose="02020603050405020304" pitchFamily="18" charset="0"/>
                <a:cs typeface="Times New Roman" panose="02020603050405020304" pitchFamily="18" charset="0"/>
              </a:rPr>
              <a:t>X. Liao, C. Chen, Z. Wang, et al., “Large Language Model Assisted Fine-Grained Knowledge Graph Construction for Robotic Fault Diagnosis,” </a:t>
            </a:r>
            <a:r>
              <a:rPr lang="en-IN" sz="1600" i="1" dirty="0">
                <a:latin typeface="Times New Roman" panose="02020603050405020304" pitchFamily="18" charset="0"/>
                <a:cs typeface="Times New Roman" panose="02020603050405020304" pitchFamily="18" charset="0"/>
              </a:rPr>
              <a:t>Advanced Engineering Informatics</a:t>
            </a:r>
            <a:r>
              <a:rPr lang="en-IN" sz="1600" dirty="0">
                <a:latin typeface="Times New Roman" panose="02020603050405020304" pitchFamily="18" charset="0"/>
                <a:cs typeface="Times New Roman" panose="02020603050405020304" pitchFamily="18" charset="0"/>
              </a:rPr>
              <a:t>, vol. 65, Art. no. 103134, 2025.</a:t>
            </a: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240"/>
              </a:spcBef>
              <a:spcAft>
                <a:spcPts val="0"/>
              </a:spcAft>
              <a:buSzPts val="1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lgn="just">
              <a:buNone/>
            </a:pPr>
            <a:r>
              <a:rPr lang="en-IN" sz="1600" b="1" dirty="0">
                <a:latin typeface="Times New Roman" panose="02020603050405020304" pitchFamily="18" charset="0"/>
                <a:cs typeface="Times New Roman" panose="02020603050405020304" pitchFamily="18" charset="0"/>
              </a:rPr>
              <a:t>[7] </a:t>
            </a:r>
            <a:r>
              <a:rPr lang="en-IN" sz="1600" dirty="0">
                <a:latin typeface="Times New Roman" panose="02020603050405020304" pitchFamily="18" charset="0"/>
                <a:cs typeface="Times New Roman" panose="02020603050405020304" pitchFamily="18" charset="0"/>
              </a:rPr>
              <a:t>X. Ding, H. Wu, J. Wang, et al., “Causal Discovery for Rolling Bearing Fault Under Missing Data: From the Perspective of Causal Effect and Information Flow,” </a:t>
            </a:r>
            <a:r>
              <a:rPr lang="en-IN" sz="1600" i="1" dirty="0">
                <a:latin typeface="Times New Roman" panose="02020603050405020304" pitchFamily="18" charset="0"/>
                <a:cs typeface="Times New Roman" panose="02020603050405020304" pitchFamily="18" charset="0"/>
              </a:rPr>
              <a:t>IEEE Transactions on Instrumentation and Measurement</a:t>
            </a:r>
            <a:r>
              <a:rPr lang="en-IN" sz="1600" dirty="0">
                <a:latin typeface="Times New Roman" panose="02020603050405020304" pitchFamily="18" charset="0"/>
                <a:cs typeface="Times New Roman" panose="02020603050405020304" pitchFamily="18" charset="0"/>
              </a:rPr>
              <a:t>, vol. 74, pp. 1–17, 2025.</a:t>
            </a:r>
          </a:p>
          <a:p>
            <a:pPr marL="114300" indent="0" algn="just">
              <a:buNone/>
            </a:pPr>
            <a:endParaRPr lang="en-IN" sz="1600"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[8] </a:t>
            </a:r>
            <a:r>
              <a:rPr lang="en-IN" sz="1600" dirty="0">
                <a:latin typeface="Times New Roman" panose="02020603050405020304" pitchFamily="18" charset="0"/>
                <a:cs typeface="Times New Roman" panose="02020603050405020304" pitchFamily="18" charset="0"/>
              </a:rPr>
              <a:t>Y. Dong, H. Jiang, X. Wang, et al., “An Interpretable Integration Fusion Time-Frequency Prototype Contrastive Learning for Machine Fault Diagnosis with Limited </a:t>
            </a:r>
            <a:r>
              <a:rPr lang="en-IN" sz="1600" dirty="0" err="1">
                <a:latin typeface="Times New Roman" panose="02020603050405020304" pitchFamily="18" charset="0"/>
                <a:cs typeface="Times New Roman" panose="02020603050405020304" pitchFamily="18" charset="0"/>
              </a:rPr>
              <a:t>Labeled</a:t>
            </a:r>
            <a:r>
              <a:rPr lang="en-IN" sz="1600" dirty="0">
                <a:latin typeface="Times New Roman" panose="02020603050405020304" pitchFamily="18" charset="0"/>
                <a:cs typeface="Times New Roman" panose="02020603050405020304" pitchFamily="18" charset="0"/>
              </a:rPr>
              <a:t> Samples,” </a:t>
            </a:r>
            <a:r>
              <a:rPr lang="en-IN" sz="1600" i="1" dirty="0">
                <a:latin typeface="Times New Roman" panose="02020603050405020304" pitchFamily="18" charset="0"/>
                <a:cs typeface="Times New Roman" panose="02020603050405020304" pitchFamily="18" charset="0"/>
              </a:rPr>
              <a:t>Information Fusion</a:t>
            </a:r>
            <a:r>
              <a:rPr lang="en-IN" sz="1600" dirty="0">
                <a:latin typeface="Times New Roman" panose="02020603050405020304" pitchFamily="18" charset="0"/>
                <a:cs typeface="Times New Roman" panose="02020603050405020304" pitchFamily="18" charset="0"/>
              </a:rPr>
              <a:t>, vol. 124, Art. no. 103340, 2025.</a:t>
            </a:r>
          </a:p>
          <a:p>
            <a:pPr marL="114300" indent="0" algn="just">
              <a:buNone/>
            </a:pPr>
            <a:endParaRPr lang="en-IN" sz="1600" b="1" dirty="0">
              <a:latin typeface="Times New Roman" panose="02020603050405020304" pitchFamily="18" charset="0"/>
              <a:cs typeface="Times New Roman" panose="02020603050405020304" pitchFamily="18" charset="0"/>
            </a:endParaRPr>
          </a:p>
          <a:p>
            <a:pPr marL="114300" indent="0" algn="just">
              <a:buNone/>
            </a:pPr>
            <a:r>
              <a:rPr lang="en-IN" sz="1600" b="1" dirty="0">
                <a:latin typeface="Times New Roman" panose="02020603050405020304" pitchFamily="18" charset="0"/>
                <a:cs typeface="Times New Roman" panose="02020603050405020304" pitchFamily="18" charset="0"/>
              </a:rPr>
              <a:t>[9] </a:t>
            </a:r>
            <a:r>
              <a:rPr lang="en-IN" sz="1600" dirty="0">
                <a:latin typeface="Times New Roman" panose="02020603050405020304" pitchFamily="18" charset="0"/>
                <a:cs typeface="Times New Roman" panose="02020603050405020304" pitchFamily="18" charset="0"/>
              </a:rPr>
              <a:t>D. Song, F. Zhang, M. Lu, et al., “</a:t>
            </a:r>
            <a:r>
              <a:rPr lang="en-IN" sz="1600" dirty="0" err="1">
                <a:latin typeface="Times New Roman" panose="02020603050405020304" pitchFamily="18" charset="0"/>
                <a:cs typeface="Times New Roman" panose="02020603050405020304" pitchFamily="18" charset="0"/>
              </a:rPr>
              <a:t>DTransE</a:t>
            </a:r>
            <a:r>
              <a:rPr lang="en-IN" sz="1600" dirty="0">
                <a:latin typeface="Times New Roman" panose="02020603050405020304" pitchFamily="18" charset="0"/>
                <a:cs typeface="Times New Roman" panose="02020603050405020304" pitchFamily="18" charset="0"/>
              </a:rPr>
              <a:t>: Distributed Translating Embedding for Knowledge Graph,” </a:t>
            </a:r>
            <a:r>
              <a:rPr lang="en-IN" sz="1600" i="1" dirty="0">
                <a:latin typeface="Times New Roman" panose="02020603050405020304" pitchFamily="18" charset="0"/>
                <a:cs typeface="Times New Roman" panose="02020603050405020304" pitchFamily="18" charset="0"/>
              </a:rPr>
              <a:t>IEEE Transactions on Parallel and Distributed Systems</a:t>
            </a:r>
            <a:r>
              <a:rPr lang="en-IN" sz="1600" dirty="0">
                <a:latin typeface="Times New Roman" panose="02020603050405020304" pitchFamily="18" charset="0"/>
                <a:cs typeface="Times New Roman" panose="02020603050405020304" pitchFamily="18" charset="0"/>
              </a:rPr>
              <a:t>, vol. 32, no. 10, pp. 2509–2523, 2021.</a:t>
            </a:r>
          </a:p>
          <a:p>
            <a:pPr marL="114300" indent="0" algn="just">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114300" indent="0" algn="just">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Y. Dong, H. Jiang, M. Mu, et al., “A Trustworthy Lightweight Multi-Expert Wavelet Transformer for Rotating Machinery Fault Diagnosis,” </a:t>
            </a:r>
            <a:r>
              <a:rPr lang="en-IN" sz="1600" i="1" dirty="0">
                <a:latin typeface="Times New Roman" panose="02020603050405020304" pitchFamily="18" charset="0"/>
                <a:cs typeface="Times New Roman" panose="02020603050405020304" pitchFamily="18" charset="0"/>
              </a:rPr>
              <a:t>Mechanical Systems and Signal Processing</a:t>
            </a:r>
            <a:r>
              <a:rPr lang="en-IN" sz="1600" dirty="0">
                <a:latin typeface="Times New Roman" panose="02020603050405020304" pitchFamily="18" charset="0"/>
                <a:cs typeface="Times New Roman" panose="02020603050405020304" pitchFamily="18" charset="0"/>
              </a:rPr>
              <a:t>, vol. 235, Art. no. 112945, 2025.</a:t>
            </a:r>
            <a:endParaRPr lang="en-IN"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32" name="Google Shape;23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20/07/2026</a:t>
            </a:r>
            <a:endParaRPr/>
          </a:p>
        </p:txBody>
      </p:sp>
      <p:sp>
        <p:nvSpPr>
          <p:cNvPr id="233" name="Google Shape;23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 name="Footer Placeholder 1"/>
          <p:cNvSpPr>
            <a:spLocks noGrp="1"/>
          </p:cNvSpPr>
          <p:nvPr>
            <p:ph type="ftr" idx="11"/>
          </p:nvPr>
        </p:nvSpPr>
        <p:spPr/>
        <p:txBody>
          <a:bodyPr/>
          <a:lstStyle/>
          <a:p>
            <a:r>
              <a:rPr lang="en-US" sz="1000" dirty="0">
                <a:latin typeface="Times New Roman" panose="02020603050405020304" pitchFamily="18" charset="0"/>
                <a:cs typeface="Times New Roman" panose="02020603050405020304" pitchFamily="18" charset="0"/>
              </a:rPr>
              <a:t>DEPT OF AI&amp;DS, SAEC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3AB7-CDAC-BA01-2E93-F32570A089F5}"/>
              </a:ext>
            </a:extLst>
          </p:cNvPr>
          <p:cNvSpPr>
            <a:spLocks noGrp="1"/>
          </p:cNvSpPr>
          <p:nvPr>
            <p:ph type="title"/>
          </p:nvPr>
        </p:nvSpPr>
        <p:spPr>
          <a:xfrm>
            <a:off x="416830" y="136525"/>
            <a:ext cx="8229600" cy="965961"/>
          </a:xfrm>
        </p:spPr>
        <p:txBody>
          <a:bodyPr/>
          <a:lstStyle/>
          <a:p>
            <a:r>
              <a:rPr lang="en-IN" dirty="0"/>
              <a:t>SYSTEM ARCHITECTURE</a:t>
            </a:r>
          </a:p>
        </p:txBody>
      </p:sp>
      <p:sp>
        <p:nvSpPr>
          <p:cNvPr id="4" name="Date Placeholder 3">
            <a:extLst>
              <a:ext uri="{FF2B5EF4-FFF2-40B4-BE49-F238E27FC236}">
                <a16:creationId xmlns:a16="http://schemas.microsoft.com/office/drawing/2014/main" id="{DFFBD744-274C-4D71-703C-D207B7B9CD2B}"/>
              </a:ext>
            </a:extLst>
          </p:cNvPr>
          <p:cNvSpPr>
            <a:spLocks noGrp="1"/>
          </p:cNvSpPr>
          <p:nvPr>
            <p:ph type="dt" idx="10"/>
          </p:nvPr>
        </p:nvSpPr>
        <p:spPr/>
        <p:txBody>
          <a:bodyPr/>
          <a:lstStyle/>
          <a:p>
            <a:r>
              <a:rPr lang="en-US" dirty="0"/>
              <a:t>11/08/2026</a:t>
            </a:r>
          </a:p>
        </p:txBody>
      </p:sp>
      <p:sp>
        <p:nvSpPr>
          <p:cNvPr id="5" name="Footer Placeholder 4">
            <a:extLst>
              <a:ext uri="{FF2B5EF4-FFF2-40B4-BE49-F238E27FC236}">
                <a16:creationId xmlns:a16="http://schemas.microsoft.com/office/drawing/2014/main" id="{37CDFB66-0219-78C8-B37A-DF79E21E725A}"/>
              </a:ext>
            </a:extLst>
          </p:cNvPr>
          <p:cNvSpPr>
            <a:spLocks noGrp="1"/>
          </p:cNvSpPr>
          <p:nvPr>
            <p:ph type="ftr" idx="11"/>
          </p:nvPr>
        </p:nvSpPr>
        <p:spPr/>
        <p:txBody>
          <a:bodyPr/>
          <a:lstStyle/>
          <a:p>
            <a:r>
              <a:rPr lang="en-US"/>
              <a:t>DEPT OF AI&amp;DS, SAEC</a:t>
            </a:r>
          </a:p>
        </p:txBody>
      </p:sp>
      <p:sp>
        <p:nvSpPr>
          <p:cNvPr id="6" name="Slide Number Placeholder 5">
            <a:extLst>
              <a:ext uri="{FF2B5EF4-FFF2-40B4-BE49-F238E27FC236}">
                <a16:creationId xmlns:a16="http://schemas.microsoft.com/office/drawing/2014/main" id="{32F66063-69FC-B315-28DE-60955C4E96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8" name="Picture 7">
            <a:extLst>
              <a:ext uri="{FF2B5EF4-FFF2-40B4-BE49-F238E27FC236}">
                <a16:creationId xmlns:a16="http://schemas.microsoft.com/office/drawing/2014/main" id="{B8C351B5-EF2E-2683-9B9E-7EE01FB1285E}"/>
              </a:ext>
            </a:extLst>
          </p:cNvPr>
          <p:cNvPicPr>
            <a:picLocks noChangeAspect="1"/>
          </p:cNvPicPr>
          <p:nvPr/>
        </p:nvPicPr>
        <p:blipFill>
          <a:blip r:embed="rId2"/>
          <a:stretch>
            <a:fillRect/>
          </a:stretch>
        </p:blipFill>
        <p:spPr>
          <a:xfrm>
            <a:off x="628161" y="1102486"/>
            <a:ext cx="8058639" cy="5172954"/>
          </a:xfrm>
          <a:prstGeom prst="rect">
            <a:avLst/>
          </a:prstGeom>
        </p:spPr>
      </p:pic>
      <p:sp>
        <p:nvSpPr>
          <p:cNvPr id="9" name="TextBox 8">
            <a:extLst>
              <a:ext uri="{FF2B5EF4-FFF2-40B4-BE49-F238E27FC236}">
                <a16:creationId xmlns:a16="http://schemas.microsoft.com/office/drawing/2014/main" id="{66D2B7FA-7E1D-98C0-1975-A836A46DB1C3}"/>
              </a:ext>
            </a:extLst>
          </p:cNvPr>
          <p:cNvSpPr txBox="1"/>
          <p:nvPr/>
        </p:nvSpPr>
        <p:spPr>
          <a:xfrm>
            <a:off x="294968" y="4807974"/>
            <a:ext cx="184731" cy="307777"/>
          </a:xfrm>
          <a:prstGeom prst="rect">
            <a:avLst/>
          </a:prstGeom>
          <a:noFill/>
        </p:spPr>
        <p:txBody>
          <a:bodyPr wrap="none" rtlCol="0">
            <a:spAutoFit/>
          </a:bodyPr>
          <a:lstStyle/>
          <a:p>
            <a:endParaRPr lang="en-IN"/>
          </a:p>
        </p:txBody>
      </p:sp>
    </p:spTree>
    <p:extLst>
      <p:ext uri="{BB962C8B-B14F-4D97-AF65-F5344CB8AC3E}">
        <p14:creationId xmlns:p14="http://schemas.microsoft.com/office/powerpoint/2010/main" val="1059387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EB73-9414-FCFF-DDEA-17C4BAA6422D}"/>
              </a:ext>
            </a:extLst>
          </p:cNvPr>
          <p:cNvSpPr>
            <a:spLocks noGrp="1"/>
          </p:cNvSpPr>
          <p:nvPr>
            <p:ph type="title"/>
          </p:nvPr>
        </p:nvSpPr>
        <p:spPr>
          <a:xfrm>
            <a:off x="457200" y="274638"/>
            <a:ext cx="8229600" cy="806910"/>
          </a:xfrm>
        </p:spPr>
        <p:txBody>
          <a:bodyPr>
            <a:normAutofit fontScale="90000"/>
          </a:bodyPr>
          <a:lstStyle/>
          <a:p>
            <a:r>
              <a:rPr lang="en-IN" dirty="0"/>
              <a:t>SYSTEM ARCHITECTURE DESCRIPTION</a:t>
            </a:r>
          </a:p>
        </p:txBody>
      </p:sp>
      <p:sp>
        <p:nvSpPr>
          <p:cNvPr id="4" name="Text Placeholder 3">
            <a:extLst>
              <a:ext uri="{FF2B5EF4-FFF2-40B4-BE49-F238E27FC236}">
                <a16:creationId xmlns:a16="http://schemas.microsoft.com/office/drawing/2014/main" id="{55BA6599-1C02-9B37-2890-B57CEA2AFD28}"/>
              </a:ext>
            </a:extLst>
          </p:cNvPr>
          <p:cNvSpPr>
            <a:spLocks noGrp="1"/>
          </p:cNvSpPr>
          <p:nvPr>
            <p:ph type="body" idx="2"/>
          </p:nvPr>
        </p:nvSpPr>
        <p:spPr>
          <a:xfrm>
            <a:off x="457200" y="1425677"/>
            <a:ext cx="4040188" cy="4700486"/>
          </a:xfrm>
        </p:spPr>
        <p:txBody>
          <a:bodyPr/>
          <a:lstStyle/>
          <a:p>
            <a:endParaRPr lang="en-IN" dirty="0"/>
          </a:p>
        </p:txBody>
      </p:sp>
      <p:sp>
        <p:nvSpPr>
          <p:cNvPr id="6" name="Text Placeholder 5">
            <a:extLst>
              <a:ext uri="{FF2B5EF4-FFF2-40B4-BE49-F238E27FC236}">
                <a16:creationId xmlns:a16="http://schemas.microsoft.com/office/drawing/2014/main" id="{11C664E9-D203-B2CE-3FFF-5C545851E523}"/>
              </a:ext>
            </a:extLst>
          </p:cNvPr>
          <p:cNvSpPr>
            <a:spLocks noGrp="1"/>
          </p:cNvSpPr>
          <p:nvPr>
            <p:ph type="body" idx="4"/>
          </p:nvPr>
        </p:nvSpPr>
        <p:spPr>
          <a:xfrm>
            <a:off x="4645025" y="1425677"/>
            <a:ext cx="4041775" cy="4700486"/>
          </a:xfrm>
        </p:spPr>
        <p:txBody>
          <a:bodyPr/>
          <a:lstStyle/>
          <a:p>
            <a:endParaRPr lang="en-IN" dirty="0"/>
          </a:p>
        </p:txBody>
      </p:sp>
      <p:sp>
        <p:nvSpPr>
          <p:cNvPr id="7" name="Date Placeholder 6">
            <a:extLst>
              <a:ext uri="{FF2B5EF4-FFF2-40B4-BE49-F238E27FC236}">
                <a16:creationId xmlns:a16="http://schemas.microsoft.com/office/drawing/2014/main" id="{B2DC3C38-6B99-D7D1-0164-E17BDBB31A9C}"/>
              </a:ext>
            </a:extLst>
          </p:cNvPr>
          <p:cNvSpPr>
            <a:spLocks noGrp="1"/>
          </p:cNvSpPr>
          <p:nvPr>
            <p:ph type="dt" idx="10"/>
          </p:nvPr>
        </p:nvSpPr>
        <p:spPr/>
        <p:txBody>
          <a:bodyPr/>
          <a:lstStyle/>
          <a:p>
            <a:r>
              <a:rPr lang="en-US"/>
              <a:t>20/07/2026</a:t>
            </a:r>
          </a:p>
        </p:txBody>
      </p:sp>
      <p:sp>
        <p:nvSpPr>
          <p:cNvPr id="8" name="Footer Placeholder 7">
            <a:extLst>
              <a:ext uri="{FF2B5EF4-FFF2-40B4-BE49-F238E27FC236}">
                <a16:creationId xmlns:a16="http://schemas.microsoft.com/office/drawing/2014/main" id="{73663CDE-35D8-8AB0-F64E-91BFDC796E71}"/>
              </a:ext>
            </a:extLst>
          </p:cNvPr>
          <p:cNvSpPr>
            <a:spLocks noGrp="1"/>
          </p:cNvSpPr>
          <p:nvPr>
            <p:ph type="ftr" idx="11"/>
          </p:nvPr>
        </p:nvSpPr>
        <p:spPr/>
        <p:txBody>
          <a:bodyPr/>
          <a:lstStyle/>
          <a:p>
            <a:r>
              <a:rPr lang="en-US"/>
              <a:t>DEPT OF AI&amp;DS, SAEC</a:t>
            </a:r>
          </a:p>
        </p:txBody>
      </p:sp>
      <p:sp>
        <p:nvSpPr>
          <p:cNvPr id="9" name="Slide Number Placeholder 8">
            <a:extLst>
              <a:ext uri="{FF2B5EF4-FFF2-40B4-BE49-F238E27FC236}">
                <a16:creationId xmlns:a16="http://schemas.microsoft.com/office/drawing/2014/main" id="{A21AA260-B132-2218-B092-845E65C8E3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2976383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7C634-403A-AB74-6D90-BF492BA23BC6}"/>
              </a:ext>
            </a:extLst>
          </p:cNvPr>
          <p:cNvSpPr>
            <a:spLocks noGrp="1"/>
          </p:cNvSpPr>
          <p:nvPr>
            <p:ph type="title"/>
          </p:nvPr>
        </p:nvSpPr>
        <p:spPr>
          <a:xfrm>
            <a:off x="457200" y="274638"/>
            <a:ext cx="8229600" cy="856072"/>
          </a:xfrm>
        </p:spPr>
        <p:txBody>
          <a:bodyPr/>
          <a:lstStyle/>
          <a:p>
            <a:r>
              <a:rPr lang="en-IN" dirty="0"/>
              <a:t>MODULES DESCRIPTION</a:t>
            </a:r>
          </a:p>
        </p:txBody>
      </p:sp>
      <p:sp>
        <p:nvSpPr>
          <p:cNvPr id="3" name="Text Placeholder 2">
            <a:extLst>
              <a:ext uri="{FF2B5EF4-FFF2-40B4-BE49-F238E27FC236}">
                <a16:creationId xmlns:a16="http://schemas.microsoft.com/office/drawing/2014/main" id="{D220B43A-B361-03E3-08B7-EEA4955F8426}"/>
              </a:ext>
            </a:extLst>
          </p:cNvPr>
          <p:cNvSpPr>
            <a:spLocks noGrp="1"/>
          </p:cNvSpPr>
          <p:nvPr>
            <p:ph type="body" idx="1"/>
          </p:nvPr>
        </p:nvSpPr>
        <p:spPr>
          <a:xfrm>
            <a:off x="457200" y="1360898"/>
            <a:ext cx="4038600" cy="4765266"/>
          </a:xfrm>
        </p:spPr>
        <p:txBody>
          <a:bodyPr/>
          <a:lstStyle/>
          <a:p>
            <a:endParaRPr lang="en-IN" dirty="0"/>
          </a:p>
        </p:txBody>
      </p:sp>
      <p:sp>
        <p:nvSpPr>
          <p:cNvPr id="4" name="Text Placeholder 3">
            <a:extLst>
              <a:ext uri="{FF2B5EF4-FFF2-40B4-BE49-F238E27FC236}">
                <a16:creationId xmlns:a16="http://schemas.microsoft.com/office/drawing/2014/main" id="{AC78B27B-0CF3-F28C-9B57-BD6AF32D6CAF}"/>
              </a:ext>
            </a:extLst>
          </p:cNvPr>
          <p:cNvSpPr>
            <a:spLocks noGrp="1"/>
          </p:cNvSpPr>
          <p:nvPr>
            <p:ph type="body" idx="2"/>
          </p:nvPr>
        </p:nvSpPr>
        <p:spPr>
          <a:xfrm>
            <a:off x="4648200" y="1360896"/>
            <a:ext cx="4038600" cy="4765267"/>
          </a:xfrm>
        </p:spPr>
        <p:txBody>
          <a:bodyPr/>
          <a:lstStyle/>
          <a:p>
            <a:endParaRPr lang="en-IN" dirty="0"/>
          </a:p>
        </p:txBody>
      </p:sp>
      <p:sp>
        <p:nvSpPr>
          <p:cNvPr id="5" name="Date Placeholder 4">
            <a:extLst>
              <a:ext uri="{FF2B5EF4-FFF2-40B4-BE49-F238E27FC236}">
                <a16:creationId xmlns:a16="http://schemas.microsoft.com/office/drawing/2014/main" id="{A1EBB81C-5A2C-4306-7F77-6CC203510010}"/>
              </a:ext>
            </a:extLst>
          </p:cNvPr>
          <p:cNvSpPr>
            <a:spLocks noGrp="1"/>
          </p:cNvSpPr>
          <p:nvPr>
            <p:ph type="dt" idx="10"/>
          </p:nvPr>
        </p:nvSpPr>
        <p:spPr/>
        <p:txBody>
          <a:bodyPr/>
          <a:lstStyle/>
          <a:p>
            <a:r>
              <a:rPr lang="en-US"/>
              <a:t>20/07/2026</a:t>
            </a:r>
          </a:p>
        </p:txBody>
      </p:sp>
      <p:sp>
        <p:nvSpPr>
          <p:cNvPr id="6" name="Footer Placeholder 5">
            <a:extLst>
              <a:ext uri="{FF2B5EF4-FFF2-40B4-BE49-F238E27FC236}">
                <a16:creationId xmlns:a16="http://schemas.microsoft.com/office/drawing/2014/main" id="{8B5D6614-72E0-C8D3-C218-DED3A0E458D9}"/>
              </a:ext>
            </a:extLst>
          </p:cNvPr>
          <p:cNvSpPr>
            <a:spLocks noGrp="1"/>
          </p:cNvSpPr>
          <p:nvPr>
            <p:ph type="ftr" idx="11"/>
          </p:nvPr>
        </p:nvSpPr>
        <p:spPr/>
        <p:txBody>
          <a:bodyPr/>
          <a:lstStyle/>
          <a:p>
            <a:r>
              <a:rPr lang="en-US"/>
              <a:t>DEPT OF AI&amp;DS, SAEC</a:t>
            </a:r>
          </a:p>
        </p:txBody>
      </p:sp>
      <p:sp>
        <p:nvSpPr>
          <p:cNvPr id="7" name="Slide Number Placeholder 6">
            <a:extLst>
              <a:ext uri="{FF2B5EF4-FFF2-40B4-BE49-F238E27FC236}">
                <a16:creationId xmlns:a16="http://schemas.microsoft.com/office/drawing/2014/main" id="{0C8D11AE-0E22-DDB2-9C3C-BDF019E2DC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408366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E71B-7F48-5251-C575-4BB165C4134F}"/>
              </a:ext>
            </a:extLst>
          </p:cNvPr>
          <p:cNvSpPr>
            <a:spLocks noGrp="1"/>
          </p:cNvSpPr>
          <p:nvPr>
            <p:ph type="title"/>
          </p:nvPr>
        </p:nvSpPr>
        <p:spPr>
          <a:xfrm>
            <a:off x="457200" y="274638"/>
            <a:ext cx="8229600" cy="816743"/>
          </a:xfrm>
        </p:spPr>
        <p:txBody>
          <a:bodyPr/>
          <a:lstStyle/>
          <a:p>
            <a:r>
              <a:rPr lang="en-IN" dirty="0"/>
              <a:t>DATASET USED</a:t>
            </a:r>
          </a:p>
        </p:txBody>
      </p:sp>
      <p:sp>
        <p:nvSpPr>
          <p:cNvPr id="3" name="Text Placeholder 2">
            <a:extLst>
              <a:ext uri="{FF2B5EF4-FFF2-40B4-BE49-F238E27FC236}">
                <a16:creationId xmlns:a16="http://schemas.microsoft.com/office/drawing/2014/main" id="{D02B7AC7-51DF-91E0-1573-5D60C0279BE4}"/>
              </a:ext>
            </a:extLst>
          </p:cNvPr>
          <p:cNvSpPr>
            <a:spLocks noGrp="1"/>
          </p:cNvSpPr>
          <p:nvPr>
            <p:ph type="body" idx="1"/>
          </p:nvPr>
        </p:nvSpPr>
        <p:spPr>
          <a:xfrm>
            <a:off x="457200" y="1321568"/>
            <a:ext cx="4038600" cy="4804595"/>
          </a:xfrm>
        </p:spPr>
        <p:txBody>
          <a:bodyPr>
            <a:normAutofit fontScale="77500" lnSpcReduction="20000"/>
          </a:bodyPr>
          <a:lstStyle/>
          <a:p>
            <a:pPr marL="50800" indent="0">
              <a:buNone/>
            </a:pPr>
            <a:r>
              <a:rPr lang="en-IN" b="1" dirty="0"/>
              <a:t>1. NASA C-MAPSS / </a:t>
            </a:r>
          </a:p>
          <a:p>
            <a:pPr marL="50800" indent="0">
              <a:buNone/>
            </a:pPr>
            <a:r>
              <a:rPr lang="en-IN" b="1" dirty="0"/>
              <a:t>	N-CMAPSS</a:t>
            </a:r>
            <a:endParaRPr lang="en-IN" dirty="0"/>
          </a:p>
          <a:p>
            <a:pPr lvl="0"/>
            <a:r>
              <a:rPr lang="en-IN" dirty="0"/>
              <a:t>Collected on: Simulated turbofan aircraft engine run-to-failure sensor data (temperature, pressure, speed, vibration sensors across multiple flight cycles)</a:t>
            </a:r>
          </a:p>
          <a:p>
            <a:pPr lvl="0"/>
            <a:r>
              <a:rPr lang="en-IN" dirty="0"/>
              <a:t>Source: NASA Prognostics Data Repository</a:t>
            </a:r>
          </a:p>
          <a:p>
            <a:pPr lvl="0"/>
            <a:r>
              <a:rPr lang="en-IN" dirty="0"/>
              <a:t>Used for: Training the Time-Series Transformer to predict Remaining Useful Life (RUL) and detect anomalies</a:t>
            </a:r>
          </a:p>
          <a:p>
            <a:endParaRPr lang="en-IN" dirty="0"/>
          </a:p>
        </p:txBody>
      </p:sp>
      <p:sp>
        <p:nvSpPr>
          <p:cNvPr id="4" name="Text Placeholder 3">
            <a:extLst>
              <a:ext uri="{FF2B5EF4-FFF2-40B4-BE49-F238E27FC236}">
                <a16:creationId xmlns:a16="http://schemas.microsoft.com/office/drawing/2014/main" id="{238B71F9-D53C-08D4-5080-6C2EBEB219BA}"/>
              </a:ext>
            </a:extLst>
          </p:cNvPr>
          <p:cNvSpPr>
            <a:spLocks noGrp="1"/>
          </p:cNvSpPr>
          <p:nvPr>
            <p:ph type="body" idx="2"/>
          </p:nvPr>
        </p:nvSpPr>
        <p:spPr>
          <a:xfrm>
            <a:off x="4648200" y="1321568"/>
            <a:ext cx="4038600" cy="4804595"/>
          </a:xfrm>
        </p:spPr>
        <p:txBody>
          <a:bodyPr>
            <a:normAutofit fontScale="77500" lnSpcReduction="20000"/>
          </a:bodyPr>
          <a:lstStyle/>
          <a:p>
            <a:pPr marL="50800" indent="0">
              <a:buNone/>
            </a:pPr>
            <a:r>
              <a:rPr lang="en-IN" b="1" dirty="0"/>
              <a:t>2. NGAFID (National General Aviation Flight Information Database)</a:t>
            </a:r>
            <a:endParaRPr lang="en-IN" dirty="0"/>
          </a:p>
          <a:p>
            <a:pPr lvl="0"/>
            <a:r>
              <a:rPr lang="en-IN" dirty="0"/>
              <a:t>Collected on: Real flight data recordings and maintenance event logs from general aviation aircraft</a:t>
            </a:r>
          </a:p>
          <a:p>
            <a:pPr lvl="0"/>
            <a:r>
              <a:rPr lang="en-IN" dirty="0"/>
              <a:t>Source: NGAFID (hosted by University of North Dakota / FAA-supported)</a:t>
            </a:r>
          </a:p>
          <a:p>
            <a:pPr lvl="0"/>
            <a:r>
              <a:rPr lang="en-IN" dirty="0"/>
              <a:t>Used for: Correlating flight/engine </a:t>
            </a:r>
            <a:r>
              <a:rPr lang="en-IN" dirty="0" err="1"/>
              <a:t>behavior</a:t>
            </a:r>
            <a:r>
              <a:rPr lang="en-IN" dirty="0"/>
              <a:t> with actual maintenance events; validating predictive patterns</a:t>
            </a:r>
          </a:p>
          <a:p>
            <a:endParaRPr lang="en-IN" dirty="0"/>
          </a:p>
        </p:txBody>
      </p:sp>
      <p:sp>
        <p:nvSpPr>
          <p:cNvPr id="5" name="Date Placeholder 4">
            <a:extLst>
              <a:ext uri="{FF2B5EF4-FFF2-40B4-BE49-F238E27FC236}">
                <a16:creationId xmlns:a16="http://schemas.microsoft.com/office/drawing/2014/main" id="{8E5304A5-DF7F-FA89-6826-D54DEB723841}"/>
              </a:ext>
            </a:extLst>
          </p:cNvPr>
          <p:cNvSpPr>
            <a:spLocks noGrp="1"/>
          </p:cNvSpPr>
          <p:nvPr>
            <p:ph type="dt" idx="10"/>
          </p:nvPr>
        </p:nvSpPr>
        <p:spPr/>
        <p:txBody>
          <a:bodyPr/>
          <a:lstStyle/>
          <a:p>
            <a:r>
              <a:rPr lang="en-US"/>
              <a:t>20/07/2026</a:t>
            </a:r>
          </a:p>
        </p:txBody>
      </p:sp>
      <p:sp>
        <p:nvSpPr>
          <p:cNvPr id="6" name="Footer Placeholder 5">
            <a:extLst>
              <a:ext uri="{FF2B5EF4-FFF2-40B4-BE49-F238E27FC236}">
                <a16:creationId xmlns:a16="http://schemas.microsoft.com/office/drawing/2014/main" id="{CE8C8C83-0C54-656B-4B27-0C86281DE193}"/>
              </a:ext>
            </a:extLst>
          </p:cNvPr>
          <p:cNvSpPr>
            <a:spLocks noGrp="1"/>
          </p:cNvSpPr>
          <p:nvPr>
            <p:ph type="ftr" idx="11"/>
          </p:nvPr>
        </p:nvSpPr>
        <p:spPr/>
        <p:txBody>
          <a:bodyPr/>
          <a:lstStyle/>
          <a:p>
            <a:r>
              <a:rPr lang="en-US"/>
              <a:t>DEPT OF AI&amp;DS, SAEC</a:t>
            </a:r>
          </a:p>
        </p:txBody>
      </p:sp>
      <p:sp>
        <p:nvSpPr>
          <p:cNvPr id="7" name="Slide Number Placeholder 6">
            <a:extLst>
              <a:ext uri="{FF2B5EF4-FFF2-40B4-BE49-F238E27FC236}">
                <a16:creationId xmlns:a16="http://schemas.microsoft.com/office/drawing/2014/main" id="{921721B5-C3B2-A5FB-6256-679F862491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155651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B3DEC-5D56-1F8D-F7EC-877EE500C917}"/>
              </a:ext>
            </a:extLst>
          </p:cNvPr>
          <p:cNvSpPr>
            <a:spLocks noGrp="1"/>
          </p:cNvSpPr>
          <p:nvPr>
            <p:ph type="title"/>
          </p:nvPr>
        </p:nvSpPr>
        <p:spPr>
          <a:xfrm>
            <a:off x="457200" y="11719"/>
            <a:ext cx="8229600" cy="846239"/>
          </a:xfrm>
        </p:spPr>
        <p:txBody>
          <a:bodyPr/>
          <a:lstStyle/>
          <a:p>
            <a:r>
              <a:rPr lang="en-IN" dirty="0"/>
              <a:t>DATASET USED</a:t>
            </a:r>
          </a:p>
        </p:txBody>
      </p:sp>
      <p:sp>
        <p:nvSpPr>
          <p:cNvPr id="7" name="Slide Number Placeholder 6">
            <a:extLst>
              <a:ext uri="{FF2B5EF4-FFF2-40B4-BE49-F238E27FC236}">
                <a16:creationId xmlns:a16="http://schemas.microsoft.com/office/drawing/2014/main" id="{A45C52D3-CC4C-1615-2477-5680245288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graphicFrame>
        <p:nvGraphicFramePr>
          <p:cNvPr id="10" name="Table 9">
            <a:extLst>
              <a:ext uri="{FF2B5EF4-FFF2-40B4-BE49-F238E27FC236}">
                <a16:creationId xmlns:a16="http://schemas.microsoft.com/office/drawing/2014/main" id="{8F3C90BD-2904-13BD-B015-80E0BB30CDD4}"/>
              </a:ext>
            </a:extLst>
          </p:cNvPr>
          <p:cNvGraphicFramePr>
            <a:graphicFrameLocks noGrp="1"/>
          </p:cNvGraphicFramePr>
          <p:nvPr>
            <p:extLst>
              <p:ext uri="{D42A27DB-BD31-4B8C-83A1-F6EECF244321}">
                <p14:modId xmlns:p14="http://schemas.microsoft.com/office/powerpoint/2010/main" val="1619368434"/>
              </p:ext>
            </p:extLst>
          </p:nvPr>
        </p:nvGraphicFramePr>
        <p:xfrm>
          <a:off x="614516" y="961071"/>
          <a:ext cx="8072284" cy="5791200"/>
        </p:xfrm>
        <a:graphic>
          <a:graphicData uri="http://schemas.openxmlformats.org/drawingml/2006/table">
            <a:tbl>
              <a:tblPr firstRow="1" bandRow="1">
                <a:tableStyleId>{47879F58-94FC-4AB5-AACA-6E85711E4052}</a:tableStyleId>
              </a:tblPr>
              <a:tblGrid>
                <a:gridCol w="2018071">
                  <a:extLst>
                    <a:ext uri="{9D8B030D-6E8A-4147-A177-3AD203B41FA5}">
                      <a16:colId xmlns:a16="http://schemas.microsoft.com/office/drawing/2014/main" val="1719257519"/>
                    </a:ext>
                  </a:extLst>
                </a:gridCol>
                <a:gridCol w="2018071">
                  <a:extLst>
                    <a:ext uri="{9D8B030D-6E8A-4147-A177-3AD203B41FA5}">
                      <a16:colId xmlns:a16="http://schemas.microsoft.com/office/drawing/2014/main" val="3783693501"/>
                    </a:ext>
                  </a:extLst>
                </a:gridCol>
                <a:gridCol w="2018071">
                  <a:extLst>
                    <a:ext uri="{9D8B030D-6E8A-4147-A177-3AD203B41FA5}">
                      <a16:colId xmlns:a16="http://schemas.microsoft.com/office/drawing/2014/main" val="3551716320"/>
                    </a:ext>
                  </a:extLst>
                </a:gridCol>
                <a:gridCol w="2018071">
                  <a:extLst>
                    <a:ext uri="{9D8B030D-6E8A-4147-A177-3AD203B41FA5}">
                      <a16:colId xmlns:a16="http://schemas.microsoft.com/office/drawing/2014/main" val="4205463055"/>
                    </a:ext>
                  </a:extLst>
                </a:gridCol>
              </a:tblGrid>
              <a:tr h="681509">
                <a:tc>
                  <a:txBody>
                    <a:bodyPr/>
                    <a:lstStyle/>
                    <a:p>
                      <a:pPr algn="ctr"/>
                      <a:endParaRPr lang="en-IN" dirty="0"/>
                    </a:p>
                    <a:p>
                      <a:pPr algn="ctr"/>
                      <a:r>
                        <a:rPr lang="en-IN" dirty="0"/>
                        <a:t>Dataset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t>Collected On / Domain</a:t>
                      </a:r>
                    </a:p>
                    <a:p>
                      <a:pPr>
                        <a:buNone/>
                      </a:pPr>
                      <a:endParaRPr lang="en-IN" dirty="0"/>
                    </a:p>
                  </a:txBody>
                  <a:tcPr anchor="ctr"/>
                </a:tc>
                <a:tc>
                  <a:txBody>
                    <a:bodyPr/>
                    <a:lstStyle/>
                    <a:p>
                      <a:pPr algn="ctr">
                        <a:buNone/>
                      </a:pPr>
                      <a:r>
                        <a:rPr lang="en-IN" dirty="0"/>
                        <a:t>Source</a:t>
                      </a:r>
                    </a:p>
                  </a:txBody>
                  <a:tcPr anchor="ctr"/>
                </a:tc>
                <a:tc>
                  <a:txBody>
                    <a:bodyPr/>
                    <a:lstStyle/>
                    <a:p>
                      <a:pPr algn="ctr">
                        <a:buNone/>
                      </a:pPr>
                      <a:r>
                        <a:rPr lang="en-IN" dirty="0"/>
                        <a:t>Used For</a:t>
                      </a:r>
                    </a:p>
                  </a:txBody>
                  <a:tcPr anchor="ctr"/>
                </a:tc>
                <a:extLst>
                  <a:ext uri="{0D108BD9-81ED-4DB2-BD59-A6C34878D82A}">
                    <a16:rowId xmlns:a16="http://schemas.microsoft.com/office/drawing/2014/main" val="598200717"/>
                  </a:ext>
                </a:extLst>
              </a:tr>
              <a:tr h="1277829">
                <a:tc>
                  <a:txBody>
                    <a:bodyPr/>
                    <a:lstStyle/>
                    <a:p>
                      <a:r>
                        <a:rPr lang="en-IN" dirty="0"/>
                        <a:t>NASA C-MAPSS / N-CMAPSS</a:t>
                      </a:r>
                    </a:p>
                  </a:txBody>
                  <a:tcPr/>
                </a:tc>
                <a:tc>
                  <a:txBody>
                    <a:bodyPr/>
                    <a:lstStyle/>
                    <a:p>
                      <a:r>
                        <a:rPr lang="en-IN" dirty="0"/>
                        <a:t>Simulated aircraft turbofan engine sensor readings (temperature, pressure, speed, vibration across multiple flight cycles)</a:t>
                      </a:r>
                    </a:p>
                  </a:txBody>
                  <a:tcPr/>
                </a:tc>
                <a:tc>
                  <a:txBody>
                    <a:bodyPr/>
                    <a:lstStyle/>
                    <a:p>
                      <a:r>
                        <a:rPr lang="en-IN" dirty="0"/>
                        <a:t>NASA Prognostics </a:t>
                      </a:r>
                      <a:r>
                        <a:rPr lang="en-IN" dirty="0" err="1"/>
                        <a:t>Center</a:t>
                      </a:r>
                      <a:r>
                        <a:rPr lang="en-IN" dirty="0"/>
                        <a:t> of Excellence</a:t>
                      </a:r>
                    </a:p>
                  </a:txBody>
                  <a:tcPr/>
                </a:tc>
                <a:tc>
                  <a:txBody>
                    <a:bodyPr/>
                    <a:lstStyle/>
                    <a:p>
                      <a:r>
                        <a:rPr lang="en-IN" dirty="0"/>
                        <a:t>Training the Time-Series Transformer to predict Remaining Useful Life (RUL) and detect anomalies</a:t>
                      </a:r>
                    </a:p>
                  </a:txBody>
                  <a:tcPr/>
                </a:tc>
                <a:extLst>
                  <a:ext uri="{0D108BD9-81ED-4DB2-BD59-A6C34878D82A}">
                    <a16:rowId xmlns:a16="http://schemas.microsoft.com/office/drawing/2014/main" val="2579686480"/>
                  </a:ext>
                </a:extLst>
              </a:tr>
              <a:tr h="1079056">
                <a:tc>
                  <a:txBody>
                    <a:bodyPr/>
                    <a:lstStyle/>
                    <a:p>
                      <a:r>
                        <a:rPr lang="en-IN" b="1" dirty="0"/>
                        <a:t>NGAFID</a:t>
                      </a:r>
                      <a:r>
                        <a:rPr lang="en-IN" dirty="0"/>
                        <a:t> (National General Aviation Flight Information Database</a:t>
                      </a:r>
                    </a:p>
                  </a:txBody>
                  <a:tcPr/>
                </a:tc>
                <a:tc>
                  <a:txBody>
                    <a:bodyPr/>
                    <a:lstStyle/>
                    <a:p>
                      <a:r>
                        <a:rPr lang="en-IN" dirty="0"/>
                        <a:t>Real flight data and maintenance event logs from general aviation aircraft</a:t>
                      </a:r>
                    </a:p>
                  </a:txBody>
                  <a:tcPr/>
                </a:tc>
                <a:tc>
                  <a:txBody>
                    <a:bodyPr/>
                    <a:lstStyle/>
                    <a:p>
                      <a:r>
                        <a:rPr lang="en-IN" dirty="0"/>
                        <a:t>NGAFID (University of North Dakota / FAA-supported)</a:t>
                      </a:r>
                    </a:p>
                  </a:txBody>
                  <a:tcPr/>
                </a:tc>
                <a:tc>
                  <a:txBody>
                    <a:bodyPr/>
                    <a:lstStyle/>
                    <a:p>
                      <a:r>
                        <a:rPr lang="en-IN" dirty="0"/>
                        <a:t>Building maintenance history context and correlating flight patterns with failure events</a:t>
                      </a:r>
                    </a:p>
                  </a:txBody>
                  <a:tcPr/>
                </a:tc>
                <a:extLst>
                  <a:ext uri="{0D108BD9-81ED-4DB2-BD59-A6C34878D82A}">
                    <a16:rowId xmlns:a16="http://schemas.microsoft.com/office/drawing/2014/main" val="2273734026"/>
                  </a:ext>
                </a:extLst>
              </a:tr>
              <a:tr h="880282">
                <a:tc>
                  <a:txBody>
                    <a:bodyPr/>
                    <a:lstStyle/>
                    <a:p>
                      <a:r>
                        <a:rPr lang="en-IN" b="1" dirty="0"/>
                        <a:t>FAA SDR</a:t>
                      </a:r>
                      <a:r>
                        <a:rPr lang="en-IN" dirty="0"/>
                        <a:t> (Service Difficulty Reports)</a:t>
                      </a:r>
                    </a:p>
                  </a:txBody>
                  <a:tcPr/>
                </a:tc>
                <a:tc>
                  <a:txBody>
                    <a:bodyPr/>
                    <a:lstStyle/>
                    <a:p>
                      <a:r>
                        <a:rPr lang="en-IN" dirty="0"/>
                        <a:t>Real-world aircraft failure and malfunction reports submitted by operators/mechanics</a:t>
                      </a:r>
                    </a:p>
                  </a:txBody>
                  <a:tcPr/>
                </a:tc>
                <a:tc>
                  <a:txBody>
                    <a:bodyPr/>
                    <a:lstStyle/>
                    <a:p>
                      <a:r>
                        <a:rPr lang="en-IN" dirty="0"/>
                        <a:t>Federal Aviation Administration (FAA)</a:t>
                      </a:r>
                    </a:p>
                  </a:txBody>
                  <a:tcPr/>
                </a:tc>
                <a:tc>
                  <a:txBody>
                    <a:bodyPr/>
                    <a:lstStyle/>
                    <a:p>
                      <a:r>
                        <a:rPr lang="en-IN" dirty="0"/>
                        <a:t>Root cause investigation and validating real failure patterns against predictions</a:t>
                      </a:r>
                    </a:p>
                  </a:txBody>
                  <a:tcPr/>
                </a:tc>
                <a:extLst>
                  <a:ext uri="{0D108BD9-81ED-4DB2-BD59-A6C34878D82A}">
                    <a16:rowId xmlns:a16="http://schemas.microsoft.com/office/drawing/2014/main" val="2711003634"/>
                  </a:ext>
                </a:extLst>
              </a:tr>
              <a:tr h="1476603">
                <a:tc>
                  <a:txBody>
                    <a:bodyPr/>
                    <a:lstStyle/>
                    <a:p>
                      <a:r>
                        <a:rPr lang="en-IN" dirty="0"/>
                        <a:t>Aircraft Maintenance Manuals (PDFs</a:t>
                      </a:r>
                    </a:p>
                  </a:txBody>
                  <a:tcPr/>
                </a:tc>
                <a:tc>
                  <a:txBody>
                    <a:bodyPr/>
                    <a:lstStyle/>
                    <a:p>
                      <a:r>
                        <a:rPr lang="en-IN" dirty="0"/>
                        <a:t>Technical maintenance procedures, component specifications, and troubleshooting guides</a:t>
                      </a:r>
                    </a:p>
                  </a:txBody>
                  <a:tcPr/>
                </a:tc>
                <a:tc>
                  <a:txBody>
                    <a:bodyPr/>
                    <a:lstStyle/>
                    <a:p>
                      <a:r>
                        <a:rPr lang="en-IN" dirty="0"/>
                        <a:t>e.g., </a:t>
                      </a:r>
                      <a:r>
                        <a:rPr lang="en-IN" dirty="0" err="1"/>
                        <a:t>Aerospool</a:t>
                      </a:r>
                      <a:r>
                        <a:rPr lang="en-IN" dirty="0"/>
                        <a:t> WT9 Dynamic AMM (AS-AMM-01-000, aerospool.sk)</a:t>
                      </a:r>
                    </a:p>
                  </a:txBody>
                  <a:tcPr/>
                </a:tc>
                <a:tc>
                  <a:txBody>
                    <a:bodyPr/>
                    <a:lstStyle/>
                    <a:p>
                      <a:r>
                        <a:rPr lang="en-IN" dirty="0"/>
                        <a:t>RAG pipeline (</a:t>
                      </a:r>
                      <a:r>
                        <a:rPr lang="en-IN" dirty="0" err="1"/>
                        <a:t>LangChain</a:t>
                      </a:r>
                      <a:r>
                        <a:rPr lang="en-IN" dirty="0"/>
                        <a:t> + FAISS) — retrieves relevant manual sections/procedures to ground the LLM's investigation report in official documentation</a:t>
                      </a:r>
                    </a:p>
                  </a:txBody>
                  <a:tcPr/>
                </a:tc>
                <a:extLst>
                  <a:ext uri="{0D108BD9-81ED-4DB2-BD59-A6C34878D82A}">
                    <a16:rowId xmlns:a16="http://schemas.microsoft.com/office/drawing/2014/main" val="3095313825"/>
                  </a:ext>
                </a:extLst>
              </a:tr>
            </a:tbl>
          </a:graphicData>
        </a:graphic>
      </p:graphicFrame>
    </p:spTree>
    <p:extLst>
      <p:ext uri="{BB962C8B-B14F-4D97-AF65-F5344CB8AC3E}">
        <p14:creationId xmlns:p14="http://schemas.microsoft.com/office/powerpoint/2010/main" val="23191610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2328</Words>
  <Application>Microsoft Office PowerPoint</Application>
  <PresentationFormat>On-screen Show (4:3)</PresentationFormat>
  <Paragraphs>271</Paragraphs>
  <Slides>23</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S.A. ENGINEERING COLLEGE- CHENNAI-77 (Autonomous- Institute Level Research Centre, Affiliated to Anna University) DEPARTMENT OF ARTIFICIAL INTELLIGENCE &amp; DATA SCIENCE</vt:lpstr>
      <vt:lpstr>Agenda</vt:lpstr>
      <vt:lpstr>Introduction</vt:lpstr>
      <vt:lpstr>Base Paper</vt:lpstr>
      <vt:lpstr>Abstract</vt:lpstr>
      <vt:lpstr>Scope and Motivation</vt:lpstr>
      <vt:lpstr>Literature Survey</vt:lpstr>
      <vt:lpstr>Literature Survey</vt:lpstr>
      <vt:lpstr>Objectives</vt:lpstr>
      <vt:lpstr>Problem Statement</vt:lpstr>
      <vt:lpstr>Proposed Work-Block Diagram</vt:lpstr>
      <vt:lpstr>Architecture Diagram</vt:lpstr>
      <vt:lpstr>Modules</vt:lpstr>
      <vt:lpstr>Proposed-Module Description</vt:lpstr>
      <vt:lpstr>Proposed-Module Description</vt:lpstr>
      <vt:lpstr>Software Requirements</vt:lpstr>
      <vt:lpstr>References</vt:lpstr>
      <vt:lpstr>References</vt:lpstr>
      <vt:lpstr>SYSTEM ARCHITECTURE</vt:lpstr>
      <vt:lpstr>SYSTEM ARCHITECTURE DESCRIPTION</vt:lpstr>
      <vt:lpstr>MODULES DESCRIPTION</vt:lpstr>
      <vt:lpstr>DATASET USED</vt:lpstr>
      <vt:lpstr>DATASET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 ENGINEERING COLLEGE- CHENNAI-77 (Autonomous- Institute Level Research Centre, Affiliated to Anna University) DEPARTMENT OF ARTIFICIAL INTELLIGENCE &amp; DATA SCIENCE</dc:title>
  <dc:creator>22101316I</dc:creator>
  <cp:lastModifiedBy>Menaka M</cp:lastModifiedBy>
  <cp:revision>18</cp:revision>
  <dcterms:created xsi:type="dcterms:W3CDTF">2025-08-02T14:18:00Z</dcterms:created>
  <dcterms:modified xsi:type="dcterms:W3CDTF">2026-08-09T14:27:55Z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5D9E7A7B5D9B44D59A24B41C6AB6D90A_13</vt:lpwstr>
  </property>
  <property fmtid="{D5CDD505-2E9C-101B-9397-08002B2CF9AE}" pid="3" name="KSOProductBuildVer">
    <vt:lpwstr>1033-12.2.0.22549</vt:lpwstr>
  </property>
</Properties>
</file>